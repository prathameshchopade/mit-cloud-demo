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1FAF58-B6E9-4268-93F2-4AB9AB98425A}" type="datetimeFigureOut">
              <a:rPr lang="en-IN" smtClean="0"/>
              <a:t>22-10-2026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3401A9-F739-4399-B3F0-F1DEF01A13EA}" type="slidenum">
              <a:rPr lang="en-IN" smtClean="0"/>
              <a:t>‹#›</a:t>
            </a:fld>
            <a:endParaRPr lang="en-IN"/>
          </a:p>
        </p:txBody>
      </p:sp>
    </p:spTree>
    <p:extLst>
      <p:ext uri="{BB962C8B-B14F-4D97-AF65-F5344CB8AC3E}">
        <p14:creationId xmlns:p14="http://schemas.microsoft.com/office/powerpoint/2010/main" val="22787558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Welcome. This is a hands-on session: by the end you will have found and fixed real security problems on your own laptop. Everything runs locally in Docker, and no cloud account is needed. The four circles are the four checkpoints we will visit today.</a:t>
            </a:r>
            <a:endParaRPr lang="en-IN"/>
          </a:p>
        </p:txBody>
      </p:sp>
      <p:sp>
        <p:nvSpPr>
          <p:cNvPr id="4" name="Slide Number Placeholder 3"/>
          <p:cNvSpPr>
            <a:spLocks noGrp="1"/>
          </p:cNvSpPr>
          <p:nvPr>
            <p:ph type="sldNum" sz="quarter" idx="5"/>
          </p:nvPr>
        </p:nvSpPr>
        <p:spPr/>
        <p:txBody>
          <a:bodyPr/>
          <a:lstStyle/>
          <a:p>
            <a:fld id="{D03401A9-F739-4399-B3F0-F1DEF01A13EA}" type="slidenum">
              <a:rPr lang="en-IN" smtClean="0"/>
              <a:t>1</a:t>
            </a:fld>
            <a:endParaRPr lang="en-IN"/>
          </a:p>
        </p:txBody>
      </p:sp>
    </p:spTree>
    <p:extLst>
      <p:ext uri="{BB962C8B-B14F-4D97-AF65-F5344CB8AC3E}">
        <p14:creationId xmlns:p14="http://schemas.microsoft.com/office/powerpoint/2010/main" val="33003111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Ninety minutes in total. Labs 1 and 3 are hands-on on your own laptop; Lab 2 is a walkthrough of SonarQube on my screen while you read the code. Jenkins and AWS are short demos. Questions on topics outside today go on the parking-lot board and I will follow up.</a:t>
            </a:r>
            <a:endParaRPr lang="en-IN"/>
          </a:p>
        </p:txBody>
      </p:sp>
      <p:sp>
        <p:nvSpPr>
          <p:cNvPr id="4" name="Slide Number Placeholder 3"/>
          <p:cNvSpPr>
            <a:spLocks noGrp="1"/>
          </p:cNvSpPr>
          <p:nvPr>
            <p:ph type="sldNum" sz="quarter" idx="5"/>
          </p:nvPr>
        </p:nvSpPr>
        <p:spPr/>
        <p:txBody>
          <a:bodyPr/>
          <a:lstStyle/>
          <a:p>
            <a:fld id="{D03401A9-F739-4399-B3F0-F1DEF01A13EA}" type="slidenum">
              <a:rPr lang="en-IN" smtClean="0"/>
              <a:t>2</a:t>
            </a:fld>
            <a:endParaRPr lang="en-IN"/>
          </a:p>
        </p:txBody>
      </p:sp>
    </p:spTree>
    <p:extLst>
      <p:ext uri="{BB962C8B-B14F-4D97-AF65-F5344CB8AC3E}">
        <p14:creationId xmlns:p14="http://schemas.microsoft.com/office/powerpoint/2010/main" val="14449518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If it has these five properties, it is cloud, whether it runs in an AWS data centre or in your own. Mention Platform9 and OpenStack: the same self-service model, on the company's own hardware.</a:t>
            </a:r>
            <a:endParaRPr lang="en-IN"/>
          </a:p>
        </p:txBody>
      </p:sp>
      <p:sp>
        <p:nvSpPr>
          <p:cNvPr id="4" name="Slide Number Placeholder 3"/>
          <p:cNvSpPr>
            <a:spLocks noGrp="1"/>
          </p:cNvSpPr>
          <p:nvPr>
            <p:ph type="sldNum" sz="quarter" idx="5"/>
          </p:nvPr>
        </p:nvSpPr>
        <p:spPr/>
        <p:txBody>
          <a:bodyPr/>
          <a:lstStyle/>
          <a:p>
            <a:fld id="{D03401A9-F739-4399-B3F0-F1DEF01A13EA}" type="slidenum">
              <a:rPr lang="en-IN" smtClean="0"/>
              <a:t>3</a:t>
            </a:fld>
            <a:endParaRPr lang="en-IN"/>
          </a:p>
        </p:txBody>
      </p:sp>
    </p:spTree>
    <p:extLst>
      <p:ext uri="{BB962C8B-B14F-4D97-AF65-F5344CB8AC3E}">
        <p14:creationId xmlns:p14="http://schemas.microsoft.com/office/powerpoint/2010/main" val="19572364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cloud service model view: IaaS, PaaS and SaaS differ in how much of the stack the provider runs for you. It is closely related to, but not the same as, the shared responsibility model on slide 6, which applies the same split to security: whatever you manage here, you also have to secure. Read it left to right: the further right, the more the provider manages. Examples: on-premises is your own servers or VMware; IaaS is EC2 or an OpenStack/Platform9 VM, where you still patch the OS; PaaS is Elastic Beanstalk or App Service, where you just bring code; SaaS is Microsoft 365 or Gmail. Even in SaaS, your data and who can access it remain your job.</a:t>
            </a:r>
            <a:endParaRPr lang="en-IN"/>
          </a:p>
        </p:txBody>
      </p:sp>
      <p:sp>
        <p:nvSpPr>
          <p:cNvPr id="4" name="Slide Number Placeholder 3"/>
          <p:cNvSpPr>
            <a:spLocks noGrp="1"/>
          </p:cNvSpPr>
          <p:nvPr>
            <p:ph type="sldNum" sz="quarter" idx="5"/>
          </p:nvPr>
        </p:nvSpPr>
        <p:spPr/>
        <p:txBody>
          <a:bodyPr/>
          <a:lstStyle/>
          <a:p>
            <a:fld id="{D03401A9-F739-4399-B3F0-F1DEF01A13EA}" type="slidenum">
              <a:rPr lang="en-IN" smtClean="0"/>
              <a:t>4</a:t>
            </a:fld>
            <a:endParaRPr lang="en-IN"/>
          </a:p>
        </p:txBody>
      </p:sp>
    </p:spTree>
    <p:extLst>
      <p:ext uri="{BB962C8B-B14F-4D97-AF65-F5344CB8AC3E}">
        <p14:creationId xmlns:p14="http://schemas.microsoft.com/office/powerpoint/2010/main" val="9892705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Every cloud is built from these four. Glance is OpenStack's image service, the equivalent of AMIs: it stores the images servers boot from, so it sits with compute. Storage for workloads is Swift (objects), Cinder (disks) and Manila (shared files). Most mistakes today live in storage, network and identity settings.</a:t>
            </a:r>
            <a:endParaRPr lang="en-IN"/>
          </a:p>
        </p:txBody>
      </p:sp>
      <p:sp>
        <p:nvSpPr>
          <p:cNvPr id="4" name="Slide Number Placeholder 3"/>
          <p:cNvSpPr>
            <a:spLocks noGrp="1"/>
          </p:cNvSpPr>
          <p:nvPr>
            <p:ph type="sldNum" sz="quarter" idx="5"/>
          </p:nvPr>
        </p:nvSpPr>
        <p:spPr/>
        <p:txBody>
          <a:bodyPr/>
          <a:lstStyle/>
          <a:p>
            <a:fld id="{D03401A9-F739-4399-B3F0-F1DEF01A13EA}" type="slidenum">
              <a:rPr lang="en-IN" smtClean="0"/>
              <a:t>5</a:t>
            </a:fld>
            <a:endParaRPr lang="en-IN"/>
          </a:p>
        </p:txBody>
      </p:sp>
    </p:spTree>
    <p:extLst>
      <p:ext uri="{BB962C8B-B14F-4D97-AF65-F5344CB8AC3E}">
        <p14:creationId xmlns:p14="http://schemas.microsoft.com/office/powerpoint/2010/main" val="8235680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provider is responsible for security OF the cloud; you are responsible for security IN the cloud. AWS makes sure Block Public Access works; whether you switch it on is up to you.</a:t>
            </a:r>
            <a:endParaRPr lang="en-IN"/>
          </a:p>
        </p:txBody>
      </p:sp>
      <p:sp>
        <p:nvSpPr>
          <p:cNvPr id="4" name="Slide Number Placeholder 3"/>
          <p:cNvSpPr>
            <a:spLocks noGrp="1"/>
          </p:cNvSpPr>
          <p:nvPr>
            <p:ph type="sldNum" sz="quarter" idx="5"/>
          </p:nvPr>
        </p:nvSpPr>
        <p:spPr/>
        <p:txBody>
          <a:bodyPr/>
          <a:lstStyle/>
          <a:p>
            <a:fld id="{D03401A9-F739-4399-B3F0-F1DEF01A13EA}" type="slidenum">
              <a:rPr lang="en-IN" smtClean="0"/>
              <a:t>6</a:t>
            </a:fld>
            <a:endParaRPr lang="en-IN"/>
          </a:p>
        </p:txBody>
      </p:sp>
    </p:spTree>
    <p:extLst>
      <p:ext uri="{BB962C8B-B14F-4D97-AF65-F5344CB8AC3E}">
        <p14:creationId xmlns:p14="http://schemas.microsoft.com/office/powerpoint/2010/main" val="24118974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None of these needed an exotic exploit. Uber: keys in a repo (Lab 1). Capital One: a misconfigured app plus the old metadata service (Lab 3). Codecov: a credential left in a Docker image. Microsoft: a storage link with far too much access.</a:t>
            </a:r>
            <a:endParaRPr lang="en-IN"/>
          </a:p>
        </p:txBody>
      </p:sp>
      <p:sp>
        <p:nvSpPr>
          <p:cNvPr id="4" name="Slide Number Placeholder 3"/>
          <p:cNvSpPr>
            <a:spLocks noGrp="1"/>
          </p:cNvSpPr>
          <p:nvPr>
            <p:ph type="sldNum" sz="quarter" idx="5"/>
          </p:nvPr>
        </p:nvSpPr>
        <p:spPr/>
        <p:txBody>
          <a:bodyPr/>
          <a:lstStyle/>
          <a:p>
            <a:fld id="{D03401A9-F739-4399-B3F0-F1DEF01A13EA}" type="slidenum">
              <a:rPr lang="en-IN" smtClean="0"/>
              <a:t>7</a:t>
            </a:fld>
            <a:endParaRPr lang="en-IN"/>
          </a:p>
        </p:txBody>
      </p:sp>
    </p:spTree>
    <p:extLst>
      <p:ext uri="{BB962C8B-B14F-4D97-AF65-F5344CB8AC3E}">
        <p14:creationId xmlns:p14="http://schemas.microsoft.com/office/powerpoint/2010/main" val="6067719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change starts on a laptop and ends in production. Labs 1 to 3 catch problems before deployment; Lab 4 deploys to a real AWS account and shows what can still go wrong after it.</a:t>
            </a:r>
            <a:endParaRPr lang="en-IN"/>
          </a:p>
        </p:txBody>
      </p:sp>
      <p:sp>
        <p:nvSpPr>
          <p:cNvPr id="4" name="Slide Number Placeholder 3"/>
          <p:cNvSpPr>
            <a:spLocks noGrp="1"/>
          </p:cNvSpPr>
          <p:nvPr>
            <p:ph type="sldNum" sz="quarter" idx="5"/>
          </p:nvPr>
        </p:nvSpPr>
        <p:spPr/>
        <p:txBody>
          <a:bodyPr/>
          <a:lstStyle/>
          <a:p>
            <a:fld id="{D03401A9-F739-4399-B3F0-F1DEF01A13EA}" type="slidenum">
              <a:rPr lang="en-IN" smtClean="0"/>
              <a:t>8</a:t>
            </a:fld>
            <a:endParaRPr lang="en-IN"/>
          </a:p>
        </p:txBody>
      </p:sp>
    </p:spTree>
    <p:extLst>
      <p:ext uri="{BB962C8B-B14F-4D97-AF65-F5344CB8AC3E}">
        <p14:creationId xmlns:p14="http://schemas.microsoft.com/office/powerpoint/2010/main" val="23302940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Any of these works; the labs only need Docker with Compose, and Git. Docker Desktop needs a paid licence in larger companies, which is why I use WSL2 with Docker Engine instead. Ask now if anyone did not get READY from the verify script.</a:t>
            </a:r>
            <a:endParaRPr lang="en-IN"/>
          </a:p>
        </p:txBody>
      </p:sp>
      <p:sp>
        <p:nvSpPr>
          <p:cNvPr id="4" name="Slide Number Placeholder 3"/>
          <p:cNvSpPr>
            <a:spLocks noGrp="1"/>
          </p:cNvSpPr>
          <p:nvPr>
            <p:ph type="sldNum" sz="quarter" idx="5"/>
          </p:nvPr>
        </p:nvSpPr>
        <p:spPr/>
        <p:txBody>
          <a:bodyPr/>
          <a:lstStyle/>
          <a:p>
            <a:fld id="{D03401A9-F739-4399-B3F0-F1DEF01A13EA}" type="slidenum">
              <a:rPr lang="en-IN" smtClean="0"/>
              <a:t>9</a:t>
            </a:fld>
            <a:endParaRPr lang="en-IN"/>
          </a:p>
        </p:txBody>
      </p:sp>
    </p:spTree>
    <p:extLst>
      <p:ext uri="{BB962C8B-B14F-4D97-AF65-F5344CB8AC3E}">
        <p14:creationId xmlns:p14="http://schemas.microsoft.com/office/powerpoint/2010/main" val="8374835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exactly what I am running. WSL2 runs Ubuntu in a small virtual machine; Docker Engine runs inside Ubuntu; the labs run in containers on top. I keep the kit on the Windows drive and open it in VS Code, so you can see the files on the projector.</a:t>
            </a:r>
            <a:endParaRPr lang="en-IN"/>
          </a:p>
        </p:txBody>
      </p:sp>
      <p:sp>
        <p:nvSpPr>
          <p:cNvPr id="4" name="Slide Number Placeholder 3"/>
          <p:cNvSpPr>
            <a:spLocks noGrp="1"/>
          </p:cNvSpPr>
          <p:nvPr>
            <p:ph type="sldNum" sz="quarter" idx="5"/>
          </p:nvPr>
        </p:nvSpPr>
        <p:spPr/>
        <p:txBody>
          <a:bodyPr/>
          <a:lstStyle/>
          <a:p>
            <a:fld id="{D03401A9-F739-4399-B3F0-F1DEF01A13EA}" type="slidenum">
              <a:rPr lang="en-IN" smtClean="0"/>
              <a:t>10</a:t>
            </a:fld>
            <a:endParaRPr lang="en-IN"/>
          </a:p>
        </p:txBody>
      </p:sp>
    </p:spTree>
    <p:extLst>
      <p:ext uri="{BB962C8B-B14F-4D97-AF65-F5344CB8AC3E}">
        <p14:creationId xmlns:p14="http://schemas.microsoft.com/office/powerpoint/2010/main" val="27710702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Everyone opens the toolbox now, from the kit folder. Anyone stuck pairs with a neighbour. Every lab follows the same four steps on the right.</a:t>
            </a:r>
            <a:endParaRPr lang="en-IN"/>
          </a:p>
        </p:txBody>
      </p:sp>
      <p:sp>
        <p:nvSpPr>
          <p:cNvPr id="4" name="Slide Number Placeholder 3"/>
          <p:cNvSpPr>
            <a:spLocks noGrp="1"/>
          </p:cNvSpPr>
          <p:nvPr>
            <p:ph type="sldNum" sz="quarter" idx="5"/>
          </p:nvPr>
        </p:nvSpPr>
        <p:spPr/>
        <p:txBody>
          <a:bodyPr/>
          <a:lstStyle/>
          <a:p>
            <a:fld id="{D03401A9-F739-4399-B3F0-F1DEF01A13EA}" type="slidenum">
              <a:rPr lang="en-IN" smtClean="0"/>
              <a:t>11</a:t>
            </a:fld>
            <a:endParaRPr lang="en-IN"/>
          </a:p>
        </p:txBody>
      </p:sp>
    </p:spTree>
    <p:extLst>
      <p:ext uri="{BB962C8B-B14F-4D97-AF65-F5344CB8AC3E}">
        <p14:creationId xmlns:p14="http://schemas.microsoft.com/office/powerpoint/2010/main" val="10362331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Lab 1. Open labs/lab1-secrets/README.md, or COMMANDS.md. Everyone follows the steps in the toolbox; I do the same on screen.</a:t>
            </a:r>
            <a:endParaRPr lang="en-IN"/>
          </a:p>
        </p:txBody>
      </p:sp>
      <p:sp>
        <p:nvSpPr>
          <p:cNvPr id="4" name="Slide Number Placeholder 3"/>
          <p:cNvSpPr>
            <a:spLocks noGrp="1"/>
          </p:cNvSpPr>
          <p:nvPr>
            <p:ph type="sldNum" sz="quarter" idx="5"/>
          </p:nvPr>
        </p:nvSpPr>
        <p:spPr/>
        <p:txBody>
          <a:bodyPr/>
          <a:lstStyle/>
          <a:p>
            <a:fld id="{D03401A9-F739-4399-B3F0-F1DEF01A13EA}" type="slidenum">
              <a:rPr lang="en-IN" smtClean="0"/>
              <a:t>12</a:t>
            </a:fld>
            <a:endParaRPr lang="en-IN"/>
          </a:p>
        </p:txBody>
      </p:sp>
    </p:spTree>
    <p:extLst>
      <p:ext uri="{BB962C8B-B14F-4D97-AF65-F5344CB8AC3E}">
        <p14:creationId xmlns:p14="http://schemas.microsoft.com/office/powerpoint/2010/main" val="31150086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up the story before anyone types. Ask the room: once the lines are deleted and committed, is the key safe? Most will say yes. The lab shows why not.</a:t>
            </a:r>
            <a:endParaRPr lang="en-IN"/>
          </a:p>
        </p:txBody>
      </p:sp>
      <p:sp>
        <p:nvSpPr>
          <p:cNvPr id="4" name="Slide Number Placeholder 3"/>
          <p:cNvSpPr>
            <a:spLocks noGrp="1"/>
          </p:cNvSpPr>
          <p:nvPr>
            <p:ph type="sldNum" sz="quarter" idx="5"/>
          </p:nvPr>
        </p:nvSpPr>
        <p:spPr/>
        <p:txBody>
          <a:bodyPr/>
          <a:lstStyle/>
          <a:p>
            <a:fld id="{D03401A9-F739-4399-B3F0-F1DEF01A13EA}" type="slidenum">
              <a:rPr lang="en-IN" smtClean="0"/>
              <a:t>13</a:t>
            </a:fld>
            <a:endParaRPr lang="en-IN"/>
          </a:p>
        </p:txBody>
      </p:sp>
    </p:spTree>
    <p:extLst>
      <p:ext uri="{BB962C8B-B14F-4D97-AF65-F5344CB8AC3E}">
        <p14:creationId xmlns:p14="http://schemas.microsoft.com/office/powerpoint/2010/main" val="15183410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"fix" commit hides the key from the current files, but gitleaks still finds it in history. Stress the order on the right: rotate first, clean up last. Secret scanners catch machine-generated keys well, and human-chosen passwords poorly.</a:t>
            </a:r>
            <a:endParaRPr lang="en-IN"/>
          </a:p>
        </p:txBody>
      </p:sp>
      <p:sp>
        <p:nvSpPr>
          <p:cNvPr id="4" name="Slide Number Placeholder 3"/>
          <p:cNvSpPr>
            <a:spLocks noGrp="1"/>
          </p:cNvSpPr>
          <p:nvPr>
            <p:ph type="sldNum" sz="quarter" idx="5"/>
          </p:nvPr>
        </p:nvSpPr>
        <p:spPr/>
        <p:txBody>
          <a:bodyPr/>
          <a:lstStyle/>
          <a:p>
            <a:fld id="{D03401A9-F739-4399-B3F0-F1DEF01A13EA}" type="slidenum">
              <a:rPr lang="en-IN" smtClean="0"/>
              <a:t>14</a:t>
            </a:fld>
            <a:endParaRPr lang="en-IN"/>
          </a:p>
        </p:txBody>
      </p:sp>
    </p:spTree>
    <p:extLst>
      <p:ext uri="{BB962C8B-B14F-4D97-AF65-F5344CB8AC3E}">
        <p14:creationId xmlns:p14="http://schemas.microsoft.com/office/powerpoint/2010/main" val="24690880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same commands are in COMMANDS.md and the Lab 1 README. The key in the last step is fake; it only looks real so gitleaks reacts to it.</a:t>
            </a:r>
            <a:endParaRPr lang="en-IN"/>
          </a:p>
        </p:txBody>
      </p:sp>
      <p:sp>
        <p:nvSpPr>
          <p:cNvPr id="4" name="Slide Number Placeholder 3"/>
          <p:cNvSpPr>
            <a:spLocks noGrp="1"/>
          </p:cNvSpPr>
          <p:nvPr>
            <p:ph type="sldNum" sz="quarter" idx="5"/>
          </p:nvPr>
        </p:nvSpPr>
        <p:spPr/>
        <p:txBody>
          <a:bodyPr/>
          <a:lstStyle/>
          <a:p>
            <a:fld id="{D03401A9-F739-4399-B3F0-F1DEF01A13EA}" type="slidenum">
              <a:rPr lang="en-IN" smtClean="0"/>
              <a:t>15</a:t>
            </a:fld>
            <a:endParaRPr lang="en-IN"/>
          </a:p>
        </p:txBody>
      </p:sp>
    </p:spTree>
    <p:extLst>
      <p:ext uri="{BB962C8B-B14F-4D97-AF65-F5344CB8AC3E}">
        <p14:creationId xmlns:p14="http://schemas.microsoft.com/office/powerpoint/2010/main" val="16094451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Lab 2. Everyone opens labs/lab2-insecure-code/start/report_service.py in VS Code. I run SonarQube on my screen.</a:t>
            </a:r>
            <a:endParaRPr lang="en-IN"/>
          </a:p>
        </p:txBody>
      </p:sp>
      <p:sp>
        <p:nvSpPr>
          <p:cNvPr id="4" name="Slide Number Placeholder 3"/>
          <p:cNvSpPr>
            <a:spLocks noGrp="1"/>
          </p:cNvSpPr>
          <p:nvPr>
            <p:ph type="sldNum" sz="quarter" idx="5"/>
          </p:nvPr>
        </p:nvSpPr>
        <p:spPr/>
        <p:txBody>
          <a:bodyPr/>
          <a:lstStyle/>
          <a:p>
            <a:fld id="{D03401A9-F739-4399-B3F0-F1DEF01A13EA}" type="slidenum">
              <a:rPr lang="en-IN" smtClean="0"/>
              <a:t>16</a:t>
            </a:fld>
            <a:endParaRPr lang="en-IN"/>
          </a:p>
        </p:txBody>
      </p:sp>
    </p:spTree>
    <p:extLst>
      <p:ext uri="{BB962C8B-B14F-4D97-AF65-F5344CB8AC3E}">
        <p14:creationId xmlns:p14="http://schemas.microsoft.com/office/powerpoint/2010/main" val="40345621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Frame it: code review alone misses these, because the code looks normal. A scanner reads every line, every time.</a:t>
            </a:r>
            <a:endParaRPr lang="en-IN"/>
          </a:p>
        </p:txBody>
      </p:sp>
      <p:sp>
        <p:nvSpPr>
          <p:cNvPr id="4" name="Slide Number Placeholder 3"/>
          <p:cNvSpPr>
            <a:spLocks noGrp="1"/>
          </p:cNvSpPr>
          <p:nvPr>
            <p:ph type="sldNum" sz="quarter" idx="5"/>
          </p:nvPr>
        </p:nvSpPr>
        <p:spPr/>
        <p:txBody>
          <a:bodyPr/>
          <a:lstStyle/>
          <a:p>
            <a:fld id="{D03401A9-F739-4399-B3F0-F1DEF01A13EA}" type="slidenum">
              <a:rPr lang="en-IN" smtClean="0"/>
              <a:t>17</a:t>
            </a:fld>
            <a:endParaRPr lang="en-IN"/>
          </a:p>
        </p:txBody>
      </p:sp>
    </p:spTree>
    <p:extLst>
      <p:ext uri="{BB962C8B-B14F-4D97-AF65-F5344CB8AC3E}">
        <p14:creationId xmlns:p14="http://schemas.microsoft.com/office/powerpoint/2010/main" val="33114308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These six families cover the roughly twenty problems in the file; each one has a RISK comment in the code. Give the room a minute to read before showing SonarQube. The three to explain in depth: command injection, eval, and predictable tokens.</a:t>
            </a:r>
            <a:endParaRPr lang="en-IN"/>
          </a:p>
        </p:txBody>
      </p:sp>
      <p:sp>
        <p:nvSpPr>
          <p:cNvPr id="4" name="Slide Number Placeholder 3"/>
          <p:cNvSpPr>
            <a:spLocks noGrp="1"/>
          </p:cNvSpPr>
          <p:nvPr>
            <p:ph type="sldNum" sz="quarter" idx="5"/>
          </p:nvPr>
        </p:nvSpPr>
        <p:spPr/>
        <p:txBody>
          <a:bodyPr/>
          <a:lstStyle/>
          <a:p>
            <a:fld id="{D03401A9-F739-4399-B3F0-F1DEF01A13EA}" type="slidenum">
              <a:rPr lang="en-IN" smtClean="0"/>
              <a:t>18</a:t>
            </a:fld>
            <a:endParaRPr lang="en-IN"/>
          </a:p>
        </p:txBody>
      </p:sp>
    </p:spTree>
    <p:extLst>
      <p:ext uri="{BB962C8B-B14F-4D97-AF65-F5344CB8AC3E}">
        <p14:creationId xmlns:p14="http://schemas.microsoft.com/office/powerpoint/2010/main" val="3049627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Switch to the SonarQube tab. Projects list: start Failed, solution side by side. Open start, Issues, filter by Security, click one. Then Security Hotspots. Then in the solution project, review the remaining hotspots live and mark them Safe with a reason: the gate turns Passed.</a:t>
            </a:r>
            <a:endParaRPr lang="en-IN"/>
          </a:p>
        </p:txBody>
      </p:sp>
      <p:sp>
        <p:nvSpPr>
          <p:cNvPr id="4" name="Slide Number Placeholder 3"/>
          <p:cNvSpPr>
            <a:spLocks noGrp="1"/>
          </p:cNvSpPr>
          <p:nvPr>
            <p:ph type="sldNum" sz="quarter" idx="5"/>
          </p:nvPr>
        </p:nvSpPr>
        <p:spPr/>
        <p:txBody>
          <a:bodyPr/>
          <a:lstStyle/>
          <a:p>
            <a:fld id="{D03401A9-F739-4399-B3F0-F1DEF01A13EA}" type="slidenum">
              <a:rPr lang="en-IN" smtClean="0"/>
              <a:t>19</a:t>
            </a:fld>
            <a:endParaRPr lang="en-IN"/>
          </a:p>
        </p:txBody>
      </p:sp>
    </p:spTree>
    <p:extLst>
      <p:ext uri="{BB962C8B-B14F-4D97-AF65-F5344CB8AC3E}">
        <p14:creationId xmlns:p14="http://schemas.microsoft.com/office/powerpoint/2010/main" val="42705784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Participants only need VS Code for this lab. The SonarQube steps are mine, run before the session; the results are stored, so on the day I only start SonarQube and open the browser. Full details in FACILITATOR.md.</a:t>
            </a:r>
            <a:endParaRPr lang="en-IN"/>
          </a:p>
        </p:txBody>
      </p:sp>
      <p:sp>
        <p:nvSpPr>
          <p:cNvPr id="4" name="Slide Number Placeholder 3"/>
          <p:cNvSpPr>
            <a:spLocks noGrp="1"/>
          </p:cNvSpPr>
          <p:nvPr>
            <p:ph type="sldNum" sz="quarter" idx="5"/>
          </p:nvPr>
        </p:nvSpPr>
        <p:spPr/>
        <p:txBody>
          <a:bodyPr/>
          <a:lstStyle/>
          <a:p>
            <a:fld id="{D03401A9-F739-4399-B3F0-F1DEF01A13EA}" type="slidenum">
              <a:rPr lang="en-IN" smtClean="0"/>
              <a:t>20</a:t>
            </a:fld>
            <a:endParaRPr lang="en-IN"/>
          </a:p>
        </p:txBody>
      </p:sp>
    </p:spTree>
    <p:extLst>
      <p:ext uri="{BB962C8B-B14F-4D97-AF65-F5344CB8AC3E}">
        <p14:creationId xmlns:p14="http://schemas.microsoft.com/office/powerpoint/2010/main" val="32604090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Lab 3. Open labs/lab3-ci-gate/start/main.tf and solution/main.tf side by side. Nothing touches AWS: Checkov only reads the files.</a:t>
            </a:r>
            <a:endParaRPr lang="en-IN"/>
          </a:p>
        </p:txBody>
      </p:sp>
      <p:sp>
        <p:nvSpPr>
          <p:cNvPr id="4" name="Slide Number Placeholder 3"/>
          <p:cNvSpPr>
            <a:spLocks noGrp="1"/>
          </p:cNvSpPr>
          <p:nvPr>
            <p:ph type="sldNum" sz="quarter" idx="5"/>
          </p:nvPr>
        </p:nvSpPr>
        <p:spPr/>
        <p:txBody>
          <a:bodyPr/>
          <a:lstStyle/>
          <a:p>
            <a:fld id="{D03401A9-F739-4399-B3F0-F1DEF01A13EA}" type="slidenum">
              <a:rPr lang="en-IN" smtClean="0"/>
              <a:t>21</a:t>
            </a:fld>
            <a:endParaRPr lang="en-IN"/>
          </a:p>
        </p:txBody>
      </p:sp>
    </p:spTree>
    <p:extLst>
      <p:ext uri="{BB962C8B-B14F-4D97-AF65-F5344CB8AC3E}">
        <p14:creationId xmlns:p14="http://schemas.microsoft.com/office/powerpoint/2010/main" val="6832065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Connect back to the building blocks: storage, network, compute and identity all appear in this one file. The question for the room: would you let this deploy?</a:t>
            </a:r>
            <a:endParaRPr lang="en-IN"/>
          </a:p>
        </p:txBody>
      </p:sp>
      <p:sp>
        <p:nvSpPr>
          <p:cNvPr id="4" name="Slide Number Placeholder 3"/>
          <p:cNvSpPr>
            <a:spLocks noGrp="1"/>
          </p:cNvSpPr>
          <p:nvPr>
            <p:ph type="sldNum" sz="quarter" idx="5"/>
          </p:nvPr>
        </p:nvSpPr>
        <p:spPr/>
        <p:txBody>
          <a:bodyPr/>
          <a:lstStyle/>
          <a:p>
            <a:fld id="{D03401A9-F739-4399-B3F0-F1DEF01A13EA}" type="slidenum">
              <a:rPr lang="en-IN" smtClean="0"/>
              <a:t>22</a:t>
            </a:fld>
            <a:endParaRPr lang="en-IN"/>
          </a:p>
        </p:txBody>
      </p:sp>
    </p:spTree>
    <p:extLst>
      <p:ext uri="{BB962C8B-B14F-4D97-AF65-F5344CB8AC3E}">
        <p14:creationId xmlns:p14="http://schemas.microsoft.com/office/powerpoint/2010/main" val="1307040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Walk through the RISK lines in main.tf. The IMDSv1 row is the Capital One path. Run Checkov with the must-fix list on start: it fails. Run it on solution: it passes. Compare the two files side by side in VS Code.</a:t>
            </a:r>
            <a:endParaRPr lang="en-IN"/>
          </a:p>
        </p:txBody>
      </p:sp>
      <p:sp>
        <p:nvSpPr>
          <p:cNvPr id="4" name="Slide Number Placeholder 3"/>
          <p:cNvSpPr>
            <a:spLocks noGrp="1"/>
          </p:cNvSpPr>
          <p:nvPr>
            <p:ph type="sldNum" sz="quarter" idx="5"/>
          </p:nvPr>
        </p:nvSpPr>
        <p:spPr/>
        <p:txBody>
          <a:bodyPr/>
          <a:lstStyle/>
          <a:p>
            <a:fld id="{D03401A9-F739-4399-B3F0-F1DEF01A13EA}" type="slidenum">
              <a:rPr lang="en-IN" smtClean="0"/>
              <a:t>23</a:t>
            </a:fld>
            <a:endParaRPr lang="en-IN"/>
          </a:p>
        </p:txBody>
      </p:sp>
    </p:spTree>
    <p:extLst>
      <p:ext uri="{BB962C8B-B14F-4D97-AF65-F5344CB8AC3E}">
        <p14:creationId xmlns:p14="http://schemas.microsoft.com/office/powerpoint/2010/main" val="317821334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Switch to Jenkins. Build Now on the insecure version: red, Deploy skipped; show the console output. Apply the fixes and build again: green. Then the bridge to Lab 4: deploy is simulated here, so what can still go wrong once it is real?</a:t>
            </a:r>
            <a:endParaRPr lang="en-IN"/>
          </a:p>
        </p:txBody>
      </p:sp>
      <p:sp>
        <p:nvSpPr>
          <p:cNvPr id="4" name="Slide Number Placeholder 3"/>
          <p:cNvSpPr>
            <a:spLocks noGrp="1"/>
          </p:cNvSpPr>
          <p:nvPr>
            <p:ph type="sldNum" sz="quarter" idx="5"/>
          </p:nvPr>
        </p:nvSpPr>
        <p:spPr/>
        <p:txBody>
          <a:bodyPr/>
          <a:lstStyle/>
          <a:p>
            <a:fld id="{D03401A9-F739-4399-B3F0-F1DEF01A13EA}" type="slidenum">
              <a:rPr lang="en-IN" smtClean="0"/>
              <a:t>24</a:t>
            </a:fld>
            <a:endParaRPr lang="en-IN"/>
          </a:p>
        </p:txBody>
      </p:sp>
    </p:spTree>
    <p:extLst>
      <p:ext uri="{BB962C8B-B14F-4D97-AF65-F5344CB8AC3E}">
        <p14:creationId xmlns:p14="http://schemas.microsoft.com/office/powerpoint/2010/main" val="244671656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Participants run the top block. The bottom block is the Jenkins demo; the job setup is in FACILITATOR.md. Everything is also in COMMANDS.md.</a:t>
            </a:r>
            <a:endParaRPr lang="en-IN"/>
          </a:p>
        </p:txBody>
      </p:sp>
      <p:sp>
        <p:nvSpPr>
          <p:cNvPr id="4" name="Slide Number Placeholder 3"/>
          <p:cNvSpPr>
            <a:spLocks noGrp="1"/>
          </p:cNvSpPr>
          <p:nvPr>
            <p:ph type="sldNum" sz="quarter" idx="5"/>
          </p:nvPr>
        </p:nvSpPr>
        <p:spPr/>
        <p:txBody>
          <a:bodyPr/>
          <a:lstStyle/>
          <a:p>
            <a:fld id="{D03401A9-F739-4399-B3F0-F1DEF01A13EA}" type="slidenum">
              <a:rPr lang="en-IN" smtClean="0"/>
              <a:t>25</a:t>
            </a:fld>
            <a:endParaRPr lang="en-IN"/>
          </a:p>
        </p:txBody>
      </p:sp>
    </p:spTree>
    <p:extLst>
      <p:ext uri="{BB962C8B-B14F-4D97-AF65-F5344CB8AC3E}">
        <p14:creationId xmlns:p14="http://schemas.microsoft.com/office/powerpoint/2010/main" val="40121568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Lab 4. My screen: a real AWS account. Phones ready: you will need them in a few minutes.</a:t>
            </a:r>
            <a:endParaRPr lang="en-IN"/>
          </a:p>
        </p:txBody>
      </p:sp>
      <p:sp>
        <p:nvSpPr>
          <p:cNvPr id="4" name="Slide Number Placeholder 3"/>
          <p:cNvSpPr>
            <a:spLocks noGrp="1"/>
          </p:cNvSpPr>
          <p:nvPr>
            <p:ph type="sldNum" sz="quarter" idx="5"/>
          </p:nvPr>
        </p:nvSpPr>
        <p:spPr/>
        <p:txBody>
          <a:bodyPr/>
          <a:lstStyle/>
          <a:p>
            <a:fld id="{D03401A9-F739-4399-B3F0-F1DEF01A13EA}" type="slidenum">
              <a:rPr lang="en-IN" smtClean="0"/>
              <a:t>26</a:t>
            </a:fld>
            <a:endParaRPr lang="en-IN"/>
          </a:p>
        </p:txBody>
      </p:sp>
    </p:spTree>
    <p:extLst>
      <p:ext uri="{BB962C8B-B14F-4D97-AF65-F5344CB8AC3E}">
        <p14:creationId xmlns:p14="http://schemas.microsoft.com/office/powerpoint/2010/main" val="13227347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up the twist: Labs 1 to 3 stopped bad code before deployment. This one starts with good code, deployed. The question for the room: once it is live, what can still go wrong?</a:t>
            </a:r>
            <a:endParaRPr lang="en-IN"/>
          </a:p>
        </p:txBody>
      </p:sp>
      <p:sp>
        <p:nvSpPr>
          <p:cNvPr id="4" name="Slide Number Placeholder 3"/>
          <p:cNvSpPr>
            <a:spLocks noGrp="1"/>
          </p:cNvSpPr>
          <p:nvPr>
            <p:ph type="sldNum" sz="quarter" idx="5"/>
          </p:nvPr>
        </p:nvSpPr>
        <p:spPr/>
        <p:txBody>
          <a:bodyPr/>
          <a:lstStyle/>
          <a:p>
            <a:fld id="{D03401A9-F739-4399-B3F0-F1DEF01A13EA}" type="slidenum">
              <a:rPr lang="en-IN" smtClean="0"/>
              <a:t>27</a:t>
            </a:fld>
            <a:endParaRPr lang="en-IN"/>
          </a:p>
        </p:txBody>
      </p:sp>
    </p:spTree>
    <p:extLst>
      <p:ext uri="{BB962C8B-B14F-4D97-AF65-F5344CB8AC3E}">
        <p14:creationId xmlns:p14="http://schemas.microsoft.com/office/powerpoint/2010/main" val="50123307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Run the demo now, following labs/lab4-into-the-cloud/README.md. Step 3 is the moment: everyone scans the QR code from drift.sh and the confidential page opens on their phone. After terraform apply, ask them to refresh: Access Denied. Point out that no scanner from Labs 1 to 3 could have caught this, because the code never changed.</a:t>
            </a:r>
            <a:endParaRPr lang="en-IN"/>
          </a:p>
        </p:txBody>
      </p:sp>
      <p:sp>
        <p:nvSpPr>
          <p:cNvPr id="4" name="Slide Number Placeholder 3"/>
          <p:cNvSpPr>
            <a:spLocks noGrp="1"/>
          </p:cNvSpPr>
          <p:nvPr>
            <p:ph type="sldNum" sz="quarter" idx="5"/>
          </p:nvPr>
        </p:nvSpPr>
        <p:spPr/>
        <p:txBody>
          <a:bodyPr/>
          <a:lstStyle/>
          <a:p>
            <a:fld id="{D03401A9-F739-4399-B3F0-F1DEF01A13EA}" type="slidenum">
              <a:rPr lang="en-IN" smtClean="0"/>
              <a:t>28</a:t>
            </a:fld>
            <a:endParaRPr lang="en-IN"/>
          </a:p>
        </p:txBody>
      </p:sp>
    </p:spTree>
    <p:extLst>
      <p:ext uri="{BB962C8B-B14F-4D97-AF65-F5344CB8AC3E}">
        <p14:creationId xmlns:p14="http://schemas.microsoft.com/office/powerpoint/2010/main" val="175418179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Bring it back to slide 6. AWS did its part perfectly: Block Public Access, security groups and IAM all worked exactly as designed. Every problem was a decision on our side of the line.</a:t>
            </a:r>
            <a:endParaRPr lang="en-IN"/>
          </a:p>
        </p:txBody>
      </p:sp>
      <p:sp>
        <p:nvSpPr>
          <p:cNvPr id="4" name="Slide Number Placeholder 3"/>
          <p:cNvSpPr>
            <a:spLocks noGrp="1"/>
          </p:cNvSpPr>
          <p:nvPr>
            <p:ph type="sldNum" sz="quarter" idx="5"/>
          </p:nvPr>
        </p:nvSpPr>
        <p:spPr/>
        <p:txBody>
          <a:bodyPr/>
          <a:lstStyle/>
          <a:p>
            <a:fld id="{D03401A9-F739-4399-B3F0-F1DEF01A13EA}" type="slidenum">
              <a:rPr lang="en-IN" smtClean="0"/>
              <a:t>29</a:t>
            </a:fld>
            <a:endParaRPr lang="en-IN"/>
          </a:p>
        </p:txBody>
      </p:sp>
    </p:spTree>
    <p:extLst>
      <p:ext uri="{BB962C8B-B14F-4D97-AF65-F5344CB8AC3E}">
        <p14:creationId xmlns:p14="http://schemas.microsoft.com/office/powerpoint/2010/main" val="16690468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full version, with the public and presigned link checks, is in labs/lab4-into-the-cloud/README.md and COMMANDS.md.</a:t>
            </a:r>
            <a:endParaRPr lang="en-IN"/>
          </a:p>
        </p:txBody>
      </p:sp>
      <p:sp>
        <p:nvSpPr>
          <p:cNvPr id="4" name="Slide Number Placeholder 3"/>
          <p:cNvSpPr>
            <a:spLocks noGrp="1"/>
          </p:cNvSpPr>
          <p:nvPr>
            <p:ph type="sldNum" sz="quarter" idx="5"/>
          </p:nvPr>
        </p:nvSpPr>
        <p:spPr/>
        <p:txBody>
          <a:bodyPr/>
          <a:lstStyle/>
          <a:p>
            <a:fld id="{D03401A9-F739-4399-B3F0-F1DEF01A13EA}" type="slidenum">
              <a:rPr lang="en-IN" smtClean="0"/>
              <a:t>30</a:t>
            </a:fld>
            <a:endParaRPr lang="en-IN"/>
          </a:p>
        </p:txBody>
      </p:sp>
    </p:spTree>
    <p:extLst>
      <p:ext uri="{BB962C8B-B14F-4D97-AF65-F5344CB8AC3E}">
        <p14:creationId xmlns:p14="http://schemas.microsoft.com/office/powerpoint/2010/main" val="60526005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Recap the five points. Everything, including every command, is in the repo. Collect any parking-lot questions and promise follow-up answers.</a:t>
            </a:r>
            <a:endParaRPr lang="en-IN"/>
          </a:p>
        </p:txBody>
      </p:sp>
      <p:sp>
        <p:nvSpPr>
          <p:cNvPr id="4" name="Slide Number Placeholder 3"/>
          <p:cNvSpPr>
            <a:spLocks noGrp="1"/>
          </p:cNvSpPr>
          <p:nvPr>
            <p:ph type="sldNum" sz="quarter" idx="5"/>
          </p:nvPr>
        </p:nvSpPr>
        <p:spPr/>
        <p:txBody>
          <a:bodyPr/>
          <a:lstStyle/>
          <a:p>
            <a:fld id="{D03401A9-F739-4399-B3F0-F1DEF01A13EA}" type="slidenum">
              <a:rPr lang="en-IN" smtClean="0"/>
              <a:t>31</a:t>
            </a:fld>
            <a:endParaRPr lang="en-IN"/>
          </a:p>
        </p:txBody>
      </p:sp>
    </p:spTree>
    <p:extLst>
      <p:ext uri="{BB962C8B-B14F-4D97-AF65-F5344CB8AC3E}">
        <p14:creationId xmlns:p14="http://schemas.microsoft.com/office/powerpoint/2010/main" val="3512160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7E682-BCC4-70B0-289C-85CE7783107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D2F3B59-63E7-7360-00AD-23AB4516749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B56BDDF-1FC8-26BA-4E29-3C90D28E2080}"/>
              </a:ext>
            </a:extLst>
          </p:cNvPr>
          <p:cNvSpPr>
            <a:spLocks noGrp="1"/>
          </p:cNvSpPr>
          <p:nvPr>
            <p:ph type="dt" sz="half" idx="10"/>
          </p:nvPr>
        </p:nvSpPr>
        <p:spPr/>
        <p:txBody>
          <a:bodyPr/>
          <a:lstStyle/>
          <a:p>
            <a:fld id="{A470323B-516A-4FB3-A316-D0603B011830}" type="datetimeFigureOut">
              <a:rPr lang="en-IN" smtClean="0"/>
              <a:t>22-10-2026</a:t>
            </a:fld>
            <a:endParaRPr lang="en-IN"/>
          </a:p>
        </p:txBody>
      </p:sp>
      <p:sp>
        <p:nvSpPr>
          <p:cNvPr id="5" name="Footer Placeholder 4">
            <a:extLst>
              <a:ext uri="{FF2B5EF4-FFF2-40B4-BE49-F238E27FC236}">
                <a16:creationId xmlns:a16="http://schemas.microsoft.com/office/drawing/2014/main" id="{785DE4C1-C82F-FE23-44C6-5745D106CD3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250FC3C-4A2F-5385-179F-B1BC3AA0032E}"/>
              </a:ext>
            </a:extLst>
          </p:cNvPr>
          <p:cNvSpPr>
            <a:spLocks noGrp="1"/>
          </p:cNvSpPr>
          <p:nvPr>
            <p:ph type="sldNum" sz="quarter" idx="12"/>
          </p:nvPr>
        </p:nvSpPr>
        <p:spPr/>
        <p:txBody>
          <a:bodyPr/>
          <a:lstStyle/>
          <a:p>
            <a:fld id="{34FC67D9-8533-4EDF-A1A8-A47BD49A03E7}" type="slidenum">
              <a:rPr lang="en-IN" smtClean="0"/>
              <a:t>‹#›</a:t>
            </a:fld>
            <a:endParaRPr lang="en-IN"/>
          </a:p>
        </p:txBody>
      </p:sp>
    </p:spTree>
    <p:extLst>
      <p:ext uri="{BB962C8B-B14F-4D97-AF65-F5344CB8AC3E}">
        <p14:creationId xmlns:p14="http://schemas.microsoft.com/office/powerpoint/2010/main" val="6097167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393DC-8355-F935-C0E9-B124FEBFD08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E18F0A4-ED00-9AF6-187A-9B4C1DAF00B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077211-B830-DF88-5C32-D875BF37FD35}"/>
              </a:ext>
            </a:extLst>
          </p:cNvPr>
          <p:cNvSpPr>
            <a:spLocks noGrp="1"/>
          </p:cNvSpPr>
          <p:nvPr>
            <p:ph type="dt" sz="half" idx="10"/>
          </p:nvPr>
        </p:nvSpPr>
        <p:spPr/>
        <p:txBody>
          <a:bodyPr/>
          <a:lstStyle/>
          <a:p>
            <a:fld id="{A470323B-516A-4FB3-A316-D0603B011830}" type="datetimeFigureOut">
              <a:rPr lang="en-IN" smtClean="0"/>
              <a:t>22-10-2026</a:t>
            </a:fld>
            <a:endParaRPr lang="en-IN"/>
          </a:p>
        </p:txBody>
      </p:sp>
      <p:sp>
        <p:nvSpPr>
          <p:cNvPr id="5" name="Footer Placeholder 4">
            <a:extLst>
              <a:ext uri="{FF2B5EF4-FFF2-40B4-BE49-F238E27FC236}">
                <a16:creationId xmlns:a16="http://schemas.microsoft.com/office/drawing/2014/main" id="{FDC230AB-BC7B-7E40-7BF1-D5E0B500542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444BC6-9223-D778-8339-EB3F77779919}"/>
              </a:ext>
            </a:extLst>
          </p:cNvPr>
          <p:cNvSpPr>
            <a:spLocks noGrp="1"/>
          </p:cNvSpPr>
          <p:nvPr>
            <p:ph type="sldNum" sz="quarter" idx="12"/>
          </p:nvPr>
        </p:nvSpPr>
        <p:spPr/>
        <p:txBody>
          <a:bodyPr/>
          <a:lstStyle/>
          <a:p>
            <a:fld id="{34FC67D9-8533-4EDF-A1A8-A47BD49A03E7}" type="slidenum">
              <a:rPr lang="en-IN" smtClean="0"/>
              <a:t>‹#›</a:t>
            </a:fld>
            <a:endParaRPr lang="en-IN"/>
          </a:p>
        </p:txBody>
      </p:sp>
    </p:spTree>
    <p:extLst>
      <p:ext uri="{BB962C8B-B14F-4D97-AF65-F5344CB8AC3E}">
        <p14:creationId xmlns:p14="http://schemas.microsoft.com/office/powerpoint/2010/main" val="24639299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018DA-F6CE-4056-B0E0-F73DB600B54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D7356A7-03C7-59F4-7578-23CE34321B8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CFA30B4-A3CD-E2D1-0EAE-72BA505B25B5}"/>
              </a:ext>
            </a:extLst>
          </p:cNvPr>
          <p:cNvSpPr>
            <a:spLocks noGrp="1"/>
          </p:cNvSpPr>
          <p:nvPr>
            <p:ph type="dt" sz="half" idx="10"/>
          </p:nvPr>
        </p:nvSpPr>
        <p:spPr/>
        <p:txBody>
          <a:bodyPr/>
          <a:lstStyle/>
          <a:p>
            <a:fld id="{A470323B-516A-4FB3-A316-D0603B011830}" type="datetimeFigureOut">
              <a:rPr lang="en-IN" smtClean="0"/>
              <a:t>22-10-2026</a:t>
            </a:fld>
            <a:endParaRPr lang="en-IN"/>
          </a:p>
        </p:txBody>
      </p:sp>
      <p:sp>
        <p:nvSpPr>
          <p:cNvPr id="5" name="Footer Placeholder 4">
            <a:extLst>
              <a:ext uri="{FF2B5EF4-FFF2-40B4-BE49-F238E27FC236}">
                <a16:creationId xmlns:a16="http://schemas.microsoft.com/office/drawing/2014/main" id="{0FE97928-E362-AA13-C2FD-12BA6A5E8DE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6DA1FE2-6D70-7E2A-A888-A4E16C650C9D}"/>
              </a:ext>
            </a:extLst>
          </p:cNvPr>
          <p:cNvSpPr>
            <a:spLocks noGrp="1"/>
          </p:cNvSpPr>
          <p:nvPr>
            <p:ph type="sldNum" sz="quarter" idx="12"/>
          </p:nvPr>
        </p:nvSpPr>
        <p:spPr/>
        <p:txBody>
          <a:bodyPr/>
          <a:lstStyle/>
          <a:p>
            <a:fld id="{34FC67D9-8533-4EDF-A1A8-A47BD49A03E7}" type="slidenum">
              <a:rPr lang="en-IN" smtClean="0"/>
              <a:t>‹#›</a:t>
            </a:fld>
            <a:endParaRPr lang="en-IN"/>
          </a:p>
        </p:txBody>
      </p:sp>
    </p:spTree>
    <p:extLst>
      <p:ext uri="{BB962C8B-B14F-4D97-AF65-F5344CB8AC3E}">
        <p14:creationId xmlns:p14="http://schemas.microsoft.com/office/powerpoint/2010/main" val="14772523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66EE6-6AA4-8197-028A-D94F83AE61A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367A240-C7EA-B865-9BF0-31D1023476E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3BB3531-FAD8-6ADF-C898-B8811254E16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9790923-A039-9C99-FDB0-381ED3D32F31}"/>
              </a:ext>
            </a:extLst>
          </p:cNvPr>
          <p:cNvSpPr>
            <a:spLocks noGrp="1"/>
          </p:cNvSpPr>
          <p:nvPr>
            <p:ph type="dt" sz="half" idx="10"/>
          </p:nvPr>
        </p:nvSpPr>
        <p:spPr/>
        <p:txBody>
          <a:bodyPr/>
          <a:lstStyle/>
          <a:p>
            <a:fld id="{A470323B-516A-4FB3-A316-D0603B011830}" type="datetimeFigureOut">
              <a:rPr lang="en-IN" smtClean="0"/>
              <a:t>22-10-2026</a:t>
            </a:fld>
            <a:endParaRPr lang="en-IN"/>
          </a:p>
        </p:txBody>
      </p:sp>
      <p:sp>
        <p:nvSpPr>
          <p:cNvPr id="6" name="Footer Placeholder 5">
            <a:extLst>
              <a:ext uri="{FF2B5EF4-FFF2-40B4-BE49-F238E27FC236}">
                <a16:creationId xmlns:a16="http://schemas.microsoft.com/office/drawing/2014/main" id="{8436DF41-B6B0-B129-06D6-8B5DE94090F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80C8797-DE0F-8C6C-5661-CA066ACF87A9}"/>
              </a:ext>
            </a:extLst>
          </p:cNvPr>
          <p:cNvSpPr>
            <a:spLocks noGrp="1"/>
          </p:cNvSpPr>
          <p:nvPr>
            <p:ph type="sldNum" sz="quarter" idx="12"/>
          </p:nvPr>
        </p:nvSpPr>
        <p:spPr/>
        <p:txBody>
          <a:bodyPr/>
          <a:lstStyle/>
          <a:p>
            <a:fld id="{34FC67D9-8533-4EDF-A1A8-A47BD49A03E7}" type="slidenum">
              <a:rPr lang="en-IN" smtClean="0"/>
              <a:t>‹#›</a:t>
            </a:fld>
            <a:endParaRPr lang="en-IN"/>
          </a:p>
        </p:txBody>
      </p:sp>
    </p:spTree>
    <p:extLst>
      <p:ext uri="{BB962C8B-B14F-4D97-AF65-F5344CB8AC3E}">
        <p14:creationId xmlns:p14="http://schemas.microsoft.com/office/powerpoint/2010/main" val="33710781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6899E-B254-AFF9-6602-89EAFEEC130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4E42AC1-E092-0E9A-353B-EAAC6BC8AE6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1691788-9C8D-F8F4-80D1-DA796E22B6B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ED4A308-1BDD-FE43-AB6D-11E5E232650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EE30D9A-E5A5-2651-2CBD-6027FA14A0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D3DD14B-782E-FE3E-020E-D50AF70E48A4}"/>
              </a:ext>
            </a:extLst>
          </p:cNvPr>
          <p:cNvSpPr>
            <a:spLocks noGrp="1"/>
          </p:cNvSpPr>
          <p:nvPr>
            <p:ph type="dt" sz="half" idx="10"/>
          </p:nvPr>
        </p:nvSpPr>
        <p:spPr/>
        <p:txBody>
          <a:bodyPr/>
          <a:lstStyle/>
          <a:p>
            <a:fld id="{A470323B-516A-4FB3-A316-D0603B011830}" type="datetimeFigureOut">
              <a:rPr lang="en-IN" smtClean="0"/>
              <a:t>22-10-2026</a:t>
            </a:fld>
            <a:endParaRPr lang="en-IN"/>
          </a:p>
        </p:txBody>
      </p:sp>
      <p:sp>
        <p:nvSpPr>
          <p:cNvPr id="8" name="Footer Placeholder 7">
            <a:extLst>
              <a:ext uri="{FF2B5EF4-FFF2-40B4-BE49-F238E27FC236}">
                <a16:creationId xmlns:a16="http://schemas.microsoft.com/office/drawing/2014/main" id="{BFEBC5BB-958D-F076-E9E8-7264F4FA248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28D8A9E-B9ED-62CD-8B07-EA312652ECD0}"/>
              </a:ext>
            </a:extLst>
          </p:cNvPr>
          <p:cNvSpPr>
            <a:spLocks noGrp="1"/>
          </p:cNvSpPr>
          <p:nvPr>
            <p:ph type="sldNum" sz="quarter" idx="12"/>
          </p:nvPr>
        </p:nvSpPr>
        <p:spPr/>
        <p:txBody>
          <a:bodyPr/>
          <a:lstStyle/>
          <a:p>
            <a:fld id="{34FC67D9-8533-4EDF-A1A8-A47BD49A03E7}" type="slidenum">
              <a:rPr lang="en-IN" smtClean="0"/>
              <a:t>‹#›</a:t>
            </a:fld>
            <a:endParaRPr lang="en-IN"/>
          </a:p>
        </p:txBody>
      </p:sp>
    </p:spTree>
    <p:extLst>
      <p:ext uri="{BB962C8B-B14F-4D97-AF65-F5344CB8AC3E}">
        <p14:creationId xmlns:p14="http://schemas.microsoft.com/office/powerpoint/2010/main" val="4273564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F9B9E-B7BA-A745-FA62-4A9E04E1FAB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31C1CA4-9991-5811-DF31-C8AAAD529E5F}"/>
              </a:ext>
            </a:extLst>
          </p:cNvPr>
          <p:cNvSpPr>
            <a:spLocks noGrp="1"/>
          </p:cNvSpPr>
          <p:nvPr>
            <p:ph type="dt" sz="half" idx="10"/>
          </p:nvPr>
        </p:nvSpPr>
        <p:spPr/>
        <p:txBody>
          <a:bodyPr/>
          <a:lstStyle/>
          <a:p>
            <a:fld id="{A470323B-516A-4FB3-A316-D0603B011830}" type="datetimeFigureOut">
              <a:rPr lang="en-IN" smtClean="0"/>
              <a:t>22-10-2026</a:t>
            </a:fld>
            <a:endParaRPr lang="en-IN"/>
          </a:p>
        </p:txBody>
      </p:sp>
      <p:sp>
        <p:nvSpPr>
          <p:cNvPr id="4" name="Footer Placeholder 3">
            <a:extLst>
              <a:ext uri="{FF2B5EF4-FFF2-40B4-BE49-F238E27FC236}">
                <a16:creationId xmlns:a16="http://schemas.microsoft.com/office/drawing/2014/main" id="{35587F0B-51B5-583B-AFEC-84077DAB736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6B84F94-8DCA-74EF-E0F1-218E094C7005}"/>
              </a:ext>
            </a:extLst>
          </p:cNvPr>
          <p:cNvSpPr>
            <a:spLocks noGrp="1"/>
          </p:cNvSpPr>
          <p:nvPr>
            <p:ph type="sldNum" sz="quarter" idx="12"/>
          </p:nvPr>
        </p:nvSpPr>
        <p:spPr/>
        <p:txBody>
          <a:bodyPr/>
          <a:lstStyle/>
          <a:p>
            <a:fld id="{34FC67D9-8533-4EDF-A1A8-A47BD49A03E7}" type="slidenum">
              <a:rPr lang="en-IN" smtClean="0"/>
              <a:t>‹#›</a:t>
            </a:fld>
            <a:endParaRPr lang="en-IN"/>
          </a:p>
        </p:txBody>
      </p:sp>
    </p:spTree>
    <p:extLst>
      <p:ext uri="{BB962C8B-B14F-4D97-AF65-F5344CB8AC3E}">
        <p14:creationId xmlns:p14="http://schemas.microsoft.com/office/powerpoint/2010/main" val="26208469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B180084-C970-885E-9E9F-4F027C40A891}"/>
              </a:ext>
            </a:extLst>
          </p:cNvPr>
          <p:cNvSpPr>
            <a:spLocks noGrp="1"/>
          </p:cNvSpPr>
          <p:nvPr>
            <p:ph type="dt" sz="half" idx="10"/>
          </p:nvPr>
        </p:nvSpPr>
        <p:spPr/>
        <p:txBody>
          <a:bodyPr/>
          <a:lstStyle/>
          <a:p>
            <a:fld id="{A470323B-516A-4FB3-A316-D0603B011830}" type="datetimeFigureOut">
              <a:rPr lang="en-IN" smtClean="0"/>
              <a:t>22-10-2026</a:t>
            </a:fld>
            <a:endParaRPr lang="en-IN"/>
          </a:p>
        </p:txBody>
      </p:sp>
      <p:sp>
        <p:nvSpPr>
          <p:cNvPr id="3" name="Footer Placeholder 2">
            <a:extLst>
              <a:ext uri="{FF2B5EF4-FFF2-40B4-BE49-F238E27FC236}">
                <a16:creationId xmlns:a16="http://schemas.microsoft.com/office/drawing/2014/main" id="{1422BDED-7F57-DBDB-7710-93577CC475D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61497FE-8248-6EC0-14C5-62864E25A9D2}"/>
              </a:ext>
            </a:extLst>
          </p:cNvPr>
          <p:cNvSpPr>
            <a:spLocks noGrp="1"/>
          </p:cNvSpPr>
          <p:nvPr>
            <p:ph type="sldNum" sz="quarter" idx="12"/>
          </p:nvPr>
        </p:nvSpPr>
        <p:spPr/>
        <p:txBody>
          <a:bodyPr/>
          <a:lstStyle/>
          <a:p>
            <a:fld id="{34FC67D9-8533-4EDF-A1A8-A47BD49A03E7}" type="slidenum">
              <a:rPr lang="en-IN" smtClean="0"/>
              <a:t>‹#›</a:t>
            </a:fld>
            <a:endParaRPr lang="en-IN"/>
          </a:p>
        </p:txBody>
      </p:sp>
    </p:spTree>
    <p:extLst>
      <p:ext uri="{BB962C8B-B14F-4D97-AF65-F5344CB8AC3E}">
        <p14:creationId xmlns:p14="http://schemas.microsoft.com/office/powerpoint/2010/main" val="37227904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6E1F1-D558-FABB-EB26-6925C0DCEF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64B0420-19BC-5889-C67C-90A6DFCD59D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9FD43FE-A927-D154-29A4-B7C7C0FEE3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FA560A-2EE4-62A0-2BEB-65B34A21884F}"/>
              </a:ext>
            </a:extLst>
          </p:cNvPr>
          <p:cNvSpPr>
            <a:spLocks noGrp="1"/>
          </p:cNvSpPr>
          <p:nvPr>
            <p:ph type="dt" sz="half" idx="10"/>
          </p:nvPr>
        </p:nvSpPr>
        <p:spPr/>
        <p:txBody>
          <a:bodyPr/>
          <a:lstStyle/>
          <a:p>
            <a:fld id="{A470323B-516A-4FB3-A316-D0603B011830}" type="datetimeFigureOut">
              <a:rPr lang="en-IN" smtClean="0"/>
              <a:t>22-10-2026</a:t>
            </a:fld>
            <a:endParaRPr lang="en-IN"/>
          </a:p>
        </p:txBody>
      </p:sp>
      <p:sp>
        <p:nvSpPr>
          <p:cNvPr id="6" name="Footer Placeholder 5">
            <a:extLst>
              <a:ext uri="{FF2B5EF4-FFF2-40B4-BE49-F238E27FC236}">
                <a16:creationId xmlns:a16="http://schemas.microsoft.com/office/drawing/2014/main" id="{41AC5BDE-82EA-0D91-B0FF-1C97B4F4FFB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0508110-961A-DA10-B05F-89C603446E23}"/>
              </a:ext>
            </a:extLst>
          </p:cNvPr>
          <p:cNvSpPr>
            <a:spLocks noGrp="1"/>
          </p:cNvSpPr>
          <p:nvPr>
            <p:ph type="sldNum" sz="quarter" idx="12"/>
          </p:nvPr>
        </p:nvSpPr>
        <p:spPr/>
        <p:txBody>
          <a:bodyPr/>
          <a:lstStyle/>
          <a:p>
            <a:fld id="{34FC67D9-8533-4EDF-A1A8-A47BD49A03E7}" type="slidenum">
              <a:rPr lang="en-IN" smtClean="0"/>
              <a:t>‹#›</a:t>
            </a:fld>
            <a:endParaRPr lang="en-IN"/>
          </a:p>
        </p:txBody>
      </p:sp>
    </p:spTree>
    <p:extLst>
      <p:ext uri="{BB962C8B-B14F-4D97-AF65-F5344CB8AC3E}">
        <p14:creationId xmlns:p14="http://schemas.microsoft.com/office/powerpoint/2010/main" val="29061084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905A5-F159-0857-D785-5B31FBC55D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8BD6317-7EA7-023F-0F54-24E9D1B4FAD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C5F5FBB-4CB2-C78A-0E79-DB720BC70B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406631D-C13D-6C49-B777-BB1DBAA43C0A}"/>
              </a:ext>
            </a:extLst>
          </p:cNvPr>
          <p:cNvSpPr>
            <a:spLocks noGrp="1"/>
          </p:cNvSpPr>
          <p:nvPr>
            <p:ph type="dt" sz="half" idx="10"/>
          </p:nvPr>
        </p:nvSpPr>
        <p:spPr/>
        <p:txBody>
          <a:bodyPr/>
          <a:lstStyle/>
          <a:p>
            <a:fld id="{A470323B-516A-4FB3-A316-D0603B011830}" type="datetimeFigureOut">
              <a:rPr lang="en-IN" smtClean="0"/>
              <a:t>22-10-2026</a:t>
            </a:fld>
            <a:endParaRPr lang="en-IN"/>
          </a:p>
        </p:txBody>
      </p:sp>
      <p:sp>
        <p:nvSpPr>
          <p:cNvPr id="6" name="Footer Placeholder 5">
            <a:extLst>
              <a:ext uri="{FF2B5EF4-FFF2-40B4-BE49-F238E27FC236}">
                <a16:creationId xmlns:a16="http://schemas.microsoft.com/office/drawing/2014/main" id="{AA2EB0F9-7B39-3D52-B10E-F19C6DCD5F1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8612AF0-AB64-A960-5C83-DF4CCD30673C}"/>
              </a:ext>
            </a:extLst>
          </p:cNvPr>
          <p:cNvSpPr>
            <a:spLocks noGrp="1"/>
          </p:cNvSpPr>
          <p:nvPr>
            <p:ph type="sldNum" sz="quarter" idx="12"/>
          </p:nvPr>
        </p:nvSpPr>
        <p:spPr/>
        <p:txBody>
          <a:bodyPr/>
          <a:lstStyle/>
          <a:p>
            <a:fld id="{34FC67D9-8533-4EDF-A1A8-A47BD49A03E7}" type="slidenum">
              <a:rPr lang="en-IN" smtClean="0"/>
              <a:t>‹#›</a:t>
            </a:fld>
            <a:endParaRPr lang="en-IN"/>
          </a:p>
        </p:txBody>
      </p:sp>
    </p:spTree>
    <p:extLst>
      <p:ext uri="{BB962C8B-B14F-4D97-AF65-F5344CB8AC3E}">
        <p14:creationId xmlns:p14="http://schemas.microsoft.com/office/powerpoint/2010/main" val="9645504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B5CCD-3F9C-B40C-3A6B-40F0248B242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0D135EC-D816-6396-C9A3-CA5AA526805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98ED848-345C-67E6-8F6A-70F53351DF62}"/>
              </a:ext>
            </a:extLst>
          </p:cNvPr>
          <p:cNvSpPr>
            <a:spLocks noGrp="1"/>
          </p:cNvSpPr>
          <p:nvPr>
            <p:ph type="dt" sz="half" idx="10"/>
          </p:nvPr>
        </p:nvSpPr>
        <p:spPr/>
        <p:txBody>
          <a:bodyPr/>
          <a:lstStyle/>
          <a:p>
            <a:fld id="{A470323B-516A-4FB3-A316-D0603B011830}" type="datetimeFigureOut">
              <a:rPr lang="en-IN" smtClean="0"/>
              <a:t>22-10-2026</a:t>
            </a:fld>
            <a:endParaRPr lang="en-IN"/>
          </a:p>
        </p:txBody>
      </p:sp>
      <p:sp>
        <p:nvSpPr>
          <p:cNvPr id="5" name="Footer Placeholder 4">
            <a:extLst>
              <a:ext uri="{FF2B5EF4-FFF2-40B4-BE49-F238E27FC236}">
                <a16:creationId xmlns:a16="http://schemas.microsoft.com/office/drawing/2014/main" id="{3BB1C752-CEAE-DAAA-3125-989D6333E5F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292D629-9736-16A5-4C91-01C3F1DD5041}"/>
              </a:ext>
            </a:extLst>
          </p:cNvPr>
          <p:cNvSpPr>
            <a:spLocks noGrp="1"/>
          </p:cNvSpPr>
          <p:nvPr>
            <p:ph type="sldNum" sz="quarter" idx="12"/>
          </p:nvPr>
        </p:nvSpPr>
        <p:spPr/>
        <p:txBody>
          <a:bodyPr/>
          <a:lstStyle/>
          <a:p>
            <a:fld id="{34FC67D9-8533-4EDF-A1A8-A47BD49A03E7}" type="slidenum">
              <a:rPr lang="en-IN" smtClean="0"/>
              <a:t>‹#›</a:t>
            </a:fld>
            <a:endParaRPr lang="en-IN"/>
          </a:p>
        </p:txBody>
      </p:sp>
    </p:spTree>
    <p:extLst>
      <p:ext uri="{BB962C8B-B14F-4D97-AF65-F5344CB8AC3E}">
        <p14:creationId xmlns:p14="http://schemas.microsoft.com/office/powerpoint/2010/main" val="22840025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B4E190-7EA5-B7E2-D022-0DE80966765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56256F9-A808-C14E-6708-0574F582ECC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FD4E3D6-CB7E-C989-E4E6-5772D8B32288}"/>
              </a:ext>
            </a:extLst>
          </p:cNvPr>
          <p:cNvSpPr>
            <a:spLocks noGrp="1"/>
          </p:cNvSpPr>
          <p:nvPr>
            <p:ph type="dt" sz="half" idx="10"/>
          </p:nvPr>
        </p:nvSpPr>
        <p:spPr/>
        <p:txBody>
          <a:bodyPr/>
          <a:lstStyle/>
          <a:p>
            <a:fld id="{A470323B-516A-4FB3-A316-D0603B011830}" type="datetimeFigureOut">
              <a:rPr lang="en-IN" smtClean="0"/>
              <a:t>22-10-2026</a:t>
            </a:fld>
            <a:endParaRPr lang="en-IN"/>
          </a:p>
        </p:txBody>
      </p:sp>
      <p:sp>
        <p:nvSpPr>
          <p:cNvPr id="5" name="Footer Placeholder 4">
            <a:extLst>
              <a:ext uri="{FF2B5EF4-FFF2-40B4-BE49-F238E27FC236}">
                <a16:creationId xmlns:a16="http://schemas.microsoft.com/office/drawing/2014/main" id="{EC986985-D02C-D40A-9EB7-AEBDC91D07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6FF5196-0DA9-8B59-DBD1-4B567A5AB886}"/>
              </a:ext>
            </a:extLst>
          </p:cNvPr>
          <p:cNvSpPr>
            <a:spLocks noGrp="1"/>
          </p:cNvSpPr>
          <p:nvPr>
            <p:ph type="sldNum" sz="quarter" idx="12"/>
          </p:nvPr>
        </p:nvSpPr>
        <p:spPr/>
        <p:txBody>
          <a:bodyPr/>
          <a:lstStyle/>
          <a:p>
            <a:fld id="{34FC67D9-8533-4EDF-A1A8-A47BD49A03E7}" type="slidenum">
              <a:rPr lang="en-IN" smtClean="0"/>
              <a:t>‹#›</a:t>
            </a:fld>
            <a:endParaRPr lang="en-IN"/>
          </a:p>
        </p:txBody>
      </p:sp>
    </p:spTree>
    <p:extLst>
      <p:ext uri="{BB962C8B-B14F-4D97-AF65-F5344CB8AC3E}">
        <p14:creationId xmlns:p14="http://schemas.microsoft.com/office/powerpoint/2010/main" val="24511325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EB54FD5-7F90-5905-8A82-C47DD0B63C0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6E0D744-6E3F-21DE-4398-96BB3ADD46B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922C02C-C85D-31D7-8D9E-A7E2CB5A7EF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470323B-516A-4FB3-A316-D0603B011830}" type="datetimeFigureOut">
              <a:rPr lang="en-IN" smtClean="0"/>
              <a:t>22-10-2026</a:t>
            </a:fld>
            <a:endParaRPr lang="en-IN"/>
          </a:p>
        </p:txBody>
      </p:sp>
      <p:sp>
        <p:nvSpPr>
          <p:cNvPr id="5" name="Footer Placeholder 4">
            <a:extLst>
              <a:ext uri="{FF2B5EF4-FFF2-40B4-BE49-F238E27FC236}">
                <a16:creationId xmlns:a16="http://schemas.microsoft.com/office/drawing/2014/main" id="{9606466D-FC73-E189-DF7F-F8A80DB9483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75C16599-A754-7FDF-FB80-F769553DC4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4FC67D9-8533-4EDF-A1A8-A47BD49A03E7}" type="slidenum">
              <a:rPr lang="en-IN" smtClean="0"/>
              <a:t>‹#›</a:t>
            </a:fld>
            <a:endParaRPr lang="en-IN"/>
          </a:p>
        </p:txBody>
      </p:sp>
    </p:spTree>
    <p:extLst>
      <p:ext uri="{BB962C8B-B14F-4D97-AF65-F5344CB8AC3E}">
        <p14:creationId xmlns:p14="http://schemas.microsoft.com/office/powerpoint/2010/main" val="19557630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329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BCE27EB-E748-D5AC-45E3-4B708066D966}"/>
              </a:ext>
            </a:extLst>
          </p:cNvPr>
          <p:cNvSpPr txBox="1"/>
          <p:nvPr/>
        </p:nvSpPr>
        <p:spPr>
          <a:xfrm>
            <a:off x="609600" y="2184400"/>
            <a:ext cx="6604000" cy="369332"/>
          </a:xfrm>
          <a:prstGeom prst="rect">
            <a:avLst/>
          </a:prstGeom>
          <a:noFill/>
        </p:spPr>
        <p:txBody>
          <a:bodyPr vert="horz" wrap="square" lIns="0" tIns="0" rIns="0" bIns="0" rtlCol="0" anchor="t">
            <a:noAutofit/>
          </a:bodyPr>
          <a:lstStyle/>
          <a:p>
            <a:r>
              <a:rPr lang="en-IN" sz="1400" b="1">
                <a:solidFill>
                  <a:srgbClr val="1B998B"/>
                </a:solidFill>
                <a:latin typeface="Calibri" panose="020F0502020204030204" pitchFamily="34" charset="0"/>
              </a:rPr>
              <a:t>HANDS-ON WORKSHOP</a:t>
            </a:r>
          </a:p>
        </p:txBody>
      </p:sp>
      <p:sp>
        <p:nvSpPr>
          <p:cNvPr id="3" name="TextBox 2">
            <a:extLst>
              <a:ext uri="{FF2B5EF4-FFF2-40B4-BE49-F238E27FC236}">
                <a16:creationId xmlns:a16="http://schemas.microsoft.com/office/drawing/2014/main" id="{EA529AC5-CA25-EDB7-4F9F-1FF1229384CA}"/>
              </a:ext>
            </a:extLst>
          </p:cNvPr>
          <p:cNvSpPr txBox="1"/>
          <p:nvPr/>
        </p:nvSpPr>
        <p:spPr>
          <a:xfrm>
            <a:off x="609600" y="2514600"/>
            <a:ext cx="7620000" cy="369332"/>
          </a:xfrm>
          <a:prstGeom prst="rect">
            <a:avLst/>
          </a:prstGeom>
          <a:noFill/>
        </p:spPr>
        <p:txBody>
          <a:bodyPr vert="horz" wrap="square" lIns="0" tIns="0" rIns="0" bIns="0" rtlCol="0" anchor="t">
            <a:noAutofit/>
          </a:bodyPr>
          <a:lstStyle/>
          <a:p>
            <a:r>
              <a:rPr lang="en-US" sz="4400" b="1">
                <a:solidFill>
                  <a:srgbClr val="FFFFFF"/>
                </a:solidFill>
                <a:latin typeface="Calibri" panose="020F0502020204030204" pitchFamily="34" charset="0"/>
              </a:rPr>
              <a:t>Securing the Path to the Cloud</a:t>
            </a:r>
            <a:endParaRPr lang="en-IN" sz="4400" b="1">
              <a:solidFill>
                <a:srgbClr val="FFFFFF"/>
              </a:solidFill>
              <a:latin typeface="Calibri" panose="020F0502020204030204" pitchFamily="34" charset="0"/>
            </a:endParaRPr>
          </a:p>
        </p:txBody>
      </p:sp>
      <p:sp>
        <p:nvSpPr>
          <p:cNvPr id="4" name="TextBox 3">
            <a:extLst>
              <a:ext uri="{FF2B5EF4-FFF2-40B4-BE49-F238E27FC236}">
                <a16:creationId xmlns:a16="http://schemas.microsoft.com/office/drawing/2014/main" id="{66531FD8-4E4A-8160-E579-9F471C327C46}"/>
              </a:ext>
            </a:extLst>
          </p:cNvPr>
          <p:cNvSpPr txBox="1"/>
          <p:nvPr/>
        </p:nvSpPr>
        <p:spPr>
          <a:xfrm>
            <a:off x="609600" y="3378200"/>
            <a:ext cx="6604000" cy="369332"/>
          </a:xfrm>
          <a:prstGeom prst="rect">
            <a:avLst/>
          </a:prstGeom>
          <a:noFill/>
        </p:spPr>
        <p:txBody>
          <a:bodyPr vert="horz" wrap="square" lIns="0" tIns="0" rIns="0" bIns="0" rtlCol="0" anchor="t">
            <a:noAutofit/>
          </a:bodyPr>
          <a:lstStyle/>
          <a:p>
            <a:r>
              <a:rPr lang="en-US">
                <a:solidFill>
                  <a:srgbClr val="C9D6DF"/>
                </a:solidFill>
                <a:latin typeface="Calibri" panose="020F0502020204030204" pitchFamily="34" charset="0"/>
              </a:rPr>
              <a:t>Cloud fundamentals, and catching security problems before they reach production</a:t>
            </a:r>
            <a:endParaRPr lang="en-IN">
              <a:solidFill>
                <a:srgbClr val="C9D6DF"/>
              </a:solidFill>
              <a:latin typeface="Calibri" panose="020F0502020204030204" pitchFamily="34" charset="0"/>
            </a:endParaRPr>
          </a:p>
        </p:txBody>
      </p:sp>
      <p:sp>
        <p:nvSpPr>
          <p:cNvPr id="5" name="TextBox 4">
            <a:extLst>
              <a:ext uri="{FF2B5EF4-FFF2-40B4-BE49-F238E27FC236}">
                <a16:creationId xmlns:a16="http://schemas.microsoft.com/office/drawing/2014/main" id="{04BD81A2-9893-F668-8369-FD59A6A8B057}"/>
              </a:ext>
            </a:extLst>
          </p:cNvPr>
          <p:cNvSpPr txBox="1"/>
          <p:nvPr/>
        </p:nvSpPr>
        <p:spPr>
          <a:xfrm>
            <a:off x="609600" y="4368800"/>
            <a:ext cx="6604000" cy="369332"/>
          </a:xfrm>
          <a:prstGeom prst="rect">
            <a:avLst/>
          </a:prstGeom>
          <a:noFill/>
        </p:spPr>
        <p:txBody>
          <a:bodyPr vert="horz" wrap="square" lIns="0" tIns="0" rIns="0" bIns="0" rtlCol="0" anchor="t">
            <a:noAutofit/>
          </a:bodyPr>
          <a:lstStyle/>
          <a:p>
            <a:r>
              <a:rPr lang="en-IN" sz="1400">
                <a:solidFill>
                  <a:srgbClr val="C9D6DF"/>
                </a:solidFill>
                <a:latin typeface="Calibri" panose="020F0502020204030204" pitchFamily="34" charset="0"/>
              </a:rPr>
              <a:t>Prathmesh  ·  22 October 2026</a:t>
            </a:r>
          </a:p>
        </p:txBody>
      </p:sp>
      <p:cxnSp>
        <p:nvCxnSpPr>
          <p:cNvPr id="6" name="Straight Connector 5">
            <a:extLst>
              <a:ext uri="{FF2B5EF4-FFF2-40B4-BE49-F238E27FC236}">
                <a16:creationId xmlns:a16="http://schemas.microsoft.com/office/drawing/2014/main" id="{B14C82C7-A3E5-1674-1E9F-001D7C13FC35}"/>
              </a:ext>
            </a:extLst>
          </p:cNvPr>
          <p:cNvCxnSpPr/>
          <p:nvPr/>
        </p:nvCxnSpPr>
        <p:spPr>
          <a:xfrm>
            <a:off x="9690100" y="1714500"/>
            <a:ext cx="0" cy="3048000"/>
          </a:xfrm>
          <a:prstGeom prst="line">
            <a:avLst/>
          </a:prstGeom>
          <a:ln w="25400">
            <a:solidFill>
              <a:srgbClr val="1B998B"/>
            </a:solidFill>
          </a:ln>
        </p:spPr>
        <p:style>
          <a:lnRef idx="2">
            <a:schemeClr val="accent1"/>
          </a:lnRef>
          <a:fillRef idx="0">
            <a:schemeClr val="accent1"/>
          </a:fillRef>
          <a:effectRef idx="1">
            <a:schemeClr val="accent1"/>
          </a:effectRef>
          <a:fontRef idx="minor">
            <a:schemeClr val="tx1"/>
          </a:fontRef>
        </p:style>
      </p:cxnSp>
      <p:sp>
        <p:nvSpPr>
          <p:cNvPr id="7" name="Oval 6">
            <a:extLst>
              <a:ext uri="{FF2B5EF4-FFF2-40B4-BE49-F238E27FC236}">
                <a16:creationId xmlns:a16="http://schemas.microsoft.com/office/drawing/2014/main" id="{7DF696C1-B466-8D01-889A-3D3B1282AE8B}"/>
              </a:ext>
            </a:extLst>
          </p:cNvPr>
          <p:cNvSpPr/>
          <p:nvPr/>
        </p:nvSpPr>
        <p:spPr>
          <a:xfrm>
            <a:off x="9398000" y="1422400"/>
            <a:ext cx="584200" cy="584200"/>
          </a:xfrm>
          <a:prstGeom prst="ellipse">
            <a:avLst/>
          </a:prstGeom>
          <a:solidFill>
            <a:srgbClr val="1B998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IN" b="1">
                <a:solidFill>
                  <a:srgbClr val="FFFFFF"/>
                </a:solidFill>
                <a:latin typeface="Calibri" panose="020F0502020204030204" pitchFamily="34" charset="0"/>
              </a:rPr>
              <a:t>1</a:t>
            </a:r>
          </a:p>
        </p:txBody>
      </p:sp>
      <p:sp>
        <p:nvSpPr>
          <p:cNvPr id="8" name="TextBox 7">
            <a:extLst>
              <a:ext uri="{FF2B5EF4-FFF2-40B4-BE49-F238E27FC236}">
                <a16:creationId xmlns:a16="http://schemas.microsoft.com/office/drawing/2014/main" id="{C1E4E2F6-A7A1-BCED-3015-0E5EB5DF0CDE}"/>
              </a:ext>
            </a:extLst>
          </p:cNvPr>
          <p:cNvSpPr txBox="1"/>
          <p:nvPr/>
        </p:nvSpPr>
        <p:spPr>
          <a:xfrm>
            <a:off x="10210800" y="1574800"/>
            <a:ext cx="1778000" cy="369332"/>
          </a:xfrm>
          <a:prstGeom prst="rect">
            <a:avLst/>
          </a:prstGeom>
          <a:noFill/>
        </p:spPr>
        <p:txBody>
          <a:bodyPr vert="horz" wrap="square" lIns="0" tIns="0" rIns="0" bIns="0" rtlCol="0" anchor="t">
            <a:noAutofit/>
          </a:bodyPr>
          <a:lstStyle/>
          <a:p>
            <a:r>
              <a:rPr lang="en-IN" b="1">
                <a:solidFill>
                  <a:srgbClr val="FFFFFF"/>
                </a:solidFill>
                <a:latin typeface="Calibri" panose="020F0502020204030204" pitchFamily="34" charset="0"/>
              </a:rPr>
              <a:t>Secrets</a:t>
            </a:r>
          </a:p>
        </p:txBody>
      </p:sp>
      <p:sp>
        <p:nvSpPr>
          <p:cNvPr id="9" name="Oval 8">
            <a:extLst>
              <a:ext uri="{FF2B5EF4-FFF2-40B4-BE49-F238E27FC236}">
                <a16:creationId xmlns:a16="http://schemas.microsoft.com/office/drawing/2014/main" id="{3E211654-C95E-D317-11DF-9058B328D6C9}"/>
              </a:ext>
            </a:extLst>
          </p:cNvPr>
          <p:cNvSpPr/>
          <p:nvPr/>
        </p:nvSpPr>
        <p:spPr>
          <a:xfrm>
            <a:off x="9398000" y="2438400"/>
            <a:ext cx="584200" cy="584200"/>
          </a:xfrm>
          <a:prstGeom prst="ellipse">
            <a:avLst/>
          </a:prstGeom>
          <a:solidFill>
            <a:srgbClr val="1B998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IN" b="1">
                <a:solidFill>
                  <a:srgbClr val="FFFFFF"/>
                </a:solidFill>
                <a:latin typeface="Calibri" panose="020F0502020204030204" pitchFamily="34" charset="0"/>
              </a:rPr>
              <a:t>2</a:t>
            </a:r>
          </a:p>
        </p:txBody>
      </p:sp>
      <p:sp>
        <p:nvSpPr>
          <p:cNvPr id="10" name="TextBox 9">
            <a:extLst>
              <a:ext uri="{FF2B5EF4-FFF2-40B4-BE49-F238E27FC236}">
                <a16:creationId xmlns:a16="http://schemas.microsoft.com/office/drawing/2014/main" id="{DABCAF9B-333E-1935-5398-6ED509DBB4DD}"/>
              </a:ext>
            </a:extLst>
          </p:cNvPr>
          <p:cNvSpPr txBox="1"/>
          <p:nvPr/>
        </p:nvSpPr>
        <p:spPr>
          <a:xfrm>
            <a:off x="10210800" y="2590800"/>
            <a:ext cx="1778000" cy="369332"/>
          </a:xfrm>
          <a:prstGeom prst="rect">
            <a:avLst/>
          </a:prstGeom>
          <a:noFill/>
        </p:spPr>
        <p:txBody>
          <a:bodyPr vert="horz" wrap="square" lIns="0" tIns="0" rIns="0" bIns="0" rtlCol="0" anchor="t">
            <a:noAutofit/>
          </a:bodyPr>
          <a:lstStyle/>
          <a:p>
            <a:r>
              <a:rPr lang="en-IN" b="1">
                <a:solidFill>
                  <a:srgbClr val="FFFFFF"/>
                </a:solidFill>
                <a:latin typeface="Calibri" panose="020F0502020204030204" pitchFamily="34" charset="0"/>
              </a:rPr>
              <a:t>Code</a:t>
            </a:r>
          </a:p>
        </p:txBody>
      </p:sp>
      <p:sp>
        <p:nvSpPr>
          <p:cNvPr id="11" name="Oval 10">
            <a:extLst>
              <a:ext uri="{FF2B5EF4-FFF2-40B4-BE49-F238E27FC236}">
                <a16:creationId xmlns:a16="http://schemas.microsoft.com/office/drawing/2014/main" id="{6632EA31-30FD-366A-5CC6-876CC6D22E4F}"/>
              </a:ext>
            </a:extLst>
          </p:cNvPr>
          <p:cNvSpPr/>
          <p:nvPr/>
        </p:nvSpPr>
        <p:spPr>
          <a:xfrm>
            <a:off x="9398000" y="3454400"/>
            <a:ext cx="584200" cy="584200"/>
          </a:xfrm>
          <a:prstGeom prst="ellipse">
            <a:avLst/>
          </a:prstGeom>
          <a:solidFill>
            <a:srgbClr val="1B998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IN" b="1">
                <a:solidFill>
                  <a:srgbClr val="FFFFFF"/>
                </a:solidFill>
                <a:latin typeface="Calibri" panose="020F0502020204030204" pitchFamily="34" charset="0"/>
              </a:rPr>
              <a:t>3</a:t>
            </a:r>
          </a:p>
        </p:txBody>
      </p:sp>
      <p:sp>
        <p:nvSpPr>
          <p:cNvPr id="12" name="TextBox 11">
            <a:extLst>
              <a:ext uri="{FF2B5EF4-FFF2-40B4-BE49-F238E27FC236}">
                <a16:creationId xmlns:a16="http://schemas.microsoft.com/office/drawing/2014/main" id="{A52371E7-2A28-EC64-E7AB-24CB6B67B225}"/>
              </a:ext>
            </a:extLst>
          </p:cNvPr>
          <p:cNvSpPr txBox="1"/>
          <p:nvPr/>
        </p:nvSpPr>
        <p:spPr>
          <a:xfrm>
            <a:off x="10210800" y="3606800"/>
            <a:ext cx="1778000" cy="369332"/>
          </a:xfrm>
          <a:prstGeom prst="rect">
            <a:avLst/>
          </a:prstGeom>
          <a:noFill/>
        </p:spPr>
        <p:txBody>
          <a:bodyPr vert="horz" wrap="square" lIns="0" tIns="0" rIns="0" bIns="0" rtlCol="0" anchor="t">
            <a:noAutofit/>
          </a:bodyPr>
          <a:lstStyle/>
          <a:p>
            <a:r>
              <a:rPr lang="en-IN" b="1">
                <a:solidFill>
                  <a:srgbClr val="FFFFFF"/>
                </a:solidFill>
                <a:latin typeface="Calibri" panose="020F0502020204030204" pitchFamily="34" charset="0"/>
              </a:rPr>
              <a:t>Pipeline</a:t>
            </a:r>
          </a:p>
        </p:txBody>
      </p:sp>
      <p:sp>
        <p:nvSpPr>
          <p:cNvPr id="13" name="Oval 12">
            <a:extLst>
              <a:ext uri="{FF2B5EF4-FFF2-40B4-BE49-F238E27FC236}">
                <a16:creationId xmlns:a16="http://schemas.microsoft.com/office/drawing/2014/main" id="{C4F75858-35DB-A360-4AA9-4C56D8ACC924}"/>
              </a:ext>
            </a:extLst>
          </p:cNvPr>
          <p:cNvSpPr/>
          <p:nvPr/>
        </p:nvSpPr>
        <p:spPr>
          <a:xfrm>
            <a:off x="9398000" y="4470400"/>
            <a:ext cx="584200" cy="584200"/>
          </a:xfrm>
          <a:prstGeom prst="ellipse">
            <a:avLst/>
          </a:prstGeom>
          <a:solidFill>
            <a:srgbClr val="1B998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IN" b="1">
                <a:solidFill>
                  <a:srgbClr val="FFFFFF"/>
                </a:solidFill>
                <a:latin typeface="Calibri" panose="020F0502020204030204" pitchFamily="34" charset="0"/>
              </a:rPr>
              <a:t>4</a:t>
            </a:r>
          </a:p>
        </p:txBody>
      </p:sp>
      <p:sp>
        <p:nvSpPr>
          <p:cNvPr id="14" name="TextBox 13">
            <a:extLst>
              <a:ext uri="{FF2B5EF4-FFF2-40B4-BE49-F238E27FC236}">
                <a16:creationId xmlns:a16="http://schemas.microsoft.com/office/drawing/2014/main" id="{2EC77CD4-C55C-996C-8410-8AE4CC777B53}"/>
              </a:ext>
            </a:extLst>
          </p:cNvPr>
          <p:cNvSpPr txBox="1"/>
          <p:nvPr/>
        </p:nvSpPr>
        <p:spPr>
          <a:xfrm>
            <a:off x="10210800" y="4622800"/>
            <a:ext cx="1778000" cy="369332"/>
          </a:xfrm>
          <a:prstGeom prst="rect">
            <a:avLst/>
          </a:prstGeom>
          <a:noFill/>
        </p:spPr>
        <p:txBody>
          <a:bodyPr vert="horz" wrap="square" lIns="0" tIns="0" rIns="0" bIns="0" rtlCol="0" anchor="t">
            <a:noAutofit/>
          </a:bodyPr>
          <a:lstStyle/>
          <a:p>
            <a:r>
              <a:rPr lang="en-IN" b="1">
                <a:solidFill>
                  <a:srgbClr val="FFFFFF"/>
                </a:solidFill>
                <a:latin typeface="Calibri" panose="020F0502020204030204" pitchFamily="34" charset="0"/>
              </a:rPr>
              <a:t>Cloud</a:t>
            </a:r>
          </a:p>
        </p:txBody>
      </p:sp>
    </p:spTree>
    <p:extLst>
      <p:ext uri="{BB962C8B-B14F-4D97-AF65-F5344CB8AC3E}">
        <p14:creationId xmlns:p14="http://schemas.microsoft.com/office/powerpoint/2010/main" val="11537468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4AB5842-18F5-14BD-588F-FE125DC89539}"/>
              </a:ext>
            </a:extLst>
          </p:cNvPr>
          <p:cNvSpPr txBox="1"/>
          <p:nvPr/>
        </p:nvSpPr>
        <p:spPr>
          <a:xfrm>
            <a:off x="609600" y="381000"/>
            <a:ext cx="10972800" cy="369332"/>
          </a:xfrm>
          <a:prstGeom prst="rect">
            <a:avLst/>
          </a:prstGeom>
          <a:noFill/>
        </p:spPr>
        <p:txBody>
          <a:bodyPr vert="horz" wrap="square" lIns="0" tIns="0" rIns="0" bIns="0" rtlCol="0" anchor="t">
            <a:noAutofit/>
          </a:bodyPr>
          <a:lstStyle/>
          <a:p>
            <a:r>
              <a:rPr lang="en-IN" sz="3400" b="1">
                <a:solidFill>
                  <a:srgbClr val="13293D"/>
                </a:solidFill>
                <a:latin typeface="Calibri" panose="020F0502020204030204" pitchFamily="34" charset="0"/>
              </a:rPr>
              <a:t>Today's plan</a:t>
            </a:r>
          </a:p>
        </p:txBody>
      </p:sp>
      <p:sp>
        <p:nvSpPr>
          <p:cNvPr id="3" name="Rectangle: Rounded Corners 2">
            <a:extLst>
              <a:ext uri="{FF2B5EF4-FFF2-40B4-BE49-F238E27FC236}">
                <a16:creationId xmlns:a16="http://schemas.microsoft.com/office/drawing/2014/main" id="{B3124AC5-73ED-2CBF-41C2-5865FBE6DAC4}"/>
              </a:ext>
            </a:extLst>
          </p:cNvPr>
          <p:cNvSpPr/>
          <p:nvPr/>
        </p:nvSpPr>
        <p:spPr>
          <a:xfrm>
            <a:off x="609600" y="1270000"/>
            <a:ext cx="1397000" cy="508000"/>
          </a:xfrm>
          <a:prstGeom prst="roundRect">
            <a:avLst>
              <a:gd name="adj" fmla="val 10000"/>
            </a:avLst>
          </a:prstGeom>
          <a:solidFill>
            <a:srgbClr val="EEF3F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IN" sz="1400" b="1">
                <a:solidFill>
                  <a:srgbClr val="13293D"/>
                </a:solidFill>
                <a:latin typeface="Calibri" panose="020F0502020204030204" pitchFamily="34" charset="0"/>
              </a:rPr>
              <a:t>Intro</a:t>
            </a:r>
          </a:p>
        </p:txBody>
      </p:sp>
      <p:sp>
        <p:nvSpPr>
          <p:cNvPr id="4" name="TextBox 3">
            <a:extLst>
              <a:ext uri="{FF2B5EF4-FFF2-40B4-BE49-F238E27FC236}">
                <a16:creationId xmlns:a16="http://schemas.microsoft.com/office/drawing/2014/main" id="{887936AF-E331-5FA6-EA8A-81B80100EF28}"/>
              </a:ext>
            </a:extLst>
          </p:cNvPr>
          <p:cNvSpPr txBox="1"/>
          <p:nvPr/>
        </p:nvSpPr>
        <p:spPr>
          <a:xfrm>
            <a:off x="2286000" y="1371600"/>
            <a:ext cx="6604000" cy="369332"/>
          </a:xfrm>
          <a:prstGeom prst="rect">
            <a:avLst/>
          </a:prstGeom>
          <a:noFill/>
        </p:spPr>
        <p:txBody>
          <a:bodyPr vert="horz" wrap="square" lIns="0" tIns="0" rIns="0" bIns="0" rtlCol="0" anchor="t">
            <a:noAutofit/>
          </a:bodyPr>
          <a:lstStyle/>
          <a:p>
            <a:r>
              <a:rPr lang="en-US" sz="2000">
                <a:solidFill>
                  <a:srgbClr val="1E2A35"/>
                </a:solidFill>
                <a:latin typeface="Calibri" panose="020F0502020204030204" pitchFamily="34" charset="0"/>
              </a:rPr>
              <a:t>Cloud fundamentals and shared responsibility</a:t>
            </a:r>
            <a:endParaRPr lang="en-IN" sz="2000">
              <a:solidFill>
                <a:srgbClr val="1E2A35"/>
              </a:solidFill>
              <a:latin typeface="Calibri" panose="020F0502020204030204" pitchFamily="34" charset="0"/>
            </a:endParaRPr>
          </a:p>
        </p:txBody>
      </p:sp>
      <p:sp>
        <p:nvSpPr>
          <p:cNvPr id="5" name="TextBox 4">
            <a:extLst>
              <a:ext uri="{FF2B5EF4-FFF2-40B4-BE49-F238E27FC236}">
                <a16:creationId xmlns:a16="http://schemas.microsoft.com/office/drawing/2014/main" id="{E72EF93A-DDD6-9F35-F261-D32137351095}"/>
              </a:ext>
            </a:extLst>
          </p:cNvPr>
          <p:cNvSpPr txBox="1"/>
          <p:nvPr/>
        </p:nvSpPr>
        <p:spPr>
          <a:xfrm>
            <a:off x="8890000" y="1397000"/>
            <a:ext cx="2692400" cy="369332"/>
          </a:xfrm>
          <a:prstGeom prst="rect">
            <a:avLst/>
          </a:prstGeom>
          <a:noFill/>
        </p:spPr>
        <p:txBody>
          <a:bodyPr vert="horz" wrap="square" lIns="0" tIns="0" rIns="0" bIns="0" rtlCol="0" anchor="t">
            <a:noAutofit/>
          </a:bodyPr>
          <a:lstStyle/>
          <a:p>
            <a:pPr algn="r"/>
            <a:r>
              <a:rPr lang="en-IN" sz="1400">
                <a:solidFill>
                  <a:srgbClr val="5B6B79"/>
                </a:solidFill>
                <a:latin typeface="Calibri" panose="020F0502020204030204" pitchFamily="34" charset="0"/>
              </a:rPr>
              <a:t>Talk</a:t>
            </a:r>
          </a:p>
        </p:txBody>
      </p:sp>
      <p:sp>
        <p:nvSpPr>
          <p:cNvPr id="6" name="Rectangle: Rounded Corners 5">
            <a:extLst>
              <a:ext uri="{FF2B5EF4-FFF2-40B4-BE49-F238E27FC236}">
                <a16:creationId xmlns:a16="http://schemas.microsoft.com/office/drawing/2014/main" id="{4DEC0FFD-1A9F-7D34-829B-423452A97580}"/>
              </a:ext>
            </a:extLst>
          </p:cNvPr>
          <p:cNvSpPr/>
          <p:nvPr/>
        </p:nvSpPr>
        <p:spPr>
          <a:xfrm>
            <a:off x="609600" y="1955800"/>
            <a:ext cx="1397000" cy="508000"/>
          </a:xfrm>
          <a:prstGeom prst="roundRect">
            <a:avLst>
              <a:gd name="adj" fmla="val 10000"/>
            </a:avLst>
          </a:prstGeom>
          <a:solidFill>
            <a:srgbClr val="EEF3F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IN" sz="1400" b="1">
                <a:solidFill>
                  <a:srgbClr val="13293D"/>
                </a:solidFill>
                <a:latin typeface="Calibri" panose="020F0502020204030204" pitchFamily="34" charset="0"/>
              </a:rPr>
              <a:t>Setup</a:t>
            </a:r>
          </a:p>
        </p:txBody>
      </p:sp>
      <p:sp>
        <p:nvSpPr>
          <p:cNvPr id="7" name="TextBox 6">
            <a:extLst>
              <a:ext uri="{FF2B5EF4-FFF2-40B4-BE49-F238E27FC236}">
                <a16:creationId xmlns:a16="http://schemas.microsoft.com/office/drawing/2014/main" id="{05815537-AE6E-FE73-2139-9CFFAEF77DF2}"/>
              </a:ext>
            </a:extLst>
          </p:cNvPr>
          <p:cNvSpPr txBox="1"/>
          <p:nvPr/>
        </p:nvSpPr>
        <p:spPr>
          <a:xfrm>
            <a:off x="2286000" y="2057400"/>
            <a:ext cx="6604000" cy="369332"/>
          </a:xfrm>
          <a:prstGeom prst="rect">
            <a:avLst/>
          </a:prstGeom>
          <a:noFill/>
        </p:spPr>
        <p:txBody>
          <a:bodyPr vert="horz" wrap="square" lIns="0" tIns="0" rIns="0" bIns="0" rtlCol="0" anchor="t">
            <a:noAutofit/>
          </a:bodyPr>
          <a:lstStyle/>
          <a:p>
            <a:r>
              <a:rPr lang="en-US" sz="2000">
                <a:solidFill>
                  <a:srgbClr val="1E2A35"/>
                </a:solidFill>
                <a:latin typeface="Calibri" panose="020F0502020204030204" pitchFamily="34" charset="0"/>
              </a:rPr>
              <a:t>Setup check and your toolbox</a:t>
            </a:r>
            <a:endParaRPr lang="en-IN" sz="2000">
              <a:solidFill>
                <a:srgbClr val="1E2A35"/>
              </a:solidFill>
              <a:latin typeface="Calibri" panose="020F0502020204030204" pitchFamily="34" charset="0"/>
            </a:endParaRPr>
          </a:p>
        </p:txBody>
      </p:sp>
      <p:sp>
        <p:nvSpPr>
          <p:cNvPr id="8" name="TextBox 7">
            <a:extLst>
              <a:ext uri="{FF2B5EF4-FFF2-40B4-BE49-F238E27FC236}">
                <a16:creationId xmlns:a16="http://schemas.microsoft.com/office/drawing/2014/main" id="{C9227D9D-9DB7-30AA-DF74-E54ACD115D9E}"/>
              </a:ext>
            </a:extLst>
          </p:cNvPr>
          <p:cNvSpPr txBox="1"/>
          <p:nvPr/>
        </p:nvSpPr>
        <p:spPr>
          <a:xfrm>
            <a:off x="8890000" y="2082800"/>
            <a:ext cx="2692400" cy="369332"/>
          </a:xfrm>
          <a:prstGeom prst="rect">
            <a:avLst/>
          </a:prstGeom>
          <a:noFill/>
        </p:spPr>
        <p:txBody>
          <a:bodyPr vert="horz" wrap="square" lIns="0" tIns="0" rIns="0" bIns="0" rtlCol="0" anchor="t">
            <a:noAutofit/>
          </a:bodyPr>
          <a:lstStyle/>
          <a:p>
            <a:pPr algn="r"/>
            <a:r>
              <a:rPr lang="en-IN" sz="1400">
                <a:solidFill>
                  <a:srgbClr val="5B6B79"/>
                </a:solidFill>
                <a:latin typeface="Calibri" panose="020F0502020204030204" pitchFamily="34" charset="0"/>
              </a:rPr>
              <a:t>Demo</a:t>
            </a:r>
          </a:p>
        </p:txBody>
      </p:sp>
      <p:sp>
        <p:nvSpPr>
          <p:cNvPr id="9" name="Rectangle: Rounded Corners 8">
            <a:extLst>
              <a:ext uri="{FF2B5EF4-FFF2-40B4-BE49-F238E27FC236}">
                <a16:creationId xmlns:a16="http://schemas.microsoft.com/office/drawing/2014/main" id="{7D8B2306-D4CC-F88A-4F14-B5E2DE6CE773}"/>
              </a:ext>
            </a:extLst>
          </p:cNvPr>
          <p:cNvSpPr/>
          <p:nvPr/>
        </p:nvSpPr>
        <p:spPr>
          <a:xfrm>
            <a:off x="609600" y="2641600"/>
            <a:ext cx="1397000" cy="508000"/>
          </a:xfrm>
          <a:prstGeom prst="roundRect">
            <a:avLst>
              <a:gd name="adj" fmla="val 10000"/>
            </a:avLst>
          </a:prstGeom>
          <a:solidFill>
            <a:srgbClr val="1B998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IN" sz="1400" b="1">
                <a:solidFill>
                  <a:srgbClr val="FFFFFF"/>
                </a:solidFill>
                <a:latin typeface="Calibri" panose="020F0502020204030204" pitchFamily="34" charset="0"/>
              </a:rPr>
              <a:t>Lab 1</a:t>
            </a:r>
          </a:p>
        </p:txBody>
      </p:sp>
      <p:sp>
        <p:nvSpPr>
          <p:cNvPr id="10" name="TextBox 9">
            <a:extLst>
              <a:ext uri="{FF2B5EF4-FFF2-40B4-BE49-F238E27FC236}">
                <a16:creationId xmlns:a16="http://schemas.microsoft.com/office/drawing/2014/main" id="{BBD829DF-F622-7963-16E6-FC7E765C16EF}"/>
              </a:ext>
            </a:extLst>
          </p:cNvPr>
          <p:cNvSpPr txBox="1"/>
          <p:nvPr/>
        </p:nvSpPr>
        <p:spPr>
          <a:xfrm>
            <a:off x="2286000" y="2743200"/>
            <a:ext cx="6604000" cy="369332"/>
          </a:xfrm>
          <a:prstGeom prst="rect">
            <a:avLst/>
          </a:prstGeom>
          <a:noFill/>
        </p:spPr>
        <p:txBody>
          <a:bodyPr vert="horz" wrap="square" lIns="0" tIns="0" rIns="0" bIns="0" rtlCol="0" anchor="t">
            <a:noAutofit/>
          </a:bodyPr>
          <a:lstStyle/>
          <a:p>
            <a:r>
              <a:rPr lang="en-IN" sz="2000" b="1">
                <a:solidFill>
                  <a:srgbClr val="1E2A35"/>
                </a:solidFill>
                <a:latin typeface="Calibri" panose="020F0502020204030204" pitchFamily="34" charset="0"/>
              </a:rPr>
              <a:t>Secrets in Git</a:t>
            </a:r>
          </a:p>
        </p:txBody>
      </p:sp>
      <p:sp>
        <p:nvSpPr>
          <p:cNvPr id="11" name="TextBox 10">
            <a:extLst>
              <a:ext uri="{FF2B5EF4-FFF2-40B4-BE49-F238E27FC236}">
                <a16:creationId xmlns:a16="http://schemas.microsoft.com/office/drawing/2014/main" id="{0024B1D2-4B43-C5C6-C49E-A758C2555CFE}"/>
              </a:ext>
            </a:extLst>
          </p:cNvPr>
          <p:cNvSpPr txBox="1"/>
          <p:nvPr/>
        </p:nvSpPr>
        <p:spPr>
          <a:xfrm>
            <a:off x="8890000" y="2768600"/>
            <a:ext cx="2692400" cy="369332"/>
          </a:xfrm>
          <a:prstGeom prst="rect">
            <a:avLst/>
          </a:prstGeom>
          <a:noFill/>
        </p:spPr>
        <p:txBody>
          <a:bodyPr vert="horz" wrap="square" lIns="0" tIns="0" rIns="0" bIns="0" rtlCol="0" anchor="t">
            <a:noAutofit/>
          </a:bodyPr>
          <a:lstStyle/>
          <a:p>
            <a:pPr algn="r"/>
            <a:r>
              <a:rPr lang="en-IN" sz="1400">
                <a:solidFill>
                  <a:srgbClr val="5B6B79"/>
                </a:solidFill>
                <a:latin typeface="Calibri" panose="020F0502020204030204" pitchFamily="34" charset="0"/>
              </a:rPr>
              <a:t>Hands-on</a:t>
            </a:r>
          </a:p>
        </p:txBody>
      </p:sp>
      <p:sp>
        <p:nvSpPr>
          <p:cNvPr id="12" name="Rectangle: Rounded Corners 11">
            <a:extLst>
              <a:ext uri="{FF2B5EF4-FFF2-40B4-BE49-F238E27FC236}">
                <a16:creationId xmlns:a16="http://schemas.microsoft.com/office/drawing/2014/main" id="{FFCABC68-23C0-8B09-A16A-DE24C79ADFBE}"/>
              </a:ext>
            </a:extLst>
          </p:cNvPr>
          <p:cNvSpPr/>
          <p:nvPr/>
        </p:nvSpPr>
        <p:spPr>
          <a:xfrm>
            <a:off x="609600" y="3327400"/>
            <a:ext cx="1397000" cy="508000"/>
          </a:xfrm>
          <a:prstGeom prst="roundRect">
            <a:avLst>
              <a:gd name="adj" fmla="val 10000"/>
            </a:avLst>
          </a:prstGeom>
          <a:solidFill>
            <a:srgbClr val="1B998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IN" sz="1400" b="1">
                <a:solidFill>
                  <a:srgbClr val="FFFFFF"/>
                </a:solidFill>
                <a:latin typeface="Calibri" panose="020F0502020204030204" pitchFamily="34" charset="0"/>
              </a:rPr>
              <a:t>Lab 2</a:t>
            </a:r>
          </a:p>
        </p:txBody>
      </p:sp>
      <p:sp>
        <p:nvSpPr>
          <p:cNvPr id="13" name="TextBox 12">
            <a:extLst>
              <a:ext uri="{FF2B5EF4-FFF2-40B4-BE49-F238E27FC236}">
                <a16:creationId xmlns:a16="http://schemas.microsoft.com/office/drawing/2014/main" id="{ACD3B42B-DE60-3FFE-5FA8-BC4DDD48CB31}"/>
              </a:ext>
            </a:extLst>
          </p:cNvPr>
          <p:cNvSpPr txBox="1"/>
          <p:nvPr/>
        </p:nvSpPr>
        <p:spPr>
          <a:xfrm>
            <a:off x="2286000" y="3429000"/>
            <a:ext cx="6604000" cy="369332"/>
          </a:xfrm>
          <a:prstGeom prst="rect">
            <a:avLst/>
          </a:prstGeom>
          <a:noFill/>
        </p:spPr>
        <p:txBody>
          <a:bodyPr vert="horz" wrap="square" lIns="0" tIns="0" rIns="0" bIns="0" rtlCol="0" anchor="t">
            <a:noAutofit/>
          </a:bodyPr>
          <a:lstStyle/>
          <a:p>
            <a:r>
              <a:rPr lang="en-IN" sz="2000" b="1">
                <a:solidFill>
                  <a:srgbClr val="1E2A35"/>
                </a:solidFill>
                <a:latin typeface="Calibri" panose="020F0502020204030204" pitchFamily="34" charset="0"/>
              </a:rPr>
              <a:t>Insecure code</a:t>
            </a:r>
          </a:p>
        </p:txBody>
      </p:sp>
      <p:sp>
        <p:nvSpPr>
          <p:cNvPr id="14" name="TextBox 13">
            <a:extLst>
              <a:ext uri="{FF2B5EF4-FFF2-40B4-BE49-F238E27FC236}">
                <a16:creationId xmlns:a16="http://schemas.microsoft.com/office/drawing/2014/main" id="{E8DBE32E-8868-4347-9C98-12F9A2839079}"/>
              </a:ext>
            </a:extLst>
          </p:cNvPr>
          <p:cNvSpPr txBox="1"/>
          <p:nvPr/>
        </p:nvSpPr>
        <p:spPr>
          <a:xfrm>
            <a:off x="8890000" y="3454400"/>
            <a:ext cx="2692400" cy="369332"/>
          </a:xfrm>
          <a:prstGeom prst="rect">
            <a:avLst/>
          </a:prstGeom>
          <a:noFill/>
        </p:spPr>
        <p:txBody>
          <a:bodyPr vert="horz" wrap="square" lIns="0" tIns="0" rIns="0" bIns="0" rtlCol="0" anchor="t">
            <a:noAutofit/>
          </a:bodyPr>
          <a:lstStyle/>
          <a:p>
            <a:pPr algn="r"/>
            <a:r>
              <a:rPr lang="en-IN" sz="1400">
                <a:solidFill>
                  <a:srgbClr val="5B6B79"/>
                </a:solidFill>
                <a:latin typeface="Calibri" panose="020F0502020204030204" pitchFamily="34" charset="0"/>
              </a:rPr>
              <a:t>SonarQube walkthrough</a:t>
            </a:r>
          </a:p>
        </p:txBody>
      </p:sp>
      <p:sp>
        <p:nvSpPr>
          <p:cNvPr id="15" name="Rectangle: Rounded Corners 14">
            <a:extLst>
              <a:ext uri="{FF2B5EF4-FFF2-40B4-BE49-F238E27FC236}">
                <a16:creationId xmlns:a16="http://schemas.microsoft.com/office/drawing/2014/main" id="{26272876-DDD6-3108-A8E4-C91F0133562C}"/>
              </a:ext>
            </a:extLst>
          </p:cNvPr>
          <p:cNvSpPr/>
          <p:nvPr/>
        </p:nvSpPr>
        <p:spPr>
          <a:xfrm>
            <a:off x="609600" y="4013200"/>
            <a:ext cx="1397000" cy="508000"/>
          </a:xfrm>
          <a:prstGeom prst="roundRect">
            <a:avLst>
              <a:gd name="adj" fmla="val 10000"/>
            </a:avLst>
          </a:prstGeom>
          <a:solidFill>
            <a:srgbClr val="1B998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IN" sz="1400" b="1">
                <a:solidFill>
                  <a:srgbClr val="FFFFFF"/>
                </a:solidFill>
                <a:latin typeface="Calibri" panose="020F0502020204030204" pitchFamily="34" charset="0"/>
              </a:rPr>
              <a:t>Lab 3</a:t>
            </a:r>
          </a:p>
        </p:txBody>
      </p:sp>
      <p:sp>
        <p:nvSpPr>
          <p:cNvPr id="16" name="TextBox 15">
            <a:extLst>
              <a:ext uri="{FF2B5EF4-FFF2-40B4-BE49-F238E27FC236}">
                <a16:creationId xmlns:a16="http://schemas.microsoft.com/office/drawing/2014/main" id="{11920FE7-F665-B54F-5196-DA90E6900160}"/>
              </a:ext>
            </a:extLst>
          </p:cNvPr>
          <p:cNvSpPr txBox="1"/>
          <p:nvPr/>
        </p:nvSpPr>
        <p:spPr>
          <a:xfrm>
            <a:off x="2286000" y="4114800"/>
            <a:ext cx="6604000" cy="369332"/>
          </a:xfrm>
          <a:prstGeom prst="rect">
            <a:avLst/>
          </a:prstGeom>
          <a:noFill/>
        </p:spPr>
        <p:txBody>
          <a:bodyPr vert="horz" wrap="square" lIns="0" tIns="0" rIns="0" bIns="0" rtlCol="0" anchor="t">
            <a:noAutofit/>
          </a:bodyPr>
          <a:lstStyle/>
          <a:p>
            <a:r>
              <a:rPr lang="en-IN" sz="2000" b="1">
                <a:solidFill>
                  <a:srgbClr val="1E2A35"/>
                </a:solidFill>
                <a:latin typeface="Calibri" panose="020F0502020204030204" pitchFamily="34" charset="0"/>
              </a:rPr>
              <a:t>The CI security gate</a:t>
            </a:r>
          </a:p>
        </p:txBody>
      </p:sp>
      <p:sp>
        <p:nvSpPr>
          <p:cNvPr id="17" name="TextBox 16">
            <a:extLst>
              <a:ext uri="{FF2B5EF4-FFF2-40B4-BE49-F238E27FC236}">
                <a16:creationId xmlns:a16="http://schemas.microsoft.com/office/drawing/2014/main" id="{B911CB05-B92E-2FC7-508E-EADBED9C9D96}"/>
              </a:ext>
            </a:extLst>
          </p:cNvPr>
          <p:cNvSpPr txBox="1"/>
          <p:nvPr/>
        </p:nvSpPr>
        <p:spPr>
          <a:xfrm>
            <a:off x="8890000" y="4140200"/>
            <a:ext cx="2692400" cy="369332"/>
          </a:xfrm>
          <a:prstGeom prst="rect">
            <a:avLst/>
          </a:prstGeom>
          <a:noFill/>
        </p:spPr>
        <p:txBody>
          <a:bodyPr vert="horz" wrap="square" lIns="0" tIns="0" rIns="0" bIns="0" rtlCol="0" anchor="t">
            <a:noAutofit/>
          </a:bodyPr>
          <a:lstStyle/>
          <a:p>
            <a:pPr algn="r"/>
            <a:r>
              <a:rPr lang="en-IN" sz="1400">
                <a:solidFill>
                  <a:srgbClr val="5B6B79"/>
                </a:solidFill>
                <a:latin typeface="Calibri" panose="020F0502020204030204" pitchFamily="34" charset="0"/>
              </a:rPr>
              <a:t>Hands-on + Jenkins demo</a:t>
            </a:r>
          </a:p>
        </p:txBody>
      </p:sp>
      <p:sp>
        <p:nvSpPr>
          <p:cNvPr id="18" name="Rectangle: Rounded Corners 17">
            <a:extLst>
              <a:ext uri="{FF2B5EF4-FFF2-40B4-BE49-F238E27FC236}">
                <a16:creationId xmlns:a16="http://schemas.microsoft.com/office/drawing/2014/main" id="{ACBF988F-3BB2-25A2-05A7-1B8BADAA78AC}"/>
              </a:ext>
            </a:extLst>
          </p:cNvPr>
          <p:cNvSpPr/>
          <p:nvPr/>
        </p:nvSpPr>
        <p:spPr>
          <a:xfrm>
            <a:off x="609600" y="4699000"/>
            <a:ext cx="1397000" cy="508000"/>
          </a:xfrm>
          <a:prstGeom prst="roundRect">
            <a:avLst>
              <a:gd name="adj" fmla="val 10000"/>
            </a:avLst>
          </a:prstGeom>
          <a:solidFill>
            <a:srgbClr val="1B998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IN" sz="1400" b="1">
                <a:solidFill>
                  <a:srgbClr val="FFFFFF"/>
                </a:solidFill>
                <a:latin typeface="Calibri" panose="020F0502020204030204" pitchFamily="34" charset="0"/>
              </a:rPr>
              <a:t>Lab 4</a:t>
            </a:r>
          </a:p>
        </p:txBody>
      </p:sp>
      <p:sp>
        <p:nvSpPr>
          <p:cNvPr id="19" name="TextBox 18">
            <a:extLst>
              <a:ext uri="{FF2B5EF4-FFF2-40B4-BE49-F238E27FC236}">
                <a16:creationId xmlns:a16="http://schemas.microsoft.com/office/drawing/2014/main" id="{D59743B3-DA62-4CDA-6AFB-375C06A344D3}"/>
              </a:ext>
            </a:extLst>
          </p:cNvPr>
          <p:cNvSpPr txBox="1"/>
          <p:nvPr/>
        </p:nvSpPr>
        <p:spPr>
          <a:xfrm>
            <a:off x="2286000" y="4800600"/>
            <a:ext cx="6604000" cy="369332"/>
          </a:xfrm>
          <a:prstGeom prst="rect">
            <a:avLst/>
          </a:prstGeom>
          <a:noFill/>
        </p:spPr>
        <p:txBody>
          <a:bodyPr vert="horz" wrap="square" lIns="0" tIns="0" rIns="0" bIns="0" rtlCol="0" anchor="t">
            <a:noAutofit/>
          </a:bodyPr>
          <a:lstStyle/>
          <a:p>
            <a:r>
              <a:rPr lang="en-IN" sz="2000" b="1">
                <a:solidFill>
                  <a:srgbClr val="1E2A35"/>
                </a:solidFill>
                <a:latin typeface="Calibri" panose="020F0502020204030204" pitchFamily="34" charset="0"/>
              </a:rPr>
              <a:t>Into the cloud</a:t>
            </a:r>
          </a:p>
        </p:txBody>
      </p:sp>
      <p:sp>
        <p:nvSpPr>
          <p:cNvPr id="20" name="TextBox 19">
            <a:extLst>
              <a:ext uri="{FF2B5EF4-FFF2-40B4-BE49-F238E27FC236}">
                <a16:creationId xmlns:a16="http://schemas.microsoft.com/office/drawing/2014/main" id="{B0814B3F-6FF2-3C2C-8119-1502B1A6B332}"/>
              </a:ext>
            </a:extLst>
          </p:cNvPr>
          <p:cNvSpPr txBox="1"/>
          <p:nvPr/>
        </p:nvSpPr>
        <p:spPr>
          <a:xfrm>
            <a:off x="8890000" y="4826000"/>
            <a:ext cx="2692400" cy="369332"/>
          </a:xfrm>
          <a:prstGeom prst="rect">
            <a:avLst/>
          </a:prstGeom>
          <a:noFill/>
        </p:spPr>
        <p:txBody>
          <a:bodyPr vert="horz" wrap="square" lIns="0" tIns="0" rIns="0" bIns="0" rtlCol="0" anchor="t">
            <a:noAutofit/>
          </a:bodyPr>
          <a:lstStyle/>
          <a:p>
            <a:pPr algn="r"/>
            <a:r>
              <a:rPr lang="en-IN" sz="1400">
                <a:solidFill>
                  <a:srgbClr val="5B6B79"/>
                </a:solidFill>
                <a:latin typeface="Calibri" panose="020F0502020204030204" pitchFamily="34" charset="0"/>
              </a:rPr>
              <a:t>Live AWS demo</a:t>
            </a:r>
          </a:p>
        </p:txBody>
      </p:sp>
      <p:sp>
        <p:nvSpPr>
          <p:cNvPr id="21" name="Rectangle: Rounded Corners 20">
            <a:extLst>
              <a:ext uri="{FF2B5EF4-FFF2-40B4-BE49-F238E27FC236}">
                <a16:creationId xmlns:a16="http://schemas.microsoft.com/office/drawing/2014/main" id="{E475F73C-897E-A939-1ED4-956B0582A42F}"/>
              </a:ext>
            </a:extLst>
          </p:cNvPr>
          <p:cNvSpPr/>
          <p:nvPr/>
        </p:nvSpPr>
        <p:spPr>
          <a:xfrm>
            <a:off x="609600" y="5384800"/>
            <a:ext cx="1397000" cy="508000"/>
          </a:xfrm>
          <a:prstGeom prst="roundRect">
            <a:avLst>
              <a:gd name="adj" fmla="val 10000"/>
            </a:avLst>
          </a:prstGeom>
          <a:solidFill>
            <a:srgbClr val="EEF3F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IN" sz="1400" b="1">
                <a:solidFill>
                  <a:srgbClr val="13293D"/>
                </a:solidFill>
                <a:latin typeface="Calibri" panose="020F0502020204030204" pitchFamily="34" charset="0"/>
              </a:rPr>
              <a:t>Close</a:t>
            </a:r>
          </a:p>
        </p:txBody>
      </p:sp>
      <p:sp>
        <p:nvSpPr>
          <p:cNvPr id="22" name="TextBox 21">
            <a:extLst>
              <a:ext uri="{FF2B5EF4-FFF2-40B4-BE49-F238E27FC236}">
                <a16:creationId xmlns:a16="http://schemas.microsoft.com/office/drawing/2014/main" id="{E5F1A2F6-D65E-731A-816E-8AFC50DB9E31}"/>
              </a:ext>
            </a:extLst>
          </p:cNvPr>
          <p:cNvSpPr txBox="1"/>
          <p:nvPr/>
        </p:nvSpPr>
        <p:spPr>
          <a:xfrm>
            <a:off x="2286000" y="5486400"/>
            <a:ext cx="6604000" cy="369332"/>
          </a:xfrm>
          <a:prstGeom prst="rect">
            <a:avLst/>
          </a:prstGeom>
          <a:noFill/>
        </p:spPr>
        <p:txBody>
          <a:bodyPr vert="horz" wrap="square" lIns="0" tIns="0" rIns="0" bIns="0" rtlCol="0" anchor="t">
            <a:noAutofit/>
          </a:bodyPr>
          <a:lstStyle/>
          <a:p>
            <a:r>
              <a:rPr lang="en-IN" sz="2000">
                <a:solidFill>
                  <a:srgbClr val="1E2A35"/>
                </a:solidFill>
                <a:latin typeface="Calibri" panose="020F0502020204030204" pitchFamily="34" charset="0"/>
              </a:rPr>
              <a:t>Wrap-up and questions</a:t>
            </a:r>
          </a:p>
        </p:txBody>
      </p:sp>
      <p:sp>
        <p:nvSpPr>
          <p:cNvPr id="23" name="TextBox 22">
            <a:extLst>
              <a:ext uri="{FF2B5EF4-FFF2-40B4-BE49-F238E27FC236}">
                <a16:creationId xmlns:a16="http://schemas.microsoft.com/office/drawing/2014/main" id="{2DF25DC5-FC98-EBEF-4E6F-94744A1DAEA0}"/>
              </a:ext>
            </a:extLst>
          </p:cNvPr>
          <p:cNvSpPr txBox="1"/>
          <p:nvPr/>
        </p:nvSpPr>
        <p:spPr>
          <a:xfrm>
            <a:off x="8890000" y="5511800"/>
            <a:ext cx="2692400" cy="369332"/>
          </a:xfrm>
          <a:prstGeom prst="rect">
            <a:avLst/>
          </a:prstGeom>
          <a:noFill/>
        </p:spPr>
        <p:txBody>
          <a:bodyPr vert="horz" wrap="square" lIns="0" tIns="0" rIns="0" bIns="0" rtlCol="0" anchor="t">
            <a:noAutofit/>
          </a:bodyPr>
          <a:lstStyle/>
          <a:p>
            <a:pPr algn="r"/>
            <a:r>
              <a:rPr lang="en-IN" sz="1400">
                <a:solidFill>
                  <a:srgbClr val="5B6B79"/>
                </a:solidFill>
                <a:latin typeface="Calibri" panose="020F0502020204030204" pitchFamily="34" charset="0"/>
              </a:rPr>
              <a:t>Discussion</a:t>
            </a:r>
          </a:p>
        </p:txBody>
      </p:sp>
      <p:sp>
        <p:nvSpPr>
          <p:cNvPr id="24" name="TextBox 23">
            <a:extLst>
              <a:ext uri="{FF2B5EF4-FFF2-40B4-BE49-F238E27FC236}">
                <a16:creationId xmlns:a16="http://schemas.microsoft.com/office/drawing/2014/main" id="{ECA269E6-436F-5D6F-1343-4B2E618DB75B}"/>
              </a:ext>
            </a:extLst>
          </p:cNvPr>
          <p:cNvSpPr txBox="1"/>
          <p:nvPr/>
        </p:nvSpPr>
        <p:spPr>
          <a:xfrm>
            <a:off x="609600" y="6502400"/>
            <a:ext cx="5080000" cy="369332"/>
          </a:xfrm>
          <a:prstGeom prst="rect">
            <a:avLst/>
          </a:prstGeom>
          <a:noFill/>
        </p:spPr>
        <p:txBody>
          <a:bodyPr vert="horz" wrap="square" lIns="0" tIns="0" rIns="0" bIns="0" rtlCol="0" anchor="t">
            <a:noAutofit/>
          </a:bodyPr>
          <a:lstStyle/>
          <a:p>
            <a:r>
              <a:rPr lang="en-US" sz="1000">
                <a:solidFill>
                  <a:srgbClr val="5B6B79"/>
                </a:solidFill>
                <a:latin typeface="Calibri" panose="020F0502020204030204" pitchFamily="34" charset="0"/>
              </a:rPr>
              <a:t>Securing the path to the cloud</a:t>
            </a:r>
            <a:endParaRPr lang="en-IN" sz="1000">
              <a:solidFill>
                <a:srgbClr val="5B6B79"/>
              </a:solidFill>
              <a:latin typeface="Calibri" panose="020F0502020204030204" pitchFamily="34" charset="0"/>
            </a:endParaRPr>
          </a:p>
        </p:txBody>
      </p:sp>
      <p:sp>
        <p:nvSpPr>
          <p:cNvPr id="25" name="TextBox 24">
            <a:extLst>
              <a:ext uri="{FF2B5EF4-FFF2-40B4-BE49-F238E27FC236}">
                <a16:creationId xmlns:a16="http://schemas.microsoft.com/office/drawing/2014/main" id="{C71992BB-31C6-8ED4-8FF5-342F88C80810}"/>
              </a:ext>
            </a:extLst>
          </p:cNvPr>
          <p:cNvSpPr txBox="1"/>
          <p:nvPr/>
        </p:nvSpPr>
        <p:spPr>
          <a:xfrm>
            <a:off x="10312400" y="6502400"/>
            <a:ext cx="1270000" cy="369332"/>
          </a:xfrm>
          <a:prstGeom prst="rect">
            <a:avLst/>
          </a:prstGeom>
          <a:noFill/>
        </p:spPr>
        <p:txBody>
          <a:bodyPr vert="horz" wrap="square" lIns="0" tIns="0" rIns="0" bIns="0" rtlCol="0" anchor="t">
            <a:noAutofit/>
          </a:bodyPr>
          <a:lstStyle/>
          <a:p>
            <a:pPr algn="r"/>
            <a:r>
              <a:rPr lang="en-IN" sz="1000">
                <a:solidFill>
                  <a:srgbClr val="5B6B79"/>
                </a:solidFill>
                <a:latin typeface="Calibri" panose="020F0502020204030204" pitchFamily="34" charset="0"/>
              </a:rPr>
              <a:t>2</a:t>
            </a:r>
          </a:p>
        </p:txBody>
      </p:sp>
    </p:spTree>
    <p:extLst>
      <p:ext uri="{BB962C8B-B14F-4D97-AF65-F5344CB8AC3E}">
        <p14:creationId xmlns:p14="http://schemas.microsoft.com/office/powerpoint/2010/main" val="39188486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1349B1-08C4-1DEC-B653-CDF60C69CAAE}"/>
              </a:ext>
            </a:extLst>
          </p:cNvPr>
          <p:cNvSpPr txBox="1"/>
          <p:nvPr/>
        </p:nvSpPr>
        <p:spPr>
          <a:xfrm>
            <a:off x="609600" y="381000"/>
            <a:ext cx="10972800" cy="369332"/>
          </a:xfrm>
          <a:prstGeom prst="rect">
            <a:avLst/>
          </a:prstGeom>
          <a:noFill/>
        </p:spPr>
        <p:txBody>
          <a:bodyPr vert="horz" wrap="square" lIns="0" tIns="0" rIns="0" bIns="0" rtlCol="0" anchor="t">
            <a:noAutofit/>
          </a:bodyPr>
          <a:lstStyle/>
          <a:p>
            <a:r>
              <a:rPr lang="en-IN" sz="3400" b="1">
                <a:solidFill>
                  <a:srgbClr val="13293D"/>
                </a:solidFill>
                <a:latin typeface="Calibri" panose="020F0502020204030204" pitchFamily="34" charset="0"/>
              </a:rPr>
              <a:t>What makes something "cloud"</a:t>
            </a:r>
          </a:p>
        </p:txBody>
      </p:sp>
      <p:sp>
        <p:nvSpPr>
          <p:cNvPr id="3" name="TextBox 2">
            <a:extLst>
              <a:ext uri="{FF2B5EF4-FFF2-40B4-BE49-F238E27FC236}">
                <a16:creationId xmlns:a16="http://schemas.microsoft.com/office/drawing/2014/main" id="{2A710700-AEA8-A671-8CE6-2C26498A8360}"/>
              </a:ext>
            </a:extLst>
          </p:cNvPr>
          <p:cNvSpPr txBox="1"/>
          <p:nvPr/>
        </p:nvSpPr>
        <p:spPr>
          <a:xfrm>
            <a:off x="609600" y="1016000"/>
            <a:ext cx="10972800" cy="369332"/>
          </a:xfrm>
          <a:prstGeom prst="rect">
            <a:avLst/>
          </a:prstGeom>
          <a:noFill/>
        </p:spPr>
        <p:txBody>
          <a:bodyPr vert="horz" wrap="square" lIns="0" tIns="0" rIns="0" bIns="0" rtlCol="0" anchor="t">
            <a:noAutofit/>
          </a:bodyPr>
          <a:lstStyle/>
          <a:p>
            <a:r>
              <a:rPr lang="en-US" sz="1600">
                <a:solidFill>
                  <a:srgbClr val="5B6B79"/>
                </a:solidFill>
                <a:latin typeface="Calibri" panose="020F0502020204030204" pitchFamily="34" charset="0"/>
              </a:rPr>
              <a:t>The five essential characteristics, as defined by NIST</a:t>
            </a:r>
            <a:endParaRPr lang="en-IN" sz="1600">
              <a:solidFill>
                <a:srgbClr val="5B6B79"/>
              </a:solidFill>
              <a:latin typeface="Calibri" panose="020F0502020204030204" pitchFamily="34" charset="0"/>
            </a:endParaRPr>
          </a:p>
        </p:txBody>
      </p:sp>
      <p:sp>
        <p:nvSpPr>
          <p:cNvPr id="4" name="Rectangle: Rounded Corners 3">
            <a:extLst>
              <a:ext uri="{FF2B5EF4-FFF2-40B4-BE49-F238E27FC236}">
                <a16:creationId xmlns:a16="http://schemas.microsoft.com/office/drawing/2014/main" id="{90F414EA-CFCE-B5F1-DF1E-A49CCA18E548}"/>
              </a:ext>
            </a:extLst>
          </p:cNvPr>
          <p:cNvSpPr/>
          <p:nvPr/>
        </p:nvSpPr>
        <p:spPr>
          <a:xfrm>
            <a:off x="609600" y="1651000"/>
            <a:ext cx="2057400" cy="3048000"/>
          </a:xfrm>
          <a:prstGeom prst="roundRect">
            <a:avLst>
              <a:gd name="adj" fmla="val 10000"/>
            </a:avLst>
          </a:prstGeom>
          <a:solidFill>
            <a:srgbClr val="EEF3F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val 4">
            <a:extLst>
              <a:ext uri="{FF2B5EF4-FFF2-40B4-BE49-F238E27FC236}">
                <a16:creationId xmlns:a16="http://schemas.microsoft.com/office/drawing/2014/main" id="{9A33E0C2-F9F4-72D3-11FB-F92DDDA7A689}"/>
              </a:ext>
            </a:extLst>
          </p:cNvPr>
          <p:cNvSpPr/>
          <p:nvPr/>
        </p:nvSpPr>
        <p:spPr>
          <a:xfrm>
            <a:off x="812800" y="1905000"/>
            <a:ext cx="508000" cy="508000"/>
          </a:xfrm>
          <a:prstGeom prst="ellipse">
            <a:avLst/>
          </a:prstGeom>
          <a:solidFill>
            <a:srgbClr val="1B998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IN" b="1">
                <a:solidFill>
                  <a:srgbClr val="FFFFFF"/>
                </a:solidFill>
                <a:latin typeface="Calibri" panose="020F0502020204030204" pitchFamily="34" charset="0"/>
              </a:rPr>
              <a:t>1</a:t>
            </a:r>
          </a:p>
        </p:txBody>
      </p:sp>
      <p:sp>
        <p:nvSpPr>
          <p:cNvPr id="6" name="TextBox 5">
            <a:extLst>
              <a:ext uri="{FF2B5EF4-FFF2-40B4-BE49-F238E27FC236}">
                <a16:creationId xmlns:a16="http://schemas.microsoft.com/office/drawing/2014/main" id="{F35D2D52-F5DA-4179-E672-89B1B71155AA}"/>
              </a:ext>
            </a:extLst>
          </p:cNvPr>
          <p:cNvSpPr txBox="1"/>
          <p:nvPr/>
        </p:nvSpPr>
        <p:spPr>
          <a:xfrm>
            <a:off x="812800" y="2616200"/>
            <a:ext cx="1651000" cy="369332"/>
          </a:xfrm>
          <a:prstGeom prst="rect">
            <a:avLst/>
          </a:prstGeom>
          <a:noFill/>
        </p:spPr>
        <p:txBody>
          <a:bodyPr vert="horz" wrap="square" lIns="0" tIns="0" rIns="0" bIns="0" rtlCol="0" anchor="t">
            <a:noAutofit/>
          </a:bodyPr>
          <a:lstStyle/>
          <a:p>
            <a:r>
              <a:rPr lang="en-IN" b="1">
                <a:solidFill>
                  <a:srgbClr val="13293D"/>
                </a:solidFill>
                <a:latin typeface="Calibri" panose="020F0502020204030204" pitchFamily="34" charset="0"/>
              </a:rPr>
              <a:t>On-demand self-service</a:t>
            </a:r>
          </a:p>
        </p:txBody>
      </p:sp>
      <p:sp>
        <p:nvSpPr>
          <p:cNvPr id="7" name="TextBox 6">
            <a:extLst>
              <a:ext uri="{FF2B5EF4-FFF2-40B4-BE49-F238E27FC236}">
                <a16:creationId xmlns:a16="http://schemas.microsoft.com/office/drawing/2014/main" id="{EC3685D8-640D-8D9E-F690-5233959F19C2}"/>
              </a:ext>
            </a:extLst>
          </p:cNvPr>
          <p:cNvSpPr txBox="1"/>
          <p:nvPr/>
        </p:nvSpPr>
        <p:spPr>
          <a:xfrm>
            <a:off x="812800" y="3378200"/>
            <a:ext cx="1651000" cy="369332"/>
          </a:xfrm>
          <a:prstGeom prst="rect">
            <a:avLst/>
          </a:prstGeom>
          <a:noFill/>
        </p:spPr>
        <p:txBody>
          <a:bodyPr vert="horz" wrap="square" lIns="0" tIns="0" rIns="0" bIns="0" rtlCol="0" anchor="t">
            <a:noAutofit/>
          </a:bodyPr>
          <a:lstStyle/>
          <a:p>
            <a:r>
              <a:rPr lang="en-US" sz="1400">
                <a:solidFill>
                  <a:srgbClr val="1E2A35"/>
                </a:solidFill>
                <a:latin typeface="Calibri" panose="020F0502020204030204" pitchFamily="34" charset="0"/>
              </a:rPr>
              <a:t>Create servers or storage yourself, in minutes, without raising a ticket.</a:t>
            </a:r>
            <a:endParaRPr lang="en-IN" sz="1400">
              <a:solidFill>
                <a:srgbClr val="1E2A35"/>
              </a:solidFill>
              <a:latin typeface="Calibri" panose="020F0502020204030204" pitchFamily="34" charset="0"/>
            </a:endParaRPr>
          </a:p>
        </p:txBody>
      </p:sp>
      <p:sp>
        <p:nvSpPr>
          <p:cNvPr id="8" name="Rectangle: Rounded Corners 7">
            <a:extLst>
              <a:ext uri="{FF2B5EF4-FFF2-40B4-BE49-F238E27FC236}">
                <a16:creationId xmlns:a16="http://schemas.microsoft.com/office/drawing/2014/main" id="{71BA102F-BE71-6284-0B72-3BE37BBD486C}"/>
              </a:ext>
            </a:extLst>
          </p:cNvPr>
          <p:cNvSpPr/>
          <p:nvPr/>
        </p:nvSpPr>
        <p:spPr>
          <a:xfrm>
            <a:off x="2838450" y="1651000"/>
            <a:ext cx="2057400" cy="3048000"/>
          </a:xfrm>
          <a:prstGeom prst="roundRect">
            <a:avLst>
              <a:gd name="adj" fmla="val 10000"/>
            </a:avLst>
          </a:prstGeom>
          <a:solidFill>
            <a:srgbClr val="EEF3F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a:extLst>
              <a:ext uri="{FF2B5EF4-FFF2-40B4-BE49-F238E27FC236}">
                <a16:creationId xmlns:a16="http://schemas.microsoft.com/office/drawing/2014/main" id="{7DD01EE8-30EC-324A-EAAE-D7074B2DB97D}"/>
              </a:ext>
            </a:extLst>
          </p:cNvPr>
          <p:cNvSpPr/>
          <p:nvPr/>
        </p:nvSpPr>
        <p:spPr>
          <a:xfrm>
            <a:off x="3041650" y="1905000"/>
            <a:ext cx="508000" cy="508000"/>
          </a:xfrm>
          <a:prstGeom prst="ellipse">
            <a:avLst/>
          </a:prstGeom>
          <a:solidFill>
            <a:srgbClr val="1B998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IN" b="1">
                <a:solidFill>
                  <a:srgbClr val="FFFFFF"/>
                </a:solidFill>
                <a:latin typeface="Calibri" panose="020F0502020204030204" pitchFamily="34" charset="0"/>
              </a:rPr>
              <a:t>2</a:t>
            </a:r>
          </a:p>
        </p:txBody>
      </p:sp>
      <p:sp>
        <p:nvSpPr>
          <p:cNvPr id="10" name="TextBox 9">
            <a:extLst>
              <a:ext uri="{FF2B5EF4-FFF2-40B4-BE49-F238E27FC236}">
                <a16:creationId xmlns:a16="http://schemas.microsoft.com/office/drawing/2014/main" id="{8705B937-0DB5-70CA-DFD8-6C747BC73733}"/>
              </a:ext>
            </a:extLst>
          </p:cNvPr>
          <p:cNvSpPr txBox="1"/>
          <p:nvPr/>
        </p:nvSpPr>
        <p:spPr>
          <a:xfrm>
            <a:off x="3041650" y="2616200"/>
            <a:ext cx="1651000" cy="369332"/>
          </a:xfrm>
          <a:prstGeom prst="rect">
            <a:avLst/>
          </a:prstGeom>
          <a:noFill/>
        </p:spPr>
        <p:txBody>
          <a:bodyPr vert="horz" wrap="square" lIns="0" tIns="0" rIns="0" bIns="0" rtlCol="0" anchor="t">
            <a:noAutofit/>
          </a:bodyPr>
          <a:lstStyle/>
          <a:p>
            <a:r>
              <a:rPr lang="en-IN" b="1">
                <a:solidFill>
                  <a:srgbClr val="13293D"/>
                </a:solidFill>
                <a:latin typeface="Calibri" panose="020F0502020204030204" pitchFamily="34" charset="0"/>
              </a:rPr>
              <a:t>Broad network access</a:t>
            </a:r>
          </a:p>
        </p:txBody>
      </p:sp>
      <p:sp>
        <p:nvSpPr>
          <p:cNvPr id="11" name="TextBox 10">
            <a:extLst>
              <a:ext uri="{FF2B5EF4-FFF2-40B4-BE49-F238E27FC236}">
                <a16:creationId xmlns:a16="http://schemas.microsoft.com/office/drawing/2014/main" id="{8C9DD369-B85F-627D-D904-214E795A5BC8}"/>
              </a:ext>
            </a:extLst>
          </p:cNvPr>
          <p:cNvSpPr txBox="1"/>
          <p:nvPr/>
        </p:nvSpPr>
        <p:spPr>
          <a:xfrm>
            <a:off x="3041650" y="3378200"/>
            <a:ext cx="1651000" cy="369332"/>
          </a:xfrm>
          <a:prstGeom prst="rect">
            <a:avLst/>
          </a:prstGeom>
          <a:noFill/>
        </p:spPr>
        <p:txBody>
          <a:bodyPr vert="horz" wrap="square" lIns="0" tIns="0" rIns="0" bIns="0" rtlCol="0" anchor="t">
            <a:noAutofit/>
          </a:bodyPr>
          <a:lstStyle/>
          <a:p>
            <a:r>
              <a:rPr lang="en-US" sz="1400">
                <a:solidFill>
                  <a:srgbClr val="1E2A35"/>
                </a:solidFill>
                <a:latin typeface="Calibri" panose="020F0502020204030204" pitchFamily="34" charset="0"/>
              </a:rPr>
              <a:t>Reach it over the network, from laptops, phones and other services.</a:t>
            </a:r>
            <a:endParaRPr lang="en-IN" sz="1400">
              <a:solidFill>
                <a:srgbClr val="1E2A35"/>
              </a:solidFill>
              <a:latin typeface="Calibri" panose="020F0502020204030204" pitchFamily="34" charset="0"/>
            </a:endParaRPr>
          </a:p>
        </p:txBody>
      </p:sp>
      <p:sp>
        <p:nvSpPr>
          <p:cNvPr id="12" name="Rectangle: Rounded Corners 11">
            <a:extLst>
              <a:ext uri="{FF2B5EF4-FFF2-40B4-BE49-F238E27FC236}">
                <a16:creationId xmlns:a16="http://schemas.microsoft.com/office/drawing/2014/main" id="{F579781F-D5E3-980C-3600-664A25BEE9D8}"/>
              </a:ext>
            </a:extLst>
          </p:cNvPr>
          <p:cNvSpPr/>
          <p:nvPr/>
        </p:nvSpPr>
        <p:spPr>
          <a:xfrm>
            <a:off x="5067300" y="1651000"/>
            <a:ext cx="2057400" cy="3048000"/>
          </a:xfrm>
          <a:prstGeom prst="roundRect">
            <a:avLst>
              <a:gd name="adj" fmla="val 10000"/>
            </a:avLst>
          </a:prstGeom>
          <a:solidFill>
            <a:srgbClr val="EEF3F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id="{603EA691-8D1F-FFEC-BF5A-F465823F0E5B}"/>
              </a:ext>
            </a:extLst>
          </p:cNvPr>
          <p:cNvSpPr/>
          <p:nvPr/>
        </p:nvSpPr>
        <p:spPr>
          <a:xfrm>
            <a:off x="5270500" y="1905000"/>
            <a:ext cx="508000" cy="508000"/>
          </a:xfrm>
          <a:prstGeom prst="ellipse">
            <a:avLst/>
          </a:prstGeom>
          <a:solidFill>
            <a:srgbClr val="1B998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IN" b="1">
                <a:solidFill>
                  <a:srgbClr val="FFFFFF"/>
                </a:solidFill>
                <a:latin typeface="Calibri" panose="020F0502020204030204" pitchFamily="34" charset="0"/>
              </a:rPr>
              <a:t>3</a:t>
            </a:r>
          </a:p>
        </p:txBody>
      </p:sp>
      <p:sp>
        <p:nvSpPr>
          <p:cNvPr id="14" name="TextBox 13">
            <a:extLst>
              <a:ext uri="{FF2B5EF4-FFF2-40B4-BE49-F238E27FC236}">
                <a16:creationId xmlns:a16="http://schemas.microsoft.com/office/drawing/2014/main" id="{295CFEA2-0B7E-40DC-C1A1-3F3DA7265468}"/>
              </a:ext>
            </a:extLst>
          </p:cNvPr>
          <p:cNvSpPr txBox="1"/>
          <p:nvPr/>
        </p:nvSpPr>
        <p:spPr>
          <a:xfrm>
            <a:off x="5270500" y="2616200"/>
            <a:ext cx="1651000" cy="369332"/>
          </a:xfrm>
          <a:prstGeom prst="rect">
            <a:avLst/>
          </a:prstGeom>
          <a:noFill/>
        </p:spPr>
        <p:txBody>
          <a:bodyPr vert="horz" wrap="square" lIns="0" tIns="0" rIns="0" bIns="0" rtlCol="0" anchor="t">
            <a:noAutofit/>
          </a:bodyPr>
          <a:lstStyle/>
          <a:p>
            <a:r>
              <a:rPr lang="en-IN" b="1">
                <a:solidFill>
                  <a:srgbClr val="13293D"/>
                </a:solidFill>
                <a:latin typeface="Calibri" panose="020F0502020204030204" pitchFamily="34" charset="0"/>
              </a:rPr>
              <a:t>Resource pooling</a:t>
            </a:r>
          </a:p>
        </p:txBody>
      </p:sp>
      <p:sp>
        <p:nvSpPr>
          <p:cNvPr id="15" name="TextBox 14">
            <a:extLst>
              <a:ext uri="{FF2B5EF4-FFF2-40B4-BE49-F238E27FC236}">
                <a16:creationId xmlns:a16="http://schemas.microsoft.com/office/drawing/2014/main" id="{19BA6FB7-5FE7-3A17-2FFD-FABF4B58EFDC}"/>
              </a:ext>
            </a:extLst>
          </p:cNvPr>
          <p:cNvSpPr txBox="1"/>
          <p:nvPr/>
        </p:nvSpPr>
        <p:spPr>
          <a:xfrm>
            <a:off x="5270500" y="3378200"/>
            <a:ext cx="1651000" cy="369332"/>
          </a:xfrm>
          <a:prstGeom prst="rect">
            <a:avLst/>
          </a:prstGeom>
          <a:noFill/>
        </p:spPr>
        <p:txBody>
          <a:bodyPr vert="horz" wrap="square" lIns="0" tIns="0" rIns="0" bIns="0" rtlCol="0" anchor="t">
            <a:noAutofit/>
          </a:bodyPr>
          <a:lstStyle/>
          <a:p>
            <a:r>
              <a:rPr lang="en-US" sz="1400">
                <a:solidFill>
                  <a:srgbClr val="1E2A35"/>
                </a:solidFill>
                <a:latin typeface="Calibri" panose="020F0502020204030204" pitchFamily="34" charset="0"/>
              </a:rPr>
              <a:t>Many customers share the provider's hardware, isolated from each other.</a:t>
            </a:r>
            <a:endParaRPr lang="en-IN" sz="1400">
              <a:solidFill>
                <a:srgbClr val="1E2A35"/>
              </a:solidFill>
              <a:latin typeface="Calibri" panose="020F0502020204030204" pitchFamily="34" charset="0"/>
            </a:endParaRPr>
          </a:p>
        </p:txBody>
      </p:sp>
      <p:sp>
        <p:nvSpPr>
          <p:cNvPr id="16" name="Rectangle: Rounded Corners 15">
            <a:extLst>
              <a:ext uri="{FF2B5EF4-FFF2-40B4-BE49-F238E27FC236}">
                <a16:creationId xmlns:a16="http://schemas.microsoft.com/office/drawing/2014/main" id="{424A1410-D6DF-5D97-C458-66D3D2290CBD}"/>
              </a:ext>
            </a:extLst>
          </p:cNvPr>
          <p:cNvSpPr/>
          <p:nvPr/>
        </p:nvSpPr>
        <p:spPr>
          <a:xfrm>
            <a:off x="7296150" y="1651000"/>
            <a:ext cx="2057400" cy="3048000"/>
          </a:xfrm>
          <a:prstGeom prst="roundRect">
            <a:avLst>
              <a:gd name="adj" fmla="val 10000"/>
            </a:avLst>
          </a:prstGeom>
          <a:solidFill>
            <a:srgbClr val="EEF3F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Oval 16">
            <a:extLst>
              <a:ext uri="{FF2B5EF4-FFF2-40B4-BE49-F238E27FC236}">
                <a16:creationId xmlns:a16="http://schemas.microsoft.com/office/drawing/2014/main" id="{E9D16F3A-7459-F015-354D-411C12FDAE95}"/>
              </a:ext>
            </a:extLst>
          </p:cNvPr>
          <p:cNvSpPr/>
          <p:nvPr/>
        </p:nvSpPr>
        <p:spPr>
          <a:xfrm>
            <a:off x="7499350" y="1905000"/>
            <a:ext cx="508000" cy="508000"/>
          </a:xfrm>
          <a:prstGeom prst="ellipse">
            <a:avLst/>
          </a:prstGeom>
          <a:solidFill>
            <a:srgbClr val="1B998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IN" b="1">
                <a:solidFill>
                  <a:srgbClr val="FFFFFF"/>
                </a:solidFill>
                <a:latin typeface="Calibri" panose="020F0502020204030204" pitchFamily="34" charset="0"/>
              </a:rPr>
              <a:t>4</a:t>
            </a:r>
          </a:p>
        </p:txBody>
      </p:sp>
      <p:sp>
        <p:nvSpPr>
          <p:cNvPr id="18" name="TextBox 17">
            <a:extLst>
              <a:ext uri="{FF2B5EF4-FFF2-40B4-BE49-F238E27FC236}">
                <a16:creationId xmlns:a16="http://schemas.microsoft.com/office/drawing/2014/main" id="{4B315AF9-ECDD-FC41-1955-EB6C1D9B8F77}"/>
              </a:ext>
            </a:extLst>
          </p:cNvPr>
          <p:cNvSpPr txBox="1"/>
          <p:nvPr/>
        </p:nvSpPr>
        <p:spPr>
          <a:xfrm>
            <a:off x="7499350" y="2616200"/>
            <a:ext cx="1651000" cy="369332"/>
          </a:xfrm>
          <a:prstGeom prst="rect">
            <a:avLst/>
          </a:prstGeom>
          <a:noFill/>
        </p:spPr>
        <p:txBody>
          <a:bodyPr vert="horz" wrap="square" lIns="0" tIns="0" rIns="0" bIns="0" rtlCol="0" anchor="t">
            <a:noAutofit/>
          </a:bodyPr>
          <a:lstStyle/>
          <a:p>
            <a:r>
              <a:rPr lang="en-IN" b="1">
                <a:solidFill>
                  <a:srgbClr val="13293D"/>
                </a:solidFill>
                <a:latin typeface="Calibri" panose="020F0502020204030204" pitchFamily="34" charset="0"/>
              </a:rPr>
              <a:t>Rapid elasticity</a:t>
            </a:r>
          </a:p>
        </p:txBody>
      </p:sp>
      <p:sp>
        <p:nvSpPr>
          <p:cNvPr id="19" name="TextBox 18">
            <a:extLst>
              <a:ext uri="{FF2B5EF4-FFF2-40B4-BE49-F238E27FC236}">
                <a16:creationId xmlns:a16="http://schemas.microsoft.com/office/drawing/2014/main" id="{083F1337-C42E-1E46-C98A-A687FF191BD1}"/>
              </a:ext>
            </a:extLst>
          </p:cNvPr>
          <p:cNvSpPr txBox="1"/>
          <p:nvPr/>
        </p:nvSpPr>
        <p:spPr>
          <a:xfrm>
            <a:off x="7499350" y="3378200"/>
            <a:ext cx="1651000" cy="369332"/>
          </a:xfrm>
          <a:prstGeom prst="rect">
            <a:avLst/>
          </a:prstGeom>
          <a:noFill/>
        </p:spPr>
        <p:txBody>
          <a:bodyPr vert="horz" wrap="square" lIns="0" tIns="0" rIns="0" bIns="0" rtlCol="0" anchor="t">
            <a:noAutofit/>
          </a:bodyPr>
          <a:lstStyle/>
          <a:p>
            <a:r>
              <a:rPr lang="en-US" sz="1400">
                <a:solidFill>
                  <a:srgbClr val="1E2A35"/>
                </a:solidFill>
                <a:latin typeface="Calibri" panose="020F0502020204030204" pitchFamily="34" charset="0"/>
              </a:rPr>
              <a:t>Scale up for the peak, and back down afterwards.</a:t>
            </a:r>
            <a:endParaRPr lang="en-IN" sz="1400">
              <a:solidFill>
                <a:srgbClr val="1E2A35"/>
              </a:solidFill>
              <a:latin typeface="Calibri" panose="020F0502020204030204" pitchFamily="34" charset="0"/>
            </a:endParaRPr>
          </a:p>
        </p:txBody>
      </p:sp>
      <p:sp>
        <p:nvSpPr>
          <p:cNvPr id="20" name="Rectangle: Rounded Corners 19">
            <a:extLst>
              <a:ext uri="{FF2B5EF4-FFF2-40B4-BE49-F238E27FC236}">
                <a16:creationId xmlns:a16="http://schemas.microsoft.com/office/drawing/2014/main" id="{2019A9D6-5EBF-2450-093F-1E499EA23B22}"/>
              </a:ext>
            </a:extLst>
          </p:cNvPr>
          <p:cNvSpPr/>
          <p:nvPr/>
        </p:nvSpPr>
        <p:spPr>
          <a:xfrm>
            <a:off x="9525000" y="1651000"/>
            <a:ext cx="2057400" cy="3048000"/>
          </a:xfrm>
          <a:prstGeom prst="roundRect">
            <a:avLst>
              <a:gd name="adj" fmla="val 10000"/>
            </a:avLst>
          </a:prstGeom>
          <a:solidFill>
            <a:srgbClr val="EEF3F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Oval 20">
            <a:extLst>
              <a:ext uri="{FF2B5EF4-FFF2-40B4-BE49-F238E27FC236}">
                <a16:creationId xmlns:a16="http://schemas.microsoft.com/office/drawing/2014/main" id="{11CE55F9-E1D0-7AF9-0D07-6515A5C32C66}"/>
              </a:ext>
            </a:extLst>
          </p:cNvPr>
          <p:cNvSpPr/>
          <p:nvPr/>
        </p:nvSpPr>
        <p:spPr>
          <a:xfrm>
            <a:off x="9728200" y="1905000"/>
            <a:ext cx="508000" cy="508000"/>
          </a:xfrm>
          <a:prstGeom prst="ellipse">
            <a:avLst/>
          </a:prstGeom>
          <a:solidFill>
            <a:srgbClr val="1B998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IN" b="1">
                <a:solidFill>
                  <a:srgbClr val="FFFFFF"/>
                </a:solidFill>
                <a:latin typeface="Calibri" panose="020F0502020204030204" pitchFamily="34" charset="0"/>
              </a:rPr>
              <a:t>5</a:t>
            </a:r>
          </a:p>
        </p:txBody>
      </p:sp>
      <p:sp>
        <p:nvSpPr>
          <p:cNvPr id="22" name="TextBox 21">
            <a:extLst>
              <a:ext uri="{FF2B5EF4-FFF2-40B4-BE49-F238E27FC236}">
                <a16:creationId xmlns:a16="http://schemas.microsoft.com/office/drawing/2014/main" id="{A37B0F98-F92C-457F-9042-0CA92CBE17B0}"/>
              </a:ext>
            </a:extLst>
          </p:cNvPr>
          <p:cNvSpPr txBox="1"/>
          <p:nvPr/>
        </p:nvSpPr>
        <p:spPr>
          <a:xfrm>
            <a:off x="9728200" y="2616200"/>
            <a:ext cx="1651000" cy="369332"/>
          </a:xfrm>
          <a:prstGeom prst="rect">
            <a:avLst/>
          </a:prstGeom>
          <a:noFill/>
        </p:spPr>
        <p:txBody>
          <a:bodyPr vert="horz" wrap="square" lIns="0" tIns="0" rIns="0" bIns="0" rtlCol="0" anchor="t">
            <a:noAutofit/>
          </a:bodyPr>
          <a:lstStyle/>
          <a:p>
            <a:r>
              <a:rPr lang="en-IN" b="1">
                <a:solidFill>
                  <a:srgbClr val="13293D"/>
                </a:solidFill>
                <a:latin typeface="Calibri" panose="020F0502020204030204" pitchFamily="34" charset="0"/>
              </a:rPr>
              <a:t>Measured service</a:t>
            </a:r>
          </a:p>
        </p:txBody>
      </p:sp>
      <p:sp>
        <p:nvSpPr>
          <p:cNvPr id="23" name="TextBox 22">
            <a:extLst>
              <a:ext uri="{FF2B5EF4-FFF2-40B4-BE49-F238E27FC236}">
                <a16:creationId xmlns:a16="http://schemas.microsoft.com/office/drawing/2014/main" id="{E6DB6B3B-433E-6AEE-E0DF-219D62A4B335}"/>
              </a:ext>
            </a:extLst>
          </p:cNvPr>
          <p:cNvSpPr txBox="1"/>
          <p:nvPr/>
        </p:nvSpPr>
        <p:spPr>
          <a:xfrm>
            <a:off x="9728200" y="3378200"/>
            <a:ext cx="1651000" cy="369332"/>
          </a:xfrm>
          <a:prstGeom prst="rect">
            <a:avLst/>
          </a:prstGeom>
          <a:noFill/>
        </p:spPr>
        <p:txBody>
          <a:bodyPr vert="horz" wrap="square" lIns="0" tIns="0" rIns="0" bIns="0" rtlCol="0" anchor="t">
            <a:noAutofit/>
          </a:bodyPr>
          <a:lstStyle/>
          <a:p>
            <a:r>
              <a:rPr lang="en-US" sz="1400">
                <a:solidFill>
                  <a:srgbClr val="1E2A35"/>
                </a:solidFill>
                <a:latin typeface="Calibri" panose="020F0502020204030204" pitchFamily="34" charset="0"/>
              </a:rPr>
              <a:t>Pay for what you use, metered by the hour, gigabyte or request.</a:t>
            </a:r>
            <a:endParaRPr lang="en-IN" sz="1400">
              <a:solidFill>
                <a:srgbClr val="1E2A35"/>
              </a:solidFill>
              <a:latin typeface="Calibri" panose="020F0502020204030204" pitchFamily="34" charset="0"/>
            </a:endParaRPr>
          </a:p>
        </p:txBody>
      </p:sp>
      <p:sp>
        <p:nvSpPr>
          <p:cNvPr id="24" name="TextBox 23">
            <a:extLst>
              <a:ext uri="{FF2B5EF4-FFF2-40B4-BE49-F238E27FC236}">
                <a16:creationId xmlns:a16="http://schemas.microsoft.com/office/drawing/2014/main" id="{5D11610D-DA6B-4416-7359-84717C432472}"/>
              </a:ext>
            </a:extLst>
          </p:cNvPr>
          <p:cNvSpPr txBox="1"/>
          <p:nvPr/>
        </p:nvSpPr>
        <p:spPr>
          <a:xfrm>
            <a:off x="609600" y="5029200"/>
            <a:ext cx="10972800" cy="369332"/>
          </a:xfrm>
          <a:prstGeom prst="rect">
            <a:avLst/>
          </a:prstGeom>
          <a:noFill/>
        </p:spPr>
        <p:txBody>
          <a:bodyPr vert="horz" wrap="square" lIns="0" tIns="0" rIns="0" bIns="0" rtlCol="0" anchor="t">
            <a:noAutofit/>
          </a:bodyPr>
          <a:lstStyle/>
          <a:p>
            <a:r>
              <a:rPr lang="en-US" sz="1600">
                <a:solidFill>
                  <a:srgbClr val="5B6B79"/>
                </a:solidFill>
                <a:latin typeface="Calibri" panose="020F0502020204030204" pitchFamily="34" charset="0"/>
              </a:rPr>
              <a:t>Private clouds such as OpenStack (for example Platform9) offer the same model on your own hardware.</a:t>
            </a:r>
            <a:endParaRPr lang="en-IN" sz="1600">
              <a:solidFill>
                <a:srgbClr val="5B6B79"/>
              </a:solidFill>
              <a:latin typeface="Calibri" panose="020F0502020204030204" pitchFamily="34" charset="0"/>
            </a:endParaRPr>
          </a:p>
        </p:txBody>
      </p:sp>
      <p:sp>
        <p:nvSpPr>
          <p:cNvPr id="25" name="TextBox 24">
            <a:extLst>
              <a:ext uri="{FF2B5EF4-FFF2-40B4-BE49-F238E27FC236}">
                <a16:creationId xmlns:a16="http://schemas.microsoft.com/office/drawing/2014/main" id="{635742B9-080B-83F7-CCEB-D6248A02E6A6}"/>
              </a:ext>
            </a:extLst>
          </p:cNvPr>
          <p:cNvSpPr txBox="1"/>
          <p:nvPr/>
        </p:nvSpPr>
        <p:spPr>
          <a:xfrm>
            <a:off x="609600" y="6502400"/>
            <a:ext cx="5080000" cy="369332"/>
          </a:xfrm>
          <a:prstGeom prst="rect">
            <a:avLst/>
          </a:prstGeom>
          <a:noFill/>
        </p:spPr>
        <p:txBody>
          <a:bodyPr vert="horz" wrap="square" lIns="0" tIns="0" rIns="0" bIns="0" rtlCol="0" anchor="t">
            <a:noAutofit/>
          </a:bodyPr>
          <a:lstStyle/>
          <a:p>
            <a:r>
              <a:rPr lang="en-US" sz="1000">
                <a:solidFill>
                  <a:srgbClr val="5B6B79"/>
                </a:solidFill>
                <a:latin typeface="Calibri" panose="020F0502020204030204" pitchFamily="34" charset="0"/>
              </a:rPr>
              <a:t>Securing the path to the cloud</a:t>
            </a:r>
            <a:endParaRPr lang="en-IN" sz="1000">
              <a:solidFill>
                <a:srgbClr val="5B6B79"/>
              </a:solidFill>
              <a:latin typeface="Calibri" panose="020F0502020204030204" pitchFamily="34" charset="0"/>
            </a:endParaRPr>
          </a:p>
        </p:txBody>
      </p:sp>
      <p:sp>
        <p:nvSpPr>
          <p:cNvPr id="26" name="TextBox 25">
            <a:extLst>
              <a:ext uri="{FF2B5EF4-FFF2-40B4-BE49-F238E27FC236}">
                <a16:creationId xmlns:a16="http://schemas.microsoft.com/office/drawing/2014/main" id="{25ABA2C8-8170-3B03-407C-0746971D37CE}"/>
              </a:ext>
            </a:extLst>
          </p:cNvPr>
          <p:cNvSpPr txBox="1"/>
          <p:nvPr/>
        </p:nvSpPr>
        <p:spPr>
          <a:xfrm>
            <a:off x="10312400" y="6502400"/>
            <a:ext cx="1270000" cy="369332"/>
          </a:xfrm>
          <a:prstGeom prst="rect">
            <a:avLst/>
          </a:prstGeom>
          <a:noFill/>
        </p:spPr>
        <p:txBody>
          <a:bodyPr vert="horz" wrap="square" lIns="0" tIns="0" rIns="0" bIns="0" rtlCol="0" anchor="t">
            <a:noAutofit/>
          </a:bodyPr>
          <a:lstStyle/>
          <a:p>
            <a:pPr algn="r"/>
            <a:r>
              <a:rPr lang="en-IN" sz="1000">
                <a:solidFill>
                  <a:srgbClr val="5B6B79"/>
                </a:solidFill>
                <a:latin typeface="Calibri" panose="020F0502020204030204" pitchFamily="34" charset="0"/>
              </a:rPr>
              <a:t>3</a:t>
            </a:r>
          </a:p>
        </p:txBody>
      </p:sp>
    </p:spTree>
    <p:extLst>
      <p:ext uri="{BB962C8B-B14F-4D97-AF65-F5344CB8AC3E}">
        <p14:creationId xmlns:p14="http://schemas.microsoft.com/office/powerpoint/2010/main" val="17674659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ED732A-F43F-640F-E1B9-CD2F2B1E5388}"/>
              </a:ext>
            </a:extLst>
          </p:cNvPr>
          <p:cNvSpPr txBox="1"/>
          <p:nvPr/>
        </p:nvSpPr>
        <p:spPr>
          <a:xfrm>
            <a:off x="609600" y="381000"/>
            <a:ext cx="10972800" cy="369332"/>
          </a:xfrm>
          <a:prstGeom prst="rect">
            <a:avLst/>
          </a:prstGeom>
          <a:noFill/>
        </p:spPr>
        <p:txBody>
          <a:bodyPr vert="horz" wrap="square" lIns="0" tIns="0" rIns="0" bIns="0" rtlCol="0" anchor="t">
            <a:noAutofit/>
          </a:bodyPr>
          <a:lstStyle/>
          <a:p>
            <a:r>
              <a:rPr lang="en-US" sz="3400" b="1">
                <a:solidFill>
                  <a:srgbClr val="13293D"/>
                </a:solidFill>
                <a:latin typeface="Calibri" panose="020F0502020204030204" pitchFamily="34" charset="0"/>
              </a:rPr>
              <a:t>Cloud service models: who manages what</a:t>
            </a:r>
            <a:endParaRPr lang="en-IN" sz="3400" b="1">
              <a:solidFill>
                <a:srgbClr val="13293D"/>
              </a:solidFill>
              <a:latin typeface="Calibri" panose="020F0502020204030204" pitchFamily="34" charset="0"/>
            </a:endParaRPr>
          </a:p>
        </p:txBody>
      </p:sp>
      <p:sp>
        <p:nvSpPr>
          <p:cNvPr id="3" name="TextBox 2">
            <a:extLst>
              <a:ext uri="{FF2B5EF4-FFF2-40B4-BE49-F238E27FC236}">
                <a16:creationId xmlns:a16="http://schemas.microsoft.com/office/drawing/2014/main" id="{C1CAFD99-EEBB-99D5-59F2-69E91F055B0E}"/>
              </a:ext>
            </a:extLst>
          </p:cNvPr>
          <p:cNvSpPr txBox="1"/>
          <p:nvPr/>
        </p:nvSpPr>
        <p:spPr>
          <a:xfrm>
            <a:off x="609600" y="1016000"/>
            <a:ext cx="10972800" cy="369332"/>
          </a:xfrm>
          <a:prstGeom prst="rect">
            <a:avLst/>
          </a:prstGeom>
          <a:noFill/>
        </p:spPr>
        <p:txBody>
          <a:bodyPr vert="horz" wrap="square" lIns="0" tIns="0" rIns="0" bIns="0" rtlCol="0" anchor="t">
            <a:noAutofit/>
          </a:bodyPr>
          <a:lstStyle/>
          <a:p>
            <a:r>
              <a:rPr lang="en-US" sz="1600">
                <a:solidFill>
                  <a:srgbClr val="5B6B79"/>
                </a:solidFill>
                <a:latin typeface="Calibri" panose="020F0502020204030204" pitchFamily="34" charset="0"/>
              </a:rPr>
              <a:t>The further right, the more the provider runs for you. Slide 6 turns this into the security view.</a:t>
            </a:r>
            <a:endParaRPr lang="en-IN" sz="1600">
              <a:solidFill>
                <a:srgbClr val="5B6B79"/>
              </a:solidFill>
              <a:latin typeface="Calibri" panose="020F0502020204030204" pitchFamily="34" charset="0"/>
            </a:endParaRPr>
          </a:p>
        </p:txBody>
      </p:sp>
      <p:sp>
        <p:nvSpPr>
          <p:cNvPr id="4" name="TextBox 3">
            <a:extLst>
              <a:ext uri="{FF2B5EF4-FFF2-40B4-BE49-F238E27FC236}">
                <a16:creationId xmlns:a16="http://schemas.microsoft.com/office/drawing/2014/main" id="{AB01B6A9-2572-A4D5-CCEB-2376FBFEE786}"/>
              </a:ext>
            </a:extLst>
          </p:cNvPr>
          <p:cNvSpPr txBox="1"/>
          <p:nvPr/>
        </p:nvSpPr>
        <p:spPr>
          <a:xfrm>
            <a:off x="850900" y="1422400"/>
            <a:ext cx="2413000" cy="369332"/>
          </a:xfrm>
          <a:prstGeom prst="rect">
            <a:avLst/>
          </a:prstGeom>
          <a:noFill/>
        </p:spPr>
        <p:txBody>
          <a:bodyPr vert="horz" wrap="square" lIns="0" tIns="0" rIns="0" bIns="0" rtlCol="0" anchor="t">
            <a:noAutofit/>
          </a:bodyPr>
          <a:lstStyle/>
          <a:p>
            <a:pPr algn="ctr"/>
            <a:r>
              <a:rPr lang="en-IN" b="1">
                <a:solidFill>
                  <a:srgbClr val="13293D"/>
                </a:solidFill>
                <a:latin typeface="Calibri" panose="020F0502020204030204" pitchFamily="34" charset="0"/>
              </a:rPr>
              <a:t>On-premises</a:t>
            </a:r>
          </a:p>
        </p:txBody>
      </p:sp>
      <p:sp>
        <p:nvSpPr>
          <p:cNvPr id="5" name="TextBox 4">
            <a:extLst>
              <a:ext uri="{FF2B5EF4-FFF2-40B4-BE49-F238E27FC236}">
                <a16:creationId xmlns:a16="http://schemas.microsoft.com/office/drawing/2014/main" id="{14274798-CE38-F364-2CD3-8D65560235CB}"/>
              </a:ext>
            </a:extLst>
          </p:cNvPr>
          <p:cNvSpPr txBox="1"/>
          <p:nvPr/>
        </p:nvSpPr>
        <p:spPr>
          <a:xfrm>
            <a:off x="850900" y="1727200"/>
            <a:ext cx="2413000" cy="369332"/>
          </a:xfrm>
          <a:prstGeom prst="rect">
            <a:avLst/>
          </a:prstGeom>
          <a:noFill/>
        </p:spPr>
        <p:txBody>
          <a:bodyPr vert="horz" wrap="square" lIns="0" tIns="0" rIns="0" bIns="0" rtlCol="0" anchor="t">
            <a:noAutofit/>
          </a:bodyPr>
          <a:lstStyle/>
          <a:p>
            <a:pPr algn="ctr"/>
            <a:r>
              <a:rPr lang="en-US" sz="1200" b="1">
                <a:solidFill>
                  <a:srgbClr val="1B998B"/>
                </a:solidFill>
                <a:latin typeface="Calibri" panose="020F0502020204030204" pitchFamily="34" charset="0"/>
              </a:rPr>
              <a:t>Your own data centre: physical servers, VMware</a:t>
            </a:r>
            <a:endParaRPr lang="en-IN" sz="1200" b="1">
              <a:solidFill>
                <a:srgbClr val="1B998B"/>
              </a:solidFill>
              <a:latin typeface="Calibri" panose="020F0502020204030204" pitchFamily="34" charset="0"/>
            </a:endParaRPr>
          </a:p>
        </p:txBody>
      </p:sp>
      <p:sp>
        <p:nvSpPr>
          <p:cNvPr id="6" name="Rectangle: Rounded Corners 5">
            <a:extLst>
              <a:ext uri="{FF2B5EF4-FFF2-40B4-BE49-F238E27FC236}">
                <a16:creationId xmlns:a16="http://schemas.microsoft.com/office/drawing/2014/main" id="{B711E4CD-6B86-3335-D2FB-738525670D8A}"/>
              </a:ext>
            </a:extLst>
          </p:cNvPr>
          <p:cNvSpPr/>
          <p:nvPr/>
        </p:nvSpPr>
        <p:spPr>
          <a:xfrm>
            <a:off x="850900" y="2209800"/>
            <a:ext cx="2413000" cy="469900"/>
          </a:xfrm>
          <a:prstGeom prst="roundRect">
            <a:avLst>
              <a:gd name="adj" fmla="val 10000"/>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IN" sz="1400">
                <a:solidFill>
                  <a:srgbClr val="FFFFFF"/>
                </a:solidFill>
                <a:latin typeface="Calibri" panose="020F0502020204030204" pitchFamily="34" charset="0"/>
              </a:rPr>
              <a:t>Applications</a:t>
            </a:r>
          </a:p>
        </p:txBody>
      </p:sp>
      <p:sp>
        <p:nvSpPr>
          <p:cNvPr id="7" name="Rectangle: Rounded Corners 6">
            <a:extLst>
              <a:ext uri="{FF2B5EF4-FFF2-40B4-BE49-F238E27FC236}">
                <a16:creationId xmlns:a16="http://schemas.microsoft.com/office/drawing/2014/main" id="{2A2D36BA-492D-75C8-90B2-F7FEF0EBF4A3}"/>
              </a:ext>
            </a:extLst>
          </p:cNvPr>
          <p:cNvSpPr/>
          <p:nvPr/>
        </p:nvSpPr>
        <p:spPr>
          <a:xfrm>
            <a:off x="850900" y="2755900"/>
            <a:ext cx="2413000" cy="469900"/>
          </a:xfrm>
          <a:prstGeom prst="roundRect">
            <a:avLst>
              <a:gd name="adj" fmla="val 10000"/>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IN" sz="1400">
                <a:solidFill>
                  <a:srgbClr val="FFFFFF"/>
                </a:solidFill>
                <a:latin typeface="Calibri" panose="020F0502020204030204" pitchFamily="34" charset="0"/>
              </a:rPr>
              <a:t>Data</a:t>
            </a:r>
          </a:p>
        </p:txBody>
      </p:sp>
      <p:sp>
        <p:nvSpPr>
          <p:cNvPr id="8" name="Rectangle: Rounded Corners 7">
            <a:extLst>
              <a:ext uri="{FF2B5EF4-FFF2-40B4-BE49-F238E27FC236}">
                <a16:creationId xmlns:a16="http://schemas.microsoft.com/office/drawing/2014/main" id="{860DCA1E-1356-9F45-BD50-B381935F3E89}"/>
              </a:ext>
            </a:extLst>
          </p:cNvPr>
          <p:cNvSpPr/>
          <p:nvPr/>
        </p:nvSpPr>
        <p:spPr>
          <a:xfrm>
            <a:off x="850900" y="3302000"/>
            <a:ext cx="2413000" cy="469900"/>
          </a:xfrm>
          <a:prstGeom prst="roundRect">
            <a:avLst>
              <a:gd name="adj" fmla="val 10000"/>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IN" sz="1400">
                <a:solidFill>
                  <a:srgbClr val="FFFFFF"/>
                </a:solidFill>
                <a:latin typeface="Calibri" panose="020F0502020204030204" pitchFamily="34" charset="0"/>
              </a:rPr>
              <a:t>Runtime and middleware</a:t>
            </a:r>
          </a:p>
        </p:txBody>
      </p:sp>
      <p:sp>
        <p:nvSpPr>
          <p:cNvPr id="9" name="Rectangle: Rounded Corners 8">
            <a:extLst>
              <a:ext uri="{FF2B5EF4-FFF2-40B4-BE49-F238E27FC236}">
                <a16:creationId xmlns:a16="http://schemas.microsoft.com/office/drawing/2014/main" id="{F678949E-8716-5769-3509-B9F3CB03DB51}"/>
              </a:ext>
            </a:extLst>
          </p:cNvPr>
          <p:cNvSpPr/>
          <p:nvPr/>
        </p:nvSpPr>
        <p:spPr>
          <a:xfrm>
            <a:off x="850900" y="3848100"/>
            <a:ext cx="2413000" cy="469900"/>
          </a:xfrm>
          <a:prstGeom prst="roundRect">
            <a:avLst>
              <a:gd name="adj" fmla="val 10000"/>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IN" sz="1400">
                <a:solidFill>
                  <a:srgbClr val="FFFFFF"/>
                </a:solidFill>
                <a:latin typeface="Calibri" panose="020F0502020204030204" pitchFamily="34" charset="0"/>
              </a:rPr>
              <a:t>Operating system</a:t>
            </a:r>
          </a:p>
        </p:txBody>
      </p:sp>
      <p:sp>
        <p:nvSpPr>
          <p:cNvPr id="10" name="Rectangle: Rounded Corners 9">
            <a:extLst>
              <a:ext uri="{FF2B5EF4-FFF2-40B4-BE49-F238E27FC236}">
                <a16:creationId xmlns:a16="http://schemas.microsoft.com/office/drawing/2014/main" id="{CD51FC6F-A524-962A-9F43-FA6D6B327D57}"/>
              </a:ext>
            </a:extLst>
          </p:cNvPr>
          <p:cNvSpPr/>
          <p:nvPr/>
        </p:nvSpPr>
        <p:spPr>
          <a:xfrm>
            <a:off x="850900" y="4394200"/>
            <a:ext cx="2413000" cy="469900"/>
          </a:xfrm>
          <a:prstGeom prst="roundRect">
            <a:avLst>
              <a:gd name="adj" fmla="val 10000"/>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IN" sz="1400">
                <a:solidFill>
                  <a:srgbClr val="FFFFFF"/>
                </a:solidFill>
                <a:latin typeface="Calibri" panose="020F0502020204030204" pitchFamily="34" charset="0"/>
              </a:rPr>
              <a:t>Virtualization</a:t>
            </a:r>
          </a:p>
        </p:txBody>
      </p:sp>
      <p:sp>
        <p:nvSpPr>
          <p:cNvPr id="11" name="Rectangle: Rounded Corners 10">
            <a:extLst>
              <a:ext uri="{FF2B5EF4-FFF2-40B4-BE49-F238E27FC236}">
                <a16:creationId xmlns:a16="http://schemas.microsoft.com/office/drawing/2014/main" id="{81EAF625-AA73-4CFB-E33E-40ECB26EEE2A}"/>
              </a:ext>
            </a:extLst>
          </p:cNvPr>
          <p:cNvSpPr/>
          <p:nvPr/>
        </p:nvSpPr>
        <p:spPr>
          <a:xfrm>
            <a:off x="850900" y="4940300"/>
            <a:ext cx="2413000" cy="469900"/>
          </a:xfrm>
          <a:prstGeom prst="roundRect">
            <a:avLst>
              <a:gd name="adj" fmla="val 10000"/>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IN" sz="1400">
                <a:solidFill>
                  <a:srgbClr val="FFFFFF"/>
                </a:solidFill>
                <a:latin typeface="Calibri" panose="020F0502020204030204" pitchFamily="34" charset="0"/>
              </a:rPr>
              <a:t>Servers, storage, network</a:t>
            </a:r>
          </a:p>
        </p:txBody>
      </p:sp>
      <p:sp>
        <p:nvSpPr>
          <p:cNvPr id="12" name="TextBox 11">
            <a:extLst>
              <a:ext uri="{FF2B5EF4-FFF2-40B4-BE49-F238E27FC236}">
                <a16:creationId xmlns:a16="http://schemas.microsoft.com/office/drawing/2014/main" id="{5C96BEFD-2C0A-C9BB-2896-9DBBB73107C9}"/>
              </a:ext>
            </a:extLst>
          </p:cNvPr>
          <p:cNvSpPr txBox="1"/>
          <p:nvPr/>
        </p:nvSpPr>
        <p:spPr>
          <a:xfrm>
            <a:off x="3543300" y="1422400"/>
            <a:ext cx="2413000" cy="369332"/>
          </a:xfrm>
          <a:prstGeom prst="rect">
            <a:avLst/>
          </a:prstGeom>
          <a:noFill/>
        </p:spPr>
        <p:txBody>
          <a:bodyPr vert="horz" wrap="square" lIns="0" tIns="0" rIns="0" bIns="0" rtlCol="0" anchor="t">
            <a:noAutofit/>
          </a:bodyPr>
          <a:lstStyle/>
          <a:p>
            <a:pPr algn="ctr"/>
            <a:r>
              <a:rPr lang="en-IN" b="1">
                <a:solidFill>
                  <a:srgbClr val="13293D"/>
                </a:solidFill>
                <a:latin typeface="Calibri" panose="020F0502020204030204" pitchFamily="34" charset="0"/>
              </a:rPr>
              <a:t>IaaS</a:t>
            </a:r>
          </a:p>
        </p:txBody>
      </p:sp>
      <p:sp>
        <p:nvSpPr>
          <p:cNvPr id="13" name="TextBox 12">
            <a:extLst>
              <a:ext uri="{FF2B5EF4-FFF2-40B4-BE49-F238E27FC236}">
                <a16:creationId xmlns:a16="http://schemas.microsoft.com/office/drawing/2014/main" id="{15D07808-DCFE-2118-9FF1-37FB1F4AAC70}"/>
              </a:ext>
            </a:extLst>
          </p:cNvPr>
          <p:cNvSpPr txBox="1"/>
          <p:nvPr/>
        </p:nvSpPr>
        <p:spPr>
          <a:xfrm>
            <a:off x="3543300" y="1727200"/>
            <a:ext cx="2413000" cy="369332"/>
          </a:xfrm>
          <a:prstGeom prst="rect">
            <a:avLst/>
          </a:prstGeom>
          <a:noFill/>
        </p:spPr>
        <p:txBody>
          <a:bodyPr vert="horz" wrap="square" lIns="0" tIns="0" rIns="0" bIns="0" rtlCol="0" anchor="t">
            <a:noAutofit/>
          </a:bodyPr>
          <a:lstStyle/>
          <a:p>
            <a:pPr algn="ctr"/>
            <a:r>
              <a:rPr lang="en-US" sz="1200" b="1">
                <a:solidFill>
                  <a:srgbClr val="1B998B"/>
                </a:solidFill>
                <a:latin typeface="Calibri" panose="020F0502020204030204" pitchFamily="34" charset="0"/>
              </a:rPr>
              <a:t>AWS EC2, Azure VMs, OpenStack / Platform9</a:t>
            </a:r>
            <a:endParaRPr lang="en-IN" sz="1200" b="1">
              <a:solidFill>
                <a:srgbClr val="1B998B"/>
              </a:solidFill>
              <a:latin typeface="Calibri" panose="020F0502020204030204" pitchFamily="34" charset="0"/>
            </a:endParaRPr>
          </a:p>
        </p:txBody>
      </p:sp>
      <p:sp>
        <p:nvSpPr>
          <p:cNvPr id="14" name="Rectangle: Rounded Corners 13">
            <a:extLst>
              <a:ext uri="{FF2B5EF4-FFF2-40B4-BE49-F238E27FC236}">
                <a16:creationId xmlns:a16="http://schemas.microsoft.com/office/drawing/2014/main" id="{1D64A1AC-9DF0-D816-5340-C41A535DED1B}"/>
              </a:ext>
            </a:extLst>
          </p:cNvPr>
          <p:cNvSpPr/>
          <p:nvPr/>
        </p:nvSpPr>
        <p:spPr>
          <a:xfrm>
            <a:off x="3543300" y="2209800"/>
            <a:ext cx="2413000" cy="469900"/>
          </a:xfrm>
          <a:prstGeom prst="roundRect">
            <a:avLst>
              <a:gd name="adj" fmla="val 10000"/>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IN" sz="1400">
                <a:solidFill>
                  <a:srgbClr val="FFFFFF"/>
                </a:solidFill>
                <a:latin typeface="Calibri" panose="020F0502020204030204" pitchFamily="34" charset="0"/>
              </a:rPr>
              <a:t>Applications</a:t>
            </a:r>
          </a:p>
        </p:txBody>
      </p:sp>
      <p:sp>
        <p:nvSpPr>
          <p:cNvPr id="15" name="Rectangle: Rounded Corners 14">
            <a:extLst>
              <a:ext uri="{FF2B5EF4-FFF2-40B4-BE49-F238E27FC236}">
                <a16:creationId xmlns:a16="http://schemas.microsoft.com/office/drawing/2014/main" id="{F381E602-E909-89D1-5C73-EE20F964AB7C}"/>
              </a:ext>
            </a:extLst>
          </p:cNvPr>
          <p:cNvSpPr/>
          <p:nvPr/>
        </p:nvSpPr>
        <p:spPr>
          <a:xfrm>
            <a:off x="3543300" y="2755900"/>
            <a:ext cx="2413000" cy="469900"/>
          </a:xfrm>
          <a:prstGeom prst="roundRect">
            <a:avLst>
              <a:gd name="adj" fmla="val 10000"/>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IN" sz="1400">
                <a:solidFill>
                  <a:srgbClr val="FFFFFF"/>
                </a:solidFill>
                <a:latin typeface="Calibri" panose="020F0502020204030204" pitchFamily="34" charset="0"/>
              </a:rPr>
              <a:t>Data</a:t>
            </a:r>
          </a:p>
        </p:txBody>
      </p:sp>
      <p:sp>
        <p:nvSpPr>
          <p:cNvPr id="16" name="Rectangle: Rounded Corners 15">
            <a:extLst>
              <a:ext uri="{FF2B5EF4-FFF2-40B4-BE49-F238E27FC236}">
                <a16:creationId xmlns:a16="http://schemas.microsoft.com/office/drawing/2014/main" id="{E8DE0BE1-883D-AD44-3829-26FBCF91D3CF}"/>
              </a:ext>
            </a:extLst>
          </p:cNvPr>
          <p:cNvSpPr/>
          <p:nvPr/>
        </p:nvSpPr>
        <p:spPr>
          <a:xfrm>
            <a:off x="3543300" y="3302000"/>
            <a:ext cx="2413000" cy="469900"/>
          </a:xfrm>
          <a:prstGeom prst="roundRect">
            <a:avLst>
              <a:gd name="adj" fmla="val 10000"/>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IN" sz="1400">
                <a:solidFill>
                  <a:srgbClr val="FFFFFF"/>
                </a:solidFill>
                <a:latin typeface="Calibri" panose="020F0502020204030204" pitchFamily="34" charset="0"/>
              </a:rPr>
              <a:t>Runtime and middleware</a:t>
            </a:r>
          </a:p>
        </p:txBody>
      </p:sp>
      <p:sp>
        <p:nvSpPr>
          <p:cNvPr id="17" name="Rectangle: Rounded Corners 16">
            <a:extLst>
              <a:ext uri="{FF2B5EF4-FFF2-40B4-BE49-F238E27FC236}">
                <a16:creationId xmlns:a16="http://schemas.microsoft.com/office/drawing/2014/main" id="{083B16E1-4BD3-83B6-5A85-5A092E6F968C}"/>
              </a:ext>
            </a:extLst>
          </p:cNvPr>
          <p:cNvSpPr/>
          <p:nvPr/>
        </p:nvSpPr>
        <p:spPr>
          <a:xfrm>
            <a:off x="3543300" y="3848100"/>
            <a:ext cx="2413000" cy="469900"/>
          </a:xfrm>
          <a:prstGeom prst="roundRect">
            <a:avLst>
              <a:gd name="adj" fmla="val 10000"/>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IN" sz="1400">
                <a:solidFill>
                  <a:srgbClr val="FFFFFF"/>
                </a:solidFill>
                <a:latin typeface="Calibri" panose="020F0502020204030204" pitchFamily="34" charset="0"/>
              </a:rPr>
              <a:t>Operating system</a:t>
            </a:r>
          </a:p>
        </p:txBody>
      </p:sp>
      <p:sp>
        <p:nvSpPr>
          <p:cNvPr id="18" name="Rectangle: Rounded Corners 17">
            <a:extLst>
              <a:ext uri="{FF2B5EF4-FFF2-40B4-BE49-F238E27FC236}">
                <a16:creationId xmlns:a16="http://schemas.microsoft.com/office/drawing/2014/main" id="{DA670C6C-2FD6-0334-5C90-FF06E46EA12E}"/>
              </a:ext>
            </a:extLst>
          </p:cNvPr>
          <p:cNvSpPr/>
          <p:nvPr/>
        </p:nvSpPr>
        <p:spPr>
          <a:xfrm>
            <a:off x="3543300" y="4394200"/>
            <a:ext cx="2413000" cy="469900"/>
          </a:xfrm>
          <a:prstGeom prst="roundRect">
            <a:avLst>
              <a:gd name="adj" fmla="val 10000"/>
            </a:avLst>
          </a:prstGeom>
          <a:solidFill>
            <a:srgbClr val="D3EC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IN" sz="1400">
                <a:solidFill>
                  <a:srgbClr val="13293D"/>
                </a:solidFill>
                <a:latin typeface="Calibri" panose="020F0502020204030204" pitchFamily="34" charset="0"/>
              </a:rPr>
              <a:t>Virtualization</a:t>
            </a:r>
          </a:p>
        </p:txBody>
      </p:sp>
      <p:sp>
        <p:nvSpPr>
          <p:cNvPr id="19" name="Rectangle: Rounded Corners 18">
            <a:extLst>
              <a:ext uri="{FF2B5EF4-FFF2-40B4-BE49-F238E27FC236}">
                <a16:creationId xmlns:a16="http://schemas.microsoft.com/office/drawing/2014/main" id="{909FB745-22E9-9C3C-0508-B0137310ED0A}"/>
              </a:ext>
            </a:extLst>
          </p:cNvPr>
          <p:cNvSpPr/>
          <p:nvPr/>
        </p:nvSpPr>
        <p:spPr>
          <a:xfrm>
            <a:off x="3543300" y="4940300"/>
            <a:ext cx="2413000" cy="469900"/>
          </a:xfrm>
          <a:prstGeom prst="roundRect">
            <a:avLst>
              <a:gd name="adj" fmla="val 10000"/>
            </a:avLst>
          </a:prstGeom>
          <a:solidFill>
            <a:srgbClr val="D3EC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IN" sz="1400">
                <a:solidFill>
                  <a:srgbClr val="13293D"/>
                </a:solidFill>
                <a:latin typeface="Calibri" panose="020F0502020204030204" pitchFamily="34" charset="0"/>
              </a:rPr>
              <a:t>Servers, storage, network</a:t>
            </a:r>
          </a:p>
        </p:txBody>
      </p:sp>
      <p:sp>
        <p:nvSpPr>
          <p:cNvPr id="20" name="TextBox 19">
            <a:extLst>
              <a:ext uri="{FF2B5EF4-FFF2-40B4-BE49-F238E27FC236}">
                <a16:creationId xmlns:a16="http://schemas.microsoft.com/office/drawing/2014/main" id="{E02B01B8-35A9-1485-0AA9-29F7DF1EC876}"/>
              </a:ext>
            </a:extLst>
          </p:cNvPr>
          <p:cNvSpPr txBox="1"/>
          <p:nvPr/>
        </p:nvSpPr>
        <p:spPr>
          <a:xfrm>
            <a:off x="6235700" y="1422400"/>
            <a:ext cx="2413000" cy="369332"/>
          </a:xfrm>
          <a:prstGeom prst="rect">
            <a:avLst/>
          </a:prstGeom>
          <a:noFill/>
        </p:spPr>
        <p:txBody>
          <a:bodyPr vert="horz" wrap="square" lIns="0" tIns="0" rIns="0" bIns="0" rtlCol="0" anchor="t">
            <a:noAutofit/>
          </a:bodyPr>
          <a:lstStyle/>
          <a:p>
            <a:pPr algn="ctr"/>
            <a:r>
              <a:rPr lang="en-IN" b="1">
                <a:solidFill>
                  <a:srgbClr val="13293D"/>
                </a:solidFill>
                <a:latin typeface="Calibri" panose="020F0502020204030204" pitchFamily="34" charset="0"/>
              </a:rPr>
              <a:t>PaaS</a:t>
            </a:r>
          </a:p>
        </p:txBody>
      </p:sp>
      <p:sp>
        <p:nvSpPr>
          <p:cNvPr id="21" name="TextBox 20">
            <a:extLst>
              <a:ext uri="{FF2B5EF4-FFF2-40B4-BE49-F238E27FC236}">
                <a16:creationId xmlns:a16="http://schemas.microsoft.com/office/drawing/2014/main" id="{E3C38551-7576-FD7F-0B48-B35593AF3AB1}"/>
              </a:ext>
            </a:extLst>
          </p:cNvPr>
          <p:cNvSpPr txBox="1"/>
          <p:nvPr/>
        </p:nvSpPr>
        <p:spPr>
          <a:xfrm>
            <a:off x="6235700" y="1727200"/>
            <a:ext cx="2413000" cy="369332"/>
          </a:xfrm>
          <a:prstGeom prst="rect">
            <a:avLst/>
          </a:prstGeom>
          <a:noFill/>
        </p:spPr>
        <p:txBody>
          <a:bodyPr vert="horz" wrap="square" lIns="0" tIns="0" rIns="0" bIns="0" rtlCol="0" anchor="t">
            <a:noAutofit/>
          </a:bodyPr>
          <a:lstStyle/>
          <a:p>
            <a:pPr algn="ctr"/>
            <a:r>
              <a:rPr lang="en-US" sz="1200" b="1">
                <a:solidFill>
                  <a:srgbClr val="1B998B"/>
                </a:solidFill>
                <a:latin typeface="Calibri" panose="020F0502020204030204" pitchFamily="34" charset="0"/>
              </a:rPr>
              <a:t>AWS Elastic Beanstalk, Azure App Service, Heroku</a:t>
            </a:r>
            <a:endParaRPr lang="en-IN" sz="1200" b="1">
              <a:solidFill>
                <a:srgbClr val="1B998B"/>
              </a:solidFill>
              <a:latin typeface="Calibri" panose="020F0502020204030204" pitchFamily="34" charset="0"/>
            </a:endParaRPr>
          </a:p>
        </p:txBody>
      </p:sp>
      <p:sp>
        <p:nvSpPr>
          <p:cNvPr id="22" name="Rectangle: Rounded Corners 21">
            <a:extLst>
              <a:ext uri="{FF2B5EF4-FFF2-40B4-BE49-F238E27FC236}">
                <a16:creationId xmlns:a16="http://schemas.microsoft.com/office/drawing/2014/main" id="{6F052CF3-6CDD-18E4-F53A-DA249F155504}"/>
              </a:ext>
            </a:extLst>
          </p:cNvPr>
          <p:cNvSpPr/>
          <p:nvPr/>
        </p:nvSpPr>
        <p:spPr>
          <a:xfrm>
            <a:off x="6235700" y="2209800"/>
            <a:ext cx="2413000" cy="469900"/>
          </a:xfrm>
          <a:prstGeom prst="roundRect">
            <a:avLst>
              <a:gd name="adj" fmla="val 10000"/>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IN" sz="1400">
                <a:solidFill>
                  <a:srgbClr val="FFFFFF"/>
                </a:solidFill>
                <a:latin typeface="Calibri" panose="020F0502020204030204" pitchFamily="34" charset="0"/>
              </a:rPr>
              <a:t>Applications</a:t>
            </a:r>
          </a:p>
        </p:txBody>
      </p:sp>
      <p:sp>
        <p:nvSpPr>
          <p:cNvPr id="23" name="Rectangle: Rounded Corners 22">
            <a:extLst>
              <a:ext uri="{FF2B5EF4-FFF2-40B4-BE49-F238E27FC236}">
                <a16:creationId xmlns:a16="http://schemas.microsoft.com/office/drawing/2014/main" id="{0C8797F3-8786-6996-6245-6FF1BC959524}"/>
              </a:ext>
            </a:extLst>
          </p:cNvPr>
          <p:cNvSpPr/>
          <p:nvPr/>
        </p:nvSpPr>
        <p:spPr>
          <a:xfrm>
            <a:off x="6235700" y="2755900"/>
            <a:ext cx="2413000" cy="469900"/>
          </a:xfrm>
          <a:prstGeom prst="roundRect">
            <a:avLst>
              <a:gd name="adj" fmla="val 10000"/>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IN" sz="1400">
                <a:solidFill>
                  <a:srgbClr val="FFFFFF"/>
                </a:solidFill>
                <a:latin typeface="Calibri" panose="020F0502020204030204" pitchFamily="34" charset="0"/>
              </a:rPr>
              <a:t>Data</a:t>
            </a:r>
          </a:p>
        </p:txBody>
      </p:sp>
      <p:sp>
        <p:nvSpPr>
          <p:cNvPr id="24" name="Rectangle: Rounded Corners 23">
            <a:extLst>
              <a:ext uri="{FF2B5EF4-FFF2-40B4-BE49-F238E27FC236}">
                <a16:creationId xmlns:a16="http://schemas.microsoft.com/office/drawing/2014/main" id="{89688E2F-D2F2-53D8-D64B-07B9C7A8F958}"/>
              </a:ext>
            </a:extLst>
          </p:cNvPr>
          <p:cNvSpPr/>
          <p:nvPr/>
        </p:nvSpPr>
        <p:spPr>
          <a:xfrm>
            <a:off x="6235700" y="3302000"/>
            <a:ext cx="2413000" cy="469900"/>
          </a:xfrm>
          <a:prstGeom prst="roundRect">
            <a:avLst>
              <a:gd name="adj" fmla="val 10000"/>
            </a:avLst>
          </a:prstGeom>
          <a:solidFill>
            <a:srgbClr val="D3EC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IN" sz="1400">
                <a:solidFill>
                  <a:srgbClr val="13293D"/>
                </a:solidFill>
                <a:latin typeface="Calibri" panose="020F0502020204030204" pitchFamily="34" charset="0"/>
              </a:rPr>
              <a:t>Runtime and middleware</a:t>
            </a:r>
          </a:p>
        </p:txBody>
      </p:sp>
      <p:sp>
        <p:nvSpPr>
          <p:cNvPr id="25" name="Rectangle: Rounded Corners 24">
            <a:extLst>
              <a:ext uri="{FF2B5EF4-FFF2-40B4-BE49-F238E27FC236}">
                <a16:creationId xmlns:a16="http://schemas.microsoft.com/office/drawing/2014/main" id="{340ADE1B-1D6D-87DF-258C-AEBBAA28792D}"/>
              </a:ext>
            </a:extLst>
          </p:cNvPr>
          <p:cNvSpPr/>
          <p:nvPr/>
        </p:nvSpPr>
        <p:spPr>
          <a:xfrm>
            <a:off x="6235700" y="3848100"/>
            <a:ext cx="2413000" cy="469900"/>
          </a:xfrm>
          <a:prstGeom prst="roundRect">
            <a:avLst>
              <a:gd name="adj" fmla="val 10000"/>
            </a:avLst>
          </a:prstGeom>
          <a:solidFill>
            <a:srgbClr val="D3EC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IN" sz="1400">
                <a:solidFill>
                  <a:srgbClr val="13293D"/>
                </a:solidFill>
                <a:latin typeface="Calibri" panose="020F0502020204030204" pitchFamily="34" charset="0"/>
              </a:rPr>
              <a:t>Operating system</a:t>
            </a:r>
          </a:p>
        </p:txBody>
      </p:sp>
      <p:sp>
        <p:nvSpPr>
          <p:cNvPr id="26" name="Rectangle: Rounded Corners 25">
            <a:extLst>
              <a:ext uri="{FF2B5EF4-FFF2-40B4-BE49-F238E27FC236}">
                <a16:creationId xmlns:a16="http://schemas.microsoft.com/office/drawing/2014/main" id="{16DF7519-D38C-B4FD-E8C7-DFEFA7959E21}"/>
              </a:ext>
            </a:extLst>
          </p:cNvPr>
          <p:cNvSpPr/>
          <p:nvPr/>
        </p:nvSpPr>
        <p:spPr>
          <a:xfrm>
            <a:off x="6235700" y="4394200"/>
            <a:ext cx="2413000" cy="469900"/>
          </a:xfrm>
          <a:prstGeom prst="roundRect">
            <a:avLst>
              <a:gd name="adj" fmla="val 10000"/>
            </a:avLst>
          </a:prstGeom>
          <a:solidFill>
            <a:srgbClr val="D3EC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IN" sz="1400">
                <a:solidFill>
                  <a:srgbClr val="13293D"/>
                </a:solidFill>
                <a:latin typeface="Calibri" panose="020F0502020204030204" pitchFamily="34" charset="0"/>
              </a:rPr>
              <a:t>Virtualization</a:t>
            </a:r>
          </a:p>
        </p:txBody>
      </p:sp>
      <p:sp>
        <p:nvSpPr>
          <p:cNvPr id="27" name="Rectangle: Rounded Corners 26">
            <a:extLst>
              <a:ext uri="{FF2B5EF4-FFF2-40B4-BE49-F238E27FC236}">
                <a16:creationId xmlns:a16="http://schemas.microsoft.com/office/drawing/2014/main" id="{3F31F496-B227-3C27-C0BA-61215F71AA2F}"/>
              </a:ext>
            </a:extLst>
          </p:cNvPr>
          <p:cNvSpPr/>
          <p:nvPr/>
        </p:nvSpPr>
        <p:spPr>
          <a:xfrm>
            <a:off x="6235700" y="4940300"/>
            <a:ext cx="2413000" cy="469900"/>
          </a:xfrm>
          <a:prstGeom prst="roundRect">
            <a:avLst>
              <a:gd name="adj" fmla="val 10000"/>
            </a:avLst>
          </a:prstGeom>
          <a:solidFill>
            <a:srgbClr val="D3EC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IN" sz="1400">
                <a:solidFill>
                  <a:srgbClr val="13293D"/>
                </a:solidFill>
                <a:latin typeface="Calibri" panose="020F0502020204030204" pitchFamily="34" charset="0"/>
              </a:rPr>
              <a:t>Servers, storage, network</a:t>
            </a:r>
          </a:p>
        </p:txBody>
      </p:sp>
      <p:sp>
        <p:nvSpPr>
          <p:cNvPr id="28" name="TextBox 27">
            <a:extLst>
              <a:ext uri="{FF2B5EF4-FFF2-40B4-BE49-F238E27FC236}">
                <a16:creationId xmlns:a16="http://schemas.microsoft.com/office/drawing/2014/main" id="{A8C965B3-650B-264C-087C-47B1E6E493A4}"/>
              </a:ext>
            </a:extLst>
          </p:cNvPr>
          <p:cNvSpPr txBox="1"/>
          <p:nvPr/>
        </p:nvSpPr>
        <p:spPr>
          <a:xfrm>
            <a:off x="8928100" y="1422400"/>
            <a:ext cx="2413000" cy="369332"/>
          </a:xfrm>
          <a:prstGeom prst="rect">
            <a:avLst/>
          </a:prstGeom>
          <a:noFill/>
        </p:spPr>
        <p:txBody>
          <a:bodyPr vert="horz" wrap="square" lIns="0" tIns="0" rIns="0" bIns="0" rtlCol="0" anchor="t">
            <a:noAutofit/>
          </a:bodyPr>
          <a:lstStyle/>
          <a:p>
            <a:pPr algn="ctr"/>
            <a:r>
              <a:rPr lang="en-IN" b="1">
                <a:solidFill>
                  <a:srgbClr val="13293D"/>
                </a:solidFill>
                <a:latin typeface="Calibri" panose="020F0502020204030204" pitchFamily="34" charset="0"/>
              </a:rPr>
              <a:t>SaaS</a:t>
            </a:r>
          </a:p>
        </p:txBody>
      </p:sp>
      <p:sp>
        <p:nvSpPr>
          <p:cNvPr id="29" name="TextBox 28">
            <a:extLst>
              <a:ext uri="{FF2B5EF4-FFF2-40B4-BE49-F238E27FC236}">
                <a16:creationId xmlns:a16="http://schemas.microsoft.com/office/drawing/2014/main" id="{ED31419F-78CF-27B6-92C1-4D340B7F4AC5}"/>
              </a:ext>
            </a:extLst>
          </p:cNvPr>
          <p:cNvSpPr txBox="1"/>
          <p:nvPr/>
        </p:nvSpPr>
        <p:spPr>
          <a:xfrm>
            <a:off x="8928100" y="1727200"/>
            <a:ext cx="2413000" cy="369332"/>
          </a:xfrm>
          <a:prstGeom prst="rect">
            <a:avLst/>
          </a:prstGeom>
          <a:noFill/>
        </p:spPr>
        <p:txBody>
          <a:bodyPr vert="horz" wrap="square" lIns="0" tIns="0" rIns="0" bIns="0" rtlCol="0" anchor="t">
            <a:noAutofit/>
          </a:bodyPr>
          <a:lstStyle/>
          <a:p>
            <a:pPr algn="ctr"/>
            <a:r>
              <a:rPr lang="en-IN" sz="1200" b="1">
                <a:solidFill>
                  <a:srgbClr val="1B998B"/>
                </a:solidFill>
                <a:latin typeface="Calibri" panose="020F0502020204030204" pitchFamily="34" charset="0"/>
              </a:rPr>
              <a:t>Microsoft 365, Gmail, Salesforce</a:t>
            </a:r>
          </a:p>
        </p:txBody>
      </p:sp>
      <p:sp>
        <p:nvSpPr>
          <p:cNvPr id="30" name="Rectangle: Rounded Corners 29">
            <a:extLst>
              <a:ext uri="{FF2B5EF4-FFF2-40B4-BE49-F238E27FC236}">
                <a16:creationId xmlns:a16="http://schemas.microsoft.com/office/drawing/2014/main" id="{13949752-A302-41FE-6A36-1E028D0C1231}"/>
              </a:ext>
            </a:extLst>
          </p:cNvPr>
          <p:cNvSpPr/>
          <p:nvPr/>
        </p:nvSpPr>
        <p:spPr>
          <a:xfrm>
            <a:off x="8928100" y="2209800"/>
            <a:ext cx="2413000" cy="469900"/>
          </a:xfrm>
          <a:prstGeom prst="roundRect">
            <a:avLst>
              <a:gd name="adj" fmla="val 10000"/>
            </a:avLst>
          </a:prstGeom>
          <a:solidFill>
            <a:srgbClr val="D3EC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IN" sz="1400">
                <a:solidFill>
                  <a:srgbClr val="13293D"/>
                </a:solidFill>
                <a:latin typeface="Calibri" panose="020F0502020204030204" pitchFamily="34" charset="0"/>
              </a:rPr>
              <a:t>Applications</a:t>
            </a:r>
          </a:p>
        </p:txBody>
      </p:sp>
      <p:sp>
        <p:nvSpPr>
          <p:cNvPr id="31" name="Rectangle: Rounded Corners 30">
            <a:extLst>
              <a:ext uri="{FF2B5EF4-FFF2-40B4-BE49-F238E27FC236}">
                <a16:creationId xmlns:a16="http://schemas.microsoft.com/office/drawing/2014/main" id="{56F1594B-0F6A-0E98-A3BE-D514B3EED5F5}"/>
              </a:ext>
            </a:extLst>
          </p:cNvPr>
          <p:cNvSpPr/>
          <p:nvPr/>
        </p:nvSpPr>
        <p:spPr>
          <a:xfrm>
            <a:off x="8928100" y="2755900"/>
            <a:ext cx="2413000" cy="469900"/>
          </a:xfrm>
          <a:prstGeom prst="roundRect">
            <a:avLst>
              <a:gd name="adj" fmla="val 10000"/>
            </a:avLst>
          </a:prstGeom>
          <a:solidFill>
            <a:srgbClr val="D3EC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IN" sz="1400">
                <a:solidFill>
                  <a:srgbClr val="13293D"/>
                </a:solidFill>
                <a:latin typeface="Calibri" panose="020F0502020204030204" pitchFamily="34" charset="0"/>
              </a:rPr>
              <a:t>Data</a:t>
            </a:r>
          </a:p>
        </p:txBody>
      </p:sp>
      <p:sp>
        <p:nvSpPr>
          <p:cNvPr id="32" name="Rectangle: Rounded Corners 31">
            <a:extLst>
              <a:ext uri="{FF2B5EF4-FFF2-40B4-BE49-F238E27FC236}">
                <a16:creationId xmlns:a16="http://schemas.microsoft.com/office/drawing/2014/main" id="{F42AEACA-7BDB-F516-7ED3-95E2ABAE8A0B}"/>
              </a:ext>
            </a:extLst>
          </p:cNvPr>
          <p:cNvSpPr/>
          <p:nvPr/>
        </p:nvSpPr>
        <p:spPr>
          <a:xfrm>
            <a:off x="8928100" y="3302000"/>
            <a:ext cx="2413000" cy="469900"/>
          </a:xfrm>
          <a:prstGeom prst="roundRect">
            <a:avLst>
              <a:gd name="adj" fmla="val 10000"/>
            </a:avLst>
          </a:prstGeom>
          <a:solidFill>
            <a:srgbClr val="D3EC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IN" sz="1400">
                <a:solidFill>
                  <a:srgbClr val="13293D"/>
                </a:solidFill>
                <a:latin typeface="Calibri" panose="020F0502020204030204" pitchFamily="34" charset="0"/>
              </a:rPr>
              <a:t>Runtime and middleware</a:t>
            </a:r>
          </a:p>
        </p:txBody>
      </p:sp>
      <p:sp>
        <p:nvSpPr>
          <p:cNvPr id="33" name="Rectangle: Rounded Corners 32">
            <a:extLst>
              <a:ext uri="{FF2B5EF4-FFF2-40B4-BE49-F238E27FC236}">
                <a16:creationId xmlns:a16="http://schemas.microsoft.com/office/drawing/2014/main" id="{99D21EAD-BCC4-AE59-0F7A-A03216D5637D}"/>
              </a:ext>
            </a:extLst>
          </p:cNvPr>
          <p:cNvSpPr/>
          <p:nvPr/>
        </p:nvSpPr>
        <p:spPr>
          <a:xfrm>
            <a:off x="8928100" y="3848100"/>
            <a:ext cx="2413000" cy="469900"/>
          </a:xfrm>
          <a:prstGeom prst="roundRect">
            <a:avLst>
              <a:gd name="adj" fmla="val 10000"/>
            </a:avLst>
          </a:prstGeom>
          <a:solidFill>
            <a:srgbClr val="D3EC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IN" sz="1400">
                <a:solidFill>
                  <a:srgbClr val="13293D"/>
                </a:solidFill>
                <a:latin typeface="Calibri" panose="020F0502020204030204" pitchFamily="34" charset="0"/>
              </a:rPr>
              <a:t>Operating system</a:t>
            </a:r>
          </a:p>
        </p:txBody>
      </p:sp>
      <p:sp>
        <p:nvSpPr>
          <p:cNvPr id="34" name="Rectangle: Rounded Corners 33">
            <a:extLst>
              <a:ext uri="{FF2B5EF4-FFF2-40B4-BE49-F238E27FC236}">
                <a16:creationId xmlns:a16="http://schemas.microsoft.com/office/drawing/2014/main" id="{1B4E9A29-AE87-688D-7E63-5566A0CC0EE5}"/>
              </a:ext>
            </a:extLst>
          </p:cNvPr>
          <p:cNvSpPr/>
          <p:nvPr/>
        </p:nvSpPr>
        <p:spPr>
          <a:xfrm>
            <a:off x="8928100" y="4394200"/>
            <a:ext cx="2413000" cy="469900"/>
          </a:xfrm>
          <a:prstGeom prst="roundRect">
            <a:avLst>
              <a:gd name="adj" fmla="val 10000"/>
            </a:avLst>
          </a:prstGeom>
          <a:solidFill>
            <a:srgbClr val="D3EC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IN" sz="1400">
                <a:solidFill>
                  <a:srgbClr val="13293D"/>
                </a:solidFill>
                <a:latin typeface="Calibri" panose="020F0502020204030204" pitchFamily="34" charset="0"/>
              </a:rPr>
              <a:t>Virtualization</a:t>
            </a:r>
          </a:p>
        </p:txBody>
      </p:sp>
      <p:sp>
        <p:nvSpPr>
          <p:cNvPr id="35" name="Rectangle: Rounded Corners 34">
            <a:extLst>
              <a:ext uri="{FF2B5EF4-FFF2-40B4-BE49-F238E27FC236}">
                <a16:creationId xmlns:a16="http://schemas.microsoft.com/office/drawing/2014/main" id="{3FE1C4C0-0E70-E962-2AC4-C5C5D5656BB3}"/>
              </a:ext>
            </a:extLst>
          </p:cNvPr>
          <p:cNvSpPr/>
          <p:nvPr/>
        </p:nvSpPr>
        <p:spPr>
          <a:xfrm>
            <a:off x="8928100" y="4940300"/>
            <a:ext cx="2413000" cy="469900"/>
          </a:xfrm>
          <a:prstGeom prst="roundRect">
            <a:avLst>
              <a:gd name="adj" fmla="val 10000"/>
            </a:avLst>
          </a:prstGeom>
          <a:solidFill>
            <a:srgbClr val="D3EC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IN" sz="1400">
                <a:solidFill>
                  <a:srgbClr val="13293D"/>
                </a:solidFill>
                <a:latin typeface="Calibri" panose="020F0502020204030204" pitchFamily="34" charset="0"/>
              </a:rPr>
              <a:t>Servers, storage, network</a:t>
            </a:r>
          </a:p>
        </p:txBody>
      </p:sp>
      <p:sp>
        <p:nvSpPr>
          <p:cNvPr id="36" name="Rectangle 35">
            <a:extLst>
              <a:ext uri="{FF2B5EF4-FFF2-40B4-BE49-F238E27FC236}">
                <a16:creationId xmlns:a16="http://schemas.microsoft.com/office/drawing/2014/main" id="{598889CD-ADFE-BBC7-839B-15E189F7DF67}"/>
              </a:ext>
            </a:extLst>
          </p:cNvPr>
          <p:cNvSpPr/>
          <p:nvPr/>
        </p:nvSpPr>
        <p:spPr>
          <a:xfrm>
            <a:off x="850900" y="5638800"/>
            <a:ext cx="203200" cy="203200"/>
          </a:xfrm>
          <a:prstGeom prst="rect">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TextBox 36">
            <a:extLst>
              <a:ext uri="{FF2B5EF4-FFF2-40B4-BE49-F238E27FC236}">
                <a16:creationId xmlns:a16="http://schemas.microsoft.com/office/drawing/2014/main" id="{EE0B97BA-E1F5-9EA4-01F2-19C240264B54}"/>
              </a:ext>
            </a:extLst>
          </p:cNvPr>
          <p:cNvSpPr txBox="1"/>
          <p:nvPr/>
        </p:nvSpPr>
        <p:spPr>
          <a:xfrm>
            <a:off x="1143000" y="5626100"/>
            <a:ext cx="2032000" cy="369332"/>
          </a:xfrm>
          <a:prstGeom prst="rect">
            <a:avLst/>
          </a:prstGeom>
          <a:noFill/>
        </p:spPr>
        <p:txBody>
          <a:bodyPr vert="horz" wrap="square" lIns="0" tIns="0" rIns="0" bIns="0" rtlCol="0" anchor="t">
            <a:noAutofit/>
          </a:bodyPr>
          <a:lstStyle/>
          <a:p>
            <a:r>
              <a:rPr lang="en-IN" sz="1400">
                <a:solidFill>
                  <a:srgbClr val="1E2A35"/>
                </a:solidFill>
                <a:latin typeface="Calibri" panose="020F0502020204030204" pitchFamily="34" charset="0"/>
              </a:rPr>
              <a:t>You manage</a:t>
            </a:r>
          </a:p>
        </p:txBody>
      </p:sp>
      <p:sp>
        <p:nvSpPr>
          <p:cNvPr id="38" name="Rectangle 37">
            <a:extLst>
              <a:ext uri="{FF2B5EF4-FFF2-40B4-BE49-F238E27FC236}">
                <a16:creationId xmlns:a16="http://schemas.microsoft.com/office/drawing/2014/main" id="{2CC43723-FC8B-0A24-7CC7-92190087AA8C}"/>
              </a:ext>
            </a:extLst>
          </p:cNvPr>
          <p:cNvSpPr/>
          <p:nvPr/>
        </p:nvSpPr>
        <p:spPr>
          <a:xfrm>
            <a:off x="2794000" y="5638800"/>
            <a:ext cx="203200" cy="203200"/>
          </a:xfrm>
          <a:prstGeom prst="rect">
            <a:avLst/>
          </a:prstGeom>
          <a:solidFill>
            <a:srgbClr val="D3EC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TextBox 38">
            <a:extLst>
              <a:ext uri="{FF2B5EF4-FFF2-40B4-BE49-F238E27FC236}">
                <a16:creationId xmlns:a16="http://schemas.microsoft.com/office/drawing/2014/main" id="{DB6F7DE0-3229-A649-2058-FD934B1ED161}"/>
              </a:ext>
            </a:extLst>
          </p:cNvPr>
          <p:cNvSpPr txBox="1"/>
          <p:nvPr/>
        </p:nvSpPr>
        <p:spPr>
          <a:xfrm>
            <a:off x="3086100" y="5626100"/>
            <a:ext cx="2540000" cy="369332"/>
          </a:xfrm>
          <a:prstGeom prst="rect">
            <a:avLst/>
          </a:prstGeom>
          <a:noFill/>
        </p:spPr>
        <p:txBody>
          <a:bodyPr vert="horz" wrap="square" lIns="0" tIns="0" rIns="0" bIns="0" rtlCol="0" anchor="t">
            <a:noAutofit/>
          </a:bodyPr>
          <a:lstStyle/>
          <a:p>
            <a:r>
              <a:rPr lang="en-IN" sz="1400">
                <a:solidFill>
                  <a:srgbClr val="1E2A35"/>
                </a:solidFill>
                <a:latin typeface="Calibri" panose="020F0502020204030204" pitchFamily="34" charset="0"/>
              </a:rPr>
              <a:t>The provider manages</a:t>
            </a:r>
          </a:p>
        </p:txBody>
      </p:sp>
      <p:sp>
        <p:nvSpPr>
          <p:cNvPr id="40" name="TextBox 39">
            <a:extLst>
              <a:ext uri="{FF2B5EF4-FFF2-40B4-BE49-F238E27FC236}">
                <a16:creationId xmlns:a16="http://schemas.microsoft.com/office/drawing/2014/main" id="{799E33E4-7175-E056-71EA-BFB58B6C6A18}"/>
              </a:ext>
            </a:extLst>
          </p:cNvPr>
          <p:cNvSpPr txBox="1"/>
          <p:nvPr/>
        </p:nvSpPr>
        <p:spPr>
          <a:xfrm>
            <a:off x="850900" y="6019800"/>
            <a:ext cx="10731500" cy="369332"/>
          </a:xfrm>
          <a:prstGeom prst="rect">
            <a:avLst/>
          </a:prstGeom>
          <a:noFill/>
        </p:spPr>
        <p:txBody>
          <a:bodyPr vert="horz" wrap="square" lIns="0" tIns="0" rIns="0" bIns="0" rtlCol="0" anchor="t">
            <a:noAutofit/>
          </a:bodyPr>
          <a:lstStyle/>
          <a:p>
            <a:r>
              <a:rPr lang="en-US" sz="1400">
                <a:solidFill>
                  <a:srgbClr val="5B6B79"/>
                </a:solidFill>
                <a:latin typeface="Calibri" panose="020F0502020204030204" pitchFamily="34" charset="0"/>
              </a:rPr>
              <a:t>Deployment models:  public (AWS, Azure, GCP)  ·  private (OpenStack, Platform9)  ·  hybrid (both)</a:t>
            </a:r>
            <a:endParaRPr lang="en-IN" sz="1400">
              <a:solidFill>
                <a:srgbClr val="5B6B79"/>
              </a:solidFill>
              <a:latin typeface="Calibri" panose="020F0502020204030204" pitchFamily="34" charset="0"/>
            </a:endParaRPr>
          </a:p>
        </p:txBody>
      </p:sp>
      <p:sp>
        <p:nvSpPr>
          <p:cNvPr id="41" name="TextBox 40">
            <a:extLst>
              <a:ext uri="{FF2B5EF4-FFF2-40B4-BE49-F238E27FC236}">
                <a16:creationId xmlns:a16="http://schemas.microsoft.com/office/drawing/2014/main" id="{A0529028-A003-F01B-3F61-E84210F6FD1E}"/>
              </a:ext>
            </a:extLst>
          </p:cNvPr>
          <p:cNvSpPr txBox="1"/>
          <p:nvPr/>
        </p:nvSpPr>
        <p:spPr>
          <a:xfrm>
            <a:off x="609600" y="6502400"/>
            <a:ext cx="5080000" cy="369332"/>
          </a:xfrm>
          <a:prstGeom prst="rect">
            <a:avLst/>
          </a:prstGeom>
          <a:noFill/>
        </p:spPr>
        <p:txBody>
          <a:bodyPr vert="horz" wrap="square" lIns="0" tIns="0" rIns="0" bIns="0" rtlCol="0" anchor="t">
            <a:noAutofit/>
          </a:bodyPr>
          <a:lstStyle/>
          <a:p>
            <a:r>
              <a:rPr lang="en-US" sz="1000">
                <a:solidFill>
                  <a:srgbClr val="5B6B79"/>
                </a:solidFill>
                <a:latin typeface="Calibri" panose="020F0502020204030204" pitchFamily="34" charset="0"/>
              </a:rPr>
              <a:t>Securing the path to the cloud</a:t>
            </a:r>
            <a:endParaRPr lang="en-IN" sz="1000">
              <a:solidFill>
                <a:srgbClr val="5B6B79"/>
              </a:solidFill>
              <a:latin typeface="Calibri" panose="020F0502020204030204" pitchFamily="34" charset="0"/>
            </a:endParaRPr>
          </a:p>
        </p:txBody>
      </p:sp>
      <p:sp>
        <p:nvSpPr>
          <p:cNvPr id="42" name="TextBox 41">
            <a:extLst>
              <a:ext uri="{FF2B5EF4-FFF2-40B4-BE49-F238E27FC236}">
                <a16:creationId xmlns:a16="http://schemas.microsoft.com/office/drawing/2014/main" id="{37D5A40E-77E7-71EB-3536-E5CAE6D9B1EA}"/>
              </a:ext>
            </a:extLst>
          </p:cNvPr>
          <p:cNvSpPr txBox="1"/>
          <p:nvPr/>
        </p:nvSpPr>
        <p:spPr>
          <a:xfrm>
            <a:off x="10312400" y="6502400"/>
            <a:ext cx="1270000" cy="369332"/>
          </a:xfrm>
          <a:prstGeom prst="rect">
            <a:avLst/>
          </a:prstGeom>
          <a:noFill/>
        </p:spPr>
        <p:txBody>
          <a:bodyPr vert="horz" wrap="square" lIns="0" tIns="0" rIns="0" bIns="0" rtlCol="0" anchor="t">
            <a:noAutofit/>
          </a:bodyPr>
          <a:lstStyle/>
          <a:p>
            <a:pPr algn="r"/>
            <a:r>
              <a:rPr lang="en-IN" sz="1000">
                <a:solidFill>
                  <a:srgbClr val="5B6B79"/>
                </a:solidFill>
                <a:latin typeface="Calibri" panose="020F0502020204030204" pitchFamily="34" charset="0"/>
              </a:rPr>
              <a:t>4</a:t>
            </a:r>
          </a:p>
        </p:txBody>
      </p:sp>
    </p:spTree>
    <p:extLst>
      <p:ext uri="{BB962C8B-B14F-4D97-AF65-F5344CB8AC3E}">
        <p14:creationId xmlns:p14="http://schemas.microsoft.com/office/powerpoint/2010/main" val="4280840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780168-F3C3-59BB-DE36-069240939480}"/>
              </a:ext>
            </a:extLst>
          </p:cNvPr>
          <p:cNvSpPr txBox="1"/>
          <p:nvPr/>
        </p:nvSpPr>
        <p:spPr>
          <a:xfrm>
            <a:off x="609600" y="381000"/>
            <a:ext cx="10972800" cy="369332"/>
          </a:xfrm>
          <a:prstGeom prst="rect">
            <a:avLst/>
          </a:prstGeom>
          <a:noFill/>
        </p:spPr>
        <p:txBody>
          <a:bodyPr vert="horz" wrap="square" lIns="0" tIns="0" rIns="0" bIns="0" rtlCol="0" anchor="t">
            <a:noAutofit/>
          </a:bodyPr>
          <a:lstStyle/>
          <a:p>
            <a:r>
              <a:rPr lang="en-US" sz="3400" b="1">
                <a:solidFill>
                  <a:srgbClr val="13293D"/>
                </a:solidFill>
                <a:latin typeface="Calibri" panose="020F0502020204030204" pitchFamily="34" charset="0"/>
              </a:rPr>
              <a:t>Four building blocks of every cloud</a:t>
            </a:r>
            <a:endParaRPr lang="en-IN" sz="3400" b="1">
              <a:solidFill>
                <a:srgbClr val="13293D"/>
              </a:solidFill>
              <a:latin typeface="Calibri" panose="020F0502020204030204" pitchFamily="34" charset="0"/>
            </a:endParaRPr>
          </a:p>
        </p:txBody>
      </p:sp>
      <p:sp>
        <p:nvSpPr>
          <p:cNvPr id="3" name="TextBox 2">
            <a:extLst>
              <a:ext uri="{FF2B5EF4-FFF2-40B4-BE49-F238E27FC236}">
                <a16:creationId xmlns:a16="http://schemas.microsoft.com/office/drawing/2014/main" id="{976A5373-CC81-D972-181A-8D6018CC8D45}"/>
              </a:ext>
            </a:extLst>
          </p:cNvPr>
          <p:cNvSpPr txBox="1"/>
          <p:nvPr/>
        </p:nvSpPr>
        <p:spPr>
          <a:xfrm>
            <a:off x="609600" y="1016000"/>
            <a:ext cx="10972800" cy="369332"/>
          </a:xfrm>
          <a:prstGeom prst="rect">
            <a:avLst/>
          </a:prstGeom>
          <a:noFill/>
        </p:spPr>
        <p:txBody>
          <a:bodyPr vert="horz" wrap="square" lIns="0" tIns="0" rIns="0" bIns="0" rtlCol="0" anchor="t">
            <a:noAutofit/>
          </a:bodyPr>
          <a:lstStyle/>
          <a:p>
            <a:r>
              <a:rPr lang="en-US" sz="1600">
                <a:solidFill>
                  <a:srgbClr val="5B6B79"/>
                </a:solidFill>
                <a:latin typeface="Calibri" panose="020F0502020204030204" pitchFamily="34" charset="0"/>
              </a:rPr>
              <a:t>Same ideas, different names in AWS and OpenStack</a:t>
            </a:r>
            <a:endParaRPr lang="en-IN" sz="1600">
              <a:solidFill>
                <a:srgbClr val="5B6B79"/>
              </a:solidFill>
              <a:latin typeface="Calibri" panose="020F0502020204030204" pitchFamily="34" charset="0"/>
            </a:endParaRPr>
          </a:p>
        </p:txBody>
      </p:sp>
      <p:sp>
        <p:nvSpPr>
          <p:cNvPr id="4" name="Rectangle: Rounded Corners 3">
            <a:extLst>
              <a:ext uri="{FF2B5EF4-FFF2-40B4-BE49-F238E27FC236}">
                <a16:creationId xmlns:a16="http://schemas.microsoft.com/office/drawing/2014/main" id="{72E914CA-B2D0-2E87-0591-F61252965F51}"/>
              </a:ext>
            </a:extLst>
          </p:cNvPr>
          <p:cNvSpPr/>
          <p:nvPr/>
        </p:nvSpPr>
        <p:spPr>
          <a:xfrm>
            <a:off x="609600" y="1549400"/>
            <a:ext cx="5334000" cy="2108200"/>
          </a:xfrm>
          <a:prstGeom prst="roundRect">
            <a:avLst>
              <a:gd name="adj" fmla="val 10000"/>
            </a:avLst>
          </a:prstGeom>
          <a:solidFill>
            <a:srgbClr val="EEF3F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val 4">
            <a:extLst>
              <a:ext uri="{FF2B5EF4-FFF2-40B4-BE49-F238E27FC236}">
                <a16:creationId xmlns:a16="http://schemas.microsoft.com/office/drawing/2014/main" id="{F93303E1-5EE4-141A-8BA9-1AD8B8D72FFD}"/>
              </a:ext>
            </a:extLst>
          </p:cNvPr>
          <p:cNvSpPr/>
          <p:nvPr/>
        </p:nvSpPr>
        <p:spPr>
          <a:xfrm>
            <a:off x="863600" y="1803400"/>
            <a:ext cx="558800" cy="558800"/>
          </a:xfrm>
          <a:prstGeom prst="ellipse">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IN" sz="2000" b="1">
                <a:solidFill>
                  <a:srgbClr val="FFFFFF"/>
                </a:solidFill>
                <a:latin typeface="Calibri" panose="020F0502020204030204" pitchFamily="34" charset="0"/>
              </a:rPr>
              <a:t>C</a:t>
            </a:r>
          </a:p>
        </p:txBody>
      </p:sp>
      <p:sp>
        <p:nvSpPr>
          <p:cNvPr id="6" name="TextBox 5">
            <a:extLst>
              <a:ext uri="{FF2B5EF4-FFF2-40B4-BE49-F238E27FC236}">
                <a16:creationId xmlns:a16="http://schemas.microsoft.com/office/drawing/2014/main" id="{10BAD53A-9EEA-DB79-21F5-B5BCAF06BE22}"/>
              </a:ext>
            </a:extLst>
          </p:cNvPr>
          <p:cNvSpPr txBox="1"/>
          <p:nvPr/>
        </p:nvSpPr>
        <p:spPr>
          <a:xfrm>
            <a:off x="1625600" y="1905000"/>
            <a:ext cx="4064000" cy="369332"/>
          </a:xfrm>
          <a:prstGeom prst="rect">
            <a:avLst/>
          </a:prstGeom>
          <a:noFill/>
        </p:spPr>
        <p:txBody>
          <a:bodyPr vert="horz" wrap="square" lIns="0" tIns="0" rIns="0" bIns="0" rtlCol="0" anchor="t">
            <a:noAutofit/>
          </a:bodyPr>
          <a:lstStyle/>
          <a:p>
            <a:r>
              <a:rPr lang="en-IN" sz="2200" b="1">
                <a:solidFill>
                  <a:srgbClr val="13293D"/>
                </a:solidFill>
                <a:latin typeface="Calibri" panose="020F0502020204030204" pitchFamily="34" charset="0"/>
              </a:rPr>
              <a:t>Compute</a:t>
            </a:r>
          </a:p>
        </p:txBody>
      </p:sp>
      <p:sp>
        <p:nvSpPr>
          <p:cNvPr id="7" name="TextBox 6">
            <a:extLst>
              <a:ext uri="{FF2B5EF4-FFF2-40B4-BE49-F238E27FC236}">
                <a16:creationId xmlns:a16="http://schemas.microsoft.com/office/drawing/2014/main" id="{EFAB3E09-648E-0B91-9957-8BF6ACC1F53F}"/>
              </a:ext>
            </a:extLst>
          </p:cNvPr>
          <p:cNvSpPr txBox="1"/>
          <p:nvPr/>
        </p:nvSpPr>
        <p:spPr>
          <a:xfrm>
            <a:off x="1625600" y="2362200"/>
            <a:ext cx="4064000" cy="369332"/>
          </a:xfrm>
          <a:prstGeom prst="rect">
            <a:avLst/>
          </a:prstGeom>
          <a:noFill/>
        </p:spPr>
        <p:txBody>
          <a:bodyPr vert="horz" wrap="square" lIns="0" tIns="0" rIns="0" bIns="0" rtlCol="0" anchor="t">
            <a:noAutofit/>
          </a:bodyPr>
          <a:lstStyle/>
          <a:p>
            <a:r>
              <a:rPr lang="en-US" sz="1500">
                <a:solidFill>
                  <a:srgbClr val="1E2A35"/>
                </a:solidFill>
                <a:latin typeface="Calibri" panose="020F0502020204030204" pitchFamily="34" charset="0"/>
              </a:rPr>
              <a:t>Virtual servers and containers that run your code, booted from images.</a:t>
            </a:r>
            <a:endParaRPr lang="en-IN" sz="1500">
              <a:solidFill>
                <a:srgbClr val="1E2A35"/>
              </a:solidFill>
              <a:latin typeface="Calibri" panose="020F0502020204030204" pitchFamily="34" charset="0"/>
            </a:endParaRPr>
          </a:p>
        </p:txBody>
      </p:sp>
      <p:sp>
        <p:nvSpPr>
          <p:cNvPr id="8" name="TextBox 7">
            <a:extLst>
              <a:ext uri="{FF2B5EF4-FFF2-40B4-BE49-F238E27FC236}">
                <a16:creationId xmlns:a16="http://schemas.microsoft.com/office/drawing/2014/main" id="{D411EE3C-B23D-16FD-A210-25E4EB108BA5}"/>
              </a:ext>
            </a:extLst>
          </p:cNvPr>
          <p:cNvSpPr txBox="1"/>
          <p:nvPr/>
        </p:nvSpPr>
        <p:spPr>
          <a:xfrm>
            <a:off x="1625600" y="3124200"/>
            <a:ext cx="4064000" cy="369332"/>
          </a:xfrm>
          <a:prstGeom prst="rect">
            <a:avLst/>
          </a:prstGeom>
          <a:noFill/>
        </p:spPr>
        <p:txBody>
          <a:bodyPr vert="horz" wrap="square" lIns="0" tIns="0" rIns="0" bIns="0" rtlCol="0" anchor="t">
            <a:noAutofit/>
          </a:bodyPr>
          <a:lstStyle/>
          <a:p>
            <a:r>
              <a:rPr lang="en-IN" sz="1300" b="1">
                <a:solidFill>
                  <a:srgbClr val="1B998B"/>
                </a:solidFill>
                <a:latin typeface="Calibri" panose="020F0502020204030204" pitchFamily="34" charset="0"/>
              </a:rPr>
              <a:t>AWS: EC2, AMIs   ·   OpenStack: Nova, Glance (images)</a:t>
            </a:r>
          </a:p>
        </p:txBody>
      </p:sp>
      <p:sp>
        <p:nvSpPr>
          <p:cNvPr id="9" name="Rectangle: Rounded Corners 8">
            <a:extLst>
              <a:ext uri="{FF2B5EF4-FFF2-40B4-BE49-F238E27FC236}">
                <a16:creationId xmlns:a16="http://schemas.microsoft.com/office/drawing/2014/main" id="{154485D9-9A66-07B8-A8E6-9A4F730FBE44}"/>
              </a:ext>
            </a:extLst>
          </p:cNvPr>
          <p:cNvSpPr/>
          <p:nvPr/>
        </p:nvSpPr>
        <p:spPr>
          <a:xfrm>
            <a:off x="6248400" y="1549400"/>
            <a:ext cx="5334000" cy="2108200"/>
          </a:xfrm>
          <a:prstGeom prst="roundRect">
            <a:avLst>
              <a:gd name="adj" fmla="val 10000"/>
            </a:avLst>
          </a:prstGeom>
          <a:solidFill>
            <a:srgbClr val="EEF3F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id="{2B854423-FC2F-5BB4-D09F-E8F0A751FB56}"/>
              </a:ext>
            </a:extLst>
          </p:cNvPr>
          <p:cNvSpPr/>
          <p:nvPr/>
        </p:nvSpPr>
        <p:spPr>
          <a:xfrm>
            <a:off x="6502400" y="1803400"/>
            <a:ext cx="558800" cy="558800"/>
          </a:xfrm>
          <a:prstGeom prst="ellipse">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IN" sz="2000" b="1">
                <a:solidFill>
                  <a:srgbClr val="FFFFFF"/>
                </a:solidFill>
                <a:latin typeface="Calibri" panose="020F0502020204030204" pitchFamily="34" charset="0"/>
              </a:rPr>
              <a:t>S</a:t>
            </a:r>
          </a:p>
        </p:txBody>
      </p:sp>
      <p:sp>
        <p:nvSpPr>
          <p:cNvPr id="11" name="TextBox 10">
            <a:extLst>
              <a:ext uri="{FF2B5EF4-FFF2-40B4-BE49-F238E27FC236}">
                <a16:creationId xmlns:a16="http://schemas.microsoft.com/office/drawing/2014/main" id="{F67FE13C-0008-B1CD-2BAF-209354137E5E}"/>
              </a:ext>
            </a:extLst>
          </p:cNvPr>
          <p:cNvSpPr txBox="1"/>
          <p:nvPr/>
        </p:nvSpPr>
        <p:spPr>
          <a:xfrm>
            <a:off x="7264400" y="1905000"/>
            <a:ext cx="4064000" cy="369332"/>
          </a:xfrm>
          <a:prstGeom prst="rect">
            <a:avLst/>
          </a:prstGeom>
          <a:noFill/>
        </p:spPr>
        <p:txBody>
          <a:bodyPr vert="horz" wrap="square" lIns="0" tIns="0" rIns="0" bIns="0" rtlCol="0" anchor="t">
            <a:noAutofit/>
          </a:bodyPr>
          <a:lstStyle/>
          <a:p>
            <a:r>
              <a:rPr lang="en-IN" sz="2200" b="1">
                <a:solidFill>
                  <a:srgbClr val="13293D"/>
                </a:solidFill>
                <a:latin typeface="Calibri" panose="020F0502020204030204" pitchFamily="34" charset="0"/>
              </a:rPr>
              <a:t>Storage</a:t>
            </a:r>
          </a:p>
        </p:txBody>
      </p:sp>
      <p:sp>
        <p:nvSpPr>
          <p:cNvPr id="12" name="TextBox 11">
            <a:extLst>
              <a:ext uri="{FF2B5EF4-FFF2-40B4-BE49-F238E27FC236}">
                <a16:creationId xmlns:a16="http://schemas.microsoft.com/office/drawing/2014/main" id="{BBDB18D8-5041-3F62-01A6-C9CDF13286D7}"/>
              </a:ext>
            </a:extLst>
          </p:cNvPr>
          <p:cNvSpPr txBox="1"/>
          <p:nvPr/>
        </p:nvSpPr>
        <p:spPr>
          <a:xfrm>
            <a:off x="7264400" y="2362200"/>
            <a:ext cx="4064000" cy="369332"/>
          </a:xfrm>
          <a:prstGeom prst="rect">
            <a:avLst/>
          </a:prstGeom>
          <a:noFill/>
        </p:spPr>
        <p:txBody>
          <a:bodyPr vert="horz" wrap="square" lIns="0" tIns="0" rIns="0" bIns="0" rtlCol="0" anchor="t">
            <a:noAutofit/>
          </a:bodyPr>
          <a:lstStyle/>
          <a:p>
            <a:r>
              <a:rPr lang="en-US" sz="1500">
                <a:solidFill>
                  <a:srgbClr val="1E2A35"/>
                </a:solidFill>
                <a:latin typeface="Calibri" panose="020F0502020204030204" pitchFamily="34" charset="0"/>
              </a:rPr>
              <a:t>Object storage for files and backups, plus disks and shared file systems.</a:t>
            </a:r>
            <a:endParaRPr lang="en-IN" sz="1500">
              <a:solidFill>
                <a:srgbClr val="1E2A35"/>
              </a:solidFill>
              <a:latin typeface="Calibri" panose="020F0502020204030204" pitchFamily="34" charset="0"/>
            </a:endParaRPr>
          </a:p>
        </p:txBody>
      </p:sp>
      <p:sp>
        <p:nvSpPr>
          <p:cNvPr id="13" name="TextBox 12">
            <a:extLst>
              <a:ext uri="{FF2B5EF4-FFF2-40B4-BE49-F238E27FC236}">
                <a16:creationId xmlns:a16="http://schemas.microsoft.com/office/drawing/2014/main" id="{9EEFEAE9-2C1E-0387-43B4-1B27DC735ECD}"/>
              </a:ext>
            </a:extLst>
          </p:cNvPr>
          <p:cNvSpPr txBox="1"/>
          <p:nvPr/>
        </p:nvSpPr>
        <p:spPr>
          <a:xfrm>
            <a:off x="7264400" y="3124200"/>
            <a:ext cx="4064000" cy="369332"/>
          </a:xfrm>
          <a:prstGeom prst="rect">
            <a:avLst/>
          </a:prstGeom>
          <a:noFill/>
        </p:spPr>
        <p:txBody>
          <a:bodyPr vert="horz" wrap="square" lIns="0" tIns="0" rIns="0" bIns="0" rtlCol="0" anchor="t">
            <a:noAutofit/>
          </a:bodyPr>
          <a:lstStyle/>
          <a:p>
            <a:r>
              <a:rPr lang="en-US" sz="1300" b="1">
                <a:solidFill>
                  <a:srgbClr val="1B998B"/>
                </a:solidFill>
                <a:latin typeface="Calibri" panose="020F0502020204030204" pitchFamily="34" charset="0"/>
              </a:rPr>
              <a:t>AWS: S3, EBS, EFS   ·   OpenStack: Swift, Cinder, Manila</a:t>
            </a:r>
            <a:endParaRPr lang="en-IN" sz="1300" b="1">
              <a:solidFill>
                <a:srgbClr val="1B998B"/>
              </a:solidFill>
              <a:latin typeface="Calibri" panose="020F0502020204030204" pitchFamily="34" charset="0"/>
            </a:endParaRPr>
          </a:p>
        </p:txBody>
      </p:sp>
      <p:sp>
        <p:nvSpPr>
          <p:cNvPr id="14" name="Rectangle: Rounded Corners 13">
            <a:extLst>
              <a:ext uri="{FF2B5EF4-FFF2-40B4-BE49-F238E27FC236}">
                <a16:creationId xmlns:a16="http://schemas.microsoft.com/office/drawing/2014/main" id="{F8E18EDF-1B0F-D5A0-BD48-35D61C6F501F}"/>
              </a:ext>
            </a:extLst>
          </p:cNvPr>
          <p:cNvSpPr/>
          <p:nvPr/>
        </p:nvSpPr>
        <p:spPr>
          <a:xfrm>
            <a:off x="609600" y="3860800"/>
            <a:ext cx="5334000" cy="2108200"/>
          </a:xfrm>
          <a:prstGeom prst="roundRect">
            <a:avLst>
              <a:gd name="adj" fmla="val 10000"/>
            </a:avLst>
          </a:prstGeom>
          <a:solidFill>
            <a:srgbClr val="EEF3F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id="{A6B0F89B-0B7F-88A6-AE63-7143F8E8B355}"/>
              </a:ext>
            </a:extLst>
          </p:cNvPr>
          <p:cNvSpPr/>
          <p:nvPr/>
        </p:nvSpPr>
        <p:spPr>
          <a:xfrm>
            <a:off x="863600" y="4114800"/>
            <a:ext cx="558800" cy="558800"/>
          </a:xfrm>
          <a:prstGeom prst="ellipse">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IN" sz="2000" b="1">
                <a:solidFill>
                  <a:srgbClr val="FFFFFF"/>
                </a:solidFill>
                <a:latin typeface="Calibri" panose="020F0502020204030204" pitchFamily="34" charset="0"/>
              </a:rPr>
              <a:t>N</a:t>
            </a:r>
          </a:p>
        </p:txBody>
      </p:sp>
      <p:sp>
        <p:nvSpPr>
          <p:cNvPr id="16" name="TextBox 15">
            <a:extLst>
              <a:ext uri="{FF2B5EF4-FFF2-40B4-BE49-F238E27FC236}">
                <a16:creationId xmlns:a16="http://schemas.microsoft.com/office/drawing/2014/main" id="{6C70427E-141B-94C0-E371-11BF73FBFF6B}"/>
              </a:ext>
            </a:extLst>
          </p:cNvPr>
          <p:cNvSpPr txBox="1"/>
          <p:nvPr/>
        </p:nvSpPr>
        <p:spPr>
          <a:xfrm>
            <a:off x="1625600" y="4216400"/>
            <a:ext cx="4064000" cy="369332"/>
          </a:xfrm>
          <a:prstGeom prst="rect">
            <a:avLst/>
          </a:prstGeom>
          <a:noFill/>
        </p:spPr>
        <p:txBody>
          <a:bodyPr vert="horz" wrap="square" lIns="0" tIns="0" rIns="0" bIns="0" rtlCol="0" anchor="t">
            <a:noAutofit/>
          </a:bodyPr>
          <a:lstStyle/>
          <a:p>
            <a:r>
              <a:rPr lang="en-IN" sz="2200" b="1">
                <a:solidFill>
                  <a:srgbClr val="13293D"/>
                </a:solidFill>
                <a:latin typeface="Calibri" panose="020F0502020204030204" pitchFamily="34" charset="0"/>
              </a:rPr>
              <a:t>Network</a:t>
            </a:r>
          </a:p>
        </p:txBody>
      </p:sp>
      <p:sp>
        <p:nvSpPr>
          <p:cNvPr id="17" name="TextBox 16">
            <a:extLst>
              <a:ext uri="{FF2B5EF4-FFF2-40B4-BE49-F238E27FC236}">
                <a16:creationId xmlns:a16="http://schemas.microsoft.com/office/drawing/2014/main" id="{0CD53ADC-E5A7-DBDE-9E32-737E6AE4D5C0}"/>
              </a:ext>
            </a:extLst>
          </p:cNvPr>
          <p:cNvSpPr txBox="1"/>
          <p:nvPr/>
        </p:nvSpPr>
        <p:spPr>
          <a:xfrm>
            <a:off x="1625600" y="4673600"/>
            <a:ext cx="4064000" cy="369332"/>
          </a:xfrm>
          <a:prstGeom prst="rect">
            <a:avLst/>
          </a:prstGeom>
          <a:noFill/>
        </p:spPr>
        <p:txBody>
          <a:bodyPr vert="horz" wrap="square" lIns="0" tIns="0" rIns="0" bIns="0" rtlCol="0" anchor="t">
            <a:noAutofit/>
          </a:bodyPr>
          <a:lstStyle/>
          <a:p>
            <a:r>
              <a:rPr lang="en-US" sz="1500">
                <a:solidFill>
                  <a:srgbClr val="1E2A35"/>
                </a:solidFill>
                <a:latin typeface="Calibri" panose="020F0502020204030204" pitchFamily="34" charset="0"/>
              </a:rPr>
              <a:t>Private networks, subnets and firewall rules that decide who can reach what.</a:t>
            </a:r>
            <a:endParaRPr lang="en-IN" sz="1500">
              <a:solidFill>
                <a:srgbClr val="1E2A35"/>
              </a:solidFill>
              <a:latin typeface="Calibri" panose="020F0502020204030204" pitchFamily="34" charset="0"/>
            </a:endParaRPr>
          </a:p>
        </p:txBody>
      </p:sp>
      <p:sp>
        <p:nvSpPr>
          <p:cNvPr id="18" name="TextBox 17">
            <a:extLst>
              <a:ext uri="{FF2B5EF4-FFF2-40B4-BE49-F238E27FC236}">
                <a16:creationId xmlns:a16="http://schemas.microsoft.com/office/drawing/2014/main" id="{E95838F1-F1EE-5905-D672-848D96DCF267}"/>
              </a:ext>
            </a:extLst>
          </p:cNvPr>
          <p:cNvSpPr txBox="1"/>
          <p:nvPr/>
        </p:nvSpPr>
        <p:spPr>
          <a:xfrm>
            <a:off x="1625600" y="5435600"/>
            <a:ext cx="4064000" cy="369332"/>
          </a:xfrm>
          <a:prstGeom prst="rect">
            <a:avLst/>
          </a:prstGeom>
          <a:noFill/>
        </p:spPr>
        <p:txBody>
          <a:bodyPr vert="horz" wrap="square" lIns="0" tIns="0" rIns="0" bIns="0" rtlCol="0" anchor="t">
            <a:noAutofit/>
          </a:bodyPr>
          <a:lstStyle/>
          <a:p>
            <a:r>
              <a:rPr lang="en-US" sz="1300" b="1">
                <a:solidFill>
                  <a:srgbClr val="1B998B"/>
                </a:solidFill>
                <a:latin typeface="Calibri" panose="020F0502020204030204" pitchFamily="34" charset="0"/>
              </a:rPr>
              <a:t>AWS: VPC, security groups   ·   OpenStack: Neutron</a:t>
            </a:r>
            <a:endParaRPr lang="en-IN" sz="1300" b="1">
              <a:solidFill>
                <a:srgbClr val="1B998B"/>
              </a:solidFill>
              <a:latin typeface="Calibri" panose="020F0502020204030204" pitchFamily="34" charset="0"/>
            </a:endParaRPr>
          </a:p>
        </p:txBody>
      </p:sp>
      <p:sp>
        <p:nvSpPr>
          <p:cNvPr id="19" name="Rectangle: Rounded Corners 18">
            <a:extLst>
              <a:ext uri="{FF2B5EF4-FFF2-40B4-BE49-F238E27FC236}">
                <a16:creationId xmlns:a16="http://schemas.microsoft.com/office/drawing/2014/main" id="{BC5007E8-0ED5-C495-16CB-8EFC7010A4A1}"/>
              </a:ext>
            </a:extLst>
          </p:cNvPr>
          <p:cNvSpPr/>
          <p:nvPr/>
        </p:nvSpPr>
        <p:spPr>
          <a:xfrm>
            <a:off x="6248400" y="3860800"/>
            <a:ext cx="5334000" cy="2108200"/>
          </a:xfrm>
          <a:prstGeom prst="roundRect">
            <a:avLst>
              <a:gd name="adj" fmla="val 10000"/>
            </a:avLst>
          </a:prstGeom>
          <a:solidFill>
            <a:srgbClr val="EEF3F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Oval 19">
            <a:extLst>
              <a:ext uri="{FF2B5EF4-FFF2-40B4-BE49-F238E27FC236}">
                <a16:creationId xmlns:a16="http://schemas.microsoft.com/office/drawing/2014/main" id="{33892EE4-DC64-1723-7515-50CEDC79EFCE}"/>
              </a:ext>
            </a:extLst>
          </p:cNvPr>
          <p:cNvSpPr/>
          <p:nvPr/>
        </p:nvSpPr>
        <p:spPr>
          <a:xfrm>
            <a:off x="6502400" y="4114800"/>
            <a:ext cx="558800" cy="558800"/>
          </a:xfrm>
          <a:prstGeom prst="ellipse">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IN" sz="2000" b="1">
                <a:solidFill>
                  <a:srgbClr val="FFFFFF"/>
                </a:solidFill>
                <a:latin typeface="Calibri" panose="020F0502020204030204" pitchFamily="34" charset="0"/>
              </a:rPr>
              <a:t>I</a:t>
            </a:r>
          </a:p>
        </p:txBody>
      </p:sp>
      <p:sp>
        <p:nvSpPr>
          <p:cNvPr id="21" name="TextBox 20">
            <a:extLst>
              <a:ext uri="{FF2B5EF4-FFF2-40B4-BE49-F238E27FC236}">
                <a16:creationId xmlns:a16="http://schemas.microsoft.com/office/drawing/2014/main" id="{8E06F469-EDE0-2264-B769-1455CA07BA7E}"/>
              </a:ext>
            </a:extLst>
          </p:cNvPr>
          <p:cNvSpPr txBox="1"/>
          <p:nvPr/>
        </p:nvSpPr>
        <p:spPr>
          <a:xfrm>
            <a:off x="7264400" y="4216400"/>
            <a:ext cx="4064000" cy="369332"/>
          </a:xfrm>
          <a:prstGeom prst="rect">
            <a:avLst/>
          </a:prstGeom>
          <a:noFill/>
        </p:spPr>
        <p:txBody>
          <a:bodyPr vert="horz" wrap="square" lIns="0" tIns="0" rIns="0" bIns="0" rtlCol="0" anchor="t">
            <a:noAutofit/>
          </a:bodyPr>
          <a:lstStyle/>
          <a:p>
            <a:r>
              <a:rPr lang="en-IN" sz="2200" b="1">
                <a:solidFill>
                  <a:srgbClr val="13293D"/>
                </a:solidFill>
                <a:latin typeface="Calibri" panose="020F0502020204030204" pitchFamily="34" charset="0"/>
              </a:rPr>
              <a:t>Identity</a:t>
            </a:r>
          </a:p>
        </p:txBody>
      </p:sp>
      <p:sp>
        <p:nvSpPr>
          <p:cNvPr id="22" name="TextBox 21">
            <a:extLst>
              <a:ext uri="{FF2B5EF4-FFF2-40B4-BE49-F238E27FC236}">
                <a16:creationId xmlns:a16="http://schemas.microsoft.com/office/drawing/2014/main" id="{5CD9BF58-6D6F-7D84-0C31-B5532DD39F73}"/>
              </a:ext>
            </a:extLst>
          </p:cNvPr>
          <p:cNvSpPr txBox="1"/>
          <p:nvPr/>
        </p:nvSpPr>
        <p:spPr>
          <a:xfrm>
            <a:off x="7264400" y="4673600"/>
            <a:ext cx="4064000" cy="369332"/>
          </a:xfrm>
          <a:prstGeom prst="rect">
            <a:avLst/>
          </a:prstGeom>
          <a:noFill/>
        </p:spPr>
        <p:txBody>
          <a:bodyPr vert="horz" wrap="square" lIns="0" tIns="0" rIns="0" bIns="0" rtlCol="0" anchor="t">
            <a:noAutofit/>
          </a:bodyPr>
          <a:lstStyle/>
          <a:p>
            <a:r>
              <a:rPr lang="en-US" sz="1500">
                <a:solidFill>
                  <a:srgbClr val="1E2A35"/>
                </a:solidFill>
                <a:latin typeface="Calibri" panose="020F0502020204030204" pitchFamily="34" charset="0"/>
              </a:rPr>
              <a:t>Who can do what: users, roles and permissions.</a:t>
            </a:r>
            <a:endParaRPr lang="en-IN" sz="1500">
              <a:solidFill>
                <a:srgbClr val="1E2A35"/>
              </a:solidFill>
              <a:latin typeface="Calibri" panose="020F0502020204030204" pitchFamily="34" charset="0"/>
            </a:endParaRPr>
          </a:p>
        </p:txBody>
      </p:sp>
      <p:sp>
        <p:nvSpPr>
          <p:cNvPr id="23" name="TextBox 22">
            <a:extLst>
              <a:ext uri="{FF2B5EF4-FFF2-40B4-BE49-F238E27FC236}">
                <a16:creationId xmlns:a16="http://schemas.microsoft.com/office/drawing/2014/main" id="{4C7BD9ED-2740-B584-DD3A-D11E0EDF19FA}"/>
              </a:ext>
            </a:extLst>
          </p:cNvPr>
          <p:cNvSpPr txBox="1"/>
          <p:nvPr/>
        </p:nvSpPr>
        <p:spPr>
          <a:xfrm>
            <a:off x="7264400" y="5435600"/>
            <a:ext cx="4064000" cy="369332"/>
          </a:xfrm>
          <a:prstGeom prst="rect">
            <a:avLst/>
          </a:prstGeom>
          <a:noFill/>
        </p:spPr>
        <p:txBody>
          <a:bodyPr vert="horz" wrap="square" lIns="0" tIns="0" rIns="0" bIns="0" rtlCol="0" anchor="t">
            <a:noAutofit/>
          </a:bodyPr>
          <a:lstStyle/>
          <a:p>
            <a:r>
              <a:rPr lang="en-IN" sz="1300" b="1">
                <a:solidFill>
                  <a:srgbClr val="1B998B"/>
                </a:solidFill>
                <a:latin typeface="Calibri" panose="020F0502020204030204" pitchFamily="34" charset="0"/>
              </a:rPr>
              <a:t>AWS: IAM   ·   OpenStack: Keystone</a:t>
            </a:r>
          </a:p>
        </p:txBody>
      </p:sp>
      <p:sp>
        <p:nvSpPr>
          <p:cNvPr id="24" name="TextBox 23">
            <a:extLst>
              <a:ext uri="{FF2B5EF4-FFF2-40B4-BE49-F238E27FC236}">
                <a16:creationId xmlns:a16="http://schemas.microsoft.com/office/drawing/2014/main" id="{C3CE8F9E-9B11-016D-04E6-012C3C10A75B}"/>
              </a:ext>
            </a:extLst>
          </p:cNvPr>
          <p:cNvSpPr txBox="1"/>
          <p:nvPr/>
        </p:nvSpPr>
        <p:spPr>
          <a:xfrm>
            <a:off x="609600" y="6502400"/>
            <a:ext cx="5080000" cy="369332"/>
          </a:xfrm>
          <a:prstGeom prst="rect">
            <a:avLst/>
          </a:prstGeom>
          <a:noFill/>
        </p:spPr>
        <p:txBody>
          <a:bodyPr vert="horz" wrap="square" lIns="0" tIns="0" rIns="0" bIns="0" rtlCol="0" anchor="t">
            <a:noAutofit/>
          </a:bodyPr>
          <a:lstStyle/>
          <a:p>
            <a:r>
              <a:rPr lang="en-US" sz="1000">
                <a:solidFill>
                  <a:srgbClr val="5B6B79"/>
                </a:solidFill>
                <a:latin typeface="Calibri" panose="020F0502020204030204" pitchFamily="34" charset="0"/>
              </a:rPr>
              <a:t>Securing the path to the cloud</a:t>
            </a:r>
            <a:endParaRPr lang="en-IN" sz="1000">
              <a:solidFill>
                <a:srgbClr val="5B6B79"/>
              </a:solidFill>
              <a:latin typeface="Calibri" panose="020F0502020204030204" pitchFamily="34" charset="0"/>
            </a:endParaRPr>
          </a:p>
        </p:txBody>
      </p:sp>
      <p:sp>
        <p:nvSpPr>
          <p:cNvPr id="25" name="TextBox 24">
            <a:extLst>
              <a:ext uri="{FF2B5EF4-FFF2-40B4-BE49-F238E27FC236}">
                <a16:creationId xmlns:a16="http://schemas.microsoft.com/office/drawing/2014/main" id="{2FD83F97-F030-40FC-876D-8B9B9E47B232}"/>
              </a:ext>
            </a:extLst>
          </p:cNvPr>
          <p:cNvSpPr txBox="1"/>
          <p:nvPr/>
        </p:nvSpPr>
        <p:spPr>
          <a:xfrm>
            <a:off x="10312400" y="6502400"/>
            <a:ext cx="1270000" cy="369332"/>
          </a:xfrm>
          <a:prstGeom prst="rect">
            <a:avLst/>
          </a:prstGeom>
          <a:noFill/>
        </p:spPr>
        <p:txBody>
          <a:bodyPr vert="horz" wrap="square" lIns="0" tIns="0" rIns="0" bIns="0" rtlCol="0" anchor="t">
            <a:noAutofit/>
          </a:bodyPr>
          <a:lstStyle/>
          <a:p>
            <a:pPr algn="r"/>
            <a:r>
              <a:rPr lang="en-IN" sz="1000">
                <a:solidFill>
                  <a:srgbClr val="5B6B79"/>
                </a:solidFill>
                <a:latin typeface="Calibri" panose="020F0502020204030204" pitchFamily="34" charset="0"/>
              </a:rPr>
              <a:t>5</a:t>
            </a:r>
          </a:p>
        </p:txBody>
      </p:sp>
    </p:spTree>
    <p:extLst>
      <p:ext uri="{BB962C8B-B14F-4D97-AF65-F5344CB8AC3E}">
        <p14:creationId xmlns:p14="http://schemas.microsoft.com/office/powerpoint/2010/main" val="17615604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F5C27C2-9A15-7CC5-F52E-DDBBC44E9C84}"/>
              </a:ext>
            </a:extLst>
          </p:cNvPr>
          <p:cNvSpPr txBox="1"/>
          <p:nvPr/>
        </p:nvSpPr>
        <p:spPr>
          <a:xfrm>
            <a:off x="609600" y="381000"/>
            <a:ext cx="10972800" cy="369332"/>
          </a:xfrm>
          <a:prstGeom prst="rect">
            <a:avLst/>
          </a:prstGeom>
          <a:noFill/>
        </p:spPr>
        <p:txBody>
          <a:bodyPr vert="horz" wrap="square" lIns="0" tIns="0" rIns="0" bIns="0" rtlCol="0" anchor="t">
            <a:noAutofit/>
          </a:bodyPr>
          <a:lstStyle/>
          <a:p>
            <a:r>
              <a:rPr lang="en-US" sz="3400" b="1">
                <a:solidFill>
                  <a:srgbClr val="13293D"/>
                </a:solidFill>
                <a:latin typeface="Calibri" panose="020F0502020204030204" pitchFamily="34" charset="0"/>
              </a:rPr>
              <a:t>Shared responsibility: whose job is it?</a:t>
            </a:r>
            <a:endParaRPr lang="en-IN" sz="3400" b="1">
              <a:solidFill>
                <a:srgbClr val="13293D"/>
              </a:solidFill>
              <a:latin typeface="Calibri" panose="020F0502020204030204" pitchFamily="34" charset="0"/>
            </a:endParaRPr>
          </a:p>
        </p:txBody>
      </p:sp>
      <p:sp>
        <p:nvSpPr>
          <p:cNvPr id="3" name="Rectangle: Rounded Corners 2">
            <a:extLst>
              <a:ext uri="{FF2B5EF4-FFF2-40B4-BE49-F238E27FC236}">
                <a16:creationId xmlns:a16="http://schemas.microsoft.com/office/drawing/2014/main" id="{C60C35B3-EE08-A5DD-6107-D1B1E2D0AB7D}"/>
              </a:ext>
            </a:extLst>
          </p:cNvPr>
          <p:cNvSpPr/>
          <p:nvPr/>
        </p:nvSpPr>
        <p:spPr>
          <a:xfrm>
            <a:off x="609600" y="1346200"/>
            <a:ext cx="5334000" cy="2946400"/>
          </a:xfrm>
          <a:prstGeom prst="roundRect">
            <a:avLst>
              <a:gd name="adj" fmla="val 10000"/>
            </a:avLst>
          </a:prstGeom>
          <a:solidFill>
            <a:srgbClr val="D3EC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96BBA25E-F55A-7C38-542B-CA579D94E55D}"/>
              </a:ext>
            </a:extLst>
          </p:cNvPr>
          <p:cNvSpPr txBox="1"/>
          <p:nvPr/>
        </p:nvSpPr>
        <p:spPr>
          <a:xfrm>
            <a:off x="914400" y="1625600"/>
            <a:ext cx="4724400" cy="369332"/>
          </a:xfrm>
          <a:prstGeom prst="rect">
            <a:avLst/>
          </a:prstGeom>
          <a:noFill/>
        </p:spPr>
        <p:txBody>
          <a:bodyPr vert="horz" wrap="square" lIns="0" tIns="0" rIns="0" bIns="0" rtlCol="0" anchor="t">
            <a:noAutofit/>
          </a:bodyPr>
          <a:lstStyle/>
          <a:p>
            <a:r>
              <a:rPr lang="en-US" sz="2000" b="1">
                <a:solidFill>
                  <a:srgbClr val="13293D"/>
                </a:solidFill>
                <a:latin typeface="Calibri" panose="020F0502020204030204" pitchFamily="34" charset="0"/>
              </a:rPr>
              <a:t>The provider secures the cloud</a:t>
            </a:r>
            <a:endParaRPr lang="en-IN" sz="2000" b="1">
              <a:solidFill>
                <a:srgbClr val="13293D"/>
              </a:solidFill>
              <a:latin typeface="Calibri" panose="020F0502020204030204" pitchFamily="34" charset="0"/>
            </a:endParaRPr>
          </a:p>
        </p:txBody>
      </p:sp>
      <p:sp>
        <p:nvSpPr>
          <p:cNvPr id="5" name="TextBox 4">
            <a:extLst>
              <a:ext uri="{FF2B5EF4-FFF2-40B4-BE49-F238E27FC236}">
                <a16:creationId xmlns:a16="http://schemas.microsoft.com/office/drawing/2014/main" id="{82FD1CE3-04DD-7CD9-A024-806AAB2BC03F}"/>
              </a:ext>
            </a:extLst>
          </p:cNvPr>
          <p:cNvSpPr txBox="1"/>
          <p:nvPr/>
        </p:nvSpPr>
        <p:spPr>
          <a:xfrm>
            <a:off x="914400" y="2235200"/>
            <a:ext cx="4724400" cy="369332"/>
          </a:xfrm>
          <a:prstGeom prst="rect">
            <a:avLst/>
          </a:prstGeom>
          <a:noFill/>
        </p:spPr>
        <p:txBody>
          <a:bodyPr vert="horz" wrap="square" lIns="0" tIns="0" rIns="0" bIns="0" rtlCol="0" anchor="t">
            <a:noAutofit/>
          </a:bodyPr>
          <a:lstStyle/>
          <a:p>
            <a:pPr marL="228600" indent="-228600">
              <a:spcAft>
                <a:spcPts val="1000"/>
              </a:spcAft>
              <a:buFont typeface="+mj-lt"/>
              <a:buChar char="•"/>
            </a:pPr>
            <a:r>
              <a:rPr lang="en-US" sz="1600">
                <a:solidFill>
                  <a:srgbClr val="1E2A35"/>
                </a:solidFill>
                <a:latin typeface="Calibri" panose="020F0502020204030204" pitchFamily="34" charset="0"/>
              </a:rPr>
              <a:t>Data centres and physical security</a:t>
            </a:r>
          </a:p>
          <a:p>
            <a:pPr marL="228600" indent="-228600">
              <a:spcAft>
                <a:spcPts val="1000"/>
              </a:spcAft>
              <a:buFont typeface="+mj-lt"/>
              <a:buChar char="•"/>
            </a:pPr>
            <a:r>
              <a:rPr lang="en-US" sz="1600">
                <a:solidFill>
                  <a:srgbClr val="1E2A35"/>
                </a:solidFill>
                <a:latin typeface="Calibri" panose="020F0502020204030204" pitchFamily="34" charset="0"/>
              </a:rPr>
              <a:t>Hardware, hypervisor and global network</a:t>
            </a:r>
          </a:p>
          <a:p>
            <a:pPr marL="228600" indent="-228600">
              <a:spcAft>
                <a:spcPts val="1000"/>
              </a:spcAft>
              <a:buFont typeface="+mj-lt"/>
              <a:buChar char="•"/>
            </a:pPr>
            <a:r>
              <a:rPr lang="en-US" sz="1600">
                <a:solidFill>
                  <a:srgbClr val="1E2A35"/>
                </a:solidFill>
                <a:latin typeface="Calibri" panose="020F0502020204030204" pitchFamily="34" charset="0"/>
              </a:rPr>
              <a:t>The managed services themselves: S3, IAM, VPC</a:t>
            </a:r>
            <a:endParaRPr lang="en-IN" sz="1600">
              <a:solidFill>
                <a:srgbClr val="1E2A35"/>
              </a:solidFill>
              <a:latin typeface="Calibri" panose="020F0502020204030204" pitchFamily="34" charset="0"/>
            </a:endParaRPr>
          </a:p>
        </p:txBody>
      </p:sp>
      <p:sp>
        <p:nvSpPr>
          <p:cNvPr id="6" name="Rectangle: Rounded Corners 5">
            <a:extLst>
              <a:ext uri="{FF2B5EF4-FFF2-40B4-BE49-F238E27FC236}">
                <a16:creationId xmlns:a16="http://schemas.microsoft.com/office/drawing/2014/main" id="{9CCC66BB-1FFD-999F-C1D9-28F9F34EFFF0}"/>
              </a:ext>
            </a:extLst>
          </p:cNvPr>
          <p:cNvSpPr/>
          <p:nvPr/>
        </p:nvSpPr>
        <p:spPr>
          <a:xfrm>
            <a:off x="6248400" y="1346200"/>
            <a:ext cx="5334000" cy="2946400"/>
          </a:xfrm>
          <a:prstGeom prst="roundRect">
            <a:avLst>
              <a:gd name="adj" fmla="val 10000"/>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855F0C6A-D8CC-216A-FA8B-BFE7EC246334}"/>
              </a:ext>
            </a:extLst>
          </p:cNvPr>
          <p:cNvSpPr txBox="1"/>
          <p:nvPr/>
        </p:nvSpPr>
        <p:spPr>
          <a:xfrm>
            <a:off x="6553200" y="1625600"/>
            <a:ext cx="4724400" cy="369332"/>
          </a:xfrm>
          <a:prstGeom prst="rect">
            <a:avLst/>
          </a:prstGeom>
          <a:noFill/>
        </p:spPr>
        <p:txBody>
          <a:bodyPr vert="horz" wrap="square" lIns="0" tIns="0" rIns="0" bIns="0" rtlCol="0" anchor="t">
            <a:noAutofit/>
          </a:bodyPr>
          <a:lstStyle/>
          <a:p>
            <a:r>
              <a:rPr lang="en-US" sz="2000" b="1">
                <a:solidFill>
                  <a:srgbClr val="FFFFFF"/>
                </a:solidFill>
                <a:latin typeface="Calibri" panose="020F0502020204030204" pitchFamily="34" charset="0"/>
              </a:rPr>
              <a:t>You secure what you put in it</a:t>
            </a:r>
            <a:endParaRPr lang="en-IN" sz="2000" b="1">
              <a:solidFill>
                <a:srgbClr val="FFFFFF"/>
              </a:solidFill>
              <a:latin typeface="Calibri" panose="020F0502020204030204" pitchFamily="34" charset="0"/>
            </a:endParaRPr>
          </a:p>
        </p:txBody>
      </p:sp>
      <p:sp>
        <p:nvSpPr>
          <p:cNvPr id="8" name="TextBox 7">
            <a:extLst>
              <a:ext uri="{FF2B5EF4-FFF2-40B4-BE49-F238E27FC236}">
                <a16:creationId xmlns:a16="http://schemas.microsoft.com/office/drawing/2014/main" id="{79F81673-CF79-AB85-5895-4253EC0EBA6A}"/>
              </a:ext>
            </a:extLst>
          </p:cNvPr>
          <p:cNvSpPr txBox="1"/>
          <p:nvPr/>
        </p:nvSpPr>
        <p:spPr>
          <a:xfrm>
            <a:off x="6553200" y="2235200"/>
            <a:ext cx="4724400" cy="369332"/>
          </a:xfrm>
          <a:prstGeom prst="rect">
            <a:avLst/>
          </a:prstGeom>
          <a:noFill/>
        </p:spPr>
        <p:txBody>
          <a:bodyPr vert="horz" wrap="square" lIns="0" tIns="0" rIns="0" bIns="0" rtlCol="0" anchor="t">
            <a:noAutofit/>
          </a:bodyPr>
          <a:lstStyle/>
          <a:p>
            <a:pPr marL="228600" indent="-228600">
              <a:spcAft>
                <a:spcPts val="1000"/>
              </a:spcAft>
              <a:buFont typeface="+mj-lt"/>
              <a:buChar char="•"/>
            </a:pPr>
            <a:r>
              <a:rPr lang="en-US" sz="1600">
                <a:solidFill>
                  <a:srgbClr val="FFFFFF"/>
                </a:solidFill>
                <a:latin typeface="Calibri" panose="020F0502020204030204" pitchFamily="34" charset="0"/>
              </a:rPr>
              <a:t>Identities, keys and permissions</a:t>
            </a:r>
          </a:p>
          <a:p>
            <a:pPr marL="228600" indent="-228600">
              <a:spcAft>
                <a:spcPts val="1000"/>
              </a:spcAft>
              <a:buFont typeface="+mj-lt"/>
              <a:buChar char="•"/>
            </a:pPr>
            <a:r>
              <a:rPr lang="en-US" sz="1600">
                <a:solidFill>
                  <a:srgbClr val="FFFFFF"/>
                </a:solidFill>
                <a:latin typeface="Calibri" panose="020F0502020204030204" pitchFamily="34" charset="0"/>
              </a:rPr>
              <a:t>Configuration: storage access, firewall rules</a:t>
            </a:r>
          </a:p>
          <a:p>
            <a:pPr marL="228600" indent="-228600">
              <a:spcAft>
                <a:spcPts val="1000"/>
              </a:spcAft>
              <a:buFont typeface="+mj-lt"/>
              <a:buChar char="•"/>
            </a:pPr>
            <a:r>
              <a:rPr lang="en-US" sz="1600">
                <a:solidFill>
                  <a:srgbClr val="FFFFFF"/>
                </a:solidFill>
                <a:latin typeface="Calibri" panose="020F0502020204030204" pitchFamily="34" charset="0"/>
              </a:rPr>
              <a:t>Your code, images and data</a:t>
            </a:r>
          </a:p>
          <a:p>
            <a:pPr marL="228600" indent="-228600">
              <a:spcAft>
                <a:spcPts val="1000"/>
              </a:spcAft>
              <a:buFont typeface="+mj-lt"/>
              <a:buChar char="•"/>
            </a:pPr>
            <a:r>
              <a:rPr lang="en-US" sz="1600">
                <a:solidFill>
                  <a:srgbClr val="FFFFFF"/>
                </a:solidFill>
                <a:latin typeface="Calibri" panose="020F0502020204030204" pitchFamily="34" charset="0"/>
              </a:rPr>
              <a:t>What changes after deployment</a:t>
            </a:r>
            <a:endParaRPr lang="en-IN" sz="1600">
              <a:solidFill>
                <a:srgbClr val="FFFFFF"/>
              </a:solidFill>
              <a:latin typeface="Calibri" panose="020F0502020204030204" pitchFamily="34" charset="0"/>
            </a:endParaRPr>
          </a:p>
        </p:txBody>
      </p:sp>
      <p:sp>
        <p:nvSpPr>
          <p:cNvPr id="9" name="TextBox 8">
            <a:extLst>
              <a:ext uri="{FF2B5EF4-FFF2-40B4-BE49-F238E27FC236}">
                <a16:creationId xmlns:a16="http://schemas.microsoft.com/office/drawing/2014/main" id="{1921D799-99DA-CD5D-497C-ABBDDD90F84F}"/>
              </a:ext>
            </a:extLst>
          </p:cNvPr>
          <p:cNvSpPr txBox="1"/>
          <p:nvPr/>
        </p:nvSpPr>
        <p:spPr>
          <a:xfrm>
            <a:off x="609600" y="4699000"/>
            <a:ext cx="10972800" cy="381000"/>
          </a:xfrm>
          <a:prstGeom prst="rect">
            <a:avLst/>
          </a:prstGeom>
          <a:noFill/>
        </p:spPr>
        <p:txBody>
          <a:bodyPr vert="horz" wrap="square" lIns="0" tIns="0" rIns="0" bIns="0" rtlCol="0" anchor="t">
            <a:noAutofit/>
          </a:bodyPr>
          <a:lstStyle/>
          <a:p>
            <a:pPr algn="ctr"/>
            <a:r>
              <a:rPr lang="en-US" sz="2200" b="1">
                <a:solidFill>
                  <a:srgbClr val="E4572E"/>
                </a:solidFill>
                <a:latin typeface="Calibri" panose="020F0502020204030204" pitchFamily="34" charset="0"/>
              </a:rPr>
              <a:t>Every lab today sits in the right-hand column.</a:t>
            </a:r>
            <a:endParaRPr lang="en-IN" sz="2200" b="1">
              <a:solidFill>
                <a:srgbClr val="E4572E"/>
              </a:solidFill>
              <a:latin typeface="Calibri" panose="020F0502020204030204" pitchFamily="34" charset="0"/>
            </a:endParaRPr>
          </a:p>
        </p:txBody>
      </p:sp>
      <p:sp>
        <p:nvSpPr>
          <p:cNvPr id="10" name="TextBox 9">
            <a:extLst>
              <a:ext uri="{FF2B5EF4-FFF2-40B4-BE49-F238E27FC236}">
                <a16:creationId xmlns:a16="http://schemas.microsoft.com/office/drawing/2014/main" id="{23F461EC-21CF-C53A-5985-2304680F7842}"/>
              </a:ext>
            </a:extLst>
          </p:cNvPr>
          <p:cNvSpPr txBox="1"/>
          <p:nvPr/>
        </p:nvSpPr>
        <p:spPr>
          <a:xfrm>
            <a:off x="609600" y="6502400"/>
            <a:ext cx="5080000" cy="369332"/>
          </a:xfrm>
          <a:prstGeom prst="rect">
            <a:avLst/>
          </a:prstGeom>
          <a:noFill/>
        </p:spPr>
        <p:txBody>
          <a:bodyPr vert="horz" wrap="square" lIns="0" tIns="0" rIns="0" bIns="0" rtlCol="0" anchor="t">
            <a:noAutofit/>
          </a:bodyPr>
          <a:lstStyle/>
          <a:p>
            <a:r>
              <a:rPr lang="en-US" sz="1000">
                <a:solidFill>
                  <a:srgbClr val="5B6B79"/>
                </a:solidFill>
                <a:latin typeface="Calibri" panose="020F0502020204030204" pitchFamily="34" charset="0"/>
              </a:rPr>
              <a:t>Securing the path to the cloud</a:t>
            </a:r>
            <a:endParaRPr lang="en-IN" sz="1000">
              <a:solidFill>
                <a:srgbClr val="5B6B79"/>
              </a:solidFill>
              <a:latin typeface="Calibri" panose="020F0502020204030204" pitchFamily="34" charset="0"/>
            </a:endParaRPr>
          </a:p>
        </p:txBody>
      </p:sp>
      <p:sp>
        <p:nvSpPr>
          <p:cNvPr id="11" name="TextBox 10">
            <a:extLst>
              <a:ext uri="{FF2B5EF4-FFF2-40B4-BE49-F238E27FC236}">
                <a16:creationId xmlns:a16="http://schemas.microsoft.com/office/drawing/2014/main" id="{7339B073-087A-1EB9-06CE-139B5A3C7E3A}"/>
              </a:ext>
            </a:extLst>
          </p:cNvPr>
          <p:cNvSpPr txBox="1"/>
          <p:nvPr/>
        </p:nvSpPr>
        <p:spPr>
          <a:xfrm>
            <a:off x="10312400" y="6502400"/>
            <a:ext cx="1270000" cy="369332"/>
          </a:xfrm>
          <a:prstGeom prst="rect">
            <a:avLst/>
          </a:prstGeom>
          <a:noFill/>
        </p:spPr>
        <p:txBody>
          <a:bodyPr vert="horz" wrap="square" lIns="0" tIns="0" rIns="0" bIns="0" rtlCol="0" anchor="t">
            <a:noAutofit/>
          </a:bodyPr>
          <a:lstStyle/>
          <a:p>
            <a:pPr algn="r"/>
            <a:r>
              <a:rPr lang="en-IN" sz="1000">
                <a:solidFill>
                  <a:srgbClr val="5B6B79"/>
                </a:solidFill>
                <a:latin typeface="Calibri" panose="020F0502020204030204" pitchFamily="34" charset="0"/>
              </a:rPr>
              <a:t>6</a:t>
            </a:r>
          </a:p>
        </p:txBody>
      </p:sp>
    </p:spTree>
    <p:extLst>
      <p:ext uri="{BB962C8B-B14F-4D97-AF65-F5344CB8AC3E}">
        <p14:creationId xmlns:p14="http://schemas.microsoft.com/office/powerpoint/2010/main" val="32535966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542323-453E-5CD3-9693-DA567FCA95AF}"/>
              </a:ext>
            </a:extLst>
          </p:cNvPr>
          <p:cNvSpPr txBox="1"/>
          <p:nvPr/>
        </p:nvSpPr>
        <p:spPr>
          <a:xfrm>
            <a:off x="609600" y="381000"/>
            <a:ext cx="10972800" cy="369332"/>
          </a:xfrm>
          <a:prstGeom prst="rect">
            <a:avLst/>
          </a:prstGeom>
          <a:noFill/>
        </p:spPr>
        <p:txBody>
          <a:bodyPr vert="horz" wrap="square" lIns="0" tIns="0" rIns="0" bIns="0" rtlCol="0" anchor="t">
            <a:noAutofit/>
          </a:bodyPr>
          <a:lstStyle/>
          <a:p>
            <a:r>
              <a:rPr lang="en-US" sz="3400" b="1">
                <a:solidFill>
                  <a:srgbClr val="13293D"/>
                </a:solidFill>
                <a:latin typeface="Calibri" panose="020F0502020204030204" pitchFamily="34" charset="0"/>
              </a:rPr>
              <a:t>Breaches start with everyday mistakes</a:t>
            </a:r>
            <a:endParaRPr lang="en-IN" sz="3400" b="1">
              <a:solidFill>
                <a:srgbClr val="13293D"/>
              </a:solidFill>
              <a:latin typeface="Calibri" panose="020F0502020204030204" pitchFamily="34" charset="0"/>
            </a:endParaRPr>
          </a:p>
        </p:txBody>
      </p:sp>
      <p:sp>
        <p:nvSpPr>
          <p:cNvPr id="3" name="TextBox 2">
            <a:extLst>
              <a:ext uri="{FF2B5EF4-FFF2-40B4-BE49-F238E27FC236}">
                <a16:creationId xmlns:a16="http://schemas.microsoft.com/office/drawing/2014/main" id="{EE683B0B-8E83-A75E-FE54-4FB0436025BF}"/>
              </a:ext>
            </a:extLst>
          </p:cNvPr>
          <p:cNvSpPr txBox="1"/>
          <p:nvPr/>
        </p:nvSpPr>
        <p:spPr>
          <a:xfrm>
            <a:off x="609600" y="1016000"/>
            <a:ext cx="10972800" cy="369332"/>
          </a:xfrm>
          <a:prstGeom prst="rect">
            <a:avLst/>
          </a:prstGeom>
          <a:noFill/>
        </p:spPr>
        <p:txBody>
          <a:bodyPr vert="horz" wrap="square" lIns="0" tIns="0" rIns="0" bIns="0" rtlCol="0" anchor="t">
            <a:noAutofit/>
          </a:bodyPr>
          <a:lstStyle/>
          <a:p>
            <a:r>
              <a:rPr lang="en-US" sz="1600">
                <a:solidFill>
                  <a:srgbClr val="5B6B79"/>
                </a:solidFill>
                <a:latin typeface="Calibri" panose="020F0502020204030204" pitchFamily="34" charset="0"/>
              </a:rPr>
              <a:t>Stolen credentials and misconfiguration are consistently among the top causes in industry breach reports</a:t>
            </a:r>
            <a:endParaRPr lang="en-IN" sz="1600">
              <a:solidFill>
                <a:srgbClr val="5B6B79"/>
              </a:solidFill>
              <a:latin typeface="Calibri" panose="020F0502020204030204" pitchFamily="34" charset="0"/>
            </a:endParaRPr>
          </a:p>
        </p:txBody>
      </p:sp>
      <p:sp>
        <p:nvSpPr>
          <p:cNvPr id="4" name="Rectangle: Rounded Corners 3">
            <a:extLst>
              <a:ext uri="{FF2B5EF4-FFF2-40B4-BE49-F238E27FC236}">
                <a16:creationId xmlns:a16="http://schemas.microsoft.com/office/drawing/2014/main" id="{BF1E7247-966B-8694-AE51-8D1C607F7F4E}"/>
              </a:ext>
            </a:extLst>
          </p:cNvPr>
          <p:cNvSpPr/>
          <p:nvPr/>
        </p:nvSpPr>
        <p:spPr>
          <a:xfrm>
            <a:off x="609600" y="1625600"/>
            <a:ext cx="2590800" cy="3429000"/>
          </a:xfrm>
          <a:prstGeom prst="roundRect">
            <a:avLst>
              <a:gd name="adj" fmla="val 10000"/>
            </a:avLst>
          </a:prstGeom>
          <a:solidFill>
            <a:srgbClr val="EEF3F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D79A3C84-60C5-7BD8-53B1-700DD9BC7EB5}"/>
              </a:ext>
            </a:extLst>
          </p:cNvPr>
          <p:cNvSpPr txBox="1"/>
          <p:nvPr/>
        </p:nvSpPr>
        <p:spPr>
          <a:xfrm>
            <a:off x="838200" y="1854200"/>
            <a:ext cx="2133600" cy="369332"/>
          </a:xfrm>
          <a:prstGeom prst="rect">
            <a:avLst/>
          </a:prstGeom>
          <a:noFill/>
        </p:spPr>
        <p:txBody>
          <a:bodyPr vert="horz" wrap="square" lIns="0" tIns="0" rIns="0" bIns="0" rtlCol="0" anchor="t">
            <a:noAutofit/>
          </a:bodyPr>
          <a:lstStyle/>
          <a:p>
            <a:r>
              <a:rPr lang="en-IN" sz="3200" b="1">
                <a:solidFill>
                  <a:srgbClr val="E4572E"/>
                </a:solidFill>
                <a:latin typeface="Calibri" panose="020F0502020204030204" pitchFamily="34" charset="0"/>
              </a:rPr>
              <a:t>2016</a:t>
            </a:r>
          </a:p>
        </p:txBody>
      </p:sp>
      <p:sp>
        <p:nvSpPr>
          <p:cNvPr id="6" name="TextBox 5">
            <a:extLst>
              <a:ext uri="{FF2B5EF4-FFF2-40B4-BE49-F238E27FC236}">
                <a16:creationId xmlns:a16="http://schemas.microsoft.com/office/drawing/2014/main" id="{F5FEBB49-A20D-E41D-7502-B3D556FFDC77}"/>
              </a:ext>
            </a:extLst>
          </p:cNvPr>
          <p:cNvSpPr txBox="1"/>
          <p:nvPr/>
        </p:nvSpPr>
        <p:spPr>
          <a:xfrm>
            <a:off x="838200" y="2438400"/>
            <a:ext cx="2133600" cy="369332"/>
          </a:xfrm>
          <a:prstGeom prst="rect">
            <a:avLst/>
          </a:prstGeom>
          <a:noFill/>
        </p:spPr>
        <p:txBody>
          <a:bodyPr vert="horz" wrap="square" lIns="0" tIns="0" rIns="0" bIns="0" rtlCol="0" anchor="t">
            <a:noAutofit/>
          </a:bodyPr>
          <a:lstStyle/>
          <a:p>
            <a:r>
              <a:rPr lang="en-IN" b="1">
                <a:solidFill>
                  <a:srgbClr val="13293D"/>
                </a:solidFill>
                <a:latin typeface="Calibri" panose="020F0502020204030204" pitchFamily="34" charset="0"/>
              </a:rPr>
              <a:t>Uber</a:t>
            </a:r>
          </a:p>
        </p:txBody>
      </p:sp>
      <p:sp>
        <p:nvSpPr>
          <p:cNvPr id="7" name="TextBox 6">
            <a:extLst>
              <a:ext uri="{FF2B5EF4-FFF2-40B4-BE49-F238E27FC236}">
                <a16:creationId xmlns:a16="http://schemas.microsoft.com/office/drawing/2014/main" id="{A37AE050-08C1-81F9-78D6-4914C22AC96F}"/>
              </a:ext>
            </a:extLst>
          </p:cNvPr>
          <p:cNvSpPr txBox="1"/>
          <p:nvPr/>
        </p:nvSpPr>
        <p:spPr>
          <a:xfrm>
            <a:off x="838200" y="2870200"/>
            <a:ext cx="2133600" cy="369332"/>
          </a:xfrm>
          <a:prstGeom prst="rect">
            <a:avLst/>
          </a:prstGeom>
          <a:noFill/>
        </p:spPr>
        <p:txBody>
          <a:bodyPr vert="horz" wrap="square" lIns="0" tIns="0" rIns="0" bIns="0" rtlCol="0" anchor="t">
            <a:noAutofit/>
          </a:bodyPr>
          <a:lstStyle/>
          <a:p>
            <a:r>
              <a:rPr lang="en-US" sz="1400">
                <a:solidFill>
                  <a:srgbClr val="1E2A35"/>
                </a:solidFill>
                <a:latin typeface="Calibri" panose="020F0502020204030204" pitchFamily="34" charset="0"/>
              </a:rPr>
              <a:t>AWS keys found in a private GitHub repository exposed data on 57 million users.</a:t>
            </a:r>
            <a:endParaRPr lang="en-IN" sz="1400">
              <a:solidFill>
                <a:srgbClr val="1E2A35"/>
              </a:solidFill>
              <a:latin typeface="Calibri" panose="020F0502020204030204" pitchFamily="34" charset="0"/>
            </a:endParaRPr>
          </a:p>
        </p:txBody>
      </p:sp>
      <p:sp>
        <p:nvSpPr>
          <p:cNvPr id="8" name="Rectangle: Rounded Corners 7">
            <a:extLst>
              <a:ext uri="{FF2B5EF4-FFF2-40B4-BE49-F238E27FC236}">
                <a16:creationId xmlns:a16="http://schemas.microsoft.com/office/drawing/2014/main" id="{840851BD-A4FB-C267-9710-3E4FA969B3EF}"/>
              </a:ext>
            </a:extLst>
          </p:cNvPr>
          <p:cNvSpPr/>
          <p:nvPr/>
        </p:nvSpPr>
        <p:spPr>
          <a:xfrm>
            <a:off x="838200" y="4470400"/>
            <a:ext cx="2133600" cy="355600"/>
          </a:xfrm>
          <a:prstGeom prst="roundRect">
            <a:avLst>
              <a:gd name="adj" fmla="val 10000"/>
            </a:avLst>
          </a:prstGeom>
          <a:solidFill>
            <a:srgbClr val="FCE5D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IN" sz="1200" b="1">
                <a:solidFill>
                  <a:srgbClr val="E4572E"/>
                </a:solidFill>
                <a:latin typeface="Calibri" panose="020F0502020204030204" pitchFamily="34" charset="0"/>
              </a:rPr>
              <a:t>Secrets in code</a:t>
            </a:r>
          </a:p>
        </p:txBody>
      </p:sp>
      <p:sp>
        <p:nvSpPr>
          <p:cNvPr id="9" name="Rectangle: Rounded Corners 8">
            <a:extLst>
              <a:ext uri="{FF2B5EF4-FFF2-40B4-BE49-F238E27FC236}">
                <a16:creationId xmlns:a16="http://schemas.microsoft.com/office/drawing/2014/main" id="{E996BB87-68BC-6283-E0F3-A0618EBA55A8}"/>
              </a:ext>
            </a:extLst>
          </p:cNvPr>
          <p:cNvSpPr/>
          <p:nvPr/>
        </p:nvSpPr>
        <p:spPr>
          <a:xfrm>
            <a:off x="3403600" y="1625600"/>
            <a:ext cx="2590800" cy="3429000"/>
          </a:xfrm>
          <a:prstGeom prst="roundRect">
            <a:avLst>
              <a:gd name="adj" fmla="val 10000"/>
            </a:avLst>
          </a:prstGeom>
          <a:solidFill>
            <a:srgbClr val="EEF3F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285EBDF9-C07F-B910-CD87-8A0369B17561}"/>
              </a:ext>
            </a:extLst>
          </p:cNvPr>
          <p:cNvSpPr txBox="1"/>
          <p:nvPr/>
        </p:nvSpPr>
        <p:spPr>
          <a:xfrm>
            <a:off x="3632200" y="1854200"/>
            <a:ext cx="2133600" cy="369332"/>
          </a:xfrm>
          <a:prstGeom prst="rect">
            <a:avLst/>
          </a:prstGeom>
          <a:noFill/>
        </p:spPr>
        <p:txBody>
          <a:bodyPr vert="horz" wrap="square" lIns="0" tIns="0" rIns="0" bIns="0" rtlCol="0" anchor="t">
            <a:noAutofit/>
          </a:bodyPr>
          <a:lstStyle/>
          <a:p>
            <a:r>
              <a:rPr lang="en-IN" sz="3200" b="1">
                <a:solidFill>
                  <a:srgbClr val="E4572E"/>
                </a:solidFill>
                <a:latin typeface="Calibri" panose="020F0502020204030204" pitchFamily="34" charset="0"/>
              </a:rPr>
              <a:t>2019</a:t>
            </a:r>
          </a:p>
        </p:txBody>
      </p:sp>
      <p:sp>
        <p:nvSpPr>
          <p:cNvPr id="11" name="TextBox 10">
            <a:extLst>
              <a:ext uri="{FF2B5EF4-FFF2-40B4-BE49-F238E27FC236}">
                <a16:creationId xmlns:a16="http://schemas.microsoft.com/office/drawing/2014/main" id="{B600E7BA-4377-4845-04FF-19E5ED621B13}"/>
              </a:ext>
            </a:extLst>
          </p:cNvPr>
          <p:cNvSpPr txBox="1"/>
          <p:nvPr/>
        </p:nvSpPr>
        <p:spPr>
          <a:xfrm>
            <a:off x="3632200" y="2438400"/>
            <a:ext cx="2133600" cy="369332"/>
          </a:xfrm>
          <a:prstGeom prst="rect">
            <a:avLst/>
          </a:prstGeom>
          <a:noFill/>
        </p:spPr>
        <p:txBody>
          <a:bodyPr vert="horz" wrap="square" lIns="0" tIns="0" rIns="0" bIns="0" rtlCol="0" anchor="t">
            <a:noAutofit/>
          </a:bodyPr>
          <a:lstStyle/>
          <a:p>
            <a:r>
              <a:rPr lang="en-IN" b="1">
                <a:solidFill>
                  <a:srgbClr val="13293D"/>
                </a:solidFill>
                <a:latin typeface="Calibri" panose="020F0502020204030204" pitchFamily="34" charset="0"/>
              </a:rPr>
              <a:t>Capital One</a:t>
            </a:r>
          </a:p>
        </p:txBody>
      </p:sp>
      <p:sp>
        <p:nvSpPr>
          <p:cNvPr id="12" name="TextBox 11">
            <a:extLst>
              <a:ext uri="{FF2B5EF4-FFF2-40B4-BE49-F238E27FC236}">
                <a16:creationId xmlns:a16="http://schemas.microsoft.com/office/drawing/2014/main" id="{590C9688-52D7-BC31-2F43-348375E6EC0C}"/>
              </a:ext>
            </a:extLst>
          </p:cNvPr>
          <p:cNvSpPr txBox="1"/>
          <p:nvPr/>
        </p:nvSpPr>
        <p:spPr>
          <a:xfrm>
            <a:off x="3632200" y="2870200"/>
            <a:ext cx="2133600" cy="369332"/>
          </a:xfrm>
          <a:prstGeom prst="rect">
            <a:avLst/>
          </a:prstGeom>
          <a:noFill/>
        </p:spPr>
        <p:txBody>
          <a:bodyPr vert="horz" wrap="square" lIns="0" tIns="0" rIns="0" bIns="0" rtlCol="0" anchor="t">
            <a:noAutofit/>
          </a:bodyPr>
          <a:lstStyle/>
          <a:p>
            <a:r>
              <a:rPr lang="en-US" sz="1400">
                <a:solidFill>
                  <a:srgbClr val="1E2A35"/>
                </a:solidFill>
                <a:latin typeface="Calibri" panose="020F0502020204030204" pitchFamily="34" charset="0"/>
              </a:rPr>
              <a:t>A web app was tricked into fetching cloud credentials from the metadata service, then reading data on 100M+ customers.</a:t>
            </a:r>
            <a:endParaRPr lang="en-IN" sz="1400">
              <a:solidFill>
                <a:srgbClr val="1E2A35"/>
              </a:solidFill>
              <a:latin typeface="Calibri" panose="020F0502020204030204" pitchFamily="34" charset="0"/>
            </a:endParaRPr>
          </a:p>
        </p:txBody>
      </p:sp>
      <p:sp>
        <p:nvSpPr>
          <p:cNvPr id="13" name="Rectangle: Rounded Corners 12">
            <a:extLst>
              <a:ext uri="{FF2B5EF4-FFF2-40B4-BE49-F238E27FC236}">
                <a16:creationId xmlns:a16="http://schemas.microsoft.com/office/drawing/2014/main" id="{93DDAD9B-00BB-646E-74E8-CFA485FE3731}"/>
              </a:ext>
            </a:extLst>
          </p:cNvPr>
          <p:cNvSpPr/>
          <p:nvPr/>
        </p:nvSpPr>
        <p:spPr>
          <a:xfrm>
            <a:off x="3632200" y="4470400"/>
            <a:ext cx="2133600" cy="355600"/>
          </a:xfrm>
          <a:prstGeom prst="roundRect">
            <a:avLst>
              <a:gd name="adj" fmla="val 10000"/>
            </a:avLst>
          </a:prstGeom>
          <a:solidFill>
            <a:srgbClr val="FCE5D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IN" sz="1200" b="1">
                <a:solidFill>
                  <a:srgbClr val="E4572E"/>
                </a:solidFill>
                <a:latin typeface="Calibri" panose="020F0502020204030204" pitchFamily="34" charset="0"/>
              </a:rPr>
              <a:t>Misconfiguration</a:t>
            </a:r>
          </a:p>
        </p:txBody>
      </p:sp>
      <p:sp>
        <p:nvSpPr>
          <p:cNvPr id="14" name="Rectangle: Rounded Corners 13">
            <a:extLst>
              <a:ext uri="{FF2B5EF4-FFF2-40B4-BE49-F238E27FC236}">
                <a16:creationId xmlns:a16="http://schemas.microsoft.com/office/drawing/2014/main" id="{234289CB-F1C6-1565-2C8E-09F41DB0D5FC}"/>
              </a:ext>
            </a:extLst>
          </p:cNvPr>
          <p:cNvSpPr/>
          <p:nvPr/>
        </p:nvSpPr>
        <p:spPr>
          <a:xfrm>
            <a:off x="6197600" y="1625600"/>
            <a:ext cx="2590800" cy="3429000"/>
          </a:xfrm>
          <a:prstGeom prst="roundRect">
            <a:avLst>
              <a:gd name="adj" fmla="val 10000"/>
            </a:avLst>
          </a:prstGeom>
          <a:solidFill>
            <a:srgbClr val="EEF3F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17A4B10E-9B0C-5434-A27A-4004C30EECD3}"/>
              </a:ext>
            </a:extLst>
          </p:cNvPr>
          <p:cNvSpPr txBox="1"/>
          <p:nvPr/>
        </p:nvSpPr>
        <p:spPr>
          <a:xfrm>
            <a:off x="6426200" y="1854200"/>
            <a:ext cx="2133600" cy="369332"/>
          </a:xfrm>
          <a:prstGeom prst="rect">
            <a:avLst/>
          </a:prstGeom>
          <a:noFill/>
        </p:spPr>
        <p:txBody>
          <a:bodyPr vert="horz" wrap="square" lIns="0" tIns="0" rIns="0" bIns="0" rtlCol="0" anchor="t">
            <a:noAutofit/>
          </a:bodyPr>
          <a:lstStyle/>
          <a:p>
            <a:r>
              <a:rPr lang="en-IN" sz="3200" b="1">
                <a:solidFill>
                  <a:srgbClr val="E4572E"/>
                </a:solidFill>
                <a:latin typeface="Calibri" panose="020F0502020204030204" pitchFamily="34" charset="0"/>
              </a:rPr>
              <a:t>2021</a:t>
            </a:r>
          </a:p>
        </p:txBody>
      </p:sp>
      <p:sp>
        <p:nvSpPr>
          <p:cNvPr id="16" name="TextBox 15">
            <a:extLst>
              <a:ext uri="{FF2B5EF4-FFF2-40B4-BE49-F238E27FC236}">
                <a16:creationId xmlns:a16="http://schemas.microsoft.com/office/drawing/2014/main" id="{7C58ABF1-34C7-3FA6-5552-75421CD3582D}"/>
              </a:ext>
            </a:extLst>
          </p:cNvPr>
          <p:cNvSpPr txBox="1"/>
          <p:nvPr/>
        </p:nvSpPr>
        <p:spPr>
          <a:xfrm>
            <a:off x="6426200" y="2438400"/>
            <a:ext cx="2133600" cy="369332"/>
          </a:xfrm>
          <a:prstGeom prst="rect">
            <a:avLst/>
          </a:prstGeom>
          <a:noFill/>
        </p:spPr>
        <p:txBody>
          <a:bodyPr vert="horz" wrap="square" lIns="0" tIns="0" rIns="0" bIns="0" rtlCol="0" anchor="t">
            <a:noAutofit/>
          </a:bodyPr>
          <a:lstStyle/>
          <a:p>
            <a:r>
              <a:rPr lang="en-IN" b="1">
                <a:solidFill>
                  <a:srgbClr val="13293D"/>
                </a:solidFill>
                <a:latin typeface="Calibri" panose="020F0502020204030204" pitchFamily="34" charset="0"/>
              </a:rPr>
              <a:t>Codecov</a:t>
            </a:r>
          </a:p>
        </p:txBody>
      </p:sp>
      <p:sp>
        <p:nvSpPr>
          <p:cNvPr id="17" name="TextBox 16">
            <a:extLst>
              <a:ext uri="{FF2B5EF4-FFF2-40B4-BE49-F238E27FC236}">
                <a16:creationId xmlns:a16="http://schemas.microsoft.com/office/drawing/2014/main" id="{2864DAA0-E2F9-84F7-3812-D106E989AB0C}"/>
              </a:ext>
            </a:extLst>
          </p:cNvPr>
          <p:cNvSpPr txBox="1"/>
          <p:nvPr/>
        </p:nvSpPr>
        <p:spPr>
          <a:xfrm>
            <a:off x="6426200" y="2870200"/>
            <a:ext cx="2133600" cy="369332"/>
          </a:xfrm>
          <a:prstGeom prst="rect">
            <a:avLst/>
          </a:prstGeom>
          <a:noFill/>
        </p:spPr>
        <p:txBody>
          <a:bodyPr vert="horz" wrap="square" lIns="0" tIns="0" rIns="0" bIns="0" rtlCol="0" anchor="t">
            <a:noAutofit/>
          </a:bodyPr>
          <a:lstStyle/>
          <a:p>
            <a:r>
              <a:rPr lang="en-US" sz="1400">
                <a:solidFill>
                  <a:srgbClr val="1E2A35"/>
                </a:solidFill>
                <a:latin typeface="Calibri" panose="020F0502020204030204" pitchFamily="34" charset="0"/>
              </a:rPr>
              <a:t>A credential taken from a Docker image let attackers alter a widely used CI upload script.</a:t>
            </a:r>
            <a:endParaRPr lang="en-IN" sz="1400">
              <a:solidFill>
                <a:srgbClr val="1E2A35"/>
              </a:solidFill>
              <a:latin typeface="Calibri" panose="020F0502020204030204" pitchFamily="34" charset="0"/>
            </a:endParaRPr>
          </a:p>
        </p:txBody>
      </p:sp>
      <p:sp>
        <p:nvSpPr>
          <p:cNvPr id="18" name="Rectangle: Rounded Corners 17">
            <a:extLst>
              <a:ext uri="{FF2B5EF4-FFF2-40B4-BE49-F238E27FC236}">
                <a16:creationId xmlns:a16="http://schemas.microsoft.com/office/drawing/2014/main" id="{835B5DC7-56AE-3FC9-6252-AB40866370C8}"/>
              </a:ext>
            </a:extLst>
          </p:cNvPr>
          <p:cNvSpPr/>
          <p:nvPr/>
        </p:nvSpPr>
        <p:spPr>
          <a:xfrm>
            <a:off x="6426200" y="4470400"/>
            <a:ext cx="2133600" cy="355600"/>
          </a:xfrm>
          <a:prstGeom prst="roundRect">
            <a:avLst>
              <a:gd name="adj" fmla="val 10000"/>
            </a:avLst>
          </a:prstGeom>
          <a:solidFill>
            <a:srgbClr val="FCE5D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IN" sz="1200" b="1">
                <a:solidFill>
                  <a:srgbClr val="E4572E"/>
                </a:solidFill>
                <a:latin typeface="Calibri" panose="020F0502020204030204" pitchFamily="34" charset="0"/>
              </a:rPr>
              <a:t>Leaked credential</a:t>
            </a:r>
          </a:p>
        </p:txBody>
      </p:sp>
      <p:sp>
        <p:nvSpPr>
          <p:cNvPr id="19" name="Rectangle: Rounded Corners 18">
            <a:extLst>
              <a:ext uri="{FF2B5EF4-FFF2-40B4-BE49-F238E27FC236}">
                <a16:creationId xmlns:a16="http://schemas.microsoft.com/office/drawing/2014/main" id="{F91ACCBA-C18A-4F78-ECF6-02699340E7C9}"/>
              </a:ext>
            </a:extLst>
          </p:cNvPr>
          <p:cNvSpPr/>
          <p:nvPr/>
        </p:nvSpPr>
        <p:spPr>
          <a:xfrm>
            <a:off x="8991600" y="1625600"/>
            <a:ext cx="2590800" cy="3429000"/>
          </a:xfrm>
          <a:prstGeom prst="roundRect">
            <a:avLst>
              <a:gd name="adj" fmla="val 10000"/>
            </a:avLst>
          </a:prstGeom>
          <a:solidFill>
            <a:srgbClr val="EEF3F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0F4F2C59-7102-5F52-EE39-CB15059FFCAB}"/>
              </a:ext>
            </a:extLst>
          </p:cNvPr>
          <p:cNvSpPr txBox="1"/>
          <p:nvPr/>
        </p:nvSpPr>
        <p:spPr>
          <a:xfrm>
            <a:off x="9220200" y="1854200"/>
            <a:ext cx="2133600" cy="369332"/>
          </a:xfrm>
          <a:prstGeom prst="rect">
            <a:avLst/>
          </a:prstGeom>
          <a:noFill/>
        </p:spPr>
        <p:txBody>
          <a:bodyPr vert="horz" wrap="square" lIns="0" tIns="0" rIns="0" bIns="0" rtlCol="0" anchor="t">
            <a:noAutofit/>
          </a:bodyPr>
          <a:lstStyle/>
          <a:p>
            <a:r>
              <a:rPr lang="en-IN" sz="3200" b="1">
                <a:solidFill>
                  <a:srgbClr val="E4572E"/>
                </a:solidFill>
                <a:latin typeface="Calibri" panose="020F0502020204030204" pitchFamily="34" charset="0"/>
              </a:rPr>
              <a:t>2023</a:t>
            </a:r>
          </a:p>
        </p:txBody>
      </p:sp>
      <p:sp>
        <p:nvSpPr>
          <p:cNvPr id="21" name="TextBox 20">
            <a:extLst>
              <a:ext uri="{FF2B5EF4-FFF2-40B4-BE49-F238E27FC236}">
                <a16:creationId xmlns:a16="http://schemas.microsoft.com/office/drawing/2014/main" id="{9678D533-3AAA-8792-B835-8CCC1CBA5EC4}"/>
              </a:ext>
            </a:extLst>
          </p:cNvPr>
          <p:cNvSpPr txBox="1"/>
          <p:nvPr/>
        </p:nvSpPr>
        <p:spPr>
          <a:xfrm>
            <a:off x="9220200" y="2438400"/>
            <a:ext cx="2133600" cy="369332"/>
          </a:xfrm>
          <a:prstGeom prst="rect">
            <a:avLst/>
          </a:prstGeom>
          <a:noFill/>
        </p:spPr>
        <p:txBody>
          <a:bodyPr vert="horz" wrap="square" lIns="0" tIns="0" rIns="0" bIns="0" rtlCol="0" anchor="t">
            <a:noAutofit/>
          </a:bodyPr>
          <a:lstStyle/>
          <a:p>
            <a:r>
              <a:rPr lang="en-IN" b="1">
                <a:solidFill>
                  <a:srgbClr val="13293D"/>
                </a:solidFill>
                <a:latin typeface="Calibri" panose="020F0502020204030204" pitchFamily="34" charset="0"/>
              </a:rPr>
              <a:t>Microsoft AI research</a:t>
            </a:r>
          </a:p>
        </p:txBody>
      </p:sp>
      <p:sp>
        <p:nvSpPr>
          <p:cNvPr id="22" name="TextBox 21">
            <a:extLst>
              <a:ext uri="{FF2B5EF4-FFF2-40B4-BE49-F238E27FC236}">
                <a16:creationId xmlns:a16="http://schemas.microsoft.com/office/drawing/2014/main" id="{DC9610F2-E2DB-2213-60E2-9ED26A94A644}"/>
              </a:ext>
            </a:extLst>
          </p:cNvPr>
          <p:cNvSpPr txBox="1"/>
          <p:nvPr/>
        </p:nvSpPr>
        <p:spPr>
          <a:xfrm>
            <a:off x="9220200" y="2870200"/>
            <a:ext cx="2133600" cy="369332"/>
          </a:xfrm>
          <a:prstGeom prst="rect">
            <a:avLst/>
          </a:prstGeom>
          <a:noFill/>
        </p:spPr>
        <p:txBody>
          <a:bodyPr vert="horz" wrap="square" lIns="0" tIns="0" rIns="0" bIns="0" rtlCol="0" anchor="t">
            <a:noAutofit/>
          </a:bodyPr>
          <a:lstStyle/>
          <a:p>
            <a:r>
              <a:rPr lang="en-US" sz="1400">
                <a:solidFill>
                  <a:srgbClr val="1E2A35"/>
                </a:solidFill>
                <a:latin typeface="Calibri" panose="020F0502020204030204" pitchFamily="34" charset="0"/>
              </a:rPr>
              <a:t>An over-permissive storage access link shared on GitHub exposed 38 TB of internal data.</a:t>
            </a:r>
            <a:endParaRPr lang="en-IN" sz="1400">
              <a:solidFill>
                <a:srgbClr val="1E2A35"/>
              </a:solidFill>
              <a:latin typeface="Calibri" panose="020F0502020204030204" pitchFamily="34" charset="0"/>
            </a:endParaRPr>
          </a:p>
        </p:txBody>
      </p:sp>
      <p:sp>
        <p:nvSpPr>
          <p:cNvPr id="23" name="Rectangle: Rounded Corners 22">
            <a:extLst>
              <a:ext uri="{FF2B5EF4-FFF2-40B4-BE49-F238E27FC236}">
                <a16:creationId xmlns:a16="http://schemas.microsoft.com/office/drawing/2014/main" id="{51CCC5A5-BEFB-2497-0697-9D563FFB76CE}"/>
              </a:ext>
            </a:extLst>
          </p:cNvPr>
          <p:cNvSpPr/>
          <p:nvPr/>
        </p:nvSpPr>
        <p:spPr>
          <a:xfrm>
            <a:off x="9220200" y="4470400"/>
            <a:ext cx="2133600" cy="355600"/>
          </a:xfrm>
          <a:prstGeom prst="roundRect">
            <a:avLst>
              <a:gd name="adj" fmla="val 10000"/>
            </a:avLst>
          </a:prstGeom>
          <a:solidFill>
            <a:srgbClr val="FCE5D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IN" sz="1200" b="1">
                <a:solidFill>
                  <a:srgbClr val="E4572E"/>
                </a:solidFill>
                <a:latin typeface="Calibri" panose="020F0502020204030204" pitchFamily="34" charset="0"/>
              </a:rPr>
              <a:t>Too much access</a:t>
            </a:r>
          </a:p>
        </p:txBody>
      </p:sp>
      <p:sp>
        <p:nvSpPr>
          <p:cNvPr id="24" name="TextBox 23">
            <a:extLst>
              <a:ext uri="{FF2B5EF4-FFF2-40B4-BE49-F238E27FC236}">
                <a16:creationId xmlns:a16="http://schemas.microsoft.com/office/drawing/2014/main" id="{56978572-58D1-012B-C6EA-9BF871E81C99}"/>
              </a:ext>
            </a:extLst>
          </p:cNvPr>
          <p:cNvSpPr txBox="1"/>
          <p:nvPr/>
        </p:nvSpPr>
        <p:spPr>
          <a:xfrm>
            <a:off x="609600" y="6502400"/>
            <a:ext cx="5080000" cy="369332"/>
          </a:xfrm>
          <a:prstGeom prst="rect">
            <a:avLst/>
          </a:prstGeom>
          <a:noFill/>
        </p:spPr>
        <p:txBody>
          <a:bodyPr vert="horz" wrap="square" lIns="0" tIns="0" rIns="0" bIns="0" rtlCol="0" anchor="t">
            <a:noAutofit/>
          </a:bodyPr>
          <a:lstStyle/>
          <a:p>
            <a:r>
              <a:rPr lang="en-US" sz="1000">
                <a:solidFill>
                  <a:srgbClr val="5B6B79"/>
                </a:solidFill>
                <a:latin typeface="Calibri" panose="020F0502020204030204" pitchFamily="34" charset="0"/>
              </a:rPr>
              <a:t>Securing the path to the cloud</a:t>
            </a:r>
            <a:endParaRPr lang="en-IN" sz="1000">
              <a:solidFill>
                <a:srgbClr val="5B6B79"/>
              </a:solidFill>
              <a:latin typeface="Calibri" panose="020F0502020204030204" pitchFamily="34" charset="0"/>
            </a:endParaRPr>
          </a:p>
        </p:txBody>
      </p:sp>
      <p:sp>
        <p:nvSpPr>
          <p:cNvPr id="25" name="TextBox 24">
            <a:extLst>
              <a:ext uri="{FF2B5EF4-FFF2-40B4-BE49-F238E27FC236}">
                <a16:creationId xmlns:a16="http://schemas.microsoft.com/office/drawing/2014/main" id="{C36F52C6-7493-62F5-07D3-FA5C40CF3674}"/>
              </a:ext>
            </a:extLst>
          </p:cNvPr>
          <p:cNvSpPr txBox="1"/>
          <p:nvPr/>
        </p:nvSpPr>
        <p:spPr>
          <a:xfrm>
            <a:off x="10312400" y="6502400"/>
            <a:ext cx="1270000" cy="369332"/>
          </a:xfrm>
          <a:prstGeom prst="rect">
            <a:avLst/>
          </a:prstGeom>
          <a:noFill/>
        </p:spPr>
        <p:txBody>
          <a:bodyPr vert="horz" wrap="square" lIns="0" tIns="0" rIns="0" bIns="0" rtlCol="0" anchor="t">
            <a:noAutofit/>
          </a:bodyPr>
          <a:lstStyle/>
          <a:p>
            <a:pPr algn="r"/>
            <a:r>
              <a:rPr lang="en-IN" sz="1000">
                <a:solidFill>
                  <a:srgbClr val="5B6B79"/>
                </a:solidFill>
                <a:latin typeface="Calibri" panose="020F0502020204030204" pitchFamily="34" charset="0"/>
              </a:rPr>
              <a:t>7</a:t>
            </a:r>
          </a:p>
        </p:txBody>
      </p:sp>
    </p:spTree>
    <p:extLst>
      <p:ext uri="{BB962C8B-B14F-4D97-AF65-F5344CB8AC3E}">
        <p14:creationId xmlns:p14="http://schemas.microsoft.com/office/powerpoint/2010/main" val="15731788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4BA6462-CD43-877C-A321-B9D5C7A3E464}"/>
              </a:ext>
            </a:extLst>
          </p:cNvPr>
          <p:cNvSpPr txBox="1"/>
          <p:nvPr/>
        </p:nvSpPr>
        <p:spPr>
          <a:xfrm>
            <a:off x="609600" y="381000"/>
            <a:ext cx="10972800" cy="369332"/>
          </a:xfrm>
          <a:prstGeom prst="rect">
            <a:avLst/>
          </a:prstGeom>
          <a:noFill/>
        </p:spPr>
        <p:txBody>
          <a:bodyPr vert="horz" wrap="square" lIns="0" tIns="0" rIns="0" bIns="0" rtlCol="0" anchor="t">
            <a:noAutofit/>
          </a:bodyPr>
          <a:lstStyle/>
          <a:p>
            <a:r>
              <a:rPr lang="en-US" sz="3400" b="1">
                <a:solidFill>
                  <a:srgbClr val="13293D"/>
                </a:solidFill>
                <a:latin typeface="Calibri" panose="020F0502020204030204" pitchFamily="34" charset="0"/>
              </a:rPr>
              <a:t>The path to the cloud</a:t>
            </a:r>
            <a:endParaRPr lang="en-IN" sz="3400" b="1">
              <a:solidFill>
                <a:srgbClr val="13293D"/>
              </a:solidFill>
              <a:latin typeface="Calibri" panose="020F0502020204030204" pitchFamily="34" charset="0"/>
            </a:endParaRPr>
          </a:p>
        </p:txBody>
      </p:sp>
      <p:sp>
        <p:nvSpPr>
          <p:cNvPr id="3" name="TextBox 2">
            <a:extLst>
              <a:ext uri="{FF2B5EF4-FFF2-40B4-BE49-F238E27FC236}">
                <a16:creationId xmlns:a16="http://schemas.microsoft.com/office/drawing/2014/main" id="{948D125F-1DFD-5611-F7FD-09071B4B7FC4}"/>
              </a:ext>
            </a:extLst>
          </p:cNvPr>
          <p:cNvSpPr txBox="1"/>
          <p:nvPr/>
        </p:nvSpPr>
        <p:spPr>
          <a:xfrm>
            <a:off x="609600" y="1016000"/>
            <a:ext cx="10972800" cy="369332"/>
          </a:xfrm>
          <a:prstGeom prst="rect">
            <a:avLst/>
          </a:prstGeom>
          <a:noFill/>
        </p:spPr>
        <p:txBody>
          <a:bodyPr vert="horz" wrap="square" lIns="0" tIns="0" rIns="0" bIns="0" rtlCol="0" anchor="t">
            <a:noAutofit/>
          </a:bodyPr>
          <a:lstStyle/>
          <a:p>
            <a:r>
              <a:rPr lang="en-US" sz="1600">
                <a:solidFill>
                  <a:srgbClr val="5B6B79"/>
                </a:solidFill>
                <a:latin typeface="Calibri" panose="020F0502020204030204" pitchFamily="34" charset="0"/>
              </a:rPr>
              <a:t>Each lab is one checkpoint a change passes on its way to production</a:t>
            </a:r>
            <a:endParaRPr lang="en-IN" sz="1600">
              <a:solidFill>
                <a:srgbClr val="5B6B79"/>
              </a:solidFill>
              <a:latin typeface="Calibri" panose="020F0502020204030204" pitchFamily="34" charset="0"/>
            </a:endParaRPr>
          </a:p>
        </p:txBody>
      </p:sp>
      <p:sp>
        <p:nvSpPr>
          <p:cNvPr id="4" name="Rectangle: Rounded Corners 3">
            <a:extLst>
              <a:ext uri="{FF2B5EF4-FFF2-40B4-BE49-F238E27FC236}">
                <a16:creationId xmlns:a16="http://schemas.microsoft.com/office/drawing/2014/main" id="{B69240D7-5695-99A7-CDB5-40FB741EF4FE}"/>
              </a:ext>
            </a:extLst>
          </p:cNvPr>
          <p:cNvSpPr/>
          <p:nvPr/>
        </p:nvSpPr>
        <p:spPr>
          <a:xfrm>
            <a:off x="609600" y="2921000"/>
            <a:ext cx="1143000" cy="1016000"/>
          </a:xfrm>
          <a:prstGeom prst="roundRect">
            <a:avLst>
              <a:gd name="adj" fmla="val 10000"/>
            </a:avLst>
          </a:prstGeom>
          <a:solidFill>
            <a:srgbClr val="EEF3F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IN" sz="1400" b="1">
                <a:solidFill>
                  <a:srgbClr val="13293D"/>
                </a:solidFill>
                <a:latin typeface="Calibri" panose="020F0502020204030204" pitchFamily="34" charset="0"/>
              </a:rPr>
              <a:t>Developer</a:t>
            </a:r>
          </a:p>
          <a:p>
            <a:pPr algn="ctr"/>
            <a:r>
              <a:rPr lang="en-IN" sz="1400" b="1">
                <a:solidFill>
                  <a:srgbClr val="13293D"/>
                </a:solidFill>
                <a:latin typeface="Calibri" panose="020F0502020204030204" pitchFamily="34" charset="0"/>
              </a:rPr>
              <a:t>laptop</a:t>
            </a:r>
          </a:p>
        </p:txBody>
      </p:sp>
      <p:sp>
        <p:nvSpPr>
          <p:cNvPr id="5" name="Rectangle: Rounded Corners 4">
            <a:extLst>
              <a:ext uri="{FF2B5EF4-FFF2-40B4-BE49-F238E27FC236}">
                <a16:creationId xmlns:a16="http://schemas.microsoft.com/office/drawing/2014/main" id="{50292C0A-8FBE-5441-4A2B-29ED615EC44B}"/>
              </a:ext>
            </a:extLst>
          </p:cNvPr>
          <p:cNvSpPr/>
          <p:nvPr/>
        </p:nvSpPr>
        <p:spPr>
          <a:xfrm>
            <a:off x="1981200" y="2032000"/>
            <a:ext cx="1841500" cy="2794000"/>
          </a:xfrm>
          <a:prstGeom prst="roundRect">
            <a:avLst>
              <a:gd name="adj" fmla="val 10000"/>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Oval 5">
            <a:extLst>
              <a:ext uri="{FF2B5EF4-FFF2-40B4-BE49-F238E27FC236}">
                <a16:creationId xmlns:a16="http://schemas.microsoft.com/office/drawing/2014/main" id="{F7CF2DBA-9994-70DC-8F99-A3879DCE83A0}"/>
              </a:ext>
            </a:extLst>
          </p:cNvPr>
          <p:cNvSpPr/>
          <p:nvPr/>
        </p:nvSpPr>
        <p:spPr>
          <a:xfrm>
            <a:off x="2159000" y="2235200"/>
            <a:ext cx="482600" cy="482600"/>
          </a:xfrm>
          <a:prstGeom prst="ellipse">
            <a:avLst/>
          </a:prstGeom>
          <a:solidFill>
            <a:srgbClr val="1B998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IN" sz="1600" b="1">
                <a:solidFill>
                  <a:srgbClr val="FFFFFF"/>
                </a:solidFill>
                <a:latin typeface="Calibri" panose="020F0502020204030204" pitchFamily="34" charset="0"/>
              </a:rPr>
              <a:t>1</a:t>
            </a:r>
          </a:p>
        </p:txBody>
      </p:sp>
      <p:sp>
        <p:nvSpPr>
          <p:cNvPr id="7" name="TextBox 6">
            <a:extLst>
              <a:ext uri="{FF2B5EF4-FFF2-40B4-BE49-F238E27FC236}">
                <a16:creationId xmlns:a16="http://schemas.microsoft.com/office/drawing/2014/main" id="{B6E87B1B-031D-ACB4-78FF-4DE58E27DF36}"/>
              </a:ext>
            </a:extLst>
          </p:cNvPr>
          <p:cNvSpPr txBox="1"/>
          <p:nvPr/>
        </p:nvSpPr>
        <p:spPr>
          <a:xfrm>
            <a:off x="2159000" y="2870200"/>
            <a:ext cx="1524000" cy="369332"/>
          </a:xfrm>
          <a:prstGeom prst="rect">
            <a:avLst/>
          </a:prstGeom>
          <a:noFill/>
        </p:spPr>
        <p:txBody>
          <a:bodyPr vert="horz" wrap="square" lIns="0" tIns="0" rIns="0" bIns="0" rtlCol="0" anchor="t">
            <a:noAutofit/>
          </a:bodyPr>
          <a:lstStyle/>
          <a:p>
            <a:r>
              <a:rPr lang="en-IN" sz="1700" b="1">
                <a:solidFill>
                  <a:srgbClr val="FFFFFF"/>
                </a:solidFill>
                <a:latin typeface="Calibri" panose="020F0502020204030204" pitchFamily="34" charset="0"/>
              </a:rPr>
              <a:t>Secrets in Git</a:t>
            </a:r>
          </a:p>
        </p:txBody>
      </p:sp>
      <p:sp>
        <p:nvSpPr>
          <p:cNvPr id="8" name="TextBox 7">
            <a:extLst>
              <a:ext uri="{FF2B5EF4-FFF2-40B4-BE49-F238E27FC236}">
                <a16:creationId xmlns:a16="http://schemas.microsoft.com/office/drawing/2014/main" id="{0668F5F1-0310-A9CE-2C16-A6E008B46D9D}"/>
              </a:ext>
            </a:extLst>
          </p:cNvPr>
          <p:cNvSpPr txBox="1"/>
          <p:nvPr/>
        </p:nvSpPr>
        <p:spPr>
          <a:xfrm>
            <a:off x="2159000" y="3479800"/>
            <a:ext cx="1524000" cy="369332"/>
          </a:xfrm>
          <a:prstGeom prst="rect">
            <a:avLst/>
          </a:prstGeom>
          <a:noFill/>
        </p:spPr>
        <p:txBody>
          <a:bodyPr vert="horz" wrap="square" lIns="0" tIns="0" rIns="0" bIns="0" rtlCol="0" anchor="t">
            <a:noAutofit/>
          </a:bodyPr>
          <a:lstStyle/>
          <a:p>
            <a:r>
              <a:rPr lang="en-IN" sz="1300" b="1">
                <a:solidFill>
                  <a:srgbClr val="1B998B"/>
                </a:solidFill>
                <a:latin typeface="Calibri" panose="020F0502020204030204" pitchFamily="34" charset="0"/>
              </a:rPr>
              <a:t>gitleaks</a:t>
            </a:r>
          </a:p>
        </p:txBody>
      </p:sp>
      <p:sp>
        <p:nvSpPr>
          <p:cNvPr id="9" name="TextBox 8">
            <a:extLst>
              <a:ext uri="{FF2B5EF4-FFF2-40B4-BE49-F238E27FC236}">
                <a16:creationId xmlns:a16="http://schemas.microsoft.com/office/drawing/2014/main" id="{0E7594DE-C2BE-1F73-5FD6-AF344D9110E0}"/>
              </a:ext>
            </a:extLst>
          </p:cNvPr>
          <p:cNvSpPr txBox="1"/>
          <p:nvPr/>
        </p:nvSpPr>
        <p:spPr>
          <a:xfrm>
            <a:off x="2159000" y="3835400"/>
            <a:ext cx="1524000" cy="369332"/>
          </a:xfrm>
          <a:prstGeom prst="rect">
            <a:avLst/>
          </a:prstGeom>
          <a:noFill/>
        </p:spPr>
        <p:txBody>
          <a:bodyPr vert="horz" wrap="square" lIns="0" tIns="0" rIns="0" bIns="0" rtlCol="0" anchor="t">
            <a:noAutofit/>
          </a:bodyPr>
          <a:lstStyle/>
          <a:p>
            <a:r>
              <a:rPr lang="en-US" sz="1300">
                <a:solidFill>
                  <a:srgbClr val="FFFFFF"/>
                </a:solidFill>
                <a:latin typeface="Calibri" panose="020F0502020204030204" pitchFamily="34" charset="0"/>
              </a:rPr>
              <a:t>Keys and passwords committed to code</a:t>
            </a:r>
            <a:endParaRPr lang="en-IN" sz="1300">
              <a:solidFill>
                <a:srgbClr val="FFFFFF"/>
              </a:solidFill>
              <a:latin typeface="Calibri" panose="020F0502020204030204" pitchFamily="34" charset="0"/>
            </a:endParaRPr>
          </a:p>
        </p:txBody>
      </p:sp>
      <p:cxnSp>
        <p:nvCxnSpPr>
          <p:cNvPr id="10" name="Straight Connector 9">
            <a:extLst>
              <a:ext uri="{FF2B5EF4-FFF2-40B4-BE49-F238E27FC236}">
                <a16:creationId xmlns:a16="http://schemas.microsoft.com/office/drawing/2014/main" id="{E3C983DE-DBA1-C6F4-A62D-63E59C5C6807}"/>
              </a:ext>
            </a:extLst>
          </p:cNvPr>
          <p:cNvCxnSpPr/>
          <p:nvPr/>
        </p:nvCxnSpPr>
        <p:spPr>
          <a:xfrm>
            <a:off x="1778000" y="3429000"/>
            <a:ext cx="177800" cy="0"/>
          </a:xfrm>
          <a:prstGeom prst="line">
            <a:avLst/>
          </a:prstGeom>
          <a:ln w="25400">
            <a:solidFill>
              <a:srgbClr val="5B6B79"/>
            </a:solidFill>
            <a:tailEnd type="triangle"/>
          </a:ln>
        </p:spPr>
        <p:style>
          <a:lnRef idx="2">
            <a:schemeClr val="accent1"/>
          </a:lnRef>
          <a:fillRef idx="0">
            <a:schemeClr val="accent1"/>
          </a:fillRef>
          <a:effectRef idx="1">
            <a:schemeClr val="accent1"/>
          </a:effectRef>
          <a:fontRef idx="minor">
            <a:schemeClr val="tx1"/>
          </a:fontRef>
        </p:style>
      </p:cxnSp>
      <p:sp>
        <p:nvSpPr>
          <p:cNvPr id="11" name="Rectangle: Rounded Corners 10">
            <a:extLst>
              <a:ext uri="{FF2B5EF4-FFF2-40B4-BE49-F238E27FC236}">
                <a16:creationId xmlns:a16="http://schemas.microsoft.com/office/drawing/2014/main" id="{0B362902-E920-9310-875E-03840C02D732}"/>
              </a:ext>
            </a:extLst>
          </p:cNvPr>
          <p:cNvSpPr/>
          <p:nvPr/>
        </p:nvSpPr>
        <p:spPr>
          <a:xfrm>
            <a:off x="4051300" y="2032000"/>
            <a:ext cx="1841500" cy="2794000"/>
          </a:xfrm>
          <a:prstGeom prst="roundRect">
            <a:avLst>
              <a:gd name="adj" fmla="val 10000"/>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id="{9E0BDF8D-617D-AE15-EE9E-ADCA7EC88796}"/>
              </a:ext>
            </a:extLst>
          </p:cNvPr>
          <p:cNvSpPr/>
          <p:nvPr/>
        </p:nvSpPr>
        <p:spPr>
          <a:xfrm>
            <a:off x="4229100" y="2235200"/>
            <a:ext cx="482600" cy="482600"/>
          </a:xfrm>
          <a:prstGeom prst="ellipse">
            <a:avLst/>
          </a:prstGeom>
          <a:solidFill>
            <a:srgbClr val="1B998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IN" sz="1600" b="1">
                <a:solidFill>
                  <a:srgbClr val="FFFFFF"/>
                </a:solidFill>
                <a:latin typeface="Calibri" panose="020F0502020204030204" pitchFamily="34" charset="0"/>
              </a:rPr>
              <a:t>2</a:t>
            </a:r>
          </a:p>
        </p:txBody>
      </p:sp>
      <p:sp>
        <p:nvSpPr>
          <p:cNvPr id="13" name="TextBox 12">
            <a:extLst>
              <a:ext uri="{FF2B5EF4-FFF2-40B4-BE49-F238E27FC236}">
                <a16:creationId xmlns:a16="http://schemas.microsoft.com/office/drawing/2014/main" id="{14ADA956-9B5A-33B4-67D3-4A3350F5FF10}"/>
              </a:ext>
            </a:extLst>
          </p:cNvPr>
          <p:cNvSpPr txBox="1"/>
          <p:nvPr/>
        </p:nvSpPr>
        <p:spPr>
          <a:xfrm>
            <a:off x="4229100" y="2870200"/>
            <a:ext cx="1524000" cy="369332"/>
          </a:xfrm>
          <a:prstGeom prst="rect">
            <a:avLst/>
          </a:prstGeom>
          <a:noFill/>
        </p:spPr>
        <p:txBody>
          <a:bodyPr vert="horz" wrap="square" lIns="0" tIns="0" rIns="0" bIns="0" rtlCol="0" anchor="t">
            <a:noAutofit/>
          </a:bodyPr>
          <a:lstStyle/>
          <a:p>
            <a:r>
              <a:rPr lang="en-IN" sz="1700" b="1">
                <a:solidFill>
                  <a:srgbClr val="FFFFFF"/>
                </a:solidFill>
                <a:latin typeface="Calibri" panose="020F0502020204030204" pitchFamily="34" charset="0"/>
              </a:rPr>
              <a:t>Insecure code</a:t>
            </a:r>
          </a:p>
        </p:txBody>
      </p:sp>
      <p:sp>
        <p:nvSpPr>
          <p:cNvPr id="14" name="TextBox 13">
            <a:extLst>
              <a:ext uri="{FF2B5EF4-FFF2-40B4-BE49-F238E27FC236}">
                <a16:creationId xmlns:a16="http://schemas.microsoft.com/office/drawing/2014/main" id="{39EB3017-55BC-A647-E73A-ED1E9CD9A6A1}"/>
              </a:ext>
            </a:extLst>
          </p:cNvPr>
          <p:cNvSpPr txBox="1"/>
          <p:nvPr/>
        </p:nvSpPr>
        <p:spPr>
          <a:xfrm>
            <a:off x="4229100" y="3479800"/>
            <a:ext cx="1524000" cy="369332"/>
          </a:xfrm>
          <a:prstGeom prst="rect">
            <a:avLst/>
          </a:prstGeom>
          <a:noFill/>
        </p:spPr>
        <p:txBody>
          <a:bodyPr vert="horz" wrap="square" lIns="0" tIns="0" rIns="0" bIns="0" rtlCol="0" anchor="t">
            <a:noAutofit/>
          </a:bodyPr>
          <a:lstStyle/>
          <a:p>
            <a:r>
              <a:rPr lang="en-IN" sz="1300" b="1">
                <a:solidFill>
                  <a:srgbClr val="1B998B"/>
                </a:solidFill>
                <a:latin typeface="Calibri" panose="020F0502020204030204" pitchFamily="34" charset="0"/>
              </a:rPr>
              <a:t>SonarQube</a:t>
            </a:r>
          </a:p>
        </p:txBody>
      </p:sp>
      <p:sp>
        <p:nvSpPr>
          <p:cNvPr id="15" name="TextBox 14">
            <a:extLst>
              <a:ext uri="{FF2B5EF4-FFF2-40B4-BE49-F238E27FC236}">
                <a16:creationId xmlns:a16="http://schemas.microsoft.com/office/drawing/2014/main" id="{18E4E782-7F49-FC64-E694-0E8B5A4A81CD}"/>
              </a:ext>
            </a:extLst>
          </p:cNvPr>
          <p:cNvSpPr txBox="1"/>
          <p:nvPr/>
        </p:nvSpPr>
        <p:spPr>
          <a:xfrm>
            <a:off x="4229100" y="3835400"/>
            <a:ext cx="1524000" cy="369332"/>
          </a:xfrm>
          <a:prstGeom prst="rect">
            <a:avLst/>
          </a:prstGeom>
          <a:noFill/>
        </p:spPr>
        <p:txBody>
          <a:bodyPr vert="horz" wrap="square" lIns="0" tIns="0" rIns="0" bIns="0" rtlCol="0" anchor="t">
            <a:noAutofit/>
          </a:bodyPr>
          <a:lstStyle/>
          <a:p>
            <a:r>
              <a:rPr lang="en-IN" sz="1300">
                <a:solidFill>
                  <a:srgbClr val="FFFFFF"/>
                </a:solidFill>
                <a:latin typeface="Calibri" panose="020F0502020204030204" pitchFamily="34" charset="0"/>
              </a:rPr>
              <a:t>Bugs attackers can exploit</a:t>
            </a:r>
          </a:p>
        </p:txBody>
      </p:sp>
      <p:cxnSp>
        <p:nvCxnSpPr>
          <p:cNvPr id="16" name="Straight Connector 15">
            <a:extLst>
              <a:ext uri="{FF2B5EF4-FFF2-40B4-BE49-F238E27FC236}">
                <a16:creationId xmlns:a16="http://schemas.microsoft.com/office/drawing/2014/main" id="{429C22CA-23BE-D761-DB7C-745B5293BAB6}"/>
              </a:ext>
            </a:extLst>
          </p:cNvPr>
          <p:cNvCxnSpPr/>
          <p:nvPr/>
        </p:nvCxnSpPr>
        <p:spPr>
          <a:xfrm>
            <a:off x="3848100" y="3429000"/>
            <a:ext cx="177800" cy="0"/>
          </a:xfrm>
          <a:prstGeom prst="line">
            <a:avLst/>
          </a:prstGeom>
          <a:ln w="25400">
            <a:solidFill>
              <a:srgbClr val="5B6B79"/>
            </a:solidFill>
            <a:tailEnd type="triangle"/>
          </a:ln>
        </p:spPr>
        <p:style>
          <a:lnRef idx="2">
            <a:schemeClr val="accent1"/>
          </a:lnRef>
          <a:fillRef idx="0">
            <a:schemeClr val="accent1"/>
          </a:fillRef>
          <a:effectRef idx="1">
            <a:schemeClr val="accent1"/>
          </a:effectRef>
          <a:fontRef idx="minor">
            <a:schemeClr val="tx1"/>
          </a:fontRef>
        </p:style>
      </p:cxnSp>
      <p:sp>
        <p:nvSpPr>
          <p:cNvPr id="17" name="Rectangle: Rounded Corners 16">
            <a:extLst>
              <a:ext uri="{FF2B5EF4-FFF2-40B4-BE49-F238E27FC236}">
                <a16:creationId xmlns:a16="http://schemas.microsoft.com/office/drawing/2014/main" id="{B50D7917-60C6-25F6-92CA-D47E77AA35B5}"/>
              </a:ext>
            </a:extLst>
          </p:cNvPr>
          <p:cNvSpPr/>
          <p:nvPr/>
        </p:nvSpPr>
        <p:spPr>
          <a:xfrm>
            <a:off x="6121400" y="2032000"/>
            <a:ext cx="1841500" cy="2794000"/>
          </a:xfrm>
          <a:prstGeom prst="roundRect">
            <a:avLst>
              <a:gd name="adj" fmla="val 10000"/>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Oval 17">
            <a:extLst>
              <a:ext uri="{FF2B5EF4-FFF2-40B4-BE49-F238E27FC236}">
                <a16:creationId xmlns:a16="http://schemas.microsoft.com/office/drawing/2014/main" id="{BFE8189B-AEF1-24B1-E49B-97814803909F}"/>
              </a:ext>
            </a:extLst>
          </p:cNvPr>
          <p:cNvSpPr/>
          <p:nvPr/>
        </p:nvSpPr>
        <p:spPr>
          <a:xfrm>
            <a:off x="6299200" y="2235200"/>
            <a:ext cx="482600" cy="482600"/>
          </a:xfrm>
          <a:prstGeom prst="ellipse">
            <a:avLst/>
          </a:prstGeom>
          <a:solidFill>
            <a:srgbClr val="1B998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IN" sz="1600" b="1">
                <a:solidFill>
                  <a:srgbClr val="FFFFFF"/>
                </a:solidFill>
                <a:latin typeface="Calibri" panose="020F0502020204030204" pitchFamily="34" charset="0"/>
              </a:rPr>
              <a:t>3</a:t>
            </a:r>
          </a:p>
        </p:txBody>
      </p:sp>
      <p:sp>
        <p:nvSpPr>
          <p:cNvPr id="19" name="TextBox 18">
            <a:extLst>
              <a:ext uri="{FF2B5EF4-FFF2-40B4-BE49-F238E27FC236}">
                <a16:creationId xmlns:a16="http://schemas.microsoft.com/office/drawing/2014/main" id="{C72D8B7F-4D0B-5B2C-FE69-7DE3993AB9E3}"/>
              </a:ext>
            </a:extLst>
          </p:cNvPr>
          <p:cNvSpPr txBox="1"/>
          <p:nvPr/>
        </p:nvSpPr>
        <p:spPr>
          <a:xfrm>
            <a:off x="6299200" y="2870200"/>
            <a:ext cx="1524000" cy="369332"/>
          </a:xfrm>
          <a:prstGeom prst="rect">
            <a:avLst/>
          </a:prstGeom>
          <a:noFill/>
        </p:spPr>
        <p:txBody>
          <a:bodyPr vert="horz" wrap="square" lIns="0" tIns="0" rIns="0" bIns="0" rtlCol="0" anchor="t">
            <a:noAutofit/>
          </a:bodyPr>
          <a:lstStyle/>
          <a:p>
            <a:r>
              <a:rPr lang="en-IN" sz="1700" b="1">
                <a:solidFill>
                  <a:srgbClr val="FFFFFF"/>
                </a:solidFill>
                <a:latin typeface="Calibri" panose="020F0502020204030204" pitchFamily="34" charset="0"/>
              </a:rPr>
              <a:t>CI security gate</a:t>
            </a:r>
          </a:p>
        </p:txBody>
      </p:sp>
      <p:sp>
        <p:nvSpPr>
          <p:cNvPr id="20" name="TextBox 19">
            <a:extLst>
              <a:ext uri="{FF2B5EF4-FFF2-40B4-BE49-F238E27FC236}">
                <a16:creationId xmlns:a16="http://schemas.microsoft.com/office/drawing/2014/main" id="{E6C272D5-E672-317B-CD34-F7F2C6E787E6}"/>
              </a:ext>
            </a:extLst>
          </p:cNvPr>
          <p:cNvSpPr txBox="1"/>
          <p:nvPr/>
        </p:nvSpPr>
        <p:spPr>
          <a:xfrm>
            <a:off x="6299200" y="3479800"/>
            <a:ext cx="1524000" cy="369332"/>
          </a:xfrm>
          <a:prstGeom prst="rect">
            <a:avLst/>
          </a:prstGeom>
          <a:noFill/>
        </p:spPr>
        <p:txBody>
          <a:bodyPr vert="horz" wrap="square" lIns="0" tIns="0" rIns="0" bIns="0" rtlCol="0" anchor="t">
            <a:noAutofit/>
          </a:bodyPr>
          <a:lstStyle/>
          <a:p>
            <a:r>
              <a:rPr lang="en-IN" sz="1300" b="1">
                <a:solidFill>
                  <a:srgbClr val="1B998B"/>
                </a:solidFill>
                <a:latin typeface="Calibri" panose="020F0502020204030204" pitchFamily="34" charset="0"/>
              </a:rPr>
              <a:t>Checkov · Jenkins</a:t>
            </a:r>
          </a:p>
        </p:txBody>
      </p:sp>
      <p:sp>
        <p:nvSpPr>
          <p:cNvPr id="21" name="TextBox 20">
            <a:extLst>
              <a:ext uri="{FF2B5EF4-FFF2-40B4-BE49-F238E27FC236}">
                <a16:creationId xmlns:a16="http://schemas.microsoft.com/office/drawing/2014/main" id="{8B942B84-E24B-4303-2068-B70046B43AB5}"/>
              </a:ext>
            </a:extLst>
          </p:cNvPr>
          <p:cNvSpPr txBox="1"/>
          <p:nvPr/>
        </p:nvSpPr>
        <p:spPr>
          <a:xfrm>
            <a:off x="6299200" y="3835400"/>
            <a:ext cx="1524000" cy="369332"/>
          </a:xfrm>
          <a:prstGeom prst="rect">
            <a:avLst/>
          </a:prstGeom>
          <a:noFill/>
        </p:spPr>
        <p:txBody>
          <a:bodyPr vert="horz" wrap="square" lIns="0" tIns="0" rIns="0" bIns="0" rtlCol="0" anchor="t">
            <a:noAutofit/>
          </a:bodyPr>
          <a:lstStyle/>
          <a:p>
            <a:r>
              <a:rPr lang="en-US" sz="1300">
                <a:solidFill>
                  <a:srgbClr val="FFFFFF"/>
                </a:solidFill>
                <a:latin typeface="Calibri" panose="020F0502020204030204" pitchFamily="34" charset="0"/>
              </a:rPr>
              <a:t>Cloud misconfiguration, blocked before deploy</a:t>
            </a:r>
            <a:endParaRPr lang="en-IN" sz="1300">
              <a:solidFill>
                <a:srgbClr val="FFFFFF"/>
              </a:solidFill>
              <a:latin typeface="Calibri" panose="020F0502020204030204" pitchFamily="34" charset="0"/>
            </a:endParaRPr>
          </a:p>
        </p:txBody>
      </p:sp>
      <p:cxnSp>
        <p:nvCxnSpPr>
          <p:cNvPr id="22" name="Straight Connector 21">
            <a:extLst>
              <a:ext uri="{FF2B5EF4-FFF2-40B4-BE49-F238E27FC236}">
                <a16:creationId xmlns:a16="http://schemas.microsoft.com/office/drawing/2014/main" id="{FF8A7B63-3194-385F-AD61-21ECE27266F4}"/>
              </a:ext>
            </a:extLst>
          </p:cNvPr>
          <p:cNvCxnSpPr/>
          <p:nvPr/>
        </p:nvCxnSpPr>
        <p:spPr>
          <a:xfrm>
            <a:off x="5918200" y="3429000"/>
            <a:ext cx="177800" cy="0"/>
          </a:xfrm>
          <a:prstGeom prst="line">
            <a:avLst/>
          </a:prstGeom>
          <a:ln w="25400">
            <a:solidFill>
              <a:srgbClr val="5B6B79"/>
            </a:solidFill>
            <a:tailEnd type="triangle"/>
          </a:ln>
        </p:spPr>
        <p:style>
          <a:lnRef idx="2">
            <a:schemeClr val="accent1"/>
          </a:lnRef>
          <a:fillRef idx="0">
            <a:schemeClr val="accent1"/>
          </a:fillRef>
          <a:effectRef idx="1">
            <a:schemeClr val="accent1"/>
          </a:effectRef>
          <a:fontRef idx="minor">
            <a:schemeClr val="tx1"/>
          </a:fontRef>
        </p:style>
      </p:cxnSp>
      <p:sp>
        <p:nvSpPr>
          <p:cNvPr id="23" name="Rectangle: Rounded Corners 22">
            <a:extLst>
              <a:ext uri="{FF2B5EF4-FFF2-40B4-BE49-F238E27FC236}">
                <a16:creationId xmlns:a16="http://schemas.microsoft.com/office/drawing/2014/main" id="{D04DCCDB-8B1A-FD8D-16ED-055201326A30}"/>
              </a:ext>
            </a:extLst>
          </p:cNvPr>
          <p:cNvSpPr/>
          <p:nvPr/>
        </p:nvSpPr>
        <p:spPr>
          <a:xfrm>
            <a:off x="8191500" y="2032000"/>
            <a:ext cx="1841500" cy="2794000"/>
          </a:xfrm>
          <a:prstGeom prst="roundRect">
            <a:avLst>
              <a:gd name="adj" fmla="val 10000"/>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Oval 23">
            <a:extLst>
              <a:ext uri="{FF2B5EF4-FFF2-40B4-BE49-F238E27FC236}">
                <a16:creationId xmlns:a16="http://schemas.microsoft.com/office/drawing/2014/main" id="{1D8F1897-438D-01A6-65A4-2C97A5E616A4}"/>
              </a:ext>
            </a:extLst>
          </p:cNvPr>
          <p:cNvSpPr/>
          <p:nvPr/>
        </p:nvSpPr>
        <p:spPr>
          <a:xfrm>
            <a:off x="8369300" y="2235200"/>
            <a:ext cx="482600" cy="482600"/>
          </a:xfrm>
          <a:prstGeom prst="ellipse">
            <a:avLst/>
          </a:prstGeom>
          <a:solidFill>
            <a:srgbClr val="1B998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IN" sz="1600" b="1">
                <a:solidFill>
                  <a:srgbClr val="FFFFFF"/>
                </a:solidFill>
                <a:latin typeface="Calibri" panose="020F0502020204030204" pitchFamily="34" charset="0"/>
              </a:rPr>
              <a:t>4</a:t>
            </a:r>
          </a:p>
        </p:txBody>
      </p:sp>
      <p:sp>
        <p:nvSpPr>
          <p:cNvPr id="25" name="TextBox 24">
            <a:extLst>
              <a:ext uri="{FF2B5EF4-FFF2-40B4-BE49-F238E27FC236}">
                <a16:creationId xmlns:a16="http://schemas.microsoft.com/office/drawing/2014/main" id="{B77DBFF6-8E40-6EE0-D707-5ACFE9B06937}"/>
              </a:ext>
            </a:extLst>
          </p:cNvPr>
          <p:cNvSpPr txBox="1"/>
          <p:nvPr/>
        </p:nvSpPr>
        <p:spPr>
          <a:xfrm>
            <a:off x="8369300" y="2870200"/>
            <a:ext cx="1524000" cy="369332"/>
          </a:xfrm>
          <a:prstGeom prst="rect">
            <a:avLst/>
          </a:prstGeom>
          <a:noFill/>
        </p:spPr>
        <p:txBody>
          <a:bodyPr vert="horz" wrap="square" lIns="0" tIns="0" rIns="0" bIns="0" rtlCol="0" anchor="t">
            <a:noAutofit/>
          </a:bodyPr>
          <a:lstStyle/>
          <a:p>
            <a:r>
              <a:rPr lang="en-IN" sz="1700" b="1">
                <a:solidFill>
                  <a:srgbClr val="FFFFFF"/>
                </a:solidFill>
                <a:latin typeface="Calibri" panose="020F0502020204030204" pitchFamily="34" charset="0"/>
              </a:rPr>
              <a:t>Into the cloud</a:t>
            </a:r>
          </a:p>
        </p:txBody>
      </p:sp>
      <p:sp>
        <p:nvSpPr>
          <p:cNvPr id="26" name="TextBox 25">
            <a:extLst>
              <a:ext uri="{FF2B5EF4-FFF2-40B4-BE49-F238E27FC236}">
                <a16:creationId xmlns:a16="http://schemas.microsoft.com/office/drawing/2014/main" id="{1D00C1E3-DDFD-1693-10E8-383FA289697F}"/>
              </a:ext>
            </a:extLst>
          </p:cNvPr>
          <p:cNvSpPr txBox="1"/>
          <p:nvPr/>
        </p:nvSpPr>
        <p:spPr>
          <a:xfrm>
            <a:off x="8369300" y="3479800"/>
            <a:ext cx="1524000" cy="369332"/>
          </a:xfrm>
          <a:prstGeom prst="rect">
            <a:avLst/>
          </a:prstGeom>
          <a:noFill/>
        </p:spPr>
        <p:txBody>
          <a:bodyPr vert="horz" wrap="square" lIns="0" tIns="0" rIns="0" bIns="0" rtlCol="0" anchor="t">
            <a:noAutofit/>
          </a:bodyPr>
          <a:lstStyle/>
          <a:p>
            <a:r>
              <a:rPr lang="en-IN" sz="1300" b="1">
                <a:solidFill>
                  <a:srgbClr val="1B998B"/>
                </a:solidFill>
                <a:latin typeface="Calibri" panose="020F0502020204030204" pitchFamily="34" charset="0"/>
              </a:rPr>
              <a:t>Terraform · AWS</a:t>
            </a:r>
          </a:p>
        </p:txBody>
      </p:sp>
      <p:sp>
        <p:nvSpPr>
          <p:cNvPr id="27" name="TextBox 26">
            <a:extLst>
              <a:ext uri="{FF2B5EF4-FFF2-40B4-BE49-F238E27FC236}">
                <a16:creationId xmlns:a16="http://schemas.microsoft.com/office/drawing/2014/main" id="{FA22FFAD-71AF-F138-101F-BD95FB2008CD}"/>
              </a:ext>
            </a:extLst>
          </p:cNvPr>
          <p:cNvSpPr txBox="1"/>
          <p:nvPr/>
        </p:nvSpPr>
        <p:spPr>
          <a:xfrm>
            <a:off x="8369300" y="3835400"/>
            <a:ext cx="1524000" cy="369332"/>
          </a:xfrm>
          <a:prstGeom prst="rect">
            <a:avLst/>
          </a:prstGeom>
          <a:noFill/>
        </p:spPr>
        <p:txBody>
          <a:bodyPr vert="horz" wrap="square" lIns="0" tIns="0" rIns="0" bIns="0" rtlCol="0" anchor="t">
            <a:noAutofit/>
          </a:bodyPr>
          <a:lstStyle/>
          <a:p>
            <a:r>
              <a:rPr lang="en-IN" sz="1300">
                <a:solidFill>
                  <a:srgbClr val="FFFFFF"/>
                </a:solidFill>
                <a:latin typeface="Calibri" panose="020F0502020204030204" pitchFamily="34" charset="0"/>
              </a:rPr>
              <a:t>What happens after deploy</a:t>
            </a:r>
          </a:p>
        </p:txBody>
      </p:sp>
      <p:cxnSp>
        <p:nvCxnSpPr>
          <p:cNvPr id="28" name="Straight Connector 27">
            <a:extLst>
              <a:ext uri="{FF2B5EF4-FFF2-40B4-BE49-F238E27FC236}">
                <a16:creationId xmlns:a16="http://schemas.microsoft.com/office/drawing/2014/main" id="{CD6B861C-D391-F10E-8668-36D6B3533746}"/>
              </a:ext>
            </a:extLst>
          </p:cNvPr>
          <p:cNvCxnSpPr/>
          <p:nvPr/>
        </p:nvCxnSpPr>
        <p:spPr>
          <a:xfrm>
            <a:off x="7988300" y="3429000"/>
            <a:ext cx="177800" cy="0"/>
          </a:xfrm>
          <a:prstGeom prst="line">
            <a:avLst/>
          </a:prstGeom>
          <a:ln w="25400">
            <a:solidFill>
              <a:srgbClr val="5B6B79"/>
            </a:solidFill>
            <a:tailEnd type="triangle"/>
          </a:ln>
        </p:spPr>
        <p:style>
          <a:lnRef idx="2">
            <a:schemeClr val="accent1"/>
          </a:lnRef>
          <a:fillRef idx="0">
            <a:schemeClr val="accent1"/>
          </a:fillRef>
          <a:effectRef idx="1">
            <a:schemeClr val="accent1"/>
          </a:effectRef>
          <a:fontRef idx="minor">
            <a:schemeClr val="tx1"/>
          </a:fontRef>
        </p:style>
      </p:cxnSp>
      <p:sp>
        <p:nvSpPr>
          <p:cNvPr id="29" name="Rectangle: Rounded Corners 28">
            <a:extLst>
              <a:ext uri="{FF2B5EF4-FFF2-40B4-BE49-F238E27FC236}">
                <a16:creationId xmlns:a16="http://schemas.microsoft.com/office/drawing/2014/main" id="{6EC80F71-0184-EFAF-A216-3F11B50B0E13}"/>
              </a:ext>
            </a:extLst>
          </p:cNvPr>
          <p:cNvSpPr/>
          <p:nvPr/>
        </p:nvSpPr>
        <p:spPr>
          <a:xfrm>
            <a:off x="10261600" y="2921000"/>
            <a:ext cx="1320800" cy="1016000"/>
          </a:xfrm>
          <a:prstGeom prst="roundRect">
            <a:avLst>
              <a:gd name="adj" fmla="val 10000"/>
            </a:avLst>
          </a:prstGeom>
          <a:solidFill>
            <a:srgbClr val="1B998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IN" sz="1400" b="1">
                <a:solidFill>
                  <a:srgbClr val="FFFFFF"/>
                </a:solidFill>
                <a:latin typeface="Calibri" panose="020F0502020204030204" pitchFamily="34" charset="0"/>
              </a:rPr>
              <a:t>Production</a:t>
            </a:r>
          </a:p>
          <a:p>
            <a:pPr algn="ctr"/>
            <a:r>
              <a:rPr lang="en-IN" sz="1400" b="1">
                <a:solidFill>
                  <a:srgbClr val="FFFFFF"/>
                </a:solidFill>
                <a:latin typeface="Calibri" panose="020F0502020204030204" pitchFamily="34" charset="0"/>
              </a:rPr>
              <a:t>cloud</a:t>
            </a:r>
          </a:p>
        </p:txBody>
      </p:sp>
      <p:cxnSp>
        <p:nvCxnSpPr>
          <p:cNvPr id="30" name="Straight Connector 29">
            <a:extLst>
              <a:ext uri="{FF2B5EF4-FFF2-40B4-BE49-F238E27FC236}">
                <a16:creationId xmlns:a16="http://schemas.microsoft.com/office/drawing/2014/main" id="{4196E68F-3813-A38B-362C-12F7D42E99BD}"/>
              </a:ext>
            </a:extLst>
          </p:cNvPr>
          <p:cNvCxnSpPr/>
          <p:nvPr/>
        </p:nvCxnSpPr>
        <p:spPr>
          <a:xfrm>
            <a:off x="10058400" y="3429000"/>
            <a:ext cx="177800" cy="0"/>
          </a:xfrm>
          <a:prstGeom prst="line">
            <a:avLst/>
          </a:prstGeom>
          <a:ln w="25400">
            <a:solidFill>
              <a:srgbClr val="5B6B79"/>
            </a:solidFill>
            <a:tailEnd type="triangle"/>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AD6D4C74-3AE5-C3E0-8161-CD15151DDB81}"/>
              </a:ext>
            </a:extLst>
          </p:cNvPr>
          <p:cNvSpPr txBox="1"/>
          <p:nvPr/>
        </p:nvSpPr>
        <p:spPr>
          <a:xfrm>
            <a:off x="609600" y="5232400"/>
            <a:ext cx="10972800" cy="369332"/>
          </a:xfrm>
          <a:prstGeom prst="rect">
            <a:avLst/>
          </a:prstGeom>
          <a:noFill/>
        </p:spPr>
        <p:txBody>
          <a:bodyPr vert="horz" wrap="square" lIns="0" tIns="0" rIns="0" bIns="0" rtlCol="0" anchor="t">
            <a:noAutofit/>
          </a:bodyPr>
          <a:lstStyle/>
          <a:p>
            <a:r>
              <a:rPr lang="en-US" sz="2000" b="1">
                <a:solidFill>
                  <a:srgbClr val="13293D"/>
                </a:solidFill>
                <a:latin typeface="Calibri" panose="020F0502020204030204" pitchFamily="34" charset="0"/>
              </a:rPr>
              <a:t>Shift left: the earlier a problem is caught, the cheaper it is to fix.</a:t>
            </a:r>
            <a:endParaRPr lang="en-IN" sz="2000" b="1">
              <a:solidFill>
                <a:srgbClr val="13293D"/>
              </a:solidFill>
              <a:latin typeface="Calibri" panose="020F0502020204030204" pitchFamily="34" charset="0"/>
            </a:endParaRPr>
          </a:p>
        </p:txBody>
      </p:sp>
      <p:sp>
        <p:nvSpPr>
          <p:cNvPr id="32" name="TextBox 31">
            <a:extLst>
              <a:ext uri="{FF2B5EF4-FFF2-40B4-BE49-F238E27FC236}">
                <a16:creationId xmlns:a16="http://schemas.microsoft.com/office/drawing/2014/main" id="{246FA3C8-F7AF-555A-0184-664DB082D5F6}"/>
              </a:ext>
            </a:extLst>
          </p:cNvPr>
          <p:cNvSpPr txBox="1"/>
          <p:nvPr/>
        </p:nvSpPr>
        <p:spPr>
          <a:xfrm>
            <a:off x="609600" y="6502400"/>
            <a:ext cx="5080000" cy="369332"/>
          </a:xfrm>
          <a:prstGeom prst="rect">
            <a:avLst/>
          </a:prstGeom>
          <a:noFill/>
        </p:spPr>
        <p:txBody>
          <a:bodyPr vert="horz" wrap="square" lIns="0" tIns="0" rIns="0" bIns="0" rtlCol="0" anchor="t">
            <a:noAutofit/>
          </a:bodyPr>
          <a:lstStyle/>
          <a:p>
            <a:r>
              <a:rPr lang="en-US" sz="1000">
                <a:solidFill>
                  <a:srgbClr val="5B6B79"/>
                </a:solidFill>
                <a:latin typeface="Calibri" panose="020F0502020204030204" pitchFamily="34" charset="0"/>
              </a:rPr>
              <a:t>Securing the path to the cloud</a:t>
            </a:r>
            <a:endParaRPr lang="en-IN" sz="1000">
              <a:solidFill>
                <a:srgbClr val="5B6B79"/>
              </a:solidFill>
              <a:latin typeface="Calibri" panose="020F0502020204030204" pitchFamily="34" charset="0"/>
            </a:endParaRPr>
          </a:p>
        </p:txBody>
      </p:sp>
      <p:sp>
        <p:nvSpPr>
          <p:cNvPr id="33" name="TextBox 32">
            <a:extLst>
              <a:ext uri="{FF2B5EF4-FFF2-40B4-BE49-F238E27FC236}">
                <a16:creationId xmlns:a16="http://schemas.microsoft.com/office/drawing/2014/main" id="{5FA75A13-066C-7981-E796-5459477EA059}"/>
              </a:ext>
            </a:extLst>
          </p:cNvPr>
          <p:cNvSpPr txBox="1"/>
          <p:nvPr/>
        </p:nvSpPr>
        <p:spPr>
          <a:xfrm>
            <a:off x="10312400" y="6502400"/>
            <a:ext cx="1270000" cy="369332"/>
          </a:xfrm>
          <a:prstGeom prst="rect">
            <a:avLst/>
          </a:prstGeom>
          <a:noFill/>
        </p:spPr>
        <p:txBody>
          <a:bodyPr vert="horz" wrap="square" lIns="0" tIns="0" rIns="0" bIns="0" rtlCol="0" anchor="t">
            <a:noAutofit/>
          </a:bodyPr>
          <a:lstStyle/>
          <a:p>
            <a:pPr algn="r"/>
            <a:r>
              <a:rPr lang="en-IN" sz="1000">
                <a:solidFill>
                  <a:srgbClr val="5B6B79"/>
                </a:solidFill>
                <a:latin typeface="Calibri" panose="020F0502020204030204" pitchFamily="34" charset="0"/>
              </a:rPr>
              <a:t>8</a:t>
            </a:r>
          </a:p>
        </p:txBody>
      </p:sp>
    </p:spTree>
    <p:extLst>
      <p:ext uri="{BB962C8B-B14F-4D97-AF65-F5344CB8AC3E}">
        <p14:creationId xmlns:p14="http://schemas.microsoft.com/office/powerpoint/2010/main" val="31347031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195236C-B313-B8A6-5ACD-0B9E13113DA1}"/>
              </a:ext>
            </a:extLst>
          </p:cNvPr>
          <p:cNvSpPr txBox="1"/>
          <p:nvPr/>
        </p:nvSpPr>
        <p:spPr>
          <a:xfrm>
            <a:off x="609600" y="381000"/>
            <a:ext cx="10972800" cy="369332"/>
          </a:xfrm>
          <a:prstGeom prst="rect">
            <a:avLst/>
          </a:prstGeom>
          <a:noFill/>
        </p:spPr>
        <p:txBody>
          <a:bodyPr vert="horz" wrap="square" lIns="0" tIns="0" rIns="0" bIns="0" rtlCol="0" anchor="t">
            <a:noAutofit/>
          </a:bodyPr>
          <a:lstStyle/>
          <a:p>
            <a:r>
              <a:rPr lang="en-US" sz="3400" b="1">
                <a:solidFill>
                  <a:srgbClr val="13293D"/>
                </a:solidFill>
                <a:latin typeface="Calibri" panose="020F0502020204030204" pitchFamily="34" charset="0"/>
              </a:rPr>
              <a:t>Before you start: what you need</a:t>
            </a:r>
            <a:endParaRPr lang="en-IN" sz="3400" b="1">
              <a:solidFill>
                <a:srgbClr val="13293D"/>
              </a:solidFill>
              <a:latin typeface="Calibri" panose="020F0502020204030204" pitchFamily="34" charset="0"/>
            </a:endParaRPr>
          </a:p>
        </p:txBody>
      </p:sp>
      <p:sp>
        <p:nvSpPr>
          <p:cNvPr id="3" name="TextBox 2">
            <a:extLst>
              <a:ext uri="{FF2B5EF4-FFF2-40B4-BE49-F238E27FC236}">
                <a16:creationId xmlns:a16="http://schemas.microsoft.com/office/drawing/2014/main" id="{256C9CE7-953E-73BC-DD7F-DC380A1AA606}"/>
              </a:ext>
            </a:extLst>
          </p:cNvPr>
          <p:cNvSpPr txBox="1"/>
          <p:nvPr/>
        </p:nvSpPr>
        <p:spPr>
          <a:xfrm>
            <a:off x="609600" y="1016000"/>
            <a:ext cx="10972800" cy="369332"/>
          </a:xfrm>
          <a:prstGeom prst="rect">
            <a:avLst/>
          </a:prstGeom>
          <a:noFill/>
        </p:spPr>
        <p:txBody>
          <a:bodyPr vert="horz" wrap="square" lIns="0" tIns="0" rIns="0" bIns="0" rtlCol="0" anchor="t">
            <a:noAutofit/>
          </a:bodyPr>
          <a:lstStyle/>
          <a:p>
            <a:r>
              <a:rPr lang="en-US" sz="1600">
                <a:solidFill>
                  <a:srgbClr val="5B6B79"/>
                </a:solidFill>
                <a:latin typeface="Calibri" panose="020F0502020204030204" pitchFamily="34" charset="0"/>
              </a:rPr>
              <a:t>Docker and Git on your laptop. No cloud account needed.</a:t>
            </a:r>
            <a:endParaRPr lang="en-IN" sz="1600">
              <a:solidFill>
                <a:srgbClr val="5B6B79"/>
              </a:solidFill>
              <a:latin typeface="Calibri" panose="020F0502020204030204" pitchFamily="34" charset="0"/>
            </a:endParaRPr>
          </a:p>
        </p:txBody>
      </p:sp>
      <p:sp>
        <p:nvSpPr>
          <p:cNvPr id="4" name="Rectangle: Rounded Corners 3">
            <a:extLst>
              <a:ext uri="{FF2B5EF4-FFF2-40B4-BE49-F238E27FC236}">
                <a16:creationId xmlns:a16="http://schemas.microsoft.com/office/drawing/2014/main" id="{43F47331-56D0-4F67-0275-51A40C3BF372}"/>
              </a:ext>
            </a:extLst>
          </p:cNvPr>
          <p:cNvSpPr/>
          <p:nvPr/>
        </p:nvSpPr>
        <p:spPr>
          <a:xfrm>
            <a:off x="609600" y="1524000"/>
            <a:ext cx="3556000" cy="2768600"/>
          </a:xfrm>
          <a:prstGeom prst="roundRect">
            <a:avLst>
              <a:gd name="adj" fmla="val 10000"/>
            </a:avLst>
          </a:prstGeom>
          <a:solidFill>
            <a:srgbClr val="EEF3F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C90F2D50-43B7-93B4-E4DD-207053FC6F13}"/>
              </a:ext>
            </a:extLst>
          </p:cNvPr>
          <p:cNvSpPr txBox="1"/>
          <p:nvPr/>
        </p:nvSpPr>
        <p:spPr>
          <a:xfrm>
            <a:off x="863600" y="1752600"/>
            <a:ext cx="3048000" cy="369332"/>
          </a:xfrm>
          <a:prstGeom prst="rect">
            <a:avLst/>
          </a:prstGeom>
          <a:noFill/>
        </p:spPr>
        <p:txBody>
          <a:bodyPr vert="horz" wrap="square" lIns="0" tIns="0" rIns="0" bIns="0" rtlCol="0" anchor="t">
            <a:noAutofit/>
          </a:bodyPr>
          <a:lstStyle/>
          <a:p>
            <a:r>
              <a:rPr lang="en-IN" sz="2200" b="1">
                <a:solidFill>
                  <a:srgbClr val="13293D"/>
                </a:solidFill>
                <a:latin typeface="Calibri" panose="020F0502020204030204" pitchFamily="34" charset="0"/>
              </a:rPr>
              <a:t>Windows</a:t>
            </a:r>
          </a:p>
        </p:txBody>
      </p:sp>
      <p:sp>
        <p:nvSpPr>
          <p:cNvPr id="6" name="TextBox 5">
            <a:extLst>
              <a:ext uri="{FF2B5EF4-FFF2-40B4-BE49-F238E27FC236}">
                <a16:creationId xmlns:a16="http://schemas.microsoft.com/office/drawing/2014/main" id="{68658644-D6ED-19AE-4288-779968E3C2D1}"/>
              </a:ext>
            </a:extLst>
          </p:cNvPr>
          <p:cNvSpPr txBox="1"/>
          <p:nvPr/>
        </p:nvSpPr>
        <p:spPr>
          <a:xfrm>
            <a:off x="863600" y="2286000"/>
            <a:ext cx="3048000" cy="369332"/>
          </a:xfrm>
          <a:prstGeom prst="rect">
            <a:avLst/>
          </a:prstGeom>
          <a:noFill/>
        </p:spPr>
        <p:txBody>
          <a:bodyPr vert="horz" wrap="square" lIns="0" tIns="0" rIns="0" bIns="0" rtlCol="0" anchor="t">
            <a:noAutofit/>
          </a:bodyPr>
          <a:lstStyle/>
          <a:p>
            <a:pPr marL="228600" indent="-228600">
              <a:spcAft>
                <a:spcPts val="1000"/>
              </a:spcAft>
              <a:buFont typeface="+mj-lt"/>
              <a:buChar char="•"/>
            </a:pPr>
            <a:r>
              <a:rPr lang="en-IN" sz="1500">
                <a:solidFill>
                  <a:srgbClr val="1E2A35"/>
                </a:solidFill>
                <a:latin typeface="Calibri" panose="020F0502020204030204" pitchFamily="34" charset="0"/>
              </a:rPr>
              <a:t>Docker Desktop</a:t>
            </a:r>
          </a:p>
          <a:p>
            <a:pPr marL="228600" indent="-228600">
              <a:spcAft>
                <a:spcPts val="1000"/>
              </a:spcAft>
              <a:buFont typeface="+mj-lt"/>
              <a:buChar char="•"/>
            </a:pPr>
            <a:r>
              <a:rPr lang="en-IN" sz="1500">
                <a:solidFill>
                  <a:srgbClr val="1E2A35"/>
                </a:solidFill>
                <a:latin typeface="Calibri" panose="020F0502020204030204" pitchFamily="34" charset="0"/>
              </a:rPr>
              <a:t>or Rancher Desktop / Podman Desktop</a:t>
            </a:r>
          </a:p>
          <a:p>
            <a:pPr marL="228600" indent="-228600">
              <a:spcAft>
                <a:spcPts val="1000"/>
              </a:spcAft>
              <a:buFont typeface="+mj-lt"/>
              <a:buChar char="•"/>
            </a:pPr>
            <a:r>
              <a:rPr lang="en-IN" sz="1500">
                <a:solidFill>
                  <a:srgbClr val="1E2A35"/>
                </a:solidFill>
                <a:latin typeface="Calibri" panose="020F0502020204030204" pitchFamily="34" charset="0"/>
              </a:rPr>
              <a:t>or WSL2 + Ubuntu + Docker Engine (my setup, no Docker Desktop licence needed)</a:t>
            </a:r>
          </a:p>
        </p:txBody>
      </p:sp>
      <p:sp>
        <p:nvSpPr>
          <p:cNvPr id="7" name="Rectangle: Rounded Corners 6">
            <a:extLst>
              <a:ext uri="{FF2B5EF4-FFF2-40B4-BE49-F238E27FC236}">
                <a16:creationId xmlns:a16="http://schemas.microsoft.com/office/drawing/2014/main" id="{C5C1A37E-0797-6365-E409-D318EB11CFF0}"/>
              </a:ext>
            </a:extLst>
          </p:cNvPr>
          <p:cNvSpPr/>
          <p:nvPr/>
        </p:nvSpPr>
        <p:spPr>
          <a:xfrm>
            <a:off x="4318000" y="1524000"/>
            <a:ext cx="3556000" cy="2768600"/>
          </a:xfrm>
          <a:prstGeom prst="roundRect">
            <a:avLst>
              <a:gd name="adj" fmla="val 10000"/>
            </a:avLst>
          </a:prstGeom>
          <a:solidFill>
            <a:srgbClr val="EEF3F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DC96A48A-EC77-7479-CB2A-15E2D7E2C9BB}"/>
              </a:ext>
            </a:extLst>
          </p:cNvPr>
          <p:cNvSpPr txBox="1"/>
          <p:nvPr/>
        </p:nvSpPr>
        <p:spPr>
          <a:xfrm>
            <a:off x="4572000" y="1752600"/>
            <a:ext cx="3048000" cy="369332"/>
          </a:xfrm>
          <a:prstGeom prst="rect">
            <a:avLst/>
          </a:prstGeom>
          <a:noFill/>
        </p:spPr>
        <p:txBody>
          <a:bodyPr vert="horz" wrap="square" lIns="0" tIns="0" rIns="0" bIns="0" rtlCol="0" anchor="t">
            <a:noAutofit/>
          </a:bodyPr>
          <a:lstStyle/>
          <a:p>
            <a:r>
              <a:rPr lang="en-IN" sz="2200" b="1">
                <a:solidFill>
                  <a:srgbClr val="13293D"/>
                </a:solidFill>
                <a:latin typeface="Calibri" panose="020F0502020204030204" pitchFamily="34" charset="0"/>
              </a:rPr>
              <a:t>macOS</a:t>
            </a:r>
          </a:p>
        </p:txBody>
      </p:sp>
      <p:sp>
        <p:nvSpPr>
          <p:cNvPr id="9" name="TextBox 8">
            <a:extLst>
              <a:ext uri="{FF2B5EF4-FFF2-40B4-BE49-F238E27FC236}">
                <a16:creationId xmlns:a16="http://schemas.microsoft.com/office/drawing/2014/main" id="{2FFFD185-D16F-E966-B3D5-43798DC1B16E}"/>
              </a:ext>
            </a:extLst>
          </p:cNvPr>
          <p:cNvSpPr txBox="1"/>
          <p:nvPr/>
        </p:nvSpPr>
        <p:spPr>
          <a:xfrm>
            <a:off x="4572000" y="2286000"/>
            <a:ext cx="3048000" cy="369332"/>
          </a:xfrm>
          <a:prstGeom prst="rect">
            <a:avLst/>
          </a:prstGeom>
          <a:noFill/>
        </p:spPr>
        <p:txBody>
          <a:bodyPr vert="horz" wrap="square" lIns="0" tIns="0" rIns="0" bIns="0" rtlCol="0" anchor="t">
            <a:noAutofit/>
          </a:bodyPr>
          <a:lstStyle/>
          <a:p>
            <a:pPr marL="228600" indent="-228600">
              <a:spcAft>
                <a:spcPts val="1000"/>
              </a:spcAft>
              <a:buFont typeface="+mj-lt"/>
              <a:buChar char="•"/>
            </a:pPr>
            <a:r>
              <a:rPr lang="en-US" sz="1500">
                <a:solidFill>
                  <a:srgbClr val="1E2A35"/>
                </a:solidFill>
                <a:latin typeface="Calibri" panose="020F0502020204030204" pitchFamily="34" charset="0"/>
              </a:rPr>
              <a:t>Docker Desktop</a:t>
            </a:r>
          </a:p>
          <a:p>
            <a:pPr marL="228600" indent="-228600">
              <a:spcAft>
                <a:spcPts val="1000"/>
              </a:spcAft>
              <a:buFont typeface="+mj-lt"/>
              <a:buChar char="•"/>
            </a:pPr>
            <a:r>
              <a:rPr lang="en-US" sz="1500">
                <a:solidFill>
                  <a:srgbClr val="1E2A35"/>
                </a:solidFill>
                <a:latin typeface="Calibri" panose="020F0502020204030204" pitchFamily="34" charset="0"/>
              </a:rPr>
              <a:t>or Rancher Desktop</a:t>
            </a:r>
          </a:p>
          <a:p>
            <a:pPr marL="228600" indent="-228600">
              <a:spcAft>
                <a:spcPts val="1000"/>
              </a:spcAft>
              <a:buFont typeface="+mj-lt"/>
              <a:buChar char="•"/>
            </a:pPr>
            <a:r>
              <a:rPr lang="en-US" sz="1500">
                <a:solidFill>
                  <a:srgbClr val="1E2A35"/>
                </a:solidFill>
                <a:latin typeface="Calibri" panose="020F0502020204030204" pitchFamily="34" charset="0"/>
              </a:rPr>
              <a:t>or Colima</a:t>
            </a:r>
            <a:endParaRPr lang="en-IN" sz="1500">
              <a:solidFill>
                <a:srgbClr val="1E2A35"/>
              </a:solidFill>
              <a:latin typeface="Calibri" panose="020F0502020204030204" pitchFamily="34" charset="0"/>
            </a:endParaRPr>
          </a:p>
        </p:txBody>
      </p:sp>
      <p:sp>
        <p:nvSpPr>
          <p:cNvPr id="10" name="Rectangle: Rounded Corners 9">
            <a:extLst>
              <a:ext uri="{FF2B5EF4-FFF2-40B4-BE49-F238E27FC236}">
                <a16:creationId xmlns:a16="http://schemas.microsoft.com/office/drawing/2014/main" id="{20B1665D-62BF-675D-0471-F2488B4F0EFA}"/>
              </a:ext>
            </a:extLst>
          </p:cNvPr>
          <p:cNvSpPr/>
          <p:nvPr/>
        </p:nvSpPr>
        <p:spPr>
          <a:xfrm>
            <a:off x="8026400" y="1524000"/>
            <a:ext cx="3556000" cy="2768600"/>
          </a:xfrm>
          <a:prstGeom prst="roundRect">
            <a:avLst>
              <a:gd name="adj" fmla="val 10000"/>
            </a:avLst>
          </a:prstGeom>
          <a:solidFill>
            <a:srgbClr val="EEF3F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65A92522-9B55-F567-728C-6963016B5B2A}"/>
              </a:ext>
            </a:extLst>
          </p:cNvPr>
          <p:cNvSpPr txBox="1"/>
          <p:nvPr/>
        </p:nvSpPr>
        <p:spPr>
          <a:xfrm>
            <a:off x="8280400" y="1752600"/>
            <a:ext cx="3048000" cy="369332"/>
          </a:xfrm>
          <a:prstGeom prst="rect">
            <a:avLst/>
          </a:prstGeom>
          <a:noFill/>
        </p:spPr>
        <p:txBody>
          <a:bodyPr vert="horz" wrap="square" lIns="0" tIns="0" rIns="0" bIns="0" rtlCol="0" anchor="t">
            <a:noAutofit/>
          </a:bodyPr>
          <a:lstStyle/>
          <a:p>
            <a:r>
              <a:rPr lang="en-IN" sz="2200" b="1">
                <a:solidFill>
                  <a:srgbClr val="13293D"/>
                </a:solidFill>
                <a:latin typeface="Calibri" panose="020F0502020204030204" pitchFamily="34" charset="0"/>
              </a:rPr>
              <a:t>Linux</a:t>
            </a:r>
          </a:p>
        </p:txBody>
      </p:sp>
      <p:sp>
        <p:nvSpPr>
          <p:cNvPr id="12" name="TextBox 11">
            <a:extLst>
              <a:ext uri="{FF2B5EF4-FFF2-40B4-BE49-F238E27FC236}">
                <a16:creationId xmlns:a16="http://schemas.microsoft.com/office/drawing/2014/main" id="{31094CC7-EA16-F6C7-B2E9-51CA23DA950E}"/>
              </a:ext>
            </a:extLst>
          </p:cNvPr>
          <p:cNvSpPr txBox="1"/>
          <p:nvPr/>
        </p:nvSpPr>
        <p:spPr>
          <a:xfrm>
            <a:off x="8280400" y="2286000"/>
            <a:ext cx="3048000" cy="369332"/>
          </a:xfrm>
          <a:prstGeom prst="rect">
            <a:avLst/>
          </a:prstGeom>
          <a:noFill/>
        </p:spPr>
        <p:txBody>
          <a:bodyPr vert="horz" wrap="square" lIns="0" tIns="0" rIns="0" bIns="0" rtlCol="0" anchor="t">
            <a:noAutofit/>
          </a:bodyPr>
          <a:lstStyle/>
          <a:p>
            <a:pPr marL="228600" indent="-228600">
              <a:spcAft>
                <a:spcPts val="1000"/>
              </a:spcAft>
              <a:buFont typeface="+mj-lt"/>
              <a:buChar char="•"/>
            </a:pPr>
            <a:r>
              <a:rPr lang="en-US" sz="1500">
                <a:solidFill>
                  <a:srgbClr val="1E2A35"/>
                </a:solidFill>
                <a:latin typeface="Calibri" panose="020F0502020204030204" pitchFamily="34" charset="0"/>
              </a:rPr>
              <a:t>Docker Engine</a:t>
            </a:r>
          </a:p>
          <a:p>
            <a:pPr marL="228600" indent="-228600">
              <a:spcAft>
                <a:spcPts val="1000"/>
              </a:spcAft>
              <a:buFont typeface="+mj-lt"/>
              <a:buChar char="•"/>
            </a:pPr>
            <a:r>
              <a:rPr lang="en-US" sz="1500">
                <a:solidFill>
                  <a:srgbClr val="1E2A35"/>
                </a:solidFill>
                <a:latin typeface="Calibri" panose="020F0502020204030204" pitchFamily="34" charset="0"/>
              </a:rPr>
              <a:t>plus the Docker Compose plugin</a:t>
            </a:r>
            <a:endParaRPr lang="en-IN" sz="1500">
              <a:solidFill>
                <a:srgbClr val="1E2A35"/>
              </a:solidFill>
              <a:latin typeface="Calibri" panose="020F0502020204030204" pitchFamily="34" charset="0"/>
            </a:endParaRPr>
          </a:p>
        </p:txBody>
      </p:sp>
      <p:sp>
        <p:nvSpPr>
          <p:cNvPr id="13" name="Rectangle: Rounded Corners 12">
            <a:extLst>
              <a:ext uri="{FF2B5EF4-FFF2-40B4-BE49-F238E27FC236}">
                <a16:creationId xmlns:a16="http://schemas.microsoft.com/office/drawing/2014/main" id="{FED16231-EA6D-14ED-F7E6-1D908DCE6E28}"/>
              </a:ext>
            </a:extLst>
          </p:cNvPr>
          <p:cNvSpPr/>
          <p:nvPr/>
        </p:nvSpPr>
        <p:spPr>
          <a:xfrm>
            <a:off x="609600" y="4521200"/>
            <a:ext cx="10972800" cy="660400"/>
          </a:xfrm>
          <a:prstGeom prst="roundRect">
            <a:avLst>
              <a:gd name="adj" fmla="val 10000"/>
            </a:avLst>
          </a:prstGeom>
          <a:solidFill>
            <a:srgbClr val="D3EC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0" tIns="25400" rIns="76200" bIns="25400" rtlCol="0" anchor="ctr"/>
          <a:lstStyle/>
          <a:p>
            <a:r>
              <a:rPr lang="en-US" sz="1500" b="1">
                <a:solidFill>
                  <a:srgbClr val="13293D"/>
                </a:solidFill>
                <a:latin typeface="Calibri" panose="020F0502020204030204" pitchFamily="34" charset="0"/>
              </a:rPr>
              <a:t>Everyone:  Git   ·   the lab kit   ·   about 1.5 GB of disk   ·   VS Code (optional)   ·   run verify, expect READY</a:t>
            </a:r>
            <a:endParaRPr lang="en-IN" sz="1500" b="1">
              <a:solidFill>
                <a:srgbClr val="13293D"/>
              </a:solidFill>
              <a:latin typeface="Calibri" panose="020F0502020204030204" pitchFamily="34" charset="0"/>
            </a:endParaRPr>
          </a:p>
        </p:txBody>
      </p:sp>
      <p:sp>
        <p:nvSpPr>
          <p:cNvPr id="14" name="TextBox 13">
            <a:extLst>
              <a:ext uri="{FF2B5EF4-FFF2-40B4-BE49-F238E27FC236}">
                <a16:creationId xmlns:a16="http://schemas.microsoft.com/office/drawing/2014/main" id="{29EBAF0F-5C9E-1F11-FC3C-79A6EECC9E33}"/>
              </a:ext>
            </a:extLst>
          </p:cNvPr>
          <p:cNvSpPr txBox="1"/>
          <p:nvPr/>
        </p:nvSpPr>
        <p:spPr>
          <a:xfrm>
            <a:off x="609600" y="5384800"/>
            <a:ext cx="10972800" cy="369332"/>
          </a:xfrm>
          <a:prstGeom prst="rect">
            <a:avLst/>
          </a:prstGeom>
          <a:noFill/>
        </p:spPr>
        <p:txBody>
          <a:bodyPr vert="horz" wrap="square" lIns="0" tIns="0" rIns="0" bIns="0" rtlCol="0" anchor="t">
            <a:noAutofit/>
          </a:bodyPr>
          <a:lstStyle/>
          <a:p>
            <a:r>
              <a:rPr lang="en-US" sz="1500">
                <a:solidFill>
                  <a:srgbClr val="5B6B79"/>
                </a:solidFill>
                <a:latin typeface="Calibri" panose="020F0502020204030204" pitchFamily="34" charset="0"/>
              </a:rPr>
              <a:t>Laptop can't run Docker, for example because of company restrictions? Pair with a neighbour: every lab works with two people at one screen.</a:t>
            </a:r>
            <a:endParaRPr lang="en-IN" sz="1500">
              <a:solidFill>
                <a:srgbClr val="5B6B79"/>
              </a:solidFill>
              <a:latin typeface="Calibri" panose="020F0502020204030204" pitchFamily="34" charset="0"/>
            </a:endParaRPr>
          </a:p>
        </p:txBody>
      </p:sp>
      <p:sp>
        <p:nvSpPr>
          <p:cNvPr id="15" name="TextBox 14">
            <a:extLst>
              <a:ext uri="{FF2B5EF4-FFF2-40B4-BE49-F238E27FC236}">
                <a16:creationId xmlns:a16="http://schemas.microsoft.com/office/drawing/2014/main" id="{4AFC0BC7-D273-495A-72D4-D6276367250F}"/>
              </a:ext>
            </a:extLst>
          </p:cNvPr>
          <p:cNvSpPr txBox="1"/>
          <p:nvPr/>
        </p:nvSpPr>
        <p:spPr>
          <a:xfrm>
            <a:off x="609600" y="6502400"/>
            <a:ext cx="5080000" cy="369332"/>
          </a:xfrm>
          <a:prstGeom prst="rect">
            <a:avLst/>
          </a:prstGeom>
          <a:noFill/>
        </p:spPr>
        <p:txBody>
          <a:bodyPr vert="horz" wrap="square" lIns="0" tIns="0" rIns="0" bIns="0" rtlCol="0" anchor="t">
            <a:noAutofit/>
          </a:bodyPr>
          <a:lstStyle/>
          <a:p>
            <a:r>
              <a:rPr lang="en-US" sz="1000">
                <a:solidFill>
                  <a:srgbClr val="5B6B79"/>
                </a:solidFill>
                <a:latin typeface="Calibri" panose="020F0502020204030204" pitchFamily="34" charset="0"/>
              </a:rPr>
              <a:t>Securing the path to the cloud</a:t>
            </a:r>
            <a:endParaRPr lang="en-IN" sz="1000">
              <a:solidFill>
                <a:srgbClr val="5B6B79"/>
              </a:solidFill>
              <a:latin typeface="Calibri" panose="020F0502020204030204" pitchFamily="34" charset="0"/>
            </a:endParaRPr>
          </a:p>
        </p:txBody>
      </p:sp>
      <p:sp>
        <p:nvSpPr>
          <p:cNvPr id="16" name="TextBox 15">
            <a:extLst>
              <a:ext uri="{FF2B5EF4-FFF2-40B4-BE49-F238E27FC236}">
                <a16:creationId xmlns:a16="http://schemas.microsoft.com/office/drawing/2014/main" id="{95794998-8FC1-C8EA-0873-50C7B491CB9B}"/>
              </a:ext>
            </a:extLst>
          </p:cNvPr>
          <p:cNvSpPr txBox="1"/>
          <p:nvPr/>
        </p:nvSpPr>
        <p:spPr>
          <a:xfrm>
            <a:off x="10312400" y="6502400"/>
            <a:ext cx="1270000" cy="369332"/>
          </a:xfrm>
          <a:prstGeom prst="rect">
            <a:avLst/>
          </a:prstGeom>
          <a:noFill/>
        </p:spPr>
        <p:txBody>
          <a:bodyPr vert="horz" wrap="square" lIns="0" tIns="0" rIns="0" bIns="0" rtlCol="0" anchor="t">
            <a:noAutofit/>
          </a:bodyPr>
          <a:lstStyle/>
          <a:p>
            <a:pPr algn="r"/>
            <a:r>
              <a:rPr lang="en-IN" sz="1000">
                <a:solidFill>
                  <a:srgbClr val="5B6B79"/>
                </a:solidFill>
                <a:latin typeface="Calibri" panose="020F0502020204030204" pitchFamily="34" charset="0"/>
              </a:rPr>
              <a:t>9</a:t>
            </a:r>
          </a:p>
        </p:txBody>
      </p:sp>
    </p:spTree>
    <p:extLst>
      <p:ext uri="{BB962C8B-B14F-4D97-AF65-F5344CB8AC3E}">
        <p14:creationId xmlns:p14="http://schemas.microsoft.com/office/powerpoint/2010/main" val="13126212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6E3538F-D2C2-D103-C7BE-855C87CF151D}"/>
              </a:ext>
            </a:extLst>
          </p:cNvPr>
          <p:cNvSpPr txBox="1"/>
          <p:nvPr/>
        </p:nvSpPr>
        <p:spPr>
          <a:xfrm>
            <a:off x="609600" y="381000"/>
            <a:ext cx="10972800" cy="369332"/>
          </a:xfrm>
          <a:prstGeom prst="rect">
            <a:avLst/>
          </a:prstGeom>
          <a:noFill/>
        </p:spPr>
        <p:txBody>
          <a:bodyPr vert="horz" wrap="square" lIns="0" tIns="0" rIns="0" bIns="0" rtlCol="0" anchor="t">
            <a:noAutofit/>
          </a:bodyPr>
          <a:lstStyle/>
          <a:p>
            <a:r>
              <a:rPr lang="en-US" sz="3400" b="1">
                <a:solidFill>
                  <a:srgbClr val="13293D"/>
                </a:solidFill>
                <a:latin typeface="Calibri" panose="020F0502020204030204" pitchFamily="34" charset="0"/>
              </a:rPr>
              <a:t>My setup: Windows + WSL2 + Docker</a:t>
            </a:r>
            <a:endParaRPr lang="en-IN" sz="3400" b="1">
              <a:solidFill>
                <a:srgbClr val="13293D"/>
              </a:solidFill>
              <a:latin typeface="Calibri" panose="020F0502020204030204" pitchFamily="34" charset="0"/>
            </a:endParaRPr>
          </a:p>
        </p:txBody>
      </p:sp>
      <p:sp>
        <p:nvSpPr>
          <p:cNvPr id="3" name="Rectangle: Rounded Corners 2">
            <a:extLst>
              <a:ext uri="{FF2B5EF4-FFF2-40B4-BE49-F238E27FC236}">
                <a16:creationId xmlns:a16="http://schemas.microsoft.com/office/drawing/2014/main" id="{E9751713-3AD7-BB6E-097E-AA23DE854C8E}"/>
              </a:ext>
            </a:extLst>
          </p:cNvPr>
          <p:cNvSpPr/>
          <p:nvPr/>
        </p:nvSpPr>
        <p:spPr>
          <a:xfrm>
            <a:off x="609600" y="1320800"/>
            <a:ext cx="4826000" cy="685800"/>
          </a:xfrm>
          <a:prstGeom prst="roundRect">
            <a:avLst>
              <a:gd name="adj" fmla="val 10000"/>
            </a:avLst>
          </a:prstGeom>
          <a:solidFill>
            <a:srgbClr val="EEF3F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500" b="1">
                <a:solidFill>
                  <a:srgbClr val="13293D"/>
                </a:solidFill>
                <a:latin typeface="Calibri" panose="020F0502020204030204" pitchFamily="34" charset="0"/>
              </a:rPr>
              <a:t>Windows 11: VS Code, browser, PowerPoint</a:t>
            </a:r>
            <a:endParaRPr lang="en-IN" sz="1500" b="1">
              <a:solidFill>
                <a:srgbClr val="13293D"/>
              </a:solidFill>
              <a:latin typeface="Calibri" panose="020F0502020204030204" pitchFamily="34" charset="0"/>
            </a:endParaRPr>
          </a:p>
        </p:txBody>
      </p:sp>
      <p:sp>
        <p:nvSpPr>
          <p:cNvPr id="4" name="Rectangle: Rounded Corners 3">
            <a:extLst>
              <a:ext uri="{FF2B5EF4-FFF2-40B4-BE49-F238E27FC236}">
                <a16:creationId xmlns:a16="http://schemas.microsoft.com/office/drawing/2014/main" id="{22A86488-085D-D06A-FC97-7B6BE9E5897D}"/>
              </a:ext>
            </a:extLst>
          </p:cNvPr>
          <p:cNvSpPr/>
          <p:nvPr/>
        </p:nvSpPr>
        <p:spPr>
          <a:xfrm>
            <a:off x="609600" y="2108200"/>
            <a:ext cx="4826000" cy="685800"/>
          </a:xfrm>
          <a:prstGeom prst="roundRect">
            <a:avLst>
              <a:gd name="adj" fmla="val 10000"/>
            </a:avLst>
          </a:prstGeom>
          <a:solidFill>
            <a:srgbClr val="D3EC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500" b="1">
                <a:solidFill>
                  <a:srgbClr val="13293D"/>
                </a:solidFill>
                <a:latin typeface="Calibri" panose="020F0502020204030204" pitchFamily="34" charset="0"/>
              </a:rPr>
              <a:t>WSL2: a lightweight Linux virtual machine</a:t>
            </a:r>
            <a:endParaRPr lang="en-IN" sz="1500" b="1">
              <a:solidFill>
                <a:srgbClr val="13293D"/>
              </a:solidFill>
              <a:latin typeface="Calibri" panose="020F0502020204030204" pitchFamily="34" charset="0"/>
            </a:endParaRPr>
          </a:p>
        </p:txBody>
      </p:sp>
      <p:sp>
        <p:nvSpPr>
          <p:cNvPr id="5" name="Rectangle: Rounded Corners 4">
            <a:extLst>
              <a:ext uri="{FF2B5EF4-FFF2-40B4-BE49-F238E27FC236}">
                <a16:creationId xmlns:a16="http://schemas.microsoft.com/office/drawing/2014/main" id="{AD63730C-CCED-650F-74B9-81C808F798B5}"/>
              </a:ext>
            </a:extLst>
          </p:cNvPr>
          <p:cNvSpPr/>
          <p:nvPr/>
        </p:nvSpPr>
        <p:spPr>
          <a:xfrm>
            <a:off x="609600" y="2895600"/>
            <a:ext cx="4826000" cy="685800"/>
          </a:xfrm>
          <a:prstGeom prst="roundRect">
            <a:avLst>
              <a:gd name="adj" fmla="val 10000"/>
            </a:avLst>
          </a:prstGeom>
          <a:solidFill>
            <a:srgbClr val="D3EC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IN" sz="1500" b="1">
                <a:solidFill>
                  <a:srgbClr val="13293D"/>
                </a:solidFill>
                <a:latin typeface="Calibri" panose="020F0502020204030204" pitchFamily="34" charset="0"/>
              </a:rPr>
              <a:t>Ubuntu 24.04</a:t>
            </a:r>
          </a:p>
        </p:txBody>
      </p:sp>
      <p:sp>
        <p:nvSpPr>
          <p:cNvPr id="6" name="Rectangle: Rounded Corners 5">
            <a:extLst>
              <a:ext uri="{FF2B5EF4-FFF2-40B4-BE49-F238E27FC236}">
                <a16:creationId xmlns:a16="http://schemas.microsoft.com/office/drawing/2014/main" id="{362EB486-1D40-17D5-E3AE-A68F3E7D20B2}"/>
              </a:ext>
            </a:extLst>
          </p:cNvPr>
          <p:cNvSpPr/>
          <p:nvPr/>
        </p:nvSpPr>
        <p:spPr>
          <a:xfrm>
            <a:off x="609600" y="3683000"/>
            <a:ext cx="4826000" cy="685800"/>
          </a:xfrm>
          <a:prstGeom prst="roundRect">
            <a:avLst>
              <a:gd name="adj" fmla="val 10000"/>
            </a:avLst>
          </a:prstGeom>
          <a:solidFill>
            <a:srgbClr val="1B998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IN" sz="1500" b="1">
                <a:solidFill>
                  <a:srgbClr val="FFFFFF"/>
                </a:solidFill>
                <a:latin typeface="Calibri" panose="020F0502020204030204" pitchFamily="34" charset="0"/>
              </a:rPr>
              <a:t>Docker Engine + Compose plugin</a:t>
            </a:r>
          </a:p>
        </p:txBody>
      </p:sp>
      <p:sp>
        <p:nvSpPr>
          <p:cNvPr id="7" name="Rectangle: Rounded Corners 6">
            <a:extLst>
              <a:ext uri="{FF2B5EF4-FFF2-40B4-BE49-F238E27FC236}">
                <a16:creationId xmlns:a16="http://schemas.microsoft.com/office/drawing/2014/main" id="{6ED824AE-1CE0-8E7A-D7DC-ECC155F138F6}"/>
              </a:ext>
            </a:extLst>
          </p:cNvPr>
          <p:cNvSpPr/>
          <p:nvPr/>
        </p:nvSpPr>
        <p:spPr>
          <a:xfrm>
            <a:off x="609600" y="4470400"/>
            <a:ext cx="4826000" cy="685800"/>
          </a:xfrm>
          <a:prstGeom prst="roundRect">
            <a:avLst>
              <a:gd name="adj" fmla="val 10000"/>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IN" sz="1500" b="1">
                <a:solidFill>
                  <a:srgbClr val="FFFFFF"/>
                </a:solidFill>
                <a:latin typeface="Calibri" panose="020F0502020204030204" pitchFamily="34" charset="0"/>
              </a:rPr>
              <a:t>Containers: toolbox, SonarQube, Jenkins</a:t>
            </a:r>
          </a:p>
        </p:txBody>
      </p:sp>
      <p:sp>
        <p:nvSpPr>
          <p:cNvPr id="8" name="Rectangle: Rounded Corners 7">
            <a:extLst>
              <a:ext uri="{FF2B5EF4-FFF2-40B4-BE49-F238E27FC236}">
                <a16:creationId xmlns:a16="http://schemas.microsoft.com/office/drawing/2014/main" id="{8B9517F6-E002-060E-5AAE-575C66E5985F}"/>
              </a:ext>
            </a:extLst>
          </p:cNvPr>
          <p:cNvSpPr/>
          <p:nvPr/>
        </p:nvSpPr>
        <p:spPr>
          <a:xfrm>
            <a:off x="5740400" y="1320800"/>
            <a:ext cx="5842000" cy="2260600"/>
          </a:xfrm>
          <a:prstGeom prst="roundRect">
            <a:avLst>
              <a:gd name="adj" fmla="val 10000"/>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35D088A1-C932-A88E-92FC-07B8C617E147}"/>
              </a:ext>
            </a:extLst>
          </p:cNvPr>
          <p:cNvSpPr txBox="1"/>
          <p:nvPr/>
        </p:nvSpPr>
        <p:spPr>
          <a:xfrm>
            <a:off x="5994400" y="1498600"/>
            <a:ext cx="5334000" cy="369332"/>
          </a:xfrm>
          <a:prstGeom prst="rect">
            <a:avLst/>
          </a:prstGeom>
          <a:noFill/>
        </p:spPr>
        <p:txBody>
          <a:bodyPr vert="horz" wrap="square" lIns="0" tIns="0" rIns="0" bIns="0" rtlCol="0" anchor="t">
            <a:noAutofit/>
          </a:bodyPr>
          <a:lstStyle/>
          <a:p>
            <a:r>
              <a:rPr lang="en-IN" sz="1200">
                <a:solidFill>
                  <a:srgbClr val="8FD3C9"/>
                </a:solidFill>
                <a:latin typeface="Consolas" panose="020B0609020204030204" pitchFamily="49" charset="0"/>
              </a:rPr>
              <a:t># PowerShell, once</a:t>
            </a:r>
          </a:p>
          <a:p>
            <a:r>
              <a:rPr lang="en-IN" sz="1200">
                <a:solidFill>
                  <a:srgbClr val="FFFFFF"/>
                </a:solidFill>
                <a:latin typeface="Consolas" panose="020B0609020204030204" pitchFamily="49" charset="0"/>
              </a:rPr>
              <a:t>wsl --install -d Ubuntu-24.04</a:t>
            </a:r>
          </a:p>
          <a:p>
            <a:r>
              <a:rPr lang="en-IN" sz="1200">
                <a:solidFill>
                  <a:srgbClr val="8FD3C9"/>
                </a:solidFill>
                <a:latin typeface="Consolas" panose="020B0609020204030204" pitchFamily="49" charset="0"/>
              </a:rPr>
              <a:t># Ubuntu: install Docker Engine (see COMMANDS.md)</a:t>
            </a:r>
          </a:p>
          <a:p>
            <a:r>
              <a:rPr lang="en-IN" sz="1200">
                <a:solidFill>
                  <a:srgbClr val="FFFFFF"/>
                </a:solidFill>
                <a:latin typeface="Consolas" panose="020B0609020204030204" pitchFamily="49" charset="0"/>
              </a:rPr>
              <a:t>sudo usermod -aG docker $USER</a:t>
            </a:r>
          </a:p>
          <a:p>
            <a:r>
              <a:rPr lang="en-IN" sz="1200">
                <a:solidFill>
                  <a:srgbClr val="8FD3C9"/>
                </a:solidFill>
                <a:latin typeface="Consolas" panose="020B0609020204030204" pitchFamily="49" charset="0"/>
              </a:rPr>
              <a:t># Ubuntu: get the repo, build, check</a:t>
            </a:r>
          </a:p>
          <a:p>
            <a:r>
              <a:rPr lang="en-IN" sz="1200">
                <a:solidFill>
                  <a:srgbClr val="FFFFFF"/>
                </a:solidFill>
                <a:latin typeface="Consolas" panose="020B0609020204030204" pitchFamily="49" charset="0"/>
              </a:rPr>
              <a:t>cd /mnt/c/Users/&lt;you&gt;/Desktop</a:t>
            </a:r>
          </a:p>
          <a:p>
            <a:r>
              <a:rPr lang="en-IN" sz="1200">
                <a:solidFill>
                  <a:srgbClr val="FFFFFF"/>
                </a:solidFill>
                <a:latin typeface="Consolas" panose="020B0609020204030204" pitchFamily="49" charset="0"/>
              </a:rPr>
              <a:t>git clone https://github.com/PrathameshChopade/MIT-Cloud-Demo.git</a:t>
            </a:r>
          </a:p>
          <a:p>
            <a:r>
              <a:rPr lang="en-IN" sz="1200">
                <a:solidFill>
                  <a:srgbClr val="FFFFFF"/>
                </a:solidFill>
                <a:latin typeface="Consolas" panose="020B0609020204030204" pitchFamily="49" charset="0"/>
              </a:rPr>
              <a:t>cd MIT-Cloud-Demo</a:t>
            </a:r>
          </a:p>
          <a:p>
            <a:r>
              <a:rPr lang="en-IN" sz="1200">
                <a:solidFill>
                  <a:srgbClr val="FFFFFF"/>
                </a:solidFill>
                <a:latin typeface="Consolas" panose="020B0609020204030204" pitchFamily="49" charset="0"/>
              </a:rPr>
              <a:t>docker compose build</a:t>
            </a:r>
          </a:p>
          <a:p>
            <a:r>
              <a:rPr lang="en-IN" sz="1200">
                <a:solidFill>
                  <a:srgbClr val="FFFFFF"/>
                </a:solidFill>
                <a:latin typeface="Consolas" panose="020B0609020204030204" pitchFamily="49" charset="0"/>
              </a:rPr>
              <a:t>bash verify.sh</a:t>
            </a:r>
            <a:r>
              <a:rPr lang="en-IN" sz="1200">
                <a:solidFill>
                  <a:srgbClr val="8FD3C9"/>
                </a:solidFill>
                <a:latin typeface="Consolas" panose="020B0609020204030204" pitchFamily="49" charset="0"/>
              </a:rPr>
              <a:t>   # expect: READY</a:t>
            </a:r>
          </a:p>
        </p:txBody>
      </p:sp>
      <p:sp>
        <p:nvSpPr>
          <p:cNvPr id="10" name="TextBox 9">
            <a:extLst>
              <a:ext uri="{FF2B5EF4-FFF2-40B4-BE49-F238E27FC236}">
                <a16:creationId xmlns:a16="http://schemas.microsoft.com/office/drawing/2014/main" id="{43D4F5EE-8562-1F76-C303-1812F98F50D2}"/>
              </a:ext>
            </a:extLst>
          </p:cNvPr>
          <p:cNvSpPr txBox="1"/>
          <p:nvPr/>
        </p:nvSpPr>
        <p:spPr>
          <a:xfrm>
            <a:off x="5740400" y="3835400"/>
            <a:ext cx="5842000" cy="369332"/>
          </a:xfrm>
          <a:prstGeom prst="rect">
            <a:avLst/>
          </a:prstGeom>
          <a:noFill/>
        </p:spPr>
        <p:txBody>
          <a:bodyPr vert="horz" wrap="square" lIns="0" tIns="0" rIns="0" bIns="0" rtlCol="0" anchor="t">
            <a:noAutofit/>
          </a:bodyPr>
          <a:lstStyle/>
          <a:p>
            <a:r>
              <a:rPr lang="en-US" sz="1500">
                <a:solidFill>
                  <a:srgbClr val="1E2A35"/>
                </a:solidFill>
                <a:latin typeface="Calibri" panose="020F0502020204030204" pitchFamily="34" charset="0"/>
              </a:rPr>
              <a:t>Cloning onto the Windows drive (/mnt/c) lets VS Code on Windows show the lab files while the tools run in Ubuntu.</a:t>
            </a:r>
            <a:endParaRPr lang="en-IN" sz="1500">
              <a:solidFill>
                <a:srgbClr val="1E2A35"/>
              </a:solidFill>
              <a:latin typeface="Calibri" panose="020F0502020204030204" pitchFamily="34" charset="0"/>
            </a:endParaRPr>
          </a:p>
        </p:txBody>
      </p:sp>
      <p:sp>
        <p:nvSpPr>
          <p:cNvPr id="11" name="TextBox 10">
            <a:extLst>
              <a:ext uri="{FF2B5EF4-FFF2-40B4-BE49-F238E27FC236}">
                <a16:creationId xmlns:a16="http://schemas.microsoft.com/office/drawing/2014/main" id="{5D8411A7-AD9A-301F-89F5-1F3319C4DF98}"/>
              </a:ext>
            </a:extLst>
          </p:cNvPr>
          <p:cNvSpPr txBox="1"/>
          <p:nvPr/>
        </p:nvSpPr>
        <p:spPr>
          <a:xfrm>
            <a:off x="609600" y="6502400"/>
            <a:ext cx="5080000" cy="369332"/>
          </a:xfrm>
          <a:prstGeom prst="rect">
            <a:avLst/>
          </a:prstGeom>
          <a:noFill/>
        </p:spPr>
        <p:txBody>
          <a:bodyPr vert="horz" wrap="square" lIns="0" tIns="0" rIns="0" bIns="0" rtlCol="0" anchor="t">
            <a:noAutofit/>
          </a:bodyPr>
          <a:lstStyle/>
          <a:p>
            <a:r>
              <a:rPr lang="en-US" sz="1000">
                <a:solidFill>
                  <a:srgbClr val="5B6B79"/>
                </a:solidFill>
                <a:latin typeface="Calibri" panose="020F0502020204030204" pitchFamily="34" charset="0"/>
              </a:rPr>
              <a:t>Securing the path to the cloud</a:t>
            </a:r>
            <a:endParaRPr lang="en-IN" sz="1000">
              <a:solidFill>
                <a:srgbClr val="5B6B79"/>
              </a:solidFill>
              <a:latin typeface="Calibri" panose="020F0502020204030204" pitchFamily="34" charset="0"/>
            </a:endParaRPr>
          </a:p>
        </p:txBody>
      </p:sp>
      <p:sp>
        <p:nvSpPr>
          <p:cNvPr id="12" name="TextBox 11">
            <a:extLst>
              <a:ext uri="{FF2B5EF4-FFF2-40B4-BE49-F238E27FC236}">
                <a16:creationId xmlns:a16="http://schemas.microsoft.com/office/drawing/2014/main" id="{F1A50387-01B1-0B0F-C0AB-4D8446F16D78}"/>
              </a:ext>
            </a:extLst>
          </p:cNvPr>
          <p:cNvSpPr txBox="1"/>
          <p:nvPr/>
        </p:nvSpPr>
        <p:spPr>
          <a:xfrm>
            <a:off x="10312400" y="6502400"/>
            <a:ext cx="1270000" cy="369332"/>
          </a:xfrm>
          <a:prstGeom prst="rect">
            <a:avLst/>
          </a:prstGeom>
          <a:noFill/>
        </p:spPr>
        <p:txBody>
          <a:bodyPr vert="horz" wrap="square" lIns="0" tIns="0" rIns="0" bIns="0" rtlCol="0" anchor="t">
            <a:noAutofit/>
          </a:bodyPr>
          <a:lstStyle/>
          <a:p>
            <a:pPr algn="r"/>
            <a:r>
              <a:rPr lang="en-IN" sz="1000">
                <a:solidFill>
                  <a:srgbClr val="5B6B79"/>
                </a:solidFill>
                <a:latin typeface="Calibri" panose="020F0502020204030204" pitchFamily="34" charset="0"/>
              </a:rPr>
              <a:t>10</a:t>
            </a:r>
          </a:p>
        </p:txBody>
      </p:sp>
    </p:spTree>
    <p:extLst>
      <p:ext uri="{BB962C8B-B14F-4D97-AF65-F5344CB8AC3E}">
        <p14:creationId xmlns:p14="http://schemas.microsoft.com/office/powerpoint/2010/main" val="15422903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EE11E90-06F7-BF5A-1A0A-25659C6DD8E3}"/>
              </a:ext>
            </a:extLst>
          </p:cNvPr>
          <p:cNvSpPr txBox="1"/>
          <p:nvPr/>
        </p:nvSpPr>
        <p:spPr>
          <a:xfrm>
            <a:off x="609600" y="381000"/>
            <a:ext cx="10972800" cy="369332"/>
          </a:xfrm>
          <a:prstGeom prst="rect">
            <a:avLst/>
          </a:prstGeom>
          <a:noFill/>
        </p:spPr>
        <p:txBody>
          <a:bodyPr vert="horz" wrap="square" lIns="0" tIns="0" rIns="0" bIns="0" rtlCol="0" anchor="t">
            <a:noAutofit/>
          </a:bodyPr>
          <a:lstStyle/>
          <a:p>
            <a:r>
              <a:rPr lang="en-IN" sz="3400" b="1">
                <a:solidFill>
                  <a:srgbClr val="13293D"/>
                </a:solidFill>
                <a:latin typeface="Calibri" panose="020F0502020204030204" pitchFamily="34" charset="0"/>
              </a:rPr>
              <a:t>How the labs work</a:t>
            </a:r>
          </a:p>
        </p:txBody>
      </p:sp>
      <p:sp>
        <p:nvSpPr>
          <p:cNvPr id="3" name="Rectangle: Rounded Corners 2">
            <a:extLst>
              <a:ext uri="{FF2B5EF4-FFF2-40B4-BE49-F238E27FC236}">
                <a16:creationId xmlns:a16="http://schemas.microsoft.com/office/drawing/2014/main" id="{38A0A85B-9E6B-0D49-0037-E0CCA910A806}"/>
              </a:ext>
            </a:extLst>
          </p:cNvPr>
          <p:cNvSpPr/>
          <p:nvPr/>
        </p:nvSpPr>
        <p:spPr>
          <a:xfrm>
            <a:off x="609600" y="1473200"/>
            <a:ext cx="5207000" cy="1397000"/>
          </a:xfrm>
          <a:prstGeom prst="roundRect">
            <a:avLst>
              <a:gd name="adj" fmla="val 10000"/>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F20DC66F-6F13-FF3A-BD4D-1B62FE346C5E}"/>
              </a:ext>
            </a:extLst>
          </p:cNvPr>
          <p:cNvSpPr txBox="1"/>
          <p:nvPr/>
        </p:nvSpPr>
        <p:spPr>
          <a:xfrm>
            <a:off x="914400" y="1676400"/>
            <a:ext cx="4572000" cy="369332"/>
          </a:xfrm>
          <a:prstGeom prst="rect">
            <a:avLst/>
          </a:prstGeom>
          <a:noFill/>
        </p:spPr>
        <p:txBody>
          <a:bodyPr vert="horz" wrap="square" lIns="0" tIns="0" rIns="0" bIns="0" rtlCol="0" anchor="t">
            <a:noAutofit/>
          </a:bodyPr>
          <a:lstStyle/>
          <a:p>
            <a:r>
              <a:rPr lang="en-IN" sz="1200" b="1">
                <a:solidFill>
                  <a:srgbClr val="1B998B"/>
                </a:solidFill>
                <a:latin typeface="Calibri" panose="020F0502020204030204" pitchFamily="34" charset="0"/>
              </a:rPr>
              <a:t>START THE TOOLBOX</a:t>
            </a:r>
          </a:p>
        </p:txBody>
      </p:sp>
      <p:sp>
        <p:nvSpPr>
          <p:cNvPr id="5" name="TextBox 4">
            <a:extLst>
              <a:ext uri="{FF2B5EF4-FFF2-40B4-BE49-F238E27FC236}">
                <a16:creationId xmlns:a16="http://schemas.microsoft.com/office/drawing/2014/main" id="{BB3BE187-9A5F-3159-F227-1A458924FEFD}"/>
              </a:ext>
            </a:extLst>
          </p:cNvPr>
          <p:cNvSpPr txBox="1"/>
          <p:nvPr/>
        </p:nvSpPr>
        <p:spPr>
          <a:xfrm>
            <a:off x="914400" y="2006600"/>
            <a:ext cx="4699000" cy="369332"/>
          </a:xfrm>
          <a:prstGeom prst="rect">
            <a:avLst/>
          </a:prstGeom>
          <a:noFill/>
        </p:spPr>
        <p:txBody>
          <a:bodyPr vert="horz" wrap="square" lIns="0" tIns="0" rIns="0" bIns="0" rtlCol="0" anchor="t">
            <a:noAutofit/>
          </a:bodyPr>
          <a:lstStyle/>
          <a:p>
            <a:r>
              <a:rPr lang="en-US" sz="1600">
                <a:solidFill>
                  <a:srgbClr val="FFFFFF"/>
                </a:solidFill>
                <a:latin typeface="Consolas" panose="020B0609020204030204" pitchFamily="49" charset="0"/>
              </a:rPr>
              <a:t>cd MIT-Cloud-Demo</a:t>
            </a:r>
          </a:p>
          <a:p>
            <a:r>
              <a:rPr lang="en-US" sz="1600">
                <a:solidFill>
                  <a:srgbClr val="FFFFFF"/>
                </a:solidFill>
                <a:latin typeface="Consolas" panose="020B0609020204030204" pitchFamily="49" charset="0"/>
              </a:rPr>
              <a:t>docker compose run --rm toolbox</a:t>
            </a:r>
            <a:endParaRPr lang="en-IN" sz="1600">
              <a:solidFill>
                <a:srgbClr val="FFFFFF"/>
              </a:solidFill>
              <a:latin typeface="Consolas" panose="020B0609020204030204" pitchFamily="49" charset="0"/>
            </a:endParaRPr>
          </a:p>
        </p:txBody>
      </p:sp>
      <p:sp>
        <p:nvSpPr>
          <p:cNvPr id="6" name="TextBox 5">
            <a:extLst>
              <a:ext uri="{FF2B5EF4-FFF2-40B4-BE49-F238E27FC236}">
                <a16:creationId xmlns:a16="http://schemas.microsoft.com/office/drawing/2014/main" id="{F945CA7F-1E4D-BC6C-D9DF-EE012EA3B07E}"/>
              </a:ext>
            </a:extLst>
          </p:cNvPr>
          <p:cNvSpPr txBox="1"/>
          <p:nvPr/>
        </p:nvSpPr>
        <p:spPr>
          <a:xfrm>
            <a:off x="609600" y="3098800"/>
            <a:ext cx="5207000" cy="369332"/>
          </a:xfrm>
          <a:prstGeom prst="rect">
            <a:avLst/>
          </a:prstGeom>
          <a:noFill/>
        </p:spPr>
        <p:txBody>
          <a:bodyPr vert="horz" wrap="square" lIns="0" tIns="0" rIns="0" bIns="0" rtlCol="0" anchor="t">
            <a:noAutofit/>
          </a:bodyPr>
          <a:lstStyle/>
          <a:p>
            <a:r>
              <a:rPr lang="en-US" sz="1500">
                <a:solidFill>
                  <a:srgbClr val="1E2A35"/>
                </a:solidFill>
                <a:latin typeface="Calibri" panose="020F0502020204030204" pitchFamily="34" charset="0"/>
              </a:rPr>
              <a:t>One container with every tool you need: git, gitleaks and Checkov. Nothing else to install.</a:t>
            </a:r>
            <a:endParaRPr lang="en-IN" sz="1500">
              <a:solidFill>
                <a:srgbClr val="1E2A35"/>
              </a:solidFill>
              <a:latin typeface="Calibri" panose="020F0502020204030204" pitchFamily="34" charset="0"/>
            </a:endParaRPr>
          </a:p>
        </p:txBody>
      </p:sp>
      <p:sp>
        <p:nvSpPr>
          <p:cNvPr id="7" name="TextBox 6">
            <a:extLst>
              <a:ext uri="{FF2B5EF4-FFF2-40B4-BE49-F238E27FC236}">
                <a16:creationId xmlns:a16="http://schemas.microsoft.com/office/drawing/2014/main" id="{F77FF7F7-7391-4B7D-6346-60DE48EB66E3}"/>
              </a:ext>
            </a:extLst>
          </p:cNvPr>
          <p:cNvSpPr txBox="1"/>
          <p:nvPr/>
        </p:nvSpPr>
        <p:spPr>
          <a:xfrm>
            <a:off x="609600" y="3810000"/>
            <a:ext cx="5207000" cy="369332"/>
          </a:xfrm>
          <a:prstGeom prst="rect">
            <a:avLst/>
          </a:prstGeom>
          <a:noFill/>
        </p:spPr>
        <p:txBody>
          <a:bodyPr vert="horz" wrap="square" lIns="0" tIns="0" rIns="0" bIns="0" rtlCol="0" anchor="t">
            <a:noAutofit/>
          </a:bodyPr>
          <a:lstStyle/>
          <a:p>
            <a:r>
              <a:rPr lang="en-US" sz="1500">
                <a:solidFill>
                  <a:srgbClr val="1E2A35"/>
                </a:solidFill>
                <a:latin typeface="Calibri" panose="020F0502020204030204" pitchFamily="34" charset="0"/>
              </a:rPr>
              <a:t>It opens in the repo folder, so every path matches the repo. Follow along in VS Code; one git command resets it all.</a:t>
            </a:r>
            <a:endParaRPr lang="en-IN" sz="1500">
              <a:solidFill>
                <a:srgbClr val="1E2A35"/>
              </a:solidFill>
              <a:latin typeface="Calibri" panose="020F0502020204030204" pitchFamily="34" charset="0"/>
            </a:endParaRPr>
          </a:p>
        </p:txBody>
      </p:sp>
      <p:sp>
        <p:nvSpPr>
          <p:cNvPr id="8" name="TextBox 7">
            <a:extLst>
              <a:ext uri="{FF2B5EF4-FFF2-40B4-BE49-F238E27FC236}">
                <a16:creationId xmlns:a16="http://schemas.microsoft.com/office/drawing/2014/main" id="{68B63DFA-4B27-9304-01A6-0CB5955FA794}"/>
              </a:ext>
            </a:extLst>
          </p:cNvPr>
          <p:cNvSpPr txBox="1"/>
          <p:nvPr/>
        </p:nvSpPr>
        <p:spPr>
          <a:xfrm>
            <a:off x="609600" y="4521200"/>
            <a:ext cx="5207000" cy="369332"/>
          </a:xfrm>
          <a:prstGeom prst="rect">
            <a:avLst/>
          </a:prstGeom>
          <a:noFill/>
        </p:spPr>
        <p:txBody>
          <a:bodyPr vert="horz" wrap="square" lIns="0" tIns="0" rIns="0" bIns="0" rtlCol="0" anchor="t">
            <a:noAutofit/>
          </a:bodyPr>
          <a:lstStyle/>
          <a:p>
            <a:r>
              <a:rPr lang="en-US" sz="1500" b="1">
                <a:solidFill>
                  <a:srgbClr val="E4572E"/>
                </a:solidFill>
                <a:latin typeface="Calibri" panose="020F0502020204030204" pitchFamily="34" charset="0"/>
              </a:rPr>
              <a:t>All passwords and keys in the lab files are fake. Every command is in COMMANDS.md in the repo.</a:t>
            </a:r>
            <a:endParaRPr lang="en-IN" sz="1500" b="1">
              <a:solidFill>
                <a:srgbClr val="E4572E"/>
              </a:solidFill>
              <a:latin typeface="Calibri" panose="020F0502020204030204" pitchFamily="34" charset="0"/>
            </a:endParaRPr>
          </a:p>
        </p:txBody>
      </p:sp>
      <p:sp>
        <p:nvSpPr>
          <p:cNvPr id="9" name="Oval 8">
            <a:extLst>
              <a:ext uri="{FF2B5EF4-FFF2-40B4-BE49-F238E27FC236}">
                <a16:creationId xmlns:a16="http://schemas.microsoft.com/office/drawing/2014/main" id="{9AF5DB17-F3C5-860A-7FC0-E2DC91C4C7AE}"/>
              </a:ext>
            </a:extLst>
          </p:cNvPr>
          <p:cNvSpPr/>
          <p:nvPr/>
        </p:nvSpPr>
        <p:spPr>
          <a:xfrm>
            <a:off x="6502400" y="1473200"/>
            <a:ext cx="609600" cy="609600"/>
          </a:xfrm>
          <a:prstGeom prst="ellipse">
            <a:avLst/>
          </a:prstGeom>
          <a:solidFill>
            <a:srgbClr val="1B998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IN" b="1">
                <a:solidFill>
                  <a:srgbClr val="FFFFFF"/>
                </a:solidFill>
                <a:latin typeface="Calibri" panose="020F0502020204030204" pitchFamily="34" charset="0"/>
              </a:rPr>
              <a:t>1</a:t>
            </a:r>
          </a:p>
        </p:txBody>
      </p:sp>
      <p:sp>
        <p:nvSpPr>
          <p:cNvPr id="10" name="TextBox 9">
            <a:extLst>
              <a:ext uri="{FF2B5EF4-FFF2-40B4-BE49-F238E27FC236}">
                <a16:creationId xmlns:a16="http://schemas.microsoft.com/office/drawing/2014/main" id="{FBD30DBB-3539-4D80-87DE-731FD16F015E}"/>
              </a:ext>
            </a:extLst>
          </p:cNvPr>
          <p:cNvSpPr txBox="1"/>
          <p:nvPr/>
        </p:nvSpPr>
        <p:spPr>
          <a:xfrm>
            <a:off x="7340600" y="1498600"/>
            <a:ext cx="4191000" cy="369332"/>
          </a:xfrm>
          <a:prstGeom prst="rect">
            <a:avLst/>
          </a:prstGeom>
          <a:noFill/>
        </p:spPr>
        <p:txBody>
          <a:bodyPr vert="horz" wrap="square" lIns="0" tIns="0" rIns="0" bIns="0" rtlCol="0" anchor="t">
            <a:noAutofit/>
          </a:bodyPr>
          <a:lstStyle/>
          <a:p>
            <a:r>
              <a:rPr lang="en-IN" sz="2000" b="1">
                <a:solidFill>
                  <a:srgbClr val="13293D"/>
                </a:solidFill>
                <a:latin typeface="Calibri" panose="020F0502020204030204" pitchFamily="34" charset="0"/>
              </a:rPr>
              <a:t>See</a:t>
            </a:r>
          </a:p>
        </p:txBody>
      </p:sp>
      <p:sp>
        <p:nvSpPr>
          <p:cNvPr id="11" name="TextBox 10">
            <a:extLst>
              <a:ext uri="{FF2B5EF4-FFF2-40B4-BE49-F238E27FC236}">
                <a16:creationId xmlns:a16="http://schemas.microsoft.com/office/drawing/2014/main" id="{2D3BAEBF-B432-F7C8-9DA9-E81082E0DB1A}"/>
              </a:ext>
            </a:extLst>
          </p:cNvPr>
          <p:cNvSpPr txBox="1"/>
          <p:nvPr/>
        </p:nvSpPr>
        <p:spPr>
          <a:xfrm>
            <a:off x="7340600" y="1828800"/>
            <a:ext cx="4191000" cy="369332"/>
          </a:xfrm>
          <a:prstGeom prst="rect">
            <a:avLst/>
          </a:prstGeom>
          <a:noFill/>
        </p:spPr>
        <p:txBody>
          <a:bodyPr vert="horz" wrap="square" lIns="0" tIns="0" rIns="0" bIns="0" rtlCol="0" anchor="t">
            <a:noAutofit/>
          </a:bodyPr>
          <a:lstStyle/>
          <a:p>
            <a:r>
              <a:rPr lang="en-US" sz="1500">
                <a:solidFill>
                  <a:srgbClr val="1E2A35"/>
                </a:solidFill>
                <a:latin typeface="Calibri" panose="020F0502020204030204" pitchFamily="34" charset="0"/>
              </a:rPr>
              <a:t>Each lab starts from deliberately insecure files.</a:t>
            </a:r>
            <a:endParaRPr lang="en-IN" sz="1500">
              <a:solidFill>
                <a:srgbClr val="1E2A35"/>
              </a:solidFill>
              <a:latin typeface="Calibri" panose="020F0502020204030204" pitchFamily="34" charset="0"/>
            </a:endParaRPr>
          </a:p>
        </p:txBody>
      </p:sp>
      <p:sp>
        <p:nvSpPr>
          <p:cNvPr id="12" name="Oval 11">
            <a:extLst>
              <a:ext uri="{FF2B5EF4-FFF2-40B4-BE49-F238E27FC236}">
                <a16:creationId xmlns:a16="http://schemas.microsoft.com/office/drawing/2014/main" id="{8411E428-DBBA-4750-89C4-0959B6D5873B}"/>
              </a:ext>
            </a:extLst>
          </p:cNvPr>
          <p:cNvSpPr/>
          <p:nvPr/>
        </p:nvSpPr>
        <p:spPr>
          <a:xfrm>
            <a:off x="6502400" y="2463800"/>
            <a:ext cx="609600" cy="609600"/>
          </a:xfrm>
          <a:prstGeom prst="ellipse">
            <a:avLst/>
          </a:prstGeom>
          <a:solidFill>
            <a:srgbClr val="1B998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IN" b="1">
                <a:solidFill>
                  <a:srgbClr val="FFFFFF"/>
                </a:solidFill>
                <a:latin typeface="Calibri" panose="020F0502020204030204" pitchFamily="34" charset="0"/>
              </a:rPr>
              <a:t>2</a:t>
            </a:r>
          </a:p>
        </p:txBody>
      </p:sp>
      <p:sp>
        <p:nvSpPr>
          <p:cNvPr id="13" name="TextBox 12">
            <a:extLst>
              <a:ext uri="{FF2B5EF4-FFF2-40B4-BE49-F238E27FC236}">
                <a16:creationId xmlns:a16="http://schemas.microsoft.com/office/drawing/2014/main" id="{C31458E3-14FC-C6CC-BCE0-8565944AD06C}"/>
              </a:ext>
            </a:extLst>
          </p:cNvPr>
          <p:cNvSpPr txBox="1"/>
          <p:nvPr/>
        </p:nvSpPr>
        <p:spPr>
          <a:xfrm>
            <a:off x="7340600" y="2489200"/>
            <a:ext cx="4191000" cy="369332"/>
          </a:xfrm>
          <a:prstGeom prst="rect">
            <a:avLst/>
          </a:prstGeom>
          <a:noFill/>
        </p:spPr>
        <p:txBody>
          <a:bodyPr vert="horz" wrap="square" lIns="0" tIns="0" rIns="0" bIns="0" rtlCol="0" anchor="t">
            <a:noAutofit/>
          </a:bodyPr>
          <a:lstStyle/>
          <a:p>
            <a:r>
              <a:rPr lang="en-IN" sz="2000" b="1">
                <a:solidFill>
                  <a:srgbClr val="13293D"/>
                </a:solidFill>
                <a:latin typeface="Calibri" panose="020F0502020204030204" pitchFamily="34" charset="0"/>
              </a:rPr>
              <a:t>Catch</a:t>
            </a:r>
          </a:p>
        </p:txBody>
      </p:sp>
      <p:sp>
        <p:nvSpPr>
          <p:cNvPr id="14" name="TextBox 13">
            <a:extLst>
              <a:ext uri="{FF2B5EF4-FFF2-40B4-BE49-F238E27FC236}">
                <a16:creationId xmlns:a16="http://schemas.microsoft.com/office/drawing/2014/main" id="{B85A4E3A-A4BC-99CE-6513-DAA98FBF605A}"/>
              </a:ext>
            </a:extLst>
          </p:cNvPr>
          <p:cNvSpPr txBox="1"/>
          <p:nvPr/>
        </p:nvSpPr>
        <p:spPr>
          <a:xfrm>
            <a:off x="7340600" y="2819400"/>
            <a:ext cx="4191000" cy="369332"/>
          </a:xfrm>
          <a:prstGeom prst="rect">
            <a:avLst/>
          </a:prstGeom>
          <a:noFill/>
        </p:spPr>
        <p:txBody>
          <a:bodyPr vert="horz" wrap="square" lIns="0" tIns="0" rIns="0" bIns="0" rtlCol="0" anchor="t">
            <a:noAutofit/>
          </a:bodyPr>
          <a:lstStyle/>
          <a:p>
            <a:r>
              <a:rPr lang="en-US" sz="1500">
                <a:solidFill>
                  <a:srgbClr val="1E2A35"/>
                </a:solidFill>
                <a:latin typeface="Calibri" panose="020F0502020204030204" pitchFamily="34" charset="0"/>
              </a:rPr>
              <a:t>Run a free, open-source scanner.</a:t>
            </a:r>
            <a:endParaRPr lang="en-IN" sz="1500">
              <a:solidFill>
                <a:srgbClr val="1E2A35"/>
              </a:solidFill>
              <a:latin typeface="Calibri" panose="020F0502020204030204" pitchFamily="34" charset="0"/>
            </a:endParaRPr>
          </a:p>
        </p:txBody>
      </p:sp>
      <p:sp>
        <p:nvSpPr>
          <p:cNvPr id="15" name="Oval 14">
            <a:extLst>
              <a:ext uri="{FF2B5EF4-FFF2-40B4-BE49-F238E27FC236}">
                <a16:creationId xmlns:a16="http://schemas.microsoft.com/office/drawing/2014/main" id="{6D782B98-37AB-2934-E1F3-54B29657AE6D}"/>
              </a:ext>
            </a:extLst>
          </p:cNvPr>
          <p:cNvSpPr/>
          <p:nvPr/>
        </p:nvSpPr>
        <p:spPr>
          <a:xfrm>
            <a:off x="6502400" y="3454400"/>
            <a:ext cx="609600" cy="609600"/>
          </a:xfrm>
          <a:prstGeom prst="ellipse">
            <a:avLst/>
          </a:prstGeom>
          <a:solidFill>
            <a:srgbClr val="1B998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IN" b="1">
                <a:solidFill>
                  <a:srgbClr val="FFFFFF"/>
                </a:solidFill>
                <a:latin typeface="Calibri" panose="020F0502020204030204" pitchFamily="34" charset="0"/>
              </a:rPr>
              <a:t>3</a:t>
            </a:r>
          </a:p>
        </p:txBody>
      </p:sp>
      <p:sp>
        <p:nvSpPr>
          <p:cNvPr id="16" name="TextBox 15">
            <a:extLst>
              <a:ext uri="{FF2B5EF4-FFF2-40B4-BE49-F238E27FC236}">
                <a16:creationId xmlns:a16="http://schemas.microsoft.com/office/drawing/2014/main" id="{605F308C-66F4-C602-A598-C0B873212D95}"/>
              </a:ext>
            </a:extLst>
          </p:cNvPr>
          <p:cNvSpPr txBox="1"/>
          <p:nvPr/>
        </p:nvSpPr>
        <p:spPr>
          <a:xfrm>
            <a:off x="7340600" y="3479800"/>
            <a:ext cx="4191000" cy="369332"/>
          </a:xfrm>
          <a:prstGeom prst="rect">
            <a:avLst/>
          </a:prstGeom>
          <a:noFill/>
        </p:spPr>
        <p:txBody>
          <a:bodyPr vert="horz" wrap="square" lIns="0" tIns="0" rIns="0" bIns="0" rtlCol="0" anchor="t">
            <a:noAutofit/>
          </a:bodyPr>
          <a:lstStyle/>
          <a:p>
            <a:r>
              <a:rPr lang="en-IN" sz="2000" b="1">
                <a:solidFill>
                  <a:srgbClr val="13293D"/>
                </a:solidFill>
                <a:latin typeface="Calibri" panose="020F0502020204030204" pitchFamily="34" charset="0"/>
              </a:rPr>
              <a:t>Fix</a:t>
            </a:r>
          </a:p>
        </p:txBody>
      </p:sp>
      <p:sp>
        <p:nvSpPr>
          <p:cNvPr id="17" name="TextBox 16">
            <a:extLst>
              <a:ext uri="{FF2B5EF4-FFF2-40B4-BE49-F238E27FC236}">
                <a16:creationId xmlns:a16="http://schemas.microsoft.com/office/drawing/2014/main" id="{792CFCB8-29CA-BE63-5483-128E2917F047}"/>
              </a:ext>
            </a:extLst>
          </p:cNvPr>
          <p:cNvSpPr txBox="1"/>
          <p:nvPr/>
        </p:nvSpPr>
        <p:spPr>
          <a:xfrm>
            <a:off x="7340600" y="3810000"/>
            <a:ext cx="4191000" cy="369332"/>
          </a:xfrm>
          <a:prstGeom prst="rect">
            <a:avLst/>
          </a:prstGeom>
          <a:noFill/>
        </p:spPr>
        <p:txBody>
          <a:bodyPr vert="horz" wrap="square" lIns="0" tIns="0" rIns="0" bIns="0" rtlCol="0" anchor="t">
            <a:noAutofit/>
          </a:bodyPr>
          <a:lstStyle/>
          <a:p>
            <a:r>
              <a:rPr lang="en-US" sz="1500">
                <a:solidFill>
                  <a:srgbClr val="1E2A35"/>
                </a:solidFill>
                <a:latin typeface="Calibri" panose="020F0502020204030204" pitchFamily="34" charset="0"/>
              </a:rPr>
              <a:t>Apply the fix, or compare with the solution.</a:t>
            </a:r>
            <a:endParaRPr lang="en-IN" sz="1500">
              <a:solidFill>
                <a:srgbClr val="1E2A35"/>
              </a:solidFill>
              <a:latin typeface="Calibri" panose="020F0502020204030204" pitchFamily="34" charset="0"/>
            </a:endParaRPr>
          </a:p>
        </p:txBody>
      </p:sp>
      <p:sp>
        <p:nvSpPr>
          <p:cNvPr id="18" name="Oval 17">
            <a:extLst>
              <a:ext uri="{FF2B5EF4-FFF2-40B4-BE49-F238E27FC236}">
                <a16:creationId xmlns:a16="http://schemas.microsoft.com/office/drawing/2014/main" id="{47B6D84C-26EB-24CD-46A7-C282AF16F0E6}"/>
              </a:ext>
            </a:extLst>
          </p:cNvPr>
          <p:cNvSpPr/>
          <p:nvPr/>
        </p:nvSpPr>
        <p:spPr>
          <a:xfrm>
            <a:off x="6502400" y="4445000"/>
            <a:ext cx="609600" cy="609600"/>
          </a:xfrm>
          <a:prstGeom prst="ellipse">
            <a:avLst/>
          </a:prstGeom>
          <a:solidFill>
            <a:srgbClr val="1B998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IN" b="1">
                <a:solidFill>
                  <a:srgbClr val="FFFFFF"/>
                </a:solidFill>
                <a:latin typeface="Calibri" panose="020F0502020204030204" pitchFamily="34" charset="0"/>
              </a:rPr>
              <a:t>4</a:t>
            </a:r>
          </a:p>
        </p:txBody>
      </p:sp>
      <p:sp>
        <p:nvSpPr>
          <p:cNvPr id="19" name="TextBox 18">
            <a:extLst>
              <a:ext uri="{FF2B5EF4-FFF2-40B4-BE49-F238E27FC236}">
                <a16:creationId xmlns:a16="http://schemas.microsoft.com/office/drawing/2014/main" id="{D0F280D8-4E23-3467-0DE8-0513D61CD001}"/>
              </a:ext>
            </a:extLst>
          </p:cNvPr>
          <p:cNvSpPr txBox="1"/>
          <p:nvPr/>
        </p:nvSpPr>
        <p:spPr>
          <a:xfrm>
            <a:off x="7340600" y="4470400"/>
            <a:ext cx="4191000" cy="369332"/>
          </a:xfrm>
          <a:prstGeom prst="rect">
            <a:avLst/>
          </a:prstGeom>
          <a:noFill/>
        </p:spPr>
        <p:txBody>
          <a:bodyPr vert="horz" wrap="square" lIns="0" tIns="0" rIns="0" bIns="0" rtlCol="0" anchor="t">
            <a:noAutofit/>
          </a:bodyPr>
          <a:lstStyle/>
          <a:p>
            <a:r>
              <a:rPr lang="en-IN" sz="2000" b="1">
                <a:solidFill>
                  <a:srgbClr val="13293D"/>
                </a:solidFill>
                <a:latin typeface="Calibri" panose="020F0502020204030204" pitchFamily="34" charset="0"/>
              </a:rPr>
              <a:t>Verify</a:t>
            </a:r>
          </a:p>
        </p:txBody>
      </p:sp>
      <p:sp>
        <p:nvSpPr>
          <p:cNvPr id="20" name="TextBox 19">
            <a:extLst>
              <a:ext uri="{FF2B5EF4-FFF2-40B4-BE49-F238E27FC236}">
                <a16:creationId xmlns:a16="http://schemas.microsoft.com/office/drawing/2014/main" id="{DC935C99-110F-FAF5-015D-6FF412184CE3}"/>
              </a:ext>
            </a:extLst>
          </p:cNvPr>
          <p:cNvSpPr txBox="1"/>
          <p:nvPr/>
        </p:nvSpPr>
        <p:spPr>
          <a:xfrm>
            <a:off x="7340600" y="4800600"/>
            <a:ext cx="4191000" cy="369332"/>
          </a:xfrm>
          <a:prstGeom prst="rect">
            <a:avLst/>
          </a:prstGeom>
          <a:noFill/>
        </p:spPr>
        <p:txBody>
          <a:bodyPr vert="horz" wrap="square" lIns="0" tIns="0" rIns="0" bIns="0" rtlCol="0" anchor="t">
            <a:noAutofit/>
          </a:bodyPr>
          <a:lstStyle/>
          <a:p>
            <a:r>
              <a:rPr lang="en-US" sz="1500">
                <a:solidFill>
                  <a:srgbClr val="1E2A35"/>
                </a:solidFill>
                <a:latin typeface="Calibri" panose="020F0502020204030204" pitchFamily="34" charset="0"/>
              </a:rPr>
              <a:t>Scan again: now it comes back clean.</a:t>
            </a:r>
            <a:endParaRPr lang="en-IN" sz="1500">
              <a:solidFill>
                <a:srgbClr val="1E2A35"/>
              </a:solidFill>
              <a:latin typeface="Calibri" panose="020F0502020204030204" pitchFamily="34" charset="0"/>
            </a:endParaRPr>
          </a:p>
        </p:txBody>
      </p:sp>
      <p:sp>
        <p:nvSpPr>
          <p:cNvPr id="21" name="TextBox 20">
            <a:extLst>
              <a:ext uri="{FF2B5EF4-FFF2-40B4-BE49-F238E27FC236}">
                <a16:creationId xmlns:a16="http://schemas.microsoft.com/office/drawing/2014/main" id="{58F46A3A-97D2-F61F-0AF0-2C9624213EB3}"/>
              </a:ext>
            </a:extLst>
          </p:cNvPr>
          <p:cNvSpPr txBox="1"/>
          <p:nvPr/>
        </p:nvSpPr>
        <p:spPr>
          <a:xfrm>
            <a:off x="609600" y="6502400"/>
            <a:ext cx="5080000" cy="369332"/>
          </a:xfrm>
          <a:prstGeom prst="rect">
            <a:avLst/>
          </a:prstGeom>
          <a:noFill/>
        </p:spPr>
        <p:txBody>
          <a:bodyPr vert="horz" wrap="square" lIns="0" tIns="0" rIns="0" bIns="0" rtlCol="0" anchor="t">
            <a:noAutofit/>
          </a:bodyPr>
          <a:lstStyle/>
          <a:p>
            <a:r>
              <a:rPr lang="en-US" sz="1000">
                <a:solidFill>
                  <a:srgbClr val="5B6B79"/>
                </a:solidFill>
                <a:latin typeface="Calibri" panose="020F0502020204030204" pitchFamily="34" charset="0"/>
              </a:rPr>
              <a:t>Securing the path to the cloud</a:t>
            </a:r>
            <a:endParaRPr lang="en-IN" sz="1000">
              <a:solidFill>
                <a:srgbClr val="5B6B79"/>
              </a:solidFill>
              <a:latin typeface="Calibri" panose="020F0502020204030204" pitchFamily="34" charset="0"/>
            </a:endParaRPr>
          </a:p>
        </p:txBody>
      </p:sp>
      <p:sp>
        <p:nvSpPr>
          <p:cNvPr id="22" name="TextBox 21">
            <a:extLst>
              <a:ext uri="{FF2B5EF4-FFF2-40B4-BE49-F238E27FC236}">
                <a16:creationId xmlns:a16="http://schemas.microsoft.com/office/drawing/2014/main" id="{072BFDF5-AE08-BBE1-D7A8-657DC825547E}"/>
              </a:ext>
            </a:extLst>
          </p:cNvPr>
          <p:cNvSpPr txBox="1"/>
          <p:nvPr/>
        </p:nvSpPr>
        <p:spPr>
          <a:xfrm>
            <a:off x="10312400" y="6502400"/>
            <a:ext cx="1270000" cy="369332"/>
          </a:xfrm>
          <a:prstGeom prst="rect">
            <a:avLst/>
          </a:prstGeom>
          <a:noFill/>
        </p:spPr>
        <p:txBody>
          <a:bodyPr vert="horz" wrap="square" lIns="0" tIns="0" rIns="0" bIns="0" rtlCol="0" anchor="t">
            <a:noAutofit/>
          </a:bodyPr>
          <a:lstStyle/>
          <a:p>
            <a:pPr algn="r"/>
            <a:r>
              <a:rPr lang="en-IN" sz="1000">
                <a:solidFill>
                  <a:srgbClr val="5B6B79"/>
                </a:solidFill>
                <a:latin typeface="Calibri" panose="020F0502020204030204" pitchFamily="34" charset="0"/>
              </a:rPr>
              <a:t>11</a:t>
            </a:r>
          </a:p>
        </p:txBody>
      </p:sp>
    </p:spTree>
    <p:extLst>
      <p:ext uri="{BB962C8B-B14F-4D97-AF65-F5344CB8AC3E}">
        <p14:creationId xmlns:p14="http://schemas.microsoft.com/office/powerpoint/2010/main" val="5755259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329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B3784D3-9C11-24BB-1D7E-D69E674DE2ED}"/>
              </a:ext>
            </a:extLst>
          </p:cNvPr>
          <p:cNvSpPr txBox="1"/>
          <p:nvPr/>
        </p:nvSpPr>
        <p:spPr>
          <a:xfrm>
            <a:off x="609600" y="1219200"/>
            <a:ext cx="5080000" cy="369332"/>
          </a:xfrm>
          <a:prstGeom prst="rect">
            <a:avLst/>
          </a:prstGeom>
          <a:noFill/>
        </p:spPr>
        <p:txBody>
          <a:bodyPr vert="horz" wrap="square" lIns="0" tIns="0" rIns="0" bIns="0" rtlCol="0" anchor="t">
            <a:noAutofit/>
          </a:bodyPr>
          <a:lstStyle/>
          <a:p>
            <a:r>
              <a:rPr lang="en-IN" sz="12000" b="1">
                <a:solidFill>
                  <a:srgbClr val="1B998B"/>
                </a:solidFill>
                <a:latin typeface="Calibri" panose="020F0502020204030204" pitchFamily="34" charset="0"/>
              </a:rPr>
              <a:t>01</a:t>
            </a:r>
          </a:p>
        </p:txBody>
      </p:sp>
      <p:sp>
        <p:nvSpPr>
          <p:cNvPr id="3" name="TextBox 2">
            <a:extLst>
              <a:ext uri="{FF2B5EF4-FFF2-40B4-BE49-F238E27FC236}">
                <a16:creationId xmlns:a16="http://schemas.microsoft.com/office/drawing/2014/main" id="{B356B1AB-B24B-0DFA-A41E-8176F5C52EEB}"/>
              </a:ext>
            </a:extLst>
          </p:cNvPr>
          <p:cNvSpPr txBox="1"/>
          <p:nvPr/>
        </p:nvSpPr>
        <p:spPr>
          <a:xfrm>
            <a:off x="609600" y="3175000"/>
            <a:ext cx="10972800" cy="369332"/>
          </a:xfrm>
          <a:prstGeom prst="rect">
            <a:avLst/>
          </a:prstGeom>
          <a:noFill/>
        </p:spPr>
        <p:txBody>
          <a:bodyPr vert="horz" wrap="square" lIns="0" tIns="0" rIns="0" bIns="0" rtlCol="0" anchor="t">
            <a:noAutofit/>
          </a:bodyPr>
          <a:lstStyle/>
          <a:p>
            <a:r>
              <a:rPr lang="en-IN" sz="4400" b="1">
                <a:solidFill>
                  <a:srgbClr val="FFFFFF"/>
                </a:solidFill>
                <a:latin typeface="Calibri" panose="020F0502020204030204" pitchFamily="34" charset="0"/>
              </a:rPr>
              <a:t>Secrets in Git</a:t>
            </a:r>
          </a:p>
        </p:txBody>
      </p:sp>
      <p:sp>
        <p:nvSpPr>
          <p:cNvPr id="4" name="TextBox 3">
            <a:extLst>
              <a:ext uri="{FF2B5EF4-FFF2-40B4-BE49-F238E27FC236}">
                <a16:creationId xmlns:a16="http://schemas.microsoft.com/office/drawing/2014/main" id="{E26B4178-F0FF-E76B-A0C6-7F63BF7F4E10}"/>
              </a:ext>
            </a:extLst>
          </p:cNvPr>
          <p:cNvSpPr txBox="1"/>
          <p:nvPr/>
        </p:nvSpPr>
        <p:spPr>
          <a:xfrm>
            <a:off x="609600" y="4038600"/>
            <a:ext cx="9652000" cy="369332"/>
          </a:xfrm>
          <a:prstGeom prst="rect">
            <a:avLst/>
          </a:prstGeom>
          <a:noFill/>
        </p:spPr>
        <p:txBody>
          <a:bodyPr vert="horz" wrap="square" lIns="0" tIns="0" rIns="0" bIns="0" rtlCol="0" anchor="t">
            <a:noAutofit/>
          </a:bodyPr>
          <a:lstStyle/>
          <a:p>
            <a:r>
              <a:rPr lang="en-US" sz="2000">
                <a:solidFill>
                  <a:srgbClr val="C9D6DF"/>
                </a:solidFill>
                <a:latin typeface="Calibri" panose="020F0502020204030204" pitchFamily="34" charset="0"/>
              </a:rPr>
              <a:t>Passwords and keys committed to a repository, and why deleting them isn't enough</a:t>
            </a:r>
            <a:endParaRPr lang="en-IN" sz="2000">
              <a:solidFill>
                <a:srgbClr val="C9D6DF"/>
              </a:solidFill>
              <a:latin typeface="Calibri" panose="020F0502020204030204" pitchFamily="34" charset="0"/>
            </a:endParaRPr>
          </a:p>
        </p:txBody>
      </p:sp>
      <p:sp>
        <p:nvSpPr>
          <p:cNvPr id="5" name="TextBox 4">
            <a:extLst>
              <a:ext uri="{FF2B5EF4-FFF2-40B4-BE49-F238E27FC236}">
                <a16:creationId xmlns:a16="http://schemas.microsoft.com/office/drawing/2014/main" id="{7D16E049-A334-C24F-34D5-4E1AD7BAAFCF}"/>
              </a:ext>
            </a:extLst>
          </p:cNvPr>
          <p:cNvSpPr txBox="1"/>
          <p:nvPr/>
        </p:nvSpPr>
        <p:spPr>
          <a:xfrm>
            <a:off x="609600" y="5207000"/>
            <a:ext cx="10972800" cy="369332"/>
          </a:xfrm>
          <a:prstGeom prst="rect">
            <a:avLst/>
          </a:prstGeom>
          <a:noFill/>
        </p:spPr>
        <p:txBody>
          <a:bodyPr vert="horz" wrap="square" lIns="0" tIns="0" rIns="0" bIns="0" rtlCol="0" anchor="t">
            <a:noAutofit/>
          </a:bodyPr>
          <a:lstStyle/>
          <a:p>
            <a:r>
              <a:rPr lang="en-US" sz="1600" b="1">
                <a:solidFill>
                  <a:srgbClr val="1B998B"/>
                </a:solidFill>
                <a:latin typeface="Calibri" panose="020F0502020204030204" pitchFamily="34" charset="0"/>
              </a:rPr>
              <a:t>Tool: gitleaks   ·   15 minutes hands-on</a:t>
            </a:r>
            <a:endParaRPr lang="en-IN" sz="1600" b="1">
              <a:solidFill>
                <a:srgbClr val="1B998B"/>
              </a:solidFill>
              <a:latin typeface="Calibri" panose="020F0502020204030204" pitchFamily="34" charset="0"/>
            </a:endParaRPr>
          </a:p>
        </p:txBody>
      </p:sp>
    </p:spTree>
    <p:extLst>
      <p:ext uri="{BB962C8B-B14F-4D97-AF65-F5344CB8AC3E}">
        <p14:creationId xmlns:p14="http://schemas.microsoft.com/office/powerpoint/2010/main" val="34890142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C4FA8D-F78E-4BCE-C099-7C6EE975C160}"/>
              </a:ext>
            </a:extLst>
          </p:cNvPr>
          <p:cNvSpPr txBox="1"/>
          <p:nvPr/>
        </p:nvSpPr>
        <p:spPr>
          <a:xfrm>
            <a:off x="609600" y="381000"/>
            <a:ext cx="10972800" cy="369332"/>
          </a:xfrm>
          <a:prstGeom prst="rect">
            <a:avLst/>
          </a:prstGeom>
          <a:noFill/>
        </p:spPr>
        <p:txBody>
          <a:bodyPr vert="horz" wrap="square" lIns="0" tIns="0" rIns="0" bIns="0" rtlCol="0" anchor="t">
            <a:noAutofit/>
          </a:bodyPr>
          <a:lstStyle/>
          <a:p>
            <a:r>
              <a:rPr lang="en-US" sz="3400" b="1">
                <a:solidFill>
                  <a:srgbClr val="13293D"/>
                </a:solidFill>
                <a:latin typeface="Calibri" panose="020F0502020204030204" pitchFamily="34" charset="0"/>
              </a:rPr>
              <a:t>Lab 1 · What we're trying to achieve</a:t>
            </a:r>
            <a:endParaRPr lang="en-IN" sz="3400" b="1">
              <a:solidFill>
                <a:srgbClr val="13293D"/>
              </a:solidFill>
              <a:latin typeface="Calibri" panose="020F0502020204030204" pitchFamily="34" charset="0"/>
            </a:endParaRPr>
          </a:p>
        </p:txBody>
      </p:sp>
      <p:sp>
        <p:nvSpPr>
          <p:cNvPr id="3" name="Rectangle: Rounded Corners 2">
            <a:extLst>
              <a:ext uri="{FF2B5EF4-FFF2-40B4-BE49-F238E27FC236}">
                <a16:creationId xmlns:a16="http://schemas.microsoft.com/office/drawing/2014/main" id="{9C565614-DDD0-3827-BD1D-D793D74E3519}"/>
              </a:ext>
            </a:extLst>
          </p:cNvPr>
          <p:cNvSpPr/>
          <p:nvPr/>
        </p:nvSpPr>
        <p:spPr>
          <a:xfrm>
            <a:off x="609600" y="1320800"/>
            <a:ext cx="5080000" cy="3479800"/>
          </a:xfrm>
          <a:prstGeom prst="roundRect">
            <a:avLst>
              <a:gd name="adj" fmla="val 10000"/>
            </a:avLst>
          </a:prstGeom>
          <a:solidFill>
            <a:srgbClr val="EEF3F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9C156EBD-E29C-0437-A285-0777B30B031C}"/>
              </a:ext>
            </a:extLst>
          </p:cNvPr>
          <p:cNvSpPr txBox="1"/>
          <p:nvPr/>
        </p:nvSpPr>
        <p:spPr>
          <a:xfrm>
            <a:off x="914400" y="1574800"/>
            <a:ext cx="4470400" cy="369332"/>
          </a:xfrm>
          <a:prstGeom prst="rect">
            <a:avLst/>
          </a:prstGeom>
          <a:noFill/>
        </p:spPr>
        <p:txBody>
          <a:bodyPr vert="horz" wrap="square" lIns="0" tIns="0" rIns="0" bIns="0" rtlCol="0" anchor="t">
            <a:noAutofit/>
          </a:bodyPr>
          <a:lstStyle/>
          <a:p>
            <a:r>
              <a:rPr lang="en-IN" sz="1200" b="1">
                <a:solidFill>
                  <a:srgbClr val="1B998B"/>
                </a:solidFill>
                <a:latin typeface="Calibri" panose="020F0502020204030204" pitchFamily="34" charset="0"/>
              </a:rPr>
              <a:t>THE SCENARIO</a:t>
            </a:r>
          </a:p>
        </p:txBody>
      </p:sp>
      <p:sp>
        <p:nvSpPr>
          <p:cNvPr id="5" name="TextBox 4">
            <a:extLst>
              <a:ext uri="{FF2B5EF4-FFF2-40B4-BE49-F238E27FC236}">
                <a16:creationId xmlns:a16="http://schemas.microsoft.com/office/drawing/2014/main" id="{9FF1DB32-7561-8B74-695A-51C8110AEC89}"/>
              </a:ext>
            </a:extLst>
          </p:cNvPr>
          <p:cNvSpPr txBox="1"/>
          <p:nvPr/>
        </p:nvSpPr>
        <p:spPr>
          <a:xfrm>
            <a:off x="914400" y="1905000"/>
            <a:ext cx="4470400" cy="369332"/>
          </a:xfrm>
          <a:prstGeom prst="rect">
            <a:avLst/>
          </a:prstGeom>
          <a:noFill/>
        </p:spPr>
        <p:txBody>
          <a:bodyPr vert="horz" wrap="square" lIns="0" tIns="0" rIns="0" bIns="0" rtlCol="0" anchor="t">
            <a:noAutofit/>
          </a:bodyPr>
          <a:lstStyle/>
          <a:p>
            <a:r>
              <a:rPr lang="en-US" sz="1700">
                <a:solidFill>
                  <a:srgbClr val="1E2A35"/>
                </a:solidFill>
                <a:latin typeface="Calibri" panose="020F0502020204030204" pitchFamily="34" charset="0"/>
              </a:rPr>
              <a:t>A developer in a hurry hard-codes an AWS access key and a database password into a small service, and commits it to Git. A week later, they 'fix' it by deleting the lines and committing again.</a:t>
            </a:r>
            <a:endParaRPr lang="en-IN" sz="1700">
              <a:solidFill>
                <a:srgbClr val="1E2A35"/>
              </a:solidFill>
              <a:latin typeface="Calibri" panose="020F0502020204030204" pitchFamily="34" charset="0"/>
            </a:endParaRPr>
          </a:p>
        </p:txBody>
      </p:sp>
      <p:sp>
        <p:nvSpPr>
          <p:cNvPr id="6" name="TextBox 5">
            <a:extLst>
              <a:ext uri="{FF2B5EF4-FFF2-40B4-BE49-F238E27FC236}">
                <a16:creationId xmlns:a16="http://schemas.microsoft.com/office/drawing/2014/main" id="{9A53DF31-D750-05ED-D465-868CECD5ED75}"/>
              </a:ext>
            </a:extLst>
          </p:cNvPr>
          <p:cNvSpPr txBox="1"/>
          <p:nvPr/>
        </p:nvSpPr>
        <p:spPr>
          <a:xfrm>
            <a:off x="914400" y="3886200"/>
            <a:ext cx="4470400" cy="369332"/>
          </a:xfrm>
          <a:prstGeom prst="rect">
            <a:avLst/>
          </a:prstGeom>
          <a:noFill/>
        </p:spPr>
        <p:txBody>
          <a:bodyPr vert="horz" wrap="square" lIns="0" tIns="0" rIns="0" bIns="0" rtlCol="0" anchor="b">
            <a:noAutofit/>
          </a:bodyPr>
          <a:lstStyle/>
          <a:p>
            <a:r>
              <a:rPr lang="en-US" sz="2000" b="1">
                <a:solidFill>
                  <a:srgbClr val="E4572E"/>
                </a:solidFill>
                <a:latin typeface="Calibri" panose="020F0502020204030204" pitchFamily="34" charset="0"/>
              </a:rPr>
              <a:t>Once the lines are deleted, is the key safe?</a:t>
            </a:r>
            <a:endParaRPr lang="en-IN" sz="2000" b="1">
              <a:solidFill>
                <a:srgbClr val="E4572E"/>
              </a:solidFill>
              <a:latin typeface="Calibri" panose="020F0502020204030204" pitchFamily="34" charset="0"/>
            </a:endParaRPr>
          </a:p>
        </p:txBody>
      </p:sp>
      <p:sp>
        <p:nvSpPr>
          <p:cNvPr id="7" name="TextBox 6">
            <a:extLst>
              <a:ext uri="{FF2B5EF4-FFF2-40B4-BE49-F238E27FC236}">
                <a16:creationId xmlns:a16="http://schemas.microsoft.com/office/drawing/2014/main" id="{46C39A19-FBAA-69A1-0FBA-CDA5D1DEDBD1}"/>
              </a:ext>
            </a:extLst>
          </p:cNvPr>
          <p:cNvSpPr txBox="1"/>
          <p:nvPr/>
        </p:nvSpPr>
        <p:spPr>
          <a:xfrm>
            <a:off x="6248400" y="1574800"/>
            <a:ext cx="5334000" cy="369332"/>
          </a:xfrm>
          <a:prstGeom prst="rect">
            <a:avLst/>
          </a:prstGeom>
          <a:noFill/>
        </p:spPr>
        <p:txBody>
          <a:bodyPr vert="horz" wrap="square" lIns="0" tIns="0" rIns="0" bIns="0" rtlCol="0" anchor="t">
            <a:noAutofit/>
          </a:bodyPr>
          <a:lstStyle/>
          <a:p>
            <a:r>
              <a:rPr lang="en-US" sz="1200" b="1">
                <a:solidFill>
                  <a:srgbClr val="1B998B"/>
                </a:solidFill>
                <a:latin typeface="Calibri" panose="020F0502020204030204" pitchFamily="34" charset="0"/>
              </a:rPr>
              <a:t>BY THE END OF THIS LAB YOU WILL</a:t>
            </a:r>
            <a:endParaRPr lang="en-IN" sz="1200" b="1">
              <a:solidFill>
                <a:srgbClr val="1B998B"/>
              </a:solidFill>
              <a:latin typeface="Calibri" panose="020F0502020204030204" pitchFamily="34" charset="0"/>
            </a:endParaRPr>
          </a:p>
        </p:txBody>
      </p:sp>
      <p:sp>
        <p:nvSpPr>
          <p:cNvPr id="8" name="Oval 7">
            <a:extLst>
              <a:ext uri="{FF2B5EF4-FFF2-40B4-BE49-F238E27FC236}">
                <a16:creationId xmlns:a16="http://schemas.microsoft.com/office/drawing/2014/main" id="{A95A3100-3099-BEE4-71ED-8D8DFEA6BBEE}"/>
              </a:ext>
            </a:extLst>
          </p:cNvPr>
          <p:cNvSpPr/>
          <p:nvPr/>
        </p:nvSpPr>
        <p:spPr>
          <a:xfrm>
            <a:off x="6248400" y="1981200"/>
            <a:ext cx="482600" cy="482600"/>
          </a:xfrm>
          <a:prstGeom prst="ellipse">
            <a:avLst/>
          </a:prstGeom>
          <a:solidFill>
            <a:srgbClr val="1B998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IN" sz="1600" b="1">
                <a:solidFill>
                  <a:srgbClr val="FFFFFF"/>
                </a:solidFill>
                <a:latin typeface="Calibri" panose="020F0502020204030204" pitchFamily="34" charset="0"/>
              </a:rPr>
              <a:t>1</a:t>
            </a:r>
          </a:p>
        </p:txBody>
      </p:sp>
      <p:sp>
        <p:nvSpPr>
          <p:cNvPr id="9" name="TextBox 8">
            <a:extLst>
              <a:ext uri="{FF2B5EF4-FFF2-40B4-BE49-F238E27FC236}">
                <a16:creationId xmlns:a16="http://schemas.microsoft.com/office/drawing/2014/main" id="{7E0896DC-ED3E-AFDA-DBBA-A17492A7E4AC}"/>
              </a:ext>
            </a:extLst>
          </p:cNvPr>
          <p:cNvSpPr txBox="1"/>
          <p:nvPr/>
        </p:nvSpPr>
        <p:spPr>
          <a:xfrm>
            <a:off x="6934200" y="2006600"/>
            <a:ext cx="4648200" cy="369332"/>
          </a:xfrm>
          <a:prstGeom prst="rect">
            <a:avLst/>
          </a:prstGeom>
          <a:noFill/>
        </p:spPr>
        <p:txBody>
          <a:bodyPr vert="horz" wrap="square" lIns="0" tIns="0" rIns="0" bIns="0" rtlCol="0" anchor="t">
            <a:noAutofit/>
          </a:bodyPr>
          <a:lstStyle/>
          <a:p>
            <a:r>
              <a:rPr lang="en-US" sz="1700">
                <a:solidFill>
                  <a:srgbClr val="1E2A35"/>
                </a:solidFill>
                <a:latin typeface="Calibri" panose="020F0502020204030204" pitchFamily="34" charset="0"/>
              </a:rPr>
              <a:t>Find secrets in code and in Git history with gitleaks</a:t>
            </a:r>
            <a:endParaRPr lang="en-IN" sz="1700">
              <a:solidFill>
                <a:srgbClr val="1E2A35"/>
              </a:solidFill>
              <a:latin typeface="Calibri" panose="020F0502020204030204" pitchFamily="34" charset="0"/>
            </a:endParaRPr>
          </a:p>
        </p:txBody>
      </p:sp>
      <p:sp>
        <p:nvSpPr>
          <p:cNvPr id="10" name="Oval 9">
            <a:extLst>
              <a:ext uri="{FF2B5EF4-FFF2-40B4-BE49-F238E27FC236}">
                <a16:creationId xmlns:a16="http://schemas.microsoft.com/office/drawing/2014/main" id="{077AC81E-065B-B44D-B9E5-B49DCD94A904}"/>
              </a:ext>
            </a:extLst>
          </p:cNvPr>
          <p:cNvSpPr/>
          <p:nvPr/>
        </p:nvSpPr>
        <p:spPr>
          <a:xfrm>
            <a:off x="6248400" y="2921000"/>
            <a:ext cx="482600" cy="482600"/>
          </a:xfrm>
          <a:prstGeom prst="ellipse">
            <a:avLst/>
          </a:prstGeom>
          <a:solidFill>
            <a:srgbClr val="1B998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IN" sz="1600" b="1">
                <a:solidFill>
                  <a:srgbClr val="FFFFFF"/>
                </a:solidFill>
                <a:latin typeface="Calibri" panose="020F0502020204030204" pitchFamily="34" charset="0"/>
              </a:rPr>
              <a:t>2</a:t>
            </a:r>
          </a:p>
        </p:txBody>
      </p:sp>
      <p:sp>
        <p:nvSpPr>
          <p:cNvPr id="11" name="TextBox 10">
            <a:extLst>
              <a:ext uri="{FF2B5EF4-FFF2-40B4-BE49-F238E27FC236}">
                <a16:creationId xmlns:a16="http://schemas.microsoft.com/office/drawing/2014/main" id="{330E7003-8458-076C-233F-8F96AEB744DC}"/>
              </a:ext>
            </a:extLst>
          </p:cNvPr>
          <p:cNvSpPr txBox="1"/>
          <p:nvPr/>
        </p:nvSpPr>
        <p:spPr>
          <a:xfrm>
            <a:off x="6934200" y="2946400"/>
            <a:ext cx="4648200" cy="369332"/>
          </a:xfrm>
          <a:prstGeom prst="rect">
            <a:avLst/>
          </a:prstGeom>
          <a:noFill/>
        </p:spPr>
        <p:txBody>
          <a:bodyPr vert="horz" wrap="square" lIns="0" tIns="0" rIns="0" bIns="0" rtlCol="0" anchor="t">
            <a:noAutofit/>
          </a:bodyPr>
          <a:lstStyle/>
          <a:p>
            <a:r>
              <a:rPr lang="en-US" sz="1700">
                <a:solidFill>
                  <a:srgbClr val="1E2A35"/>
                </a:solidFill>
                <a:latin typeface="Calibri" panose="020F0502020204030204" pitchFamily="34" charset="0"/>
              </a:rPr>
              <a:t>Understand why deleting a secret is not enough, and what to do instead</a:t>
            </a:r>
            <a:endParaRPr lang="en-IN" sz="1700">
              <a:solidFill>
                <a:srgbClr val="1E2A35"/>
              </a:solidFill>
              <a:latin typeface="Calibri" panose="020F0502020204030204" pitchFamily="34" charset="0"/>
            </a:endParaRPr>
          </a:p>
        </p:txBody>
      </p:sp>
      <p:sp>
        <p:nvSpPr>
          <p:cNvPr id="12" name="Oval 11">
            <a:extLst>
              <a:ext uri="{FF2B5EF4-FFF2-40B4-BE49-F238E27FC236}">
                <a16:creationId xmlns:a16="http://schemas.microsoft.com/office/drawing/2014/main" id="{0758F5AA-4786-672C-E02B-DAE8DBA7F7DE}"/>
              </a:ext>
            </a:extLst>
          </p:cNvPr>
          <p:cNvSpPr/>
          <p:nvPr/>
        </p:nvSpPr>
        <p:spPr>
          <a:xfrm>
            <a:off x="6248400" y="3860800"/>
            <a:ext cx="482600" cy="482600"/>
          </a:xfrm>
          <a:prstGeom prst="ellipse">
            <a:avLst/>
          </a:prstGeom>
          <a:solidFill>
            <a:srgbClr val="1B998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IN" sz="1600" b="1">
                <a:solidFill>
                  <a:srgbClr val="FFFFFF"/>
                </a:solidFill>
                <a:latin typeface="Calibri" panose="020F0502020204030204" pitchFamily="34" charset="0"/>
              </a:rPr>
              <a:t>3</a:t>
            </a:r>
          </a:p>
        </p:txBody>
      </p:sp>
      <p:sp>
        <p:nvSpPr>
          <p:cNvPr id="13" name="TextBox 12">
            <a:extLst>
              <a:ext uri="{FF2B5EF4-FFF2-40B4-BE49-F238E27FC236}">
                <a16:creationId xmlns:a16="http://schemas.microsoft.com/office/drawing/2014/main" id="{C852A02C-2B08-B4FC-A8E6-B52D51C81491}"/>
              </a:ext>
            </a:extLst>
          </p:cNvPr>
          <p:cNvSpPr txBox="1"/>
          <p:nvPr/>
        </p:nvSpPr>
        <p:spPr>
          <a:xfrm>
            <a:off x="6934200" y="3886200"/>
            <a:ext cx="4648200" cy="369332"/>
          </a:xfrm>
          <a:prstGeom prst="rect">
            <a:avLst/>
          </a:prstGeom>
          <a:noFill/>
        </p:spPr>
        <p:txBody>
          <a:bodyPr vert="horz" wrap="square" lIns="0" tIns="0" rIns="0" bIns="0" rtlCol="0" anchor="t">
            <a:noAutofit/>
          </a:bodyPr>
          <a:lstStyle/>
          <a:p>
            <a:r>
              <a:rPr lang="en-US" sz="1700">
                <a:solidFill>
                  <a:srgbClr val="1E2A35"/>
                </a:solidFill>
                <a:latin typeface="Calibri" panose="020F0502020204030204" pitchFamily="34" charset="0"/>
              </a:rPr>
              <a:t>Block secrets before they are committed, with a pre-commit hook</a:t>
            </a:r>
            <a:endParaRPr lang="en-IN" sz="1700">
              <a:solidFill>
                <a:srgbClr val="1E2A35"/>
              </a:solidFill>
              <a:latin typeface="Calibri" panose="020F0502020204030204" pitchFamily="34" charset="0"/>
            </a:endParaRPr>
          </a:p>
        </p:txBody>
      </p:sp>
      <p:sp>
        <p:nvSpPr>
          <p:cNvPr id="14" name="Rectangle: Rounded Corners 13">
            <a:extLst>
              <a:ext uri="{FF2B5EF4-FFF2-40B4-BE49-F238E27FC236}">
                <a16:creationId xmlns:a16="http://schemas.microsoft.com/office/drawing/2014/main" id="{20134C96-0CD9-E390-3259-ABD340714D69}"/>
              </a:ext>
            </a:extLst>
          </p:cNvPr>
          <p:cNvSpPr/>
          <p:nvPr/>
        </p:nvSpPr>
        <p:spPr>
          <a:xfrm>
            <a:off x="609600" y="5054600"/>
            <a:ext cx="10972800" cy="711200"/>
          </a:xfrm>
          <a:prstGeom prst="roundRect">
            <a:avLst>
              <a:gd name="adj" fmla="val 10000"/>
            </a:avLst>
          </a:prstGeom>
          <a:solidFill>
            <a:srgbClr val="FCE5D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0" tIns="25400" rIns="76200" bIns="25400" rtlCol="0" anchor="ctr"/>
          <a:lstStyle/>
          <a:p>
            <a:r>
              <a:rPr lang="en-US" sz="1500" b="1">
                <a:solidFill>
                  <a:srgbClr val="E4572E"/>
                </a:solidFill>
                <a:latin typeface="Calibri" panose="020F0502020204030204" pitchFamily="34" charset="0"/>
              </a:rPr>
              <a:t>Real world:  Uber, 2016: AWS keys in a private repository led to a breach affecting 57 million users.</a:t>
            </a:r>
            <a:endParaRPr lang="en-IN" sz="1500" b="1">
              <a:solidFill>
                <a:srgbClr val="E4572E"/>
              </a:solidFill>
              <a:latin typeface="Calibri" panose="020F0502020204030204" pitchFamily="34" charset="0"/>
            </a:endParaRPr>
          </a:p>
        </p:txBody>
      </p:sp>
      <p:sp>
        <p:nvSpPr>
          <p:cNvPr id="15" name="TextBox 14">
            <a:extLst>
              <a:ext uri="{FF2B5EF4-FFF2-40B4-BE49-F238E27FC236}">
                <a16:creationId xmlns:a16="http://schemas.microsoft.com/office/drawing/2014/main" id="{853B9110-E935-E188-2B14-C1EA6DE40029}"/>
              </a:ext>
            </a:extLst>
          </p:cNvPr>
          <p:cNvSpPr txBox="1"/>
          <p:nvPr/>
        </p:nvSpPr>
        <p:spPr>
          <a:xfrm>
            <a:off x="609600" y="6502400"/>
            <a:ext cx="5080000" cy="369332"/>
          </a:xfrm>
          <a:prstGeom prst="rect">
            <a:avLst/>
          </a:prstGeom>
          <a:noFill/>
        </p:spPr>
        <p:txBody>
          <a:bodyPr vert="horz" wrap="square" lIns="0" tIns="0" rIns="0" bIns="0" rtlCol="0" anchor="t">
            <a:noAutofit/>
          </a:bodyPr>
          <a:lstStyle/>
          <a:p>
            <a:r>
              <a:rPr lang="en-US" sz="1000">
                <a:solidFill>
                  <a:srgbClr val="5B6B79"/>
                </a:solidFill>
                <a:latin typeface="Calibri" panose="020F0502020204030204" pitchFamily="34" charset="0"/>
              </a:rPr>
              <a:t>Securing the path to the cloud</a:t>
            </a:r>
            <a:endParaRPr lang="en-IN" sz="1000">
              <a:solidFill>
                <a:srgbClr val="5B6B79"/>
              </a:solidFill>
              <a:latin typeface="Calibri" panose="020F0502020204030204" pitchFamily="34" charset="0"/>
            </a:endParaRPr>
          </a:p>
        </p:txBody>
      </p:sp>
      <p:sp>
        <p:nvSpPr>
          <p:cNvPr id="16" name="TextBox 15">
            <a:extLst>
              <a:ext uri="{FF2B5EF4-FFF2-40B4-BE49-F238E27FC236}">
                <a16:creationId xmlns:a16="http://schemas.microsoft.com/office/drawing/2014/main" id="{9ECE2B1E-0DBA-C851-7054-C620B358293D}"/>
              </a:ext>
            </a:extLst>
          </p:cNvPr>
          <p:cNvSpPr txBox="1"/>
          <p:nvPr/>
        </p:nvSpPr>
        <p:spPr>
          <a:xfrm>
            <a:off x="10312400" y="6502400"/>
            <a:ext cx="1270000" cy="369332"/>
          </a:xfrm>
          <a:prstGeom prst="rect">
            <a:avLst/>
          </a:prstGeom>
          <a:noFill/>
        </p:spPr>
        <p:txBody>
          <a:bodyPr vert="horz" wrap="square" lIns="0" tIns="0" rIns="0" bIns="0" rtlCol="0" anchor="t">
            <a:noAutofit/>
          </a:bodyPr>
          <a:lstStyle/>
          <a:p>
            <a:pPr algn="r"/>
            <a:r>
              <a:rPr lang="en-IN" sz="1000">
                <a:solidFill>
                  <a:srgbClr val="5B6B79"/>
                </a:solidFill>
                <a:latin typeface="Calibri" panose="020F0502020204030204" pitchFamily="34" charset="0"/>
              </a:rPr>
              <a:t>13</a:t>
            </a:r>
          </a:p>
        </p:txBody>
      </p:sp>
    </p:spTree>
    <p:extLst>
      <p:ext uri="{BB962C8B-B14F-4D97-AF65-F5344CB8AC3E}">
        <p14:creationId xmlns:p14="http://schemas.microsoft.com/office/powerpoint/2010/main" val="30316456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1771EF6-D9B2-BEAE-1DC8-156E9DA6D558}"/>
              </a:ext>
            </a:extLst>
          </p:cNvPr>
          <p:cNvSpPr txBox="1"/>
          <p:nvPr/>
        </p:nvSpPr>
        <p:spPr>
          <a:xfrm>
            <a:off x="609600" y="381000"/>
            <a:ext cx="10972800" cy="369332"/>
          </a:xfrm>
          <a:prstGeom prst="rect">
            <a:avLst/>
          </a:prstGeom>
          <a:noFill/>
        </p:spPr>
        <p:txBody>
          <a:bodyPr vert="horz" wrap="square" lIns="0" tIns="0" rIns="0" bIns="0" rtlCol="0" anchor="t">
            <a:noAutofit/>
          </a:bodyPr>
          <a:lstStyle/>
          <a:p>
            <a:r>
              <a:rPr lang="en-US" sz="3400" b="1">
                <a:solidFill>
                  <a:srgbClr val="13293D"/>
                </a:solidFill>
                <a:latin typeface="Calibri" panose="020F0502020204030204" pitchFamily="34" charset="0"/>
              </a:rPr>
              <a:t>Deleting a secret doesn't remove it</a:t>
            </a:r>
            <a:endParaRPr lang="en-IN" sz="3400" b="1">
              <a:solidFill>
                <a:srgbClr val="13293D"/>
              </a:solidFill>
              <a:latin typeface="Calibri" panose="020F0502020204030204" pitchFamily="34" charset="0"/>
            </a:endParaRPr>
          </a:p>
        </p:txBody>
      </p:sp>
      <p:sp>
        <p:nvSpPr>
          <p:cNvPr id="3" name="TextBox 2">
            <a:extLst>
              <a:ext uri="{FF2B5EF4-FFF2-40B4-BE49-F238E27FC236}">
                <a16:creationId xmlns:a16="http://schemas.microsoft.com/office/drawing/2014/main" id="{FAF949C5-381F-A79B-3F2F-5246BAD0D9F5}"/>
              </a:ext>
            </a:extLst>
          </p:cNvPr>
          <p:cNvSpPr txBox="1"/>
          <p:nvPr/>
        </p:nvSpPr>
        <p:spPr>
          <a:xfrm>
            <a:off x="609600" y="1320800"/>
            <a:ext cx="5080000" cy="369332"/>
          </a:xfrm>
          <a:prstGeom prst="rect">
            <a:avLst/>
          </a:prstGeom>
          <a:noFill/>
        </p:spPr>
        <p:txBody>
          <a:bodyPr vert="horz" wrap="square" lIns="0" tIns="0" rIns="0" bIns="0" rtlCol="0" anchor="t">
            <a:noAutofit/>
          </a:bodyPr>
          <a:lstStyle/>
          <a:p>
            <a:r>
              <a:rPr lang="en-IN" sz="1200" b="1">
                <a:solidFill>
                  <a:srgbClr val="5B6B79"/>
                </a:solidFill>
                <a:latin typeface="Calibri" panose="020F0502020204030204" pitchFamily="34" charset="0"/>
              </a:rPr>
              <a:t>GIT HISTORY</a:t>
            </a:r>
          </a:p>
        </p:txBody>
      </p:sp>
      <p:cxnSp>
        <p:nvCxnSpPr>
          <p:cNvPr id="4" name="Straight Connector 3">
            <a:extLst>
              <a:ext uri="{FF2B5EF4-FFF2-40B4-BE49-F238E27FC236}">
                <a16:creationId xmlns:a16="http://schemas.microsoft.com/office/drawing/2014/main" id="{21298D74-5E34-E8E0-50DE-942A84FA10B7}"/>
              </a:ext>
            </a:extLst>
          </p:cNvPr>
          <p:cNvCxnSpPr/>
          <p:nvPr/>
        </p:nvCxnSpPr>
        <p:spPr>
          <a:xfrm>
            <a:off x="825500" y="1778000"/>
            <a:ext cx="0" cy="1168400"/>
          </a:xfrm>
          <a:prstGeom prst="line">
            <a:avLst/>
          </a:prstGeom>
          <a:ln w="38100">
            <a:solidFill>
              <a:srgbClr val="D5DBE0"/>
            </a:solidFill>
          </a:ln>
        </p:spPr>
        <p:style>
          <a:lnRef idx="2">
            <a:schemeClr val="accent1"/>
          </a:lnRef>
          <a:fillRef idx="0">
            <a:schemeClr val="accent1"/>
          </a:fillRef>
          <a:effectRef idx="1">
            <a:schemeClr val="accent1"/>
          </a:effectRef>
          <a:fontRef idx="minor">
            <a:schemeClr val="tx1"/>
          </a:fontRef>
        </p:style>
      </p:cxnSp>
      <p:sp>
        <p:nvSpPr>
          <p:cNvPr id="5" name="Oval 4">
            <a:extLst>
              <a:ext uri="{FF2B5EF4-FFF2-40B4-BE49-F238E27FC236}">
                <a16:creationId xmlns:a16="http://schemas.microsoft.com/office/drawing/2014/main" id="{01CE62BF-CB26-9816-C973-F884BE10037E}"/>
              </a:ext>
            </a:extLst>
          </p:cNvPr>
          <p:cNvSpPr/>
          <p:nvPr/>
        </p:nvSpPr>
        <p:spPr>
          <a:xfrm>
            <a:off x="647700" y="1625600"/>
            <a:ext cx="355600" cy="355600"/>
          </a:xfrm>
          <a:prstGeom prst="ellipse">
            <a:avLst/>
          </a:prstGeom>
          <a:solidFill>
            <a:srgbClr val="E457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IN" sz="1200" b="1">
                <a:solidFill>
                  <a:srgbClr val="FFFFFF"/>
                </a:solidFill>
                <a:latin typeface="Calibri" panose="020F0502020204030204" pitchFamily="34" charset="0"/>
              </a:rPr>
              <a:t>1</a:t>
            </a:r>
          </a:p>
        </p:txBody>
      </p:sp>
      <p:sp>
        <p:nvSpPr>
          <p:cNvPr id="6" name="TextBox 5">
            <a:extLst>
              <a:ext uri="{FF2B5EF4-FFF2-40B4-BE49-F238E27FC236}">
                <a16:creationId xmlns:a16="http://schemas.microsoft.com/office/drawing/2014/main" id="{3DE94D3F-6C7F-5B36-54C5-A8B4EF9B33E4}"/>
              </a:ext>
            </a:extLst>
          </p:cNvPr>
          <p:cNvSpPr txBox="1"/>
          <p:nvPr/>
        </p:nvSpPr>
        <p:spPr>
          <a:xfrm>
            <a:off x="1219200" y="1625600"/>
            <a:ext cx="4572000" cy="369332"/>
          </a:xfrm>
          <a:prstGeom prst="rect">
            <a:avLst/>
          </a:prstGeom>
          <a:noFill/>
        </p:spPr>
        <p:txBody>
          <a:bodyPr vert="horz" wrap="square" lIns="0" tIns="0" rIns="0" bIns="0" rtlCol="0" anchor="t">
            <a:noAutofit/>
          </a:bodyPr>
          <a:lstStyle/>
          <a:p>
            <a:r>
              <a:rPr lang="en-IN" sz="1600" b="1">
                <a:solidFill>
                  <a:srgbClr val="13293D"/>
                </a:solidFill>
                <a:latin typeface="Calibri" panose="020F0502020204030204" pitchFamily="34" charset="0"/>
              </a:rPr>
              <a:t>Add order export service</a:t>
            </a:r>
          </a:p>
        </p:txBody>
      </p:sp>
      <p:sp>
        <p:nvSpPr>
          <p:cNvPr id="7" name="TextBox 6">
            <a:extLst>
              <a:ext uri="{FF2B5EF4-FFF2-40B4-BE49-F238E27FC236}">
                <a16:creationId xmlns:a16="http://schemas.microsoft.com/office/drawing/2014/main" id="{2FCA839A-DC59-C665-452F-1C64A8858A5A}"/>
              </a:ext>
            </a:extLst>
          </p:cNvPr>
          <p:cNvSpPr txBox="1"/>
          <p:nvPr/>
        </p:nvSpPr>
        <p:spPr>
          <a:xfrm>
            <a:off x="1219200" y="1930400"/>
            <a:ext cx="4572000" cy="369332"/>
          </a:xfrm>
          <a:prstGeom prst="rect">
            <a:avLst/>
          </a:prstGeom>
          <a:noFill/>
        </p:spPr>
        <p:txBody>
          <a:bodyPr vert="horz" wrap="square" lIns="0" tIns="0" rIns="0" bIns="0" rtlCol="0" anchor="t">
            <a:noAutofit/>
          </a:bodyPr>
          <a:lstStyle/>
          <a:p>
            <a:r>
              <a:rPr lang="en-US" sz="1400">
                <a:solidFill>
                  <a:srgbClr val="E4572E"/>
                </a:solidFill>
                <a:latin typeface="Calibri" panose="020F0502020204030204" pitchFamily="34" charset="0"/>
              </a:rPr>
              <a:t>config.py contains an AWS key and a password</a:t>
            </a:r>
            <a:endParaRPr lang="en-IN" sz="1400">
              <a:solidFill>
                <a:srgbClr val="E4572E"/>
              </a:solidFill>
              <a:latin typeface="Calibri" panose="020F0502020204030204" pitchFamily="34" charset="0"/>
            </a:endParaRPr>
          </a:p>
        </p:txBody>
      </p:sp>
      <p:sp>
        <p:nvSpPr>
          <p:cNvPr id="8" name="Oval 7">
            <a:extLst>
              <a:ext uri="{FF2B5EF4-FFF2-40B4-BE49-F238E27FC236}">
                <a16:creationId xmlns:a16="http://schemas.microsoft.com/office/drawing/2014/main" id="{1BFF0987-A0C8-A80A-F409-4DF35CC2AC77}"/>
              </a:ext>
            </a:extLst>
          </p:cNvPr>
          <p:cNvSpPr/>
          <p:nvPr/>
        </p:nvSpPr>
        <p:spPr>
          <a:xfrm>
            <a:off x="647700" y="2717800"/>
            <a:ext cx="355600" cy="355600"/>
          </a:xfrm>
          <a:prstGeom prst="ellipse">
            <a:avLst/>
          </a:prstGeom>
          <a:solidFill>
            <a:srgbClr val="1B998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IN" sz="1200" b="1">
                <a:solidFill>
                  <a:srgbClr val="FFFFFF"/>
                </a:solidFill>
                <a:latin typeface="Calibri" panose="020F0502020204030204" pitchFamily="34" charset="0"/>
              </a:rPr>
              <a:t>2</a:t>
            </a:r>
          </a:p>
        </p:txBody>
      </p:sp>
      <p:sp>
        <p:nvSpPr>
          <p:cNvPr id="9" name="TextBox 8">
            <a:extLst>
              <a:ext uri="{FF2B5EF4-FFF2-40B4-BE49-F238E27FC236}">
                <a16:creationId xmlns:a16="http://schemas.microsoft.com/office/drawing/2014/main" id="{5997FD7A-FFFC-9CE5-F22B-51A3C7B6BFDC}"/>
              </a:ext>
            </a:extLst>
          </p:cNvPr>
          <p:cNvSpPr txBox="1"/>
          <p:nvPr/>
        </p:nvSpPr>
        <p:spPr>
          <a:xfrm>
            <a:off x="1219200" y="2717800"/>
            <a:ext cx="4572000" cy="369332"/>
          </a:xfrm>
          <a:prstGeom prst="rect">
            <a:avLst/>
          </a:prstGeom>
          <a:noFill/>
        </p:spPr>
        <p:txBody>
          <a:bodyPr vert="horz" wrap="square" lIns="0" tIns="0" rIns="0" bIns="0" rtlCol="0" anchor="t">
            <a:noAutofit/>
          </a:bodyPr>
          <a:lstStyle/>
          <a:p>
            <a:r>
              <a:rPr lang="en-US" sz="1600" b="1">
                <a:solidFill>
                  <a:srgbClr val="13293D"/>
                </a:solidFill>
                <a:latin typeface="Calibri" panose="020F0502020204030204" pitchFamily="34" charset="0"/>
              </a:rPr>
              <a:t>Move secrets to environment variables</a:t>
            </a:r>
            <a:endParaRPr lang="en-IN" sz="1600" b="1">
              <a:solidFill>
                <a:srgbClr val="13293D"/>
              </a:solidFill>
              <a:latin typeface="Calibri" panose="020F0502020204030204" pitchFamily="34" charset="0"/>
            </a:endParaRPr>
          </a:p>
        </p:txBody>
      </p:sp>
      <p:sp>
        <p:nvSpPr>
          <p:cNvPr id="10" name="TextBox 9">
            <a:extLst>
              <a:ext uri="{FF2B5EF4-FFF2-40B4-BE49-F238E27FC236}">
                <a16:creationId xmlns:a16="http://schemas.microsoft.com/office/drawing/2014/main" id="{93FA1705-5F2F-FBCE-0468-88AF80EAE5F3}"/>
              </a:ext>
            </a:extLst>
          </p:cNvPr>
          <p:cNvSpPr txBox="1"/>
          <p:nvPr/>
        </p:nvSpPr>
        <p:spPr>
          <a:xfrm>
            <a:off x="1219200" y="3022600"/>
            <a:ext cx="4572000" cy="369332"/>
          </a:xfrm>
          <a:prstGeom prst="rect">
            <a:avLst/>
          </a:prstGeom>
          <a:noFill/>
        </p:spPr>
        <p:txBody>
          <a:bodyPr vert="horz" wrap="square" lIns="0" tIns="0" rIns="0" bIns="0" rtlCol="0" anchor="t">
            <a:noAutofit/>
          </a:bodyPr>
          <a:lstStyle/>
          <a:p>
            <a:r>
              <a:rPr lang="en-US" sz="1400">
                <a:solidFill>
                  <a:srgbClr val="1B998B"/>
                </a:solidFill>
                <a:latin typeface="Calibri" panose="020F0502020204030204" pitchFamily="34" charset="0"/>
              </a:rPr>
              <a:t>The current files are now clean</a:t>
            </a:r>
            <a:endParaRPr lang="en-IN" sz="1400">
              <a:solidFill>
                <a:srgbClr val="1B998B"/>
              </a:solidFill>
              <a:latin typeface="Calibri" panose="020F0502020204030204" pitchFamily="34" charset="0"/>
            </a:endParaRPr>
          </a:p>
        </p:txBody>
      </p:sp>
      <p:sp>
        <p:nvSpPr>
          <p:cNvPr id="11" name="Rectangle: Rounded Corners 10">
            <a:extLst>
              <a:ext uri="{FF2B5EF4-FFF2-40B4-BE49-F238E27FC236}">
                <a16:creationId xmlns:a16="http://schemas.microsoft.com/office/drawing/2014/main" id="{31D3E550-ED24-7287-FB6C-8585B3E5CEF5}"/>
              </a:ext>
            </a:extLst>
          </p:cNvPr>
          <p:cNvSpPr/>
          <p:nvPr/>
        </p:nvSpPr>
        <p:spPr>
          <a:xfrm>
            <a:off x="609600" y="3683000"/>
            <a:ext cx="5207000" cy="1524000"/>
          </a:xfrm>
          <a:prstGeom prst="roundRect">
            <a:avLst>
              <a:gd name="adj" fmla="val 10000"/>
            </a:avLst>
          </a:prstGeom>
          <a:solidFill>
            <a:srgbClr val="FCE5D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AEBEFE1C-836D-F37E-2196-67B09CBCD649}"/>
              </a:ext>
            </a:extLst>
          </p:cNvPr>
          <p:cNvSpPr txBox="1"/>
          <p:nvPr/>
        </p:nvSpPr>
        <p:spPr>
          <a:xfrm>
            <a:off x="914400" y="3911600"/>
            <a:ext cx="4572000" cy="369332"/>
          </a:xfrm>
          <a:prstGeom prst="rect">
            <a:avLst/>
          </a:prstGeom>
          <a:noFill/>
        </p:spPr>
        <p:txBody>
          <a:bodyPr vert="horz" wrap="square" lIns="0" tIns="0" rIns="0" bIns="0" rtlCol="0" anchor="t">
            <a:noAutofit/>
          </a:bodyPr>
          <a:lstStyle/>
          <a:p>
            <a:r>
              <a:rPr lang="en-IN" sz="1600">
                <a:solidFill>
                  <a:srgbClr val="1E2A35"/>
                </a:solidFill>
                <a:latin typeface="Consolas" panose="020B0609020204030204" pitchFamily="49" charset="0"/>
              </a:rPr>
              <a:t>gitleaks git -v</a:t>
            </a:r>
          </a:p>
        </p:txBody>
      </p:sp>
      <p:sp>
        <p:nvSpPr>
          <p:cNvPr id="13" name="TextBox 12">
            <a:extLst>
              <a:ext uri="{FF2B5EF4-FFF2-40B4-BE49-F238E27FC236}">
                <a16:creationId xmlns:a16="http://schemas.microsoft.com/office/drawing/2014/main" id="{859ED346-C97F-EE3A-CAA6-716AABF98973}"/>
              </a:ext>
            </a:extLst>
          </p:cNvPr>
          <p:cNvSpPr txBox="1"/>
          <p:nvPr/>
        </p:nvSpPr>
        <p:spPr>
          <a:xfrm>
            <a:off x="914400" y="4318000"/>
            <a:ext cx="4597400" cy="369332"/>
          </a:xfrm>
          <a:prstGeom prst="rect">
            <a:avLst/>
          </a:prstGeom>
          <a:noFill/>
        </p:spPr>
        <p:txBody>
          <a:bodyPr vert="horz" wrap="square" lIns="0" tIns="0" rIns="0" bIns="0" rtlCol="0" anchor="t">
            <a:noAutofit/>
          </a:bodyPr>
          <a:lstStyle/>
          <a:p>
            <a:r>
              <a:rPr lang="en-US" sz="1500" b="1">
                <a:solidFill>
                  <a:srgbClr val="E4572E"/>
                </a:solidFill>
                <a:latin typeface="Calibri" panose="020F0502020204030204" pitchFamily="34" charset="0"/>
              </a:rPr>
              <a:t>Leak still found in commit 1. Anyone with a clone, a fork or a backup still has the key.</a:t>
            </a:r>
            <a:endParaRPr lang="en-IN" sz="1500" b="1">
              <a:solidFill>
                <a:srgbClr val="E4572E"/>
              </a:solidFill>
              <a:latin typeface="Calibri" panose="020F0502020204030204" pitchFamily="34" charset="0"/>
            </a:endParaRPr>
          </a:p>
        </p:txBody>
      </p:sp>
      <p:sp>
        <p:nvSpPr>
          <p:cNvPr id="14" name="TextBox 13">
            <a:extLst>
              <a:ext uri="{FF2B5EF4-FFF2-40B4-BE49-F238E27FC236}">
                <a16:creationId xmlns:a16="http://schemas.microsoft.com/office/drawing/2014/main" id="{ACB10929-513A-8106-A37C-463CB19C2B02}"/>
              </a:ext>
            </a:extLst>
          </p:cNvPr>
          <p:cNvSpPr txBox="1"/>
          <p:nvPr/>
        </p:nvSpPr>
        <p:spPr>
          <a:xfrm>
            <a:off x="6502400" y="1320800"/>
            <a:ext cx="5080000" cy="369332"/>
          </a:xfrm>
          <a:prstGeom prst="rect">
            <a:avLst/>
          </a:prstGeom>
          <a:noFill/>
        </p:spPr>
        <p:txBody>
          <a:bodyPr vert="horz" wrap="square" lIns="0" tIns="0" rIns="0" bIns="0" rtlCol="0" anchor="t">
            <a:noAutofit/>
          </a:bodyPr>
          <a:lstStyle/>
          <a:p>
            <a:r>
              <a:rPr lang="en-US" sz="2000" b="1">
                <a:solidFill>
                  <a:srgbClr val="13293D"/>
                </a:solidFill>
                <a:latin typeface="Calibri" panose="020F0502020204030204" pitchFamily="34" charset="0"/>
              </a:rPr>
              <a:t>If a secret was pushed</a:t>
            </a:r>
            <a:endParaRPr lang="en-IN" sz="2000" b="1">
              <a:solidFill>
                <a:srgbClr val="13293D"/>
              </a:solidFill>
              <a:latin typeface="Calibri" panose="020F0502020204030204" pitchFamily="34" charset="0"/>
            </a:endParaRPr>
          </a:p>
        </p:txBody>
      </p:sp>
      <p:sp>
        <p:nvSpPr>
          <p:cNvPr id="15" name="Oval 14">
            <a:extLst>
              <a:ext uri="{FF2B5EF4-FFF2-40B4-BE49-F238E27FC236}">
                <a16:creationId xmlns:a16="http://schemas.microsoft.com/office/drawing/2014/main" id="{AC138292-D6E4-F87D-F35A-6EDA394F962C}"/>
              </a:ext>
            </a:extLst>
          </p:cNvPr>
          <p:cNvSpPr/>
          <p:nvPr/>
        </p:nvSpPr>
        <p:spPr>
          <a:xfrm>
            <a:off x="6502400" y="1879600"/>
            <a:ext cx="457200" cy="457200"/>
          </a:xfrm>
          <a:prstGeom prst="ellipse">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IN" sz="1500" b="1">
                <a:solidFill>
                  <a:srgbClr val="FFFFFF"/>
                </a:solidFill>
                <a:latin typeface="Calibri" panose="020F0502020204030204" pitchFamily="34" charset="0"/>
              </a:rPr>
              <a:t>1</a:t>
            </a:r>
          </a:p>
        </p:txBody>
      </p:sp>
      <p:sp>
        <p:nvSpPr>
          <p:cNvPr id="16" name="TextBox 15">
            <a:extLst>
              <a:ext uri="{FF2B5EF4-FFF2-40B4-BE49-F238E27FC236}">
                <a16:creationId xmlns:a16="http://schemas.microsoft.com/office/drawing/2014/main" id="{8B799C27-8D72-144D-9B2B-F3F7C93505FC}"/>
              </a:ext>
            </a:extLst>
          </p:cNvPr>
          <p:cNvSpPr txBox="1"/>
          <p:nvPr/>
        </p:nvSpPr>
        <p:spPr>
          <a:xfrm>
            <a:off x="7137400" y="1892300"/>
            <a:ext cx="4445000" cy="369332"/>
          </a:xfrm>
          <a:prstGeom prst="rect">
            <a:avLst/>
          </a:prstGeom>
          <a:noFill/>
        </p:spPr>
        <p:txBody>
          <a:bodyPr vert="horz" wrap="square" lIns="0" tIns="0" rIns="0" bIns="0" rtlCol="0" anchor="t">
            <a:noAutofit/>
          </a:bodyPr>
          <a:lstStyle/>
          <a:p>
            <a:r>
              <a:rPr lang="en-US" sz="1700" b="1">
                <a:solidFill>
                  <a:srgbClr val="1E2A35"/>
                </a:solidFill>
                <a:latin typeface="Calibri" panose="020F0502020204030204" pitchFamily="34" charset="0"/>
              </a:rPr>
              <a:t>Revoke and rotate it first</a:t>
            </a:r>
            <a:endParaRPr lang="en-IN" sz="1700" b="1">
              <a:solidFill>
                <a:srgbClr val="1E2A35"/>
              </a:solidFill>
              <a:latin typeface="Calibri" panose="020F0502020204030204" pitchFamily="34" charset="0"/>
            </a:endParaRPr>
          </a:p>
        </p:txBody>
      </p:sp>
      <p:sp>
        <p:nvSpPr>
          <p:cNvPr id="17" name="TextBox 16">
            <a:extLst>
              <a:ext uri="{FF2B5EF4-FFF2-40B4-BE49-F238E27FC236}">
                <a16:creationId xmlns:a16="http://schemas.microsoft.com/office/drawing/2014/main" id="{F4076EF4-76EB-D965-62E2-8CDB4582D291}"/>
              </a:ext>
            </a:extLst>
          </p:cNvPr>
          <p:cNvSpPr txBox="1"/>
          <p:nvPr/>
        </p:nvSpPr>
        <p:spPr>
          <a:xfrm>
            <a:off x="7137400" y="2197100"/>
            <a:ext cx="4445000" cy="369332"/>
          </a:xfrm>
          <a:prstGeom prst="rect">
            <a:avLst/>
          </a:prstGeom>
          <a:noFill/>
        </p:spPr>
        <p:txBody>
          <a:bodyPr vert="horz" wrap="square" lIns="0" tIns="0" rIns="0" bIns="0" rtlCol="0" anchor="t">
            <a:noAutofit/>
          </a:bodyPr>
          <a:lstStyle/>
          <a:p>
            <a:r>
              <a:rPr lang="en-US" sz="1400">
                <a:solidFill>
                  <a:srgbClr val="5B6B79"/>
                </a:solidFill>
                <a:latin typeface="Calibri" panose="020F0502020204030204" pitchFamily="34" charset="0"/>
              </a:rPr>
              <a:t>Nothing else makes the key safe</a:t>
            </a:r>
            <a:endParaRPr lang="en-IN" sz="1400">
              <a:solidFill>
                <a:srgbClr val="5B6B79"/>
              </a:solidFill>
              <a:latin typeface="Calibri" panose="020F0502020204030204" pitchFamily="34" charset="0"/>
            </a:endParaRPr>
          </a:p>
        </p:txBody>
      </p:sp>
      <p:sp>
        <p:nvSpPr>
          <p:cNvPr id="18" name="Oval 17">
            <a:extLst>
              <a:ext uri="{FF2B5EF4-FFF2-40B4-BE49-F238E27FC236}">
                <a16:creationId xmlns:a16="http://schemas.microsoft.com/office/drawing/2014/main" id="{DBA48BF2-89B6-BE32-E650-BC1DDA58AED0}"/>
              </a:ext>
            </a:extLst>
          </p:cNvPr>
          <p:cNvSpPr/>
          <p:nvPr/>
        </p:nvSpPr>
        <p:spPr>
          <a:xfrm>
            <a:off x="6502400" y="2717800"/>
            <a:ext cx="457200" cy="457200"/>
          </a:xfrm>
          <a:prstGeom prst="ellipse">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IN" sz="1500" b="1">
                <a:solidFill>
                  <a:srgbClr val="FFFFFF"/>
                </a:solidFill>
                <a:latin typeface="Calibri" panose="020F0502020204030204" pitchFamily="34" charset="0"/>
              </a:rPr>
              <a:t>2</a:t>
            </a:r>
          </a:p>
        </p:txBody>
      </p:sp>
      <p:sp>
        <p:nvSpPr>
          <p:cNvPr id="19" name="TextBox 18">
            <a:extLst>
              <a:ext uri="{FF2B5EF4-FFF2-40B4-BE49-F238E27FC236}">
                <a16:creationId xmlns:a16="http://schemas.microsoft.com/office/drawing/2014/main" id="{75D05D55-F1F9-3160-D061-CEEE72857DE0}"/>
              </a:ext>
            </a:extLst>
          </p:cNvPr>
          <p:cNvSpPr txBox="1"/>
          <p:nvPr/>
        </p:nvSpPr>
        <p:spPr>
          <a:xfrm>
            <a:off x="7137400" y="2730500"/>
            <a:ext cx="4445000" cy="369332"/>
          </a:xfrm>
          <a:prstGeom prst="rect">
            <a:avLst/>
          </a:prstGeom>
          <a:noFill/>
        </p:spPr>
        <p:txBody>
          <a:bodyPr vert="horz" wrap="square" lIns="0" tIns="0" rIns="0" bIns="0" rtlCol="0" anchor="t">
            <a:noAutofit/>
          </a:bodyPr>
          <a:lstStyle/>
          <a:p>
            <a:r>
              <a:rPr lang="en-US" sz="1700" b="1">
                <a:solidFill>
                  <a:srgbClr val="1E2A35"/>
                </a:solidFill>
                <a:latin typeface="Calibri" panose="020F0502020204030204" pitchFamily="34" charset="0"/>
              </a:rPr>
              <a:t>Check whether it was used</a:t>
            </a:r>
            <a:endParaRPr lang="en-IN" sz="1700" b="1">
              <a:solidFill>
                <a:srgbClr val="1E2A35"/>
              </a:solidFill>
              <a:latin typeface="Calibri" panose="020F0502020204030204" pitchFamily="34" charset="0"/>
            </a:endParaRPr>
          </a:p>
        </p:txBody>
      </p:sp>
      <p:sp>
        <p:nvSpPr>
          <p:cNvPr id="20" name="TextBox 19">
            <a:extLst>
              <a:ext uri="{FF2B5EF4-FFF2-40B4-BE49-F238E27FC236}">
                <a16:creationId xmlns:a16="http://schemas.microsoft.com/office/drawing/2014/main" id="{1E61B38E-F327-3711-33B4-A99DDAF5747F}"/>
              </a:ext>
            </a:extLst>
          </p:cNvPr>
          <p:cNvSpPr txBox="1"/>
          <p:nvPr/>
        </p:nvSpPr>
        <p:spPr>
          <a:xfrm>
            <a:off x="7137400" y="3035300"/>
            <a:ext cx="4445000" cy="369332"/>
          </a:xfrm>
          <a:prstGeom prst="rect">
            <a:avLst/>
          </a:prstGeom>
          <a:noFill/>
        </p:spPr>
        <p:txBody>
          <a:bodyPr vert="horz" wrap="square" lIns="0" tIns="0" rIns="0" bIns="0" rtlCol="0" anchor="t">
            <a:noAutofit/>
          </a:bodyPr>
          <a:lstStyle/>
          <a:p>
            <a:r>
              <a:rPr lang="en-US" sz="1400">
                <a:solidFill>
                  <a:srgbClr val="5B6B79"/>
                </a:solidFill>
                <a:latin typeface="Calibri" panose="020F0502020204030204" pitchFamily="34" charset="0"/>
              </a:rPr>
              <a:t>For AWS: look it up in CloudTrail</a:t>
            </a:r>
            <a:endParaRPr lang="en-IN" sz="1400">
              <a:solidFill>
                <a:srgbClr val="5B6B79"/>
              </a:solidFill>
              <a:latin typeface="Calibri" panose="020F0502020204030204" pitchFamily="34" charset="0"/>
            </a:endParaRPr>
          </a:p>
        </p:txBody>
      </p:sp>
      <p:sp>
        <p:nvSpPr>
          <p:cNvPr id="21" name="Oval 20">
            <a:extLst>
              <a:ext uri="{FF2B5EF4-FFF2-40B4-BE49-F238E27FC236}">
                <a16:creationId xmlns:a16="http://schemas.microsoft.com/office/drawing/2014/main" id="{A569128D-78FC-7D45-6AB9-D64BAF53CA44}"/>
              </a:ext>
            </a:extLst>
          </p:cNvPr>
          <p:cNvSpPr/>
          <p:nvPr/>
        </p:nvSpPr>
        <p:spPr>
          <a:xfrm>
            <a:off x="6502400" y="3556000"/>
            <a:ext cx="457200" cy="457200"/>
          </a:xfrm>
          <a:prstGeom prst="ellipse">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IN" sz="1500" b="1">
                <a:solidFill>
                  <a:srgbClr val="FFFFFF"/>
                </a:solidFill>
                <a:latin typeface="Calibri" panose="020F0502020204030204" pitchFamily="34" charset="0"/>
              </a:rPr>
              <a:t>3</a:t>
            </a:r>
          </a:p>
        </p:txBody>
      </p:sp>
      <p:sp>
        <p:nvSpPr>
          <p:cNvPr id="22" name="TextBox 21">
            <a:extLst>
              <a:ext uri="{FF2B5EF4-FFF2-40B4-BE49-F238E27FC236}">
                <a16:creationId xmlns:a16="http://schemas.microsoft.com/office/drawing/2014/main" id="{2FFB7CA2-6D28-F8BC-5336-C598E791C9E7}"/>
              </a:ext>
            </a:extLst>
          </p:cNvPr>
          <p:cNvSpPr txBox="1"/>
          <p:nvPr/>
        </p:nvSpPr>
        <p:spPr>
          <a:xfrm>
            <a:off x="7137400" y="3568700"/>
            <a:ext cx="4445000" cy="369332"/>
          </a:xfrm>
          <a:prstGeom prst="rect">
            <a:avLst/>
          </a:prstGeom>
          <a:noFill/>
        </p:spPr>
        <p:txBody>
          <a:bodyPr vert="horz" wrap="square" lIns="0" tIns="0" rIns="0" bIns="0" rtlCol="0" anchor="t">
            <a:noAutofit/>
          </a:bodyPr>
          <a:lstStyle/>
          <a:p>
            <a:r>
              <a:rPr lang="en-IN" sz="1700" b="1">
                <a:solidFill>
                  <a:srgbClr val="1E2A35"/>
                </a:solidFill>
                <a:latin typeface="Calibri" panose="020F0502020204030204" pitchFamily="34" charset="0"/>
              </a:rPr>
              <a:t>Clean up the history</a:t>
            </a:r>
          </a:p>
        </p:txBody>
      </p:sp>
      <p:sp>
        <p:nvSpPr>
          <p:cNvPr id="23" name="TextBox 22">
            <a:extLst>
              <a:ext uri="{FF2B5EF4-FFF2-40B4-BE49-F238E27FC236}">
                <a16:creationId xmlns:a16="http://schemas.microsoft.com/office/drawing/2014/main" id="{2A851BC0-85E7-4B48-7B50-3CE2793DB031}"/>
              </a:ext>
            </a:extLst>
          </p:cNvPr>
          <p:cNvSpPr txBox="1"/>
          <p:nvPr/>
        </p:nvSpPr>
        <p:spPr>
          <a:xfrm>
            <a:off x="7137400" y="3873500"/>
            <a:ext cx="4445000" cy="369332"/>
          </a:xfrm>
          <a:prstGeom prst="rect">
            <a:avLst/>
          </a:prstGeom>
          <a:noFill/>
        </p:spPr>
        <p:txBody>
          <a:bodyPr vert="horz" wrap="square" lIns="0" tIns="0" rIns="0" bIns="0" rtlCol="0" anchor="t">
            <a:noAutofit/>
          </a:bodyPr>
          <a:lstStyle/>
          <a:p>
            <a:r>
              <a:rPr lang="en-IN" sz="1400">
                <a:solidFill>
                  <a:srgbClr val="5B6B79"/>
                </a:solidFill>
                <a:latin typeface="Calibri" panose="020F0502020204030204" pitchFamily="34" charset="0"/>
              </a:rPr>
              <a:t>git filter-repo, then force-push</a:t>
            </a:r>
          </a:p>
        </p:txBody>
      </p:sp>
      <p:sp>
        <p:nvSpPr>
          <p:cNvPr id="24" name="Oval 23">
            <a:extLst>
              <a:ext uri="{FF2B5EF4-FFF2-40B4-BE49-F238E27FC236}">
                <a16:creationId xmlns:a16="http://schemas.microsoft.com/office/drawing/2014/main" id="{02DB3F28-72CA-ACB0-8415-BAC75FD81C16}"/>
              </a:ext>
            </a:extLst>
          </p:cNvPr>
          <p:cNvSpPr/>
          <p:nvPr/>
        </p:nvSpPr>
        <p:spPr>
          <a:xfrm>
            <a:off x="6502400" y="4394200"/>
            <a:ext cx="457200" cy="457200"/>
          </a:xfrm>
          <a:prstGeom prst="ellipse">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IN" sz="1500" b="1">
                <a:solidFill>
                  <a:srgbClr val="FFFFFF"/>
                </a:solidFill>
                <a:latin typeface="Calibri" panose="020F0502020204030204" pitchFamily="34" charset="0"/>
              </a:rPr>
              <a:t>4</a:t>
            </a:r>
          </a:p>
        </p:txBody>
      </p:sp>
      <p:sp>
        <p:nvSpPr>
          <p:cNvPr id="25" name="TextBox 24">
            <a:extLst>
              <a:ext uri="{FF2B5EF4-FFF2-40B4-BE49-F238E27FC236}">
                <a16:creationId xmlns:a16="http://schemas.microsoft.com/office/drawing/2014/main" id="{C323A6EB-7EF1-DFB1-75D1-57179F220BAE}"/>
              </a:ext>
            </a:extLst>
          </p:cNvPr>
          <p:cNvSpPr txBox="1"/>
          <p:nvPr/>
        </p:nvSpPr>
        <p:spPr>
          <a:xfrm>
            <a:off x="7137400" y="4406900"/>
            <a:ext cx="4445000" cy="369332"/>
          </a:xfrm>
          <a:prstGeom prst="rect">
            <a:avLst/>
          </a:prstGeom>
          <a:noFill/>
        </p:spPr>
        <p:txBody>
          <a:bodyPr vert="horz" wrap="square" lIns="0" tIns="0" rIns="0" bIns="0" rtlCol="0" anchor="t">
            <a:noAutofit/>
          </a:bodyPr>
          <a:lstStyle/>
          <a:p>
            <a:r>
              <a:rPr lang="en-IN" sz="1700" b="1">
                <a:solidFill>
                  <a:srgbClr val="1E2A35"/>
                </a:solidFill>
                <a:latin typeface="Calibri" panose="020F0502020204030204" pitchFamily="34" charset="0"/>
              </a:rPr>
              <a:t>Prevent the next one</a:t>
            </a:r>
          </a:p>
        </p:txBody>
      </p:sp>
      <p:sp>
        <p:nvSpPr>
          <p:cNvPr id="26" name="TextBox 25">
            <a:extLst>
              <a:ext uri="{FF2B5EF4-FFF2-40B4-BE49-F238E27FC236}">
                <a16:creationId xmlns:a16="http://schemas.microsoft.com/office/drawing/2014/main" id="{107DF75A-3268-4D3B-E0D4-9E90CFB6415D}"/>
              </a:ext>
            </a:extLst>
          </p:cNvPr>
          <p:cNvSpPr txBox="1"/>
          <p:nvPr/>
        </p:nvSpPr>
        <p:spPr>
          <a:xfrm>
            <a:off x="7137400" y="4711700"/>
            <a:ext cx="4445000" cy="369332"/>
          </a:xfrm>
          <a:prstGeom prst="rect">
            <a:avLst/>
          </a:prstGeom>
          <a:noFill/>
        </p:spPr>
        <p:txBody>
          <a:bodyPr vert="horz" wrap="square" lIns="0" tIns="0" rIns="0" bIns="0" rtlCol="0" anchor="t">
            <a:noAutofit/>
          </a:bodyPr>
          <a:lstStyle/>
          <a:p>
            <a:r>
              <a:rPr lang="en-US" sz="1400">
                <a:solidFill>
                  <a:srgbClr val="5B6B79"/>
                </a:solidFill>
                <a:latin typeface="Calibri" panose="020F0502020204030204" pitchFamily="34" charset="0"/>
              </a:rPr>
              <a:t>Pre-commit hook, plus the same scan in CI</a:t>
            </a:r>
            <a:endParaRPr lang="en-IN" sz="1400">
              <a:solidFill>
                <a:srgbClr val="5B6B79"/>
              </a:solidFill>
              <a:latin typeface="Calibri" panose="020F0502020204030204" pitchFamily="34" charset="0"/>
            </a:endParaRPr>
          </a:p>
        </p:txBody>
      </p:sp>
      <p:sp>
        <p:nvSpPr>
          <p:cNvPr id="27" name="TextBox 26">
            <a:extLst>
              <a:ext uri="{FF2B5EF4-FFF2-40B4-BE49-F238E27FC236}">
                <a16:creationId xmlns:a16="http://schemas.microsoft.com/office/drawing/2014/main" id="{24658E73-A18A-37B1-D420-FBDBA9F2244F}"/>
              </a:ext>
            </a:extLst>
          </p:cNvPr>
          <p:cNvSpPr txBox="1"/>
          <p:nvPr/>
        </p:nvSpPr>
        <p:spPr>
          <a:xfrm>
            <a:off x="609600" y="6502400"/>
            <a:ext cx="5080000" cy="369332"/>
          </a:xfrm>
          <a:prstGeom prst="rect">
            <a:avLst/>
          </a:prstGeom>
          <a:noFill/>
        </p:spPr>
        <p:txBody>
          <a:bodyPr vert="horz" wrap="square" lIns="0" tIns="0" rIns="0" bIns="0" rtlCol="0" anchor="t">
            <a:noAutofit/>
          </a:bodyPr>
          <a:lstStyle/>
          <a:p>
            <a:r>
              <a:rPr lang="en-US" sz="1000">
                <a:solidFill>
                  <a:srgbClr val="5B6B79"/>
                </a:solidFill>
                <a:latin typeface="Calibri" panose="020F0502020204030204" pitchFamily="34" charset="0"/>
              </a:rPr>
              <a:t>Securing the path to the cloud</a:t>
            </a:r>
            <a:endParaRPr lang="en-IN" sz="1000">
              <a:solidFill>
                <a:srgbClr val="5B6B79"/>
              </a:solidFill>
              <a:latin typeface="Calibri" panose="020F0502020204030204" pitchFamily="34" charset="0"/>
            </a:endParaRPr>
          </a:p>
        </p:txBody>
      </p:sp>
      <p:sp>
        <p:nvSpPr>
          <p:cNvPr id="28" name="TextBox 27">
            <a:extLst>
              <a:ext uri="{FF2B5EF4-FFF2-40B4-BE49-F238E27FC236}">
                <a16:creationId xmlns:a16="http://schemas.microsoft.com/office/drawing/2014/main" id="{D33BEA82-5298-5557-8AC7-02595724BDFD}"/>
              </a:ext>
            </a:extLst>
          </p:cNvPr>
          <p:cNvSpPr txBox="1"/>
          <p:nvPr/>
        </p:nvSpPr>
        <p:spPr>
          <a:xfrm>
            <a:off x="10312400" y="6502400"/>
            <a:ext cx="1270000" cy="369332"/>
          </a:xfrm>
          <a:prstGeom prst="rect">
            <a:avLst/>
          </a:prstGeom>
          <a:noFill/>
        </p:spPr>
        <p:txBody>
          <a:bodyPr vert="horz" wrap="square" lIns="0" tIns="0" rIns="0" bIns="0" rtlCol="0" anchor="t">
            <a:noAutofit/>
          </a:bodyPr>
          <a:lstStyle/>
          <a:p>
            <a:pPr algn="r"/>
            <a:r>
              <a:rPr lang="en-IN" sz="1000">
                <a:solidFill>
                  <a:srgbClr val="5B6B79"/>
                </a:solidFill>
                <a:latin typeface="Calibri" panose="020F0502020204030204" pitchFamily="34" charset="0"/>
              </a:rPr>
              <a:t>14</a:t>
            </a:r>
          </a:p>
        </p:txBody>
      </p:sp>
    </p:spTree>
    <p:extLst>
      <p:ext uri="{BB962C8B-B14F-4D97-AF65-F5344CB8AC3E}">
        <p14:creationId xmlns:p14="http://schemas.microsoft.com/office/powerpoint/2010/main" val="37344150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893F620-44AC-1933-6688-E7F3FBAA62B4}"/>
              </a:ext>
            </a:extLst>
          </p:cNvPr>
          <p:cNvSpPr txBox="1"/>
          <p:nvPr/>
        </p:nvSpPr>
        <p:spPr>
          <a:xfrm>
            <a:off x="609600" y="381000"/>
            <a:ext cx="10972800" cy="369332"/>
          </a:xfrm>
          <a:prstGeom prst="rect">
            <a:avLst/>
          </a:prstGeom>
          <a:noFill/>
        </p:spPr>
        <p:txBody>
          <a:bodyPr vert="horz" wrap="square" lIns="0" tIns="0" rIns="0" bIns="0" rtlCol="0" anchor="t">
            <a:noAutofit/>
          </a:bodyPr>
          <a:lstStyle/>
          <a:p>
            <a:r>
              <a:rPr lang="en-IN" sz="3400" b="1">
                <a:solidFill>
                  <a:srgbClr val="13293D"/>
                </a:solidFill>
                <a:latin typeface="Calibri" panose="020F0502020204030204" pitchFamily="34" charset="0"/>
              </a:rPr>
              <a:t>Lab 1 · Commands</a:t>
            </a:r>
          </a:p>
        </p:txBody>
      </p:sp>
      <p:sp>
        <p:nvSpPr>
          <p:cNvPr id="3" name="TextBox 2">
            <a:extLst>
              <a:ext uri="{FF2B5EF4-FFF2-40B4-BE49-F238E27FC236}">
                <a16:creationId xmlns:a16="http://schemas.microsoft.com/office/drawing/2014/main" id="{A1502751-DD6D-0DD3-30F0-C67E1DC283F9}"/>
              </a:ext>
            </a:extLst>
          </p:cNvPr>
          <p:cNvSpPr txBox="1"/>
          <p:nvPr/>
        </p:nvSpPr>
        <p:spPr>
          <a:xfrm>
            <a:off x="609600" y="1016000"/>
            <a:ext cx="10972800" cy="369332"/>
          </a:xfrm>
          <a:prstGeom prst="rect">
            <a:avLst/>
          </a:prstGeom>
          <a:noFill/>
        </p:spPr>
        <p:txBody>
          <a:bodyPr vert="horz" wrap="square" lIns="0" tIns="0" rIns="0" bIns="0" rtlCol="0" anchor="t">
            <a:noAutofit/>
          </a:bodyPr>
          <a:lstStyle/>
          <a:p>
            <a:r>
              <a:rPr lang="en-US" sz="1600">
                <a:solidFill>
                  <a:srgbClr val="5B6B79"/>
                </a:solidFill>
                <a:latin typeface="Calibri" panose="020F0502020204030204" pitchFamily="34" charset="0"/>
              </a:rPr>
              <a:t>In the toolbox, which starts in the repo folder. Reset afterwards: see COMMANDS.md.</a:t>
            </a:r>
            <a:endParaRPr lang="en-IN" sz="1600">
              <a:solidFill>
                <a:srgbClr val="5B6B79"/>
              </a:solidFill>
              <a:latin typeface="Calibri" panose="020F0502020204030204" pitchFamily="34" charset="0"/>
            </a:endParaRPr>
          </a:p>
        </p:txBody>
      </p:sp>
      <p:sp>
        <p:nvSpPr>
          <p:cNvPr id="4" name="Rectangle: Rounded Corners 3">
            <a:extLst>
              <a:ext uri="{FF2B5EF4-FFF2-40B4-BE49-F238E27FC236}">
                <a16:creationId xmlns:a16="http://schemas.microsoft.com/office/drawing/2014/main" id="{9FDE7908-C372-77DB-199B-14D849EE9318}"/>
              </a:ext>
            </a:extLst>
          </p:cNvPr>
          <p:cNvSpPr/>
          <p:nvPr/>
        </p:nvSpPr>
        <p:spPr>
          <a:xfrm>
            <a:off x="609600" y="1422400"/>
            <a:ext cx="10972800" cy="3451225"/>
          </a:xfrm>
          <a:prstGeom prst="roundRect">
            <a:avLst>
              <a:gd name="adj" fmla="val 10000"/>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667A9C2A-B4C9-D23C-D623-F01047A6170D}"/>
              </a:ext>
            </a:extLst>
          </p:cNvPr>
          <p:cNvSpPr txBox="1"/>
          <p:nvPr/>
        </p:nvSpPr>
        <p:spPr>
          <a:xfrm>
            <a:off x="863600" y="1600200"/>
            <a:ext cx="10464800" cy="369332"/>
          </a:xfrm>
          <a:prstGeom prst="rect">
            <a:avLst/>
          </a:prstGeom>
          <a:noFill/>
        </p:spPr>
        <p:txBody>
          <a:bodyPr vert="horz" wrap="square" lIns="0" tIns="0" rIns="0" bIns="0" rtlCol="0" anchor="t">
            <a:noAutofit/>
          </a:bodyPr>
          <a:lstStyle/>
          <a:p>
            <a:r>
              <a:rPr lang="en-IN" sz="1300">
                <a:solidFill>
                  <a:srgbClr val="FFFFFF"/>
                </a:solidFill>
                <a:latin typeface="Consolas" panose="020B0609020204030204" pitchFamily="49" charset="0"/>
              </a:rPr>
              <a:t>cd labs/lab1-secrets/start</a:t>
            </a:r>
          </a:p>
          <a:p>
            <a:r>
              <a:rPr lang="en-IN" sz="1300">
                <a:solidFill>
                  <a:srgbClr val="FFFFFF"/>
                </a:solidFill>
                <a:latin typeface="Consolas" panose="020B0609020204030204" pitchFamily="49" charset="0"/>
              </a:rPr>
              <a:t>git init -q &amp;&amp; git add . &amp;&amp; git commit -qm "Add order export service"</a:t>
            </a:r>
          </a:p>
          <a:p>
            <a:r>
              <a:rPr lang="en-IN" sz="1300">
                <a:solidFill>
                  <a:srgbClr val="FFFFFF"/>
                </a:solidFill>
                <a:latin typeface="Consolas" panose="020B0609020204030204" pitchFamily="49" charset="0"/>
              </a:rPr>
              <a:t>gitleaks git -v                 </a:t>
            </a:r>
            <a:r>
              <a:rPr lang="en-IN" sz="1300">
                <a:solidFill>
                  <a:srgbClr val="8FD3C9"/>
                </a:solidFill>
                <a:latin typeface="Consolas" panose="020B0609020204030204" pitchFamily="49" charset="0"/>
              </a:rPr>
              <a:t>   # leak found</a:t>
            </a:r>
          </a:p>
          <a:p>
            <a:r>
              <a:rPr lang="en-IN" sz="1300">
                <a:solidFill>
                  <a:srgbClr val="FFFFFF"/>
                </a:solidFill>
                <a:latin typeface="Consolas" panose="020B0609020204030204" pitchFamily="49" charset="0"/>
              </a:rPr>
              <a:t>cp -r ../solution/. .</a:t>
            </a:r>
          </a:p>
          <a:p>
            <a:r>
              <a:rPr lang="en-IN" sz="1300">
                <a:solidFill>
                  <a:srgbClr val="FFFFFF"/>
                </a:solidFill>
                <a:latin typeface="Consolas" panose="020B0609020204030204" pitchFamily="49" charset="0"/>
              </a:rPr>
              <a:t>git add -A &amp;&amp; git commit -qm "Move secrets to environment variables"</a:t>
            </a:r>
          </a:p>
          <a:p>
            <a:r>
              <a:rPr lang="en-IN" sz="1300">
                <a:solidFill>
                  <a:srgbClr val="FFFFFF"/>
                </a:solidFill>
                <a:latin typeface="Consolas" panose="020B0609020204030204" pitchFamily="49" charset="0"/>
              </a:rPr>
              <a:t>gitleaks dir .                  </a:t>
            </a:r>
            <a:r>
              <a:rPr lang="en-IN" sz="1300">
                <a:solidFill>
                  <a:srgbClr val="8FD3C9"/>
                </a:solidFill>
                <a:latin typeface="Consolas" panose="020B0609020204030204" pitchFamily="49" charset="0"/>
              </a:rPr>
              <a:t>   # current files: clean</a:t>
            </a:r>
          </a:p>
          <a:p>
            <a:r>
              <a:rPr lang="en-IN" sz="1300">
                <a:solidFill>
                  <a:srgbClr val="FFFFFF"/>
                </a:solidFill>
                <a:latin typeface="Consolas" panose="020B0609020204030204" pitchFamily="49" charset="0"/>
              </a:rPr>
              <a:t>gitleaks git -v                 </a:t>
            </a:r>
            <a:r>
              <a:rPr lang="en-IN" sz="1300">
                <a:solidFill>
                  <a:srgbClr val="8FD3C9"/>
                </a:solidFill>
                <a:latin typeface="Consolas" panose="020B0609020204030204" pitchFamily="49" charset="0"/>
              </a:rPr>
              <a:t>   # history: still found</a:t>
            </a:r>
          </a:p>
          <a:p>
            <a:r>
              <a:rPr lang="en-IN" sz="1300">
                <a:solidFill>
                  <a:srgbClr val="8FD3C9"/>
                </a:solidFill>
                <a:latin typeface="Consolas" panose="020B0609020204030204" pitchFamily="49" charset="0"/>
              </a:rPr>
              <a:t># Add a pre-commit hook that blocks secrets</a:t>
            </a:r>
          </a:p>
          <a:p>
            <a:r>
              <a:rPr lang="en-IN" sz="1300">
                <a:solidFill>
                  <a:srgbClr val="FFFFFF"/>
                </a:solidFill>
                <a:latin typeface="Consolas" panose="020B0609020204030204" pitchFamily="49" charset="0"/>
              </a:rPr>
              <a:t>cat &gt; .git/hooks/pre-commit &lt;&lt;'EOF'</a:t>
            </a:r>
          </a:p>
          <a:p>
            <a:r>
              <a:rPr lang="en-IN" sz="1300">
                <a:solidFill>
                  <a:srgbClr val="8FD3C9"/>
                </a:solidFill>
                <a:latin typeface="Consolas" panose="020B0609020204030204" pitchFamily="49" charset="0"/>
              </a:rPr>
              <a:t>#!/bin/sh</a:t>
            </a:r>
          </a:p>
          <a:p>
            <a:r>
              <a:rPr lang="en-IN" sz="1300">
                <a:solidFill>
                  <a:srgbClr val="FFFFFF"/>
                </a:solidFill>
                <a:latin typeface="Consolas" panose="020B0609020204030204" pitchFamily="49" charset="0"/>
              </a:rPr>
              <a:t>exec gitleaks git --pre-commit --staged --redact -v</a:t>
            </a:r>
          </a:p>
          <a:p>
            <a:r>
              <a:rPr lang="en-IN" sz="1300">
                <a:solidFill>
                  <a:srgbClr val="FFFFFF"/>
                </a:solidFill>
                <a:latin typeface="Consolas" panose="020B0609020204030204" pitchFamily="49" charset="0"/>
              </a:rPr>
              <a:t>EOF</a:t>
            </a:r>
          </a:p>
          <a:p>
            <a:r>
              <a:rPr lang="en-IN" sz="1300">
                <a:solidFill>
                  <a:srgbClr val="FFFFFF"/>
                </a:solidFill>
                <a:latin typeface="Consolas" panose="020B0609020204030204" pitchFamily="49" charset="0"/>
              </a:rPr>
              <a:t>chmod +x .git/hooks/pre-commit</a:t>
            </a:r>
          </a:p>
          <a:p>
            <a:r>
              <a:rPr lang="en-IN" sz="1300">
                <a:solidFill>
                  <a:srgbClr val="FFFFFF"/>
                </a:solidFill>
                <a:latin typeface="Consolas" panose="020B0609020204030204" pitchFamily="49" charset="0"/>
              </a:rPr>
              <a:t>echo 'BACKUP_KEY = "AKIARZ5TQW7XKMB3NPLD"' &gt; app/backup.py</a:t>
            </a:r>
          </a:p>
          <a:p>
            <a:r>
              <a:rPr lang="en-IN" sz="1300">
                <a:solidFill>
                  <a:srgbClr val="FFFFFF"/>
                </a:solidFill>
                <a:latin typeface="Consolas" panose="020B0609020204030204" pitchFamily="49" charset="0"/>
              </a:rPr>
              <a:t>git add app/backup.py &amp;&amp; git commit -m "Add backup job"</a:t>
            </a:r>
            <a:r>
              <a:rPr lang="en-IN" sz="1300">
                <a:solidFill>
                  <a:srgbClr val="8FD3C9"/>
                </a:solidFill>
                <a:latin typeface="Consolas" panose="020B0609020204030204" pitchFamily="49" charset="0"/>
              </a:rPr>
              <a:t>   # blocked</a:t>
            </a:r>
          </a:p>
        </p:txBody>
      </p:sp>
      <p:sp>
        <p:nvSpPr>
          <p:cNvPr id="6" name="TextBox 5">
            <a:extLst>
              <a:ext uri="{FF2B5EF4-FFF2-40B4-BE49-F238E27FC236}">
                <a16:creationId xmlns:a16="http://schemas.microsoft.com/office/drawing/2014/main" id="{3E9E02A6-92DE-0EB4-2E3F-9B9DB69E5447}"/>
              </a:ext>
            </a:extLst>
          </p:cNvPr>
          <p:cNvSpPr txBox="1"/>
          <p:nvPr/>
        </p:nvSpPr>
        <p:spPr>
          <a:xfrm>
            <a:off x="609600" y="6502400"/>
            <a:ext cx="5080000" cy="369332"/>
          </a:xfrm>
          <a:prstGeom prst="rect">
            <a:avLst/>
          </a:prstGeom>
          <a:noFill/>
        </p:spPr>
        <p:txBody>
          <a:bodyPr vert="horz" wrap="square" lIns="0" tIns="0" rIns="0" bIns="0" rtlCol="0" anchor="t">
            <a:noAutofit/>
          </a:bodyPr>
          <a:lstStyle/>
          <a:p>
            <a:r>
              <a:rPr lang="en-US" sz="1000">
                <a:solidFill>
                  <a:srgbClr val="5B6B79"/>
                </a:solidFill>
                <a:latin typeface="Calibri" panose="020F0502020204030204" pitchFamily="34" charset="0"/>
              </a:rPr>
              <a:t>Securing the path to the cloud</a:t>
            </a:r>
            <a:endParaRPr lang="en-IN" sz="1000">
              <a:solidFill>
                <a:srgbClr val="5B6B79"/>
              </a:solidFill>
              <a:latin typeface="Calibri" panose="020F0502020204030204" pitchFamily="34" charset="0"/>
            </a:endParaRPr>
          </a:p>
        </p:txBody>
      </p:sp>
      <p:sp>
        <p:nvSpPr>
          <p:cNvPr id="7" name="TextBox 6">
            <a:extLst>
              <a:ext uri="{FF2B5EF4-FFF2-40B4-BE49-F238E27FC236}">
                <a16:creationId xmlns:a16="http://schemas.microsoft.com/office/drawing/2014/main" id="{714C0ED7-694E-EA9D-1DE4-F45ADF7EB663}"/>
              </a:ext>
            </a:extLst>
          </p:cNvPr>
          <p:cNvSpPr txBox="1"/>
          <p:nvPr/>
        </p:nvSpPr>
        <p:spPr>
          <a:xfrm>
            <a:off x="10312400" y="6502400"/>
            <a:ext cx="1270000" cy="369332"/>
          </a:xfrm>
          <a:prstGeom prst="rect">
            <a:avLst/>
          </a:prstGeom>
          <a:noFill/>
        </p:spPr>
        <p:txBody>
          <a:bodyPr vert="horz" wrap="square" lIns="0" tIns="0" rIns="0" bIns="0" rtlCol="0" anchor="t">
            <a:noAutofit/>
          </a:bodyPr>
          <a:lstStyle/>
          <a:p>
            <a:pPr algn="r"/>
            <a:r>
              <a:rPr lang="en-IN" sz="1000">
                <a:solidFill>
                  <a:srgbClr val="5B6B79"/>
                </a:solidFill>
                <a:latin typeface="Calibri" panose="020F0502020204030204" pitchFamily="34" charset="0"/>
              </a:rPr>
              <a:t>15</a:t>
            </a:r>
          </a:p>
        </p:txBody>
      </p:sp>
    </p:spTree>
    <p:extLst>
      <p:ext uri="{BB962C8B-B14F-4D97-AF65-F5344CB8AC3E}">
        <p14:creationId xmlns:p14="http://schemas.microsoft.com/office/powerpoint/2010/main" val="12265465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329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A23960D-C3B5-C4FF-3144-103BD387553E}"/>
              </a:ext>
            </a:extLst>
          </p:cNvPr>
          <p:cNvSpPr txBox="1"/>
          <p:nvPr/>
        </p:nvSpPr>
        <p:spPr>
          <a:xfrm>
            <a:off x="609600" y="1219200"/>
            <a:ext cx="5080000" cy="369332"/>
          </a:xfrm>
          <a:prstGeom prst="rect">
            <a:avLst/>
          </a:prstGeom>
          <a:noFill/>
        </p:spPr>
        <p:txBody>
          <a:bodyPr vert="horz" wrap="square" lIns="0" tIns="0" rIns="0" bIns="0" rtlCol="0" anchor="t">
            <a:noAutofit/>
          </a:bodyPr>
          <a:lstStyle/>
          <a:p>
            <a:r>
              <a:rPr lang="en-IN" sz="12000" b="1">
                <a:solidFill>
                  <a:srgbClr val="1B998B"/>
                </a:solidFill>
                <a:latin typeface="Calibri" panose="020F0502020204030204" pitchFamily="34" charset="0"/>
              </a:rPr>
              <a:t>02</a:t>
            </a:r>
          </a:p>
        </p:txBody>
      </p:sp>
      <p:sp>
        <p:nvSpPr>
          <p:cNvPr id="3" name="TextBox 2">
            <a:extLst>
              <a:ext uri="{FF2B5EF4-FFF2-40B4-BE49-F238E27FC236}">
                <a16:creationId xmlns:a16="http://schemas.microsoft.com/office/drawing/2014/main" id="{0D20ADE1-80BB-FA07-0441-43A08357658A}"/>
              </a:ext>
            </a:extLst>
          </p:cNvPr>
          <p:cNvSpPr txBox="1"/>
          <p:nvPr/>
        </p:nvSpPr>
        <p:spPr>
          <a:xfrm>
            <a:off x="609600" y="3175000"/>
            <a:ext cx="10972800" cy="369332"/>
          </a:xfrm>
          <a:prstGeom prst="rect">
            <a:avLst/>
          </a:prstGeom>
          <a:noFill/>
        </p:spPr>
        <p:txBody>
          <a:bodyPr vert="horz" wrap="square" lIns="0" tIns="0" rIns="0" bIns="0" rtlCol="0" anchor="t">
            <a:noAutofit/>
          </a:bodyPr>
          <a:lstStyle/>
          <a:p>
            <a:r>
              <a:rPr lang="en-IN" sz="4400" b="1">
                <a:solidFill>
                  <a:srgbClr val="FFFFFF"/>
                </a:solidFill>
                <a:latin typeface="Calibri" panose="020F0502020204030204" pitchFamily="34" charset="0"/>
              </a:rPr>
              <a:t>Insecure code</a:t>
            </a:r>
          </a:p>
        </p:txBody>
      </p:sp>
      <p:sp>
        <p:nvSpPr>
          <p:cNvPr id="4" name="TextBox 3">
            <a:extLst>
              <a:ext uri="{FF2B5EF4-FFF2-40B4-BE49-F238E27FC236}">
                <a16:creationId xmlns:a16="http://schemas.microsoft.com/office/drawing/2014/main" id="{8112D1BD-87DC-1DFE-6BAA-08517F916A03}"/>
              </a:ext>
            </a:extLst>
          </p:cNvPr>
          <p:cNvSpPr txBox="1"/>
          <p:nvPr/>
        </p:nvSpPr>
        <p:spPr>
          <a:xfrm>
            <a:off x="609600" y="4038600"/>
            <a:ext cx="9652000" cy="369332"/>
          </a:xfrm>
          <a:prstGeom prst="rect">
            <a:avLst/>
          </a:prstGeom>
          <a:noFill/>
        </p:spPr>
        <p:txBody>
          <a:bodyPr vert="horz" wrap="square" lIns="0" tIns="0" rIns="0" bIns="0" rtlCol="0" anchor="t">
            <a:noAutofit/>
          </a:bodyPr>
          <a:lstStyle/>
          <a:p>
            <a:r>
              <a:rPr lang="en-US" sz="2000">
                <a:solidFill>
                  <a:srgbClr val="C9D6DF"/>
                </a:solidFill>
                <a:latin typeface="Calibri" panose="020F0502020204030204" pitchFamily="34" charset="0"/>
              </a:rPr>
              <a:t>Ordinary-looking Python with serious security bugs, and how SonarQube finds them</a:t>
            </a:r>
            <a:endParaRPr lang="en-IN" sz="2000">
              <a:solidFill>
                <a:srgbClr val="C9D6DF"/>
              </a:solidFill>
              <a:latin typeface="Calibri" panose="020F0502020204030204" pitchFamily="34" charset="0"/>
            </a:endParaRPr>
          </a:p>
        </p:txBody>
      </p:sp>
      <p:sp>
        <p:nvSpPr>
          <p:cNvPr id="5" name="TextBox 4">
            <a:extLst>
              <a:ext uri="{FF2B5EF4-FFF2-40B4-BE49-F238E27FC236}">
                <a16:creationId xmlns:a16="http://schemas.microsoft.com/office/drawing/2014/main" id="{B5DB81B2-FCAC-9BA9-C8AC-12F0E88FAEDE}"/>
              </a:ext>
            </a:extLst>
          </p:cNvPr>
          <p:cNvSpPr txBox="1"/>
          <p:nvPr/>
        </p:nvSpPr>
        <p:spPr>
          <a:xfrm>
            <a:off x="609600" y="5207000"/>
            <a:ext cx="10972800" cy="369332"/>
          </a:xfrm>
          <a:prstGeom prst="rect">
            <a:avLst/>
          </a:prstGeom>
          <a:noFill/>
        </p:spPr>
        <p:txBody>
          <a:bodyPr vert="horz" wrap="square" lIns="0" tIns="0" rIns="0" bIns="0" rtlCol="0" anchor="t">
            <a:noAutofit/>
          </a:bodyPr>
          <a:lstStyle/>
          <a:p>
            <a:r>
              <a:rPr lang="en-US" sz="1600" b="1">
                <a:solidFill>
                  <a:srgbClr val="1B998B"/>
                </a:solidFill>
                <a:latin typeface="Calibri" panose="020F0502020204030204" pitchFamily="34" charset="0"/>
              </a:rPr>
              <a:t>Tool: SonarQube   ·   20 minutes walkthrough</a:t>
            </a:r>
            <a:endParaRPr lang="en-IN" sz="1600" b="1">
              <a:solidFill>
                <a:srgbClr val="1B998B"/>
              </a:solidFill>
              <a:latin typeface="Calibri" panose="020F0502020204030204" pitchFamily="34" charset="0"/>
            </a:endParaRPr>
          </a:p>
        </p:txBody>
      </p:sp>
    </p:spTree>
    <p:extLst>
      <p:ext uri="{BB962C8B-B14F-4D97-AF65-F5344CB8AC3E}">
        <p14:creationId xmlns:p14="http://schemas.microsoft.com/office/powerpoint/2010/main" val="32787835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E9E5A7-F8B8-ECD0-6A78-C5EB773B1978}"/>
              </a:ext>
            </a:extLst>
          </p:cNvPr>
          <p:cNvSpPr txBox="1"/>
          <p:nvPr/>
        </p:nvSpPr>
        <p:spPr>
          <a:xfrm>
            <a:off x="609600" y="381000"/>
            <a:ext cx="10972800" cy="369332"/>
          </a:xfrm>
          <a:prstGeom prst="rect">
            <a:avLst/>
          </a:prstGeom>
          <a:noFill/>
        </p:spPr>
        <p:txBody>
          <a:bodyPr vert="horz" wrap="square" lIns="0" tIns="0" rIns="0" bIns="0" rtlCol="0" anchor="t">
            <a:noAutofit/>
          </a:bodyPr>
          <a:lstStyle/>
          <a:p>
            <a:r>
              <a:rPr lang="en-US" sz="3400" b="1">
                <a:solidFill>
                  <a:srgbClr val="13293D"/>
                </a:solidFill>
                <a:latin typeface="Calibri" panose="020F0502020204030204" pitchFamily="34" charset="0"/>
              </a:rPr>
              <a:t>Lab 2 · What we're trying to achieve</a:t>
            </a:r>
            <a:endParaRPr lang="en-IN" sz="3400" b="1">
              <a:solidFill>
                <a:srgbClr val="13293D"/>
              </a:solidFill>
              <a:latin typeface="Calibri" panose="020F0502020204030204" pitchFamily="34" charset="0"/>
            </a:endParaRPr>
          </a:p>
        </p:txBody>
      </p:sp>
      <p:sp>
        <p:nvSpPr>
          <p:cNvPr id="3" name="Rectangle: Rounded Corners 2">
            <a:extLst>
              <a:ext uri="{FF2B5EF4-FFF2-40B4-BE49-F238E27FC236}">
                <a16:creationId xmlns:a16="http://schemas.microsoft.com/office/drawing/2014/main" id="{21FAA18F-A945-0BD0-7464-DD0807AB5D54}"/>
              </a:ext>
            </a:extLst>
          </p:cNvPr>
          <p:cNvSpPr/>
          <p:nvPr/>
        </p:nvSpPr>
        <p:spPr>
          <a:xfrm>
            <a:off x="609600" y="1320800"/>
            <a:ext cx="5080000" cy="3479800"/>
          </a:xfrm>
          <a:prstGeom prst="roundRect">
            <a:avLst>
              <a:gd name="adj" fmla="val 10000"/>
            </a:avLst>
          </a:prstGeom>
          <a:solidFill>
            <a:srgbClr val="EEF3F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9A10B1EB-29EF-6C50-BB18-8A196743BCB5}"/>
              </a:ext>
            </a:extLst>
          </p:cNvPr>
          <p:cNvSpPr txBox="1"/>
          <p:nvPr/>
        </p:nvSpPr>
        <p:spPr>
          <a:xfrm>
            <a:off x="914400" y="1574800"/>
            <a:ext cx="4470400" cy="369332"/>
          </a:xfrm>
          <a:prstGeom prst="rect">
            <a:avLst/>
          </a:prstGeom>
          <a:noFill/>
        </p:spPr>
        <p:txBody>
          <a:bodyPr vert="horz" wrap="square" lIns="0" tIns="0" rIns="0" bIns="0" rtlCol="0" anchor="t">
            <a:noAutofit/>
          </a:bodyPr>
          <a:lstStyle/>
          <a:p>
            <a:r>
              <a:rPr lang="en-IN" sz="1200" b="1">
                <a:solidFill>
                  <a:srgbClr val="1B998B"/>
                </a:solidFill>
                <a:latin typeface="Calibri" panose="020F0502020204030204" pitchFamily="34" charset="0"/>
              </a:rPr>
              <a:t>THE SCENARIO</a:t>
            </a:r>
          </a:p>
        </p:txBody>
      </p:sp>
      <p:sp>
        <p:nvSpPr>
          <p:cNvPr id="5" name="TextBox 4">
            <a:extLst>
              <a:ext uri="{FF2B5EF4-FFF2-40B4-BE49-F238E27FC236}">
                <a16:creationId xmlns:a16="http://schemas.microsoft.com/office/drawing/2014/main" id="{FF9E1A88-EDCD-A32B-6158-44D2100E75C7}"/>
              </a:ext>
            </a:extLst>
          </p:cNvPr>
          <p:cNvSpPr txBox="1"/>
          <p:nvPr/>
        </p:nvSpPr>
        <p:spPr>
          <a:xfrm>
            <a:off x="914400" y="1905000"/>
            <a:ext cx="4470400" cy="369332"/>
          </a:xfrm>
          <a:prstGeom prst="rect">
            <a:avLst/>
          </a:prstGeom>
          <a:noFill/>
        </p:spPr>
        <p:txBody>
          <a:bodyPr vert="horz" wrap="square" lIns="0" tIns="0" rIns="0" bIns="0" rtlCol="0" anchor="t">
            <a:noAutofit/>
          </a:bodyPr>
          <a:lstStyle/>
          <a:p>
            <a:r>
              <a:rPr lang="en-US" sz="1700">
                <a:solidFill>
                  <a:srgbClr val="1E2A35"/>
                </a:solidFill>
                <a:latin typeface="Calibri" panose="020F0502020204030204" pitchFamily="34" charset="0"/>
              </a:rPr>
              <a:t>An internal Python service builds, archives and shares customer reports. It works, it passed code review, and it contains about twenty security bugs, each one a pattern attackers look for.</a:t>
            </a:r>
            <a:endParaRPr lang="en-IN" sz="1700">
              <a:solidFill>
                <a:srgbClr val="1E2A35"/>
              </a:solidFill>
              <a:latin typeface="Calibri" panose="020F0502020204030204" pitchFamily="34" charset="0"/>
            </a:endParaRPr>
          </a:p>
        </p:txBody>
      </p:sp>
      <p:sp>
        <p:nvSpPr>
          <p:cNvPr id="6" name="TextBox 5">
            <a:extLst>
              <a:ext uri="{FF2B5EF4-FFF2-40B4-BE49-F238E27FC236}">
                <a16:creationId xmlns:a16="http://schemas.microsoft.com/office/drawing/2014/main" id="{BA53ED44-FA45-DB71-1B0E-369E821F5D12}"/>
              </a:ext>
            </a:extLst>
          </p:cNvPr>
          <p:cNvSpPr txBox="1"/>
          <p:nvPr/>
        </p:nvSpPr>
        <p:spPr>
          <a:xfrm>
            <a:off x="914400" y="3886200"/>
            <a:ext cx="4470400" cy="369332"/>
          </a:xfrm>
          <a:prstGeom prst="rect">
            <a:avLst/>
          </a:prstGeom>
          <a:noFill/>
        </p:spPr>
        <p:txBody>
          <a:bodyPr vert="horz" wrap="square" lIns="0" tIns="0" rIns="0" bIns="0" rtlCol="0" anchor="b">
            <a:noAutofit/>
          </a:bodyPr>
          <a:lstStyle/>
          <a:p>
            <a:r>
              <a:rPr lang="en-US" sz="2000" b="1">
                <a:solidFill>
                  <a:srgbClr val="E4572E"/>
                </a:solidFill>
                <a:latin typeface="Calibri" panose="020F0502020204030204" pitchFamily="34" charset="0"/>
              </a:rPr>
              <a:t>How many would your code review catch?</a:t>
            </a:r>
            <a:endParaRPr lang="en-IN" sz="2000" b="1">
              <a:solidFill>
                <a:srgbClr val="E4572E"/>
              </a:solidFill>
              <a:latin typeface="Calibri" panose="020F0502020204030204" pitchFamily="34" charset="0"/>
            </a:endParaRPr>
          </a:p>
        </p:txBody>
      </p:sp>
      <p:sp>
        <p:nvSpPr>
          <p:cNvPr id="7" name="TextBox 6">
            <a:extLst>
              <a:ext uri="{FF2B5EF4-FFF2-40B4-BE49-F238E27FC236}">
                <a16:creationId xmlns:a16="http://schemas.microsoft.com/office/drawing/2014/main" id="{958DCE21-F789-35B3-B920-5DCF0B117075}"/>
              </a:ext>
            </a:extLst>
          </p:cNvPr>
          <p:cNvSpPr txBox="1"/>
          <p:nvPr/>
        </p:nvSpPr>
        <p:spPr>
          <a:xfrm>
            <a:off x="6248400" y="1574800"/>
            <a:ext cx="5334000" cy="369332"/>
          </a:xfrm>
          <a:prstGeom prst="rect">
            <a:avLst/>
          </a:prstGeom>
          <a:noFill/>
        </p:spPr>
        <p:txBody>
          <a:bodyPr vert="horz" wrap="square" lIns="0" tIns="0" rIns="0" bIns="0" rtlCol="0" anchor="t">
            <a:noAutofit/>
          </a:bodyPr>
          <a:lstStyle/>
          <a:p>
            <a:r>
              <a:rPr lang="en-US" sz="1200" b="1">
                <a:solidFill>
                  <a:srgbClr val="1B998B"/>
                </a:solidFill>
                <a:latin typeface="Calibri" panose="020F0502020204030204" pitchFamily="34" charset="0"/>
              </a:rPr>
              <a:t>BY THE END OF THIS LAB YOU WILL</a:t>
            </a:r>
            <a:endParaRPr lang="en-IN" sz="1200" b="1">
              <a:solidFill>
                <a:srgbClr val="1B998B"/>
              </a:solidFill>
              <a:latin typeface="Calibri" panose="020F0502020204030204" pitchFamily="34" charset="0"/>
            </a:endParaRPr>
          </a:p>
        </p:txBody>
      </p:sp>
      <p:sp>
        <p:nvSpPr>
          <p:cNvPr id="8" name="Oval 7">
            <a:extLst>
              <a:ext uri="{FF2B5EF4-FFF2-40B4-BE49-F238E27FC236}">
                <a16:creationId xmlns:a16="http://schemas.microsoft.com/office/drawing/2014/main" id="{688080EC-E3EA-0949-6002-2042A6433179}"/>
              </a:ext>
            </a:extLst>
          </p:cNvPr>
          <p:cNvSpPr/>
          <p:nvPr/>
        </p:nvSpPr>
        <p:spPr>
          <a:xfrm>
            <a:off x="6248400" y="1981200"/>
            <a:ext cx="482600" cy="482600"/>
          </a:xfrm>
          <a:prstGeom prst="ellipse">
            <a:avLst/>
          </a:prstGeom>
          <a:solidFill>
            <a:srgbClr val="1B998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IN" sz="1600" b="1">
                <a:solidFill>
                  <a:srgbClr val="FFFFFF"/>
                </a:solidFill>
                <a:latin typeface="Calibri" panose="020F0502020204030204" pitchFamily="34" charset="0"/>
              </a:rPr>
              <a:t>1</a:t>
            </a:r>
          </a:p>
        </p:txBody>
      </p:sp>
      <p:sp>
        <p:nvSpPr>
          <p:cNvPr id="9" name="TextBox 8">
            <a:extLst>
              <a:ext uri="{FF2B5EF4-FFF2-40B4-BE49-F238E27FC236}">
                <a16:creationId xmlns:a16="http://schemas.microsoft.com/office/drawing/2014/main" id="{E39FA6AF-6AA6-1FCB-0F4A-2026772DBB98}"/>
              </a:ext>
            </a:extLst>
          </p:cNvPr>
          <p:cNvSpPr txBox="1"/>
          <p:nvPr/>
        </p:nvSpPr>
        <p:spPr>
          <a:xfrm>
            <a:off x="6934200" y="2006600"/>
            <a:ext cx="4648200" cy="369332"/>
          </a:xfrm>
          <a:prstGeom prst="rect">
            <a:avLst/>
          </a:prstGeom>
          <a:noFill/>
        </p:spPr>
        <p:txBody>
          <a:bodyPr vert="horz" wrap="square" lIns="0" tIns="0" rIns="0" bIns="0" rtlCol="0" anchor="t">
            <a:noAutofit/>
          </a:bodyPr>
          <a:lstStyle/>
          <a:p>
            <a:r>
              <a:rPr lang="en-US" sz="1700">
                <a:solidFill>
                  <a:srgbClr val="1E2A35"/>
                </a:solidFill>
                <a:latin typeface="Calibri" panose="020F0502020204030204" pitchFamily="34" charset="0"/>
              </a:rPr>
              <a:t>Recognise the most common code vulnerabilities</a:t>
            </a:r>
            <a:endParaRPr lang="en-IN" sz="1700">
              <a:solidFill>
                <a:srgbClr val="1E2A35"/>
              </a:solidFill>
              <a:latin typeface="Calibri" panose="020F0502020204030204" pitchFamily="34" charset="0"/>
            </a:endParaRPr>
          </a:p>
        </p:txBody>
      </p:sp>
      <p:sp>
        <p:nvSpPr>
          <p:cNvPr id="10" name="Oval 9">
            <a:extLst>
              <a:ext uri="{FF2B5EF4-FFF2-40B4-BE49-F238E27FC236}">
                <a16:creationId xmlns:a16="http://schemas.microsoft.com/office/drawing/2014/main" id="{EAD6D5C3-5747-5577-F963-6CEADDBA51FE}"/>
              </a:ext>
            </a:extLst>
          </p:cNvPr>
          <p:cNvSpPr/>
          <p:nvPr/>
        </p:nvSpPr>
        <p:spPr>
          <a:xfrm>
            <a:off x="6248400" y="2921000"/>
            <a:ext cx="482600" cy="482600"/>
          </a:xfrm>
          <a:prstGeom prst="ellipse">
            <a:avLst/>
          </a:prstGeom>
          <a:solidFill>
            <a:srgbClr val="1B998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IN" sz="1600" b="1">
                <a:solidFill>
                  <a:srgbClr val="FFFFFF"/>
                </a:solidFill>
                <a:latin typeface="Calibri" panose="020F0502020204030204" pitchFamily="34" charset="0"/>
              </a:rPr>
              <a:t>2</a:t>
            </a:r>
          </a:p>
        </p:txBody>
      </p:sp>
      <p:sp>
        <p:nvSpPr>
          <p:cNvPr id="11" name="TextBox 10">
            <a:extLst>
              <a:ext uri="{FF2B5EF4-FFF2-40B4-BE49-F238E27FC236}">
                <a16:creationId xmlns:a16="http://schemas.microsoft.com/office/drawing/2014/main" id="{4313A11E-7C9C-9D07-9F93-BB930B75636C}"/>
              </a:ext>
            </a:extLst>
          </p:cNvPr>
          <p:cNvSpPr txBox="1"/>
          <p:nvPr/>
        </p:nvSpPr>
        <p:spPr>
          <a:xfrm>
            <a:off x="6934200" y="2946400"/>
            <a:ext cx="4648200" cy="369332"/>
          </a:xfrm>
          <a:prstGeom prst="rect">
            <a:avLst/>
          </a:prstGeom>
          <a:noFill/>
        </p:spPr>
        <p:txBody>
          <a:bodyPr vert="horz" wrap="square" lIns="0" tIns="0" rIns="0" bIns="0" rtlCol="0" anchor="t">
            <a:noAutofit/>
          </a:bodyPr>
          <a:lstStyle/>
          <a:p>
            <a:r>
              <a:rPr lang="en-US" sz="1700">
                <a:solidFill>
                  <a:srgbClr val="1E2A35"/>
                </a:solidFill>
                <a:latin typeface="Calibri" panose="020F0502020204030204" pitchFamily="34" charset="0"/>
              </a:rPr>
              <a:t>Read a SonarQube report: quality gate, issues and security hotspots</a:t>
            </a:r>
            <a:endParaRPr lang="en-IN" sz="1700">
              <a:solidFill>
                <a:srgbClr val="1E2A35"/>
              </a:solidFill>
              <a:latin typeface="Calibri" panose="020F0502020204030204" pitchFamily="34" charset="0"/>
            </a:endParaRPr>
          </a:p>
        </p:txBody>
      </p:sp>
      <p:sp>
        <p:nvSpPr>
          <p:cNvPr id="12" name="Oval 11">
            <a:extLst>
              <a:ext uri="{FF2B5EF4-FFF2-40B4-BE49-F238E27FC236}">
                <a16:creationId xmlns:a16="http://schemas.microsoft.com/office/drawing/2014/main" id="{C6705050-A01E-F41E-0E9F-018113BF6C2B}"/>
              </a:ext>
            </a:extLst>
          </p:cNvPr>
          <p:cNvSpPr/>
          <p:nvPr/>
        </p:nvSpPr>
        <p:spPr>
          <a:xfrm>
            <a:off x="6248400" y="3860800"/>
            <a:ext cx="482600" cy="482600"/>
          </a:xfrm>
          <a:prstGeom prst="ellipse">
            <a:avLst/>
          </a:prstGeom>
          <a:solidFill>
            <a:srgbClr val="1B998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IN" sz="1600" b="1">
                <a:solidFill>
                  <a:srgbClr val="FFFFFF"/>
                </a:solidFill>
                <a:latin typeface="Calibri" panose="020F0502020204030204" pitchFamily="34" charset="0"/>
              </a:rPr>
              <a:t>3</a:t>
            </a:r>
          </a:p>
        </p:txBody>
      </p:sp>
      <p:sp>
        <p:nvSpPr>
          <p:cNvPr id="13" name="TextBox 12">
            <a:extLst>
              <a:ext uri="{FF2B5EF4-FFF2-40B4-BE49-F238E27FC236}">
                <a16:creationId xmlns:a16="http://schemas.microsoft.com/office/drawing/2014/main" id="{99C2F460-2B9C-F09F-2E7A-C1838B3717DE}"/>
              </a:ext>
            </a:extLst>
          </p:cNvPr>
          <p:cNvSpPr txBox="1"/>
          <p:nvPr/>
        </p:nvSpPr>
        <p:spPr>
          <a:xfrm>
            <a:off x="6934200" y="3886200"/>
            <a:ext cx="4648200" cy="369332"/>
          </a:xfrm>
          <a:prstGeom prst="rect">
            <a:avLst/>
          </a:prstGeom>
          <a:noFill/>
        </p:spPr>
        <p:txBody>
          <a:bodyPr vert="horz" wrap="square" lIns="0" tIns="0" rIns="0" bIns="0" rtlCol="0" anchor="t">
            <a:noAutofit/>
          </a:bodyPr>
          <a:lstStyle/>
          <a:p>
            <a:r>
              <a:rPr lang="en-US" sz="1700">
                <a:solidFill>
                  <a:srgbClr val="1E2A35"/>
                </a:solidFill>
                <a:latin typeface="Calibri" panose="020F0502020204030204" pitchFamily="34" charset="0"/>
              </a:rPr>
              <a:t>See how each bug is fixed, by comparing the insecure and fixed versions</a:t>
            </a:r>
            <a:endParaRPr lang="en-IN" sz="1700">
              <a:solidFill>
                <a:srgbClr val="1E2A35"/>
              </a:solidFill>
              <a:latin typeface="Calibri" panose="020F0502020204030204" pitchFamily="34" charset="0"/>
            </a:endParaRPr>
          </a:p>
        </p:txBody>
      </p:sp>
      <p:sp>
        <p:nvSpPr>
          <p:cNvPr id="14" name="Rectangle: Rounded Corners 13">
            <a:extLst>
              <a:ext uri="{FF2B5EF4-FFF2-40B4-BE49-F238E27FC236}">
                <a16:creationId xmlns:a16="http://schemas.microsoft.com/office/drawing/2014/main" id="{0C201ED3-ACB0-CD4D-1E53-865FC5BDCF06}"/>
              </a:ext>
            </a:extLst>
          </p:cNvPr>
          <p:cNvSpPr/>
          <p:nvPr/>
        </p:nvSpPr>
        <p:spPr>
          <a:xfrm>
            <a:off x="609600" y="5054600"/>
            <a:ext cx="10972800" cy="711200"/>
          </a:xfrm>
          <a:prstGeom prst="roundRect">
            <a:avLst>
              <a:gd name="adj" fmla="val 10000"/>
            </a:avLst>
          </a:prstGeom>
          <a:solidFill>
            <a:srgbClr val="FCE5D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0" tIns="25400" rIns="76200" bIns="25400" rtlCol="0" anchor="ctr"/>
          <a:lstStyle/>
          <a:p>
            <a:r>
              <a:rPr lang="en-US" sz="1500" b="1">
                <a:solidFill>
                  <a:srgbClr val="E4572E"/>
                </a:solidFill>
                <a:latin typeface="Calibri" panose="020F0502020204030204" pitchFamily="34" charset="0"/>
              </a:rPr>
              <a:t>Real world:  Injection flaws have appeared in every OWASP Top 10 list since it began in 2003.</a:t>
            </a:r>
            <a:endParaRPr lang="en-IN" sz="1500" b="1">
              <a:solidFill>
                <a:srgbClr val="E4572E"/>
              </a:solidFill>
              <a:latin typeface="Calibri" panose="020F0502020204030204" pitchFamily="34" charset="0"/>
            </a:endParaRPr>
          </a:p>
        </p:txBody>
      </p:sp>
      <p:sp>
        <p:nvSpPr>
          <p:cNvPr id="15" name="TextBox 14">
            <a:extLst>
              <a:ext uri="{FF2B5EF4-FFF2-40B4-BE49-F238E27FC236}">
                <a16:creationId xmlns:a16="http://schemas.microsoft.com/office/drawing/2014/main" id="{64EC0C9C-B29E-A994-6CE5-4002B089D4CE}"/>
              </a:ext>
            </a:extLst>
          </p:cNvPr>
          <p:cNvSpPr txBox="1"/>
          <p:nvPr/>
        </p:nvSpPr>
        <p:spPr>
          <a:xfrm>
            <a:off x="609600" y="6502400"/>
            <a:ext cx="5080000" cy="369332"/>
          </a:xfrm>
          <a:prstGeom prst="rect">
            <a:avLst/>
          </a:prstGeom>
          <a:noFill/>
        </p:spPr>
        <p:txBody>
          <a:bodyPr vert="horz" wrap="square" lIns="0" tIns="0" rIns="0" bIns="0" rtlCol="0" anchor="t">
            <a:noAutofit/>
          </a:bodyPr>
          <a:lstStyle/>
          <a:p>
            <a:r>
              <a:rPr lang="en-US" sz="1000">
                <a:solidFill>
                  <a:srgbClr val="5B6B79"/>
                </a:solidFill>
                <a:latin typeface="Calibri" panose="020F0502020204030204" pitchFamily="34" charset="0"/>
              </a:rPr>
              <a:t>Securing the path to the cloud</a:t>
            </a:r>
            <a:endParaRPr lang="en-IN" sz="1000">
              <a:solidFill>
                <a:srgbClr val="5B6B79"/>
              </a:solidFill>
              <a:latin typeface="Calibri" panose="020F0502020204030204" pitchFamily="34" charset="0"/>
            </a:endParaRPr>
          </a:p>
        </p:txBody>
      </p:sp>
      <p:sp>
        <p:nvSpPr>
          <p:cNvPr id="16" name="TextBox 15">
            <a:extLst>
              <a:ext uri="{FF2B5EF4-FFF2-40B4-BE49-F238E27FC236}">
                <a16:creationId xmlns:a16="http://schemas.microsoft.com/office/drawing/2014/main" id="{614C36C2-10DC-2B8A-0624-53733D2431EE}"/>
              </a:ext>
            </a:extLst>
          </p:cNvPr>
          <p:cNvSpPr txBox="1"/>
          <p:nvPr/>
        </p:nvSpPr>
        <p:spPr>
          <a:xfrm>
            <a:off x="10312400" y="6502400"/>
            <a:ext cx="1270000" cy="369332"/>
          </a:xfrm>
          <a:prstGeom prst="rect">
            <a:avLst/>
          </a:prstGeom>
          <a:noFill/>
        </p:spPr>
        <p:txBody>
          <a:bodyPr vert="horz" wrap="square" lIns="0" tIns="0" rIns="0" bIns="0" rtlCol="0" anchor="t">
            <a:noAutofit/>
          </a:bodyPr>
          <a:lstStyle/>
          <a:p>
            <a:pPr algn="r"/>
            <a:r>
              <a:rPr lang="en-IN" sz="1000">
                <a:solidFill>
                  <a:srgbClr val="5B6B79"/>
                </a:solidFill>
                <a:latin typeface="Calibri" panose="020F0502020204030204" pitchFamily="34" charset="0"/>
              </a:rPr>
              <a:t>17</a:t>
            </a:r>
          </a:p>
        </p:txBody>
      </p:sp>
    </p:spTree>
    <p:extLst>
      <p:ext uri="{BB962C8B-B14F-4D97-AF65-F5344CB8AC3E}">
        <p14:creationId xmlns:p14="http://schemas.microsoft.com/office/powerpoint/2010/main" val="26012093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C953728-F31D-3583-7E77-E9CB818D0711}"/>
              </a:ext>
            </a:extLst>
          </p:cNvPr>
          <p:cNvSpPr txBox="1"/>
          <p:nvPr/>
        </p:nvSpPr>
        <p:spPr>
          <a:xfrm>
            <a:off x="609600" y="381000"/>
            <a:ext cx="10972800" cy="369332"/>
          </a:xfrm>
          <a:prstGeom prst="rect">
            <a:avLst/>
          </a:prstGeom>
          <a:noFill/>
        </p:spPr>
        <p:txBody>
          <a:bodyPr vert="horz" wrap="square" lIns="0" tIns="0" rIns="0" bIns="0" rtlCol="0" anchor="t">
            <a:noAutofit/>
          </a:bodyPr>
          <a:lstStyle/>
          <a:p>
            <a:r>
              <a:rPr lang="en-IN" sz="3400" b="1">
                <a:solidFill>
                  <a:srgbClr val="13293D"/>
                </a:solidFill>
                <a:latin typeface="Calibri" panose="020F0502020204030204" pitchFamily="34" charset="0"/>
              </a:rPr>
              <a:t>Ordinary-looking code, serious risks</a:t>
            </a:r>
          </a:p>
        </p:txBody>
      </p:sp>
      <p:sp>
        <p:nvSpPr>
          <p:cNvPr id="3" name="Rectangle: Rounded Corners 2">
            <a:extLst>
              <a:ext uri="{FF2B5EF4-FFF2-40B4-BE49-F238E27FC236}">
                <a16:creationId xmlns:a16="http://schemas.microsoft.com/office/drawing/2014/main" id="{701B4909-F3C9-CF9A-8281-E8B22A674764}"/>
              </a:ext>
            </a:extLst>
          </p:cNvPr>
          <p:cNvSpPr/>
          <p:nvPr/>
        </p:nvSpPr>
        <p:spPr>
          <a:xfrm>
            <a:off x="609600" y="1270000"/>
            <a:ext cx="3556000" cy="2311400"/>
          </a:xfrm>
          <a:prstGeom prst="roundRect">
            <a:avLst>
              <a:gd name="adj" fmla="val 10000"/>
            </a:avLst>
          </a:prstGeom>
          <a:solidFill>
            <a:srgbClr val="EEF3F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96421953-0111-047D-8C5D-F86CFBB82DCF}"/>
              </a:ext>
            </a:extLst>
          </p:cNvPr>
          <p:cNvSpPr txBox="1"/>
          <p:nvPr/>
        </p:nvSpPr>
        <p:spPr>
          <a:xfrm>
            <a:off x="812800" y="1447800"/>
            <a:ext cx="3149600" cy="369332"/>
          </a:xfrm>
          <a:prstGeom prst="rect">
            <a:avLst/>
          </a:prstGeom>
          <a:noFill/>
        </p:spPr>
        <p:txBody>
          <a:bodyPr vert="horz" wrap="square" lIns="0" tIns="0" rIns="0" bIns="0" rtlCol="0" anchor="t">
            <a:noAutofit/>
          </a:bodyPr>
          <a:lstStyle/>
          <a:p>
            <a:r>
              <a:rPr lang="en-IN" b="1">
                <a:solidFill>
                  <a:srgbClr val="13293D"/>
                </a:solidFill>
                <a:latin typeface="Calibri" panose="020F0502020204030204" pitchFamily="34" charset="0"/>
              </a:rPr>
              <a:t>SQL injection</a:t>
            </a:r>
          </a:p>
        </p:txBody>
      </p:sp>
      <p:sp>
        <p:nvSpPr>
          <p:cNvPr id="5" name="TextBox 4">
            <a:extLst>
              <a:ext uri="{FF2B5EF4-FFF2-40B4-BE49-F238E27FC236}">
                <a16:creationId xmlns:a16="http://schemas.microsoft.com/office/drawing/2014/main" id="{54705BF6-BC7B-5DE6-82AE-48C8CD58D56F}"/>
              </a:ext>
            </a:extLst>
          </p:cNvPr>
          <p:cNvSpPr txBox="1"/>
          <p:nvPr/>
        </p:nvSpPr>
        <p:spPr>
          <a:xfrm>
            <a:off x="812800" y="1828800"/>
            <a:ext cx="3149600" cy="369332"/>
          </a:xfrm>
          <a:prstGeom prst="rect">
            <a:avLst/>
          </a:prstGeom>
          <a:noFill/>
        </p:spPr>
        <p:txBody>
          <a:bodyPr vert="horz" wrap="square" lIns="0" tIns="0" rIns="0" bIns="0" rtlCol="0" anchor="t">
            <a:noAutofit/>
          </a:bodyPr>
          <a:lstStyle/>
          <a:p>
            <a:r>
              <a:rPr lang="en-US" sz="1200">
                <a:solidFill>
                  <a:srgbClr val="E4572E"/>
                </a:solidFill>
                <a:latin typeface="Consolas" panose="020B0609020204030204" pitchFamily="49" charset="0"/>
              </a:rPr>
              <a:t>f"... WHERE id = '{customer_id}'"</a:t>
            </a:r>
            <a:endParaRPr lang="en-IN" sz="1200">
              <a:solidFill>
                <a:srgbClr val="E4572E"/>
              </a:solidFill>
              <a:latin typeface="Consolas" panose="020B0609020204030204" pitchFamily="49" charset="0"/>
            </a:endParaRPr>
          </a:p>
        </p:txBody>
      </p:sp>
      <p:sp>
        <p:nvSpPr>
          <p:cNvPr id="6" name="TextBox 5">
            <a:extLst>
              <a:ext uri="{FF2B5EF4-FFF2-40B4-BE49-F238E27FC236}">
                <a16:creationId xmlns:a16="http://schemas.microsoft.com/office/drawing/2014/main" id="{5B58EB9C-4FE7-624D-895F-16EB061D90AE}"/>
              </a:ext>
            </a:extLst>
          </p:cNvPr>
          <p:cNvSpPr txBox="1"/>
          <p:nvPr/>
        </p:nvSpPr>
        <p:spPr>
          <a:xfrm>
            <a:off x="812800" y="2387600"/>
            <a:ext cx="3149600" cy="369332"/>
          </a:xfrm>
          <a:prstGeom prst="rect">
            <a:avLst/>
          </a:prstGeom>
          <a:noFill/>
        </p:spPr>
        <p:txBody>
          <a:bodyPr vert="horz" wrap="square" lIns="0" tIns="0" rIns="0" bIns="0" rtlCol="0" anchor="t">
            <a:noAutofit/>
          </a:bodyPr>
          <a:lstStyle/>
          <a:p>
            <a:r>
              <a:rPr lang="en-US" sz="1400">
                <a:solidFill>
                  <a:srgbClr val="1E2A35"/>
                </a:solidFill>
                <a:latin typeface="Calibri" panose="020F0502020204030204" pitchFamily="34" charset="0"/>
              </a:rPr>
              <a:t>Attacker can: read every customer with one crafted ID</a:t>
            </a:r>
            <a:endParaRPr lang="en-IN" sz="1400">
              <a:solidFill>
                <a:srgbClr val="1E2A35"/>
              </a:solidFill>
              <a:latin typeface="Calibri" panose="020F0502020204030204" pitchFamily="34" charset="0"/>
            </a:endParaRPr>
          </a:p>
        </p:txBody>
      </p:sp>
      <p:sp>
        <p:nvSpPr>
          <p:cNvPr id="7" name="TextBox 6">
            <a:extLst>
              <a:ext uri="{FF2B5EF4-FFF2-40B4-BE49-F238E27FC236}">
                <a16:creationId xmlns:a16="http://schemas.microsoft.com/office/drawing/2014/main" id="{E9A552C6-4D81-2494-98BA-CC8C484C7864}"/>
              </a:ext>
            </a:extLst>
          </p:cNvPr>
          <p:cNvSpPr txBox="1"/>
          <p:nvPr/>
        </p:nvSpPr>
        <p:spPr>
          <a:xfrm>
            <a:off x="812800" y="3048000"/>
            <a:ext cx="3149600" cy="369332"/>
          </a:xfrm>
          <a:prstGeom prst="rect">
            <a:avLst/>
          </a:prstGeom>
          <a:noFill/>
        </p:spPr>
        <p:txBody>
          <a:bodyPr vert="horz" wrap="square" lIns="0" tIns="0" rIns="0" bIns="0" rtlCol="0" anchor="t">
            <a:noAutofit/>
          </a:bodyPr>
          <a:lstStyle/>
          <a:p>
            <a:r>
              <a:rPr lang="en-IN" sz="1400" b="1">
                <a:solidFill>
                  <a:srgbClr val="1B998B"/>
                </a:solidFill>
                <a:latin typeface="Calibri" panose="020F0502020204030204" pitchFamily="34" charset="0"/>
              </a:rPr>
              <a:t>Fix: Parameterised query</a:t>
            </a:r>
          </a:p>
        </p:txBody>
      </p:sp>
      <p:sp>
        <p:nvSpPr>
          <p:cNvPr id="8" name="Rectangle: Rounded Corners 7">
            <a:extLst>
              <a:ext uri="{FF2B5EF4-FFF2-40B4-BE49-F238E27FC236}">
                <a16:creationId xmlns:a16="http://schemas.microsoft.com/office/drawing/2014/main" id="{CB6D2D20-BA10-D393-5064-D70B6F41007C}"/>
              </a:ext>
            </a:extLst>
          </p:cNvPr>
          <p:cNvSpPr/>
          <p:nvPr/>
        </p:nvSpPr>
        <p:spPr>
          <a:xfrm>
            <a:off x="4318000" y="1270000"/>
            <a:ext cx="3556000" cy="2311400"/>
          </a:xfrm>
          <a:prstGeom prst="roundRect">
            <a:avLst>
              <a:gd name="adj" fmla="val 10000"/>
            </a:avLst>
          </a:prstGeom>
          <a:solidFill>
            <a:srgbClr val="EEF3F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A34E4CA4-5D60-D225-67A8-DCB6B4C8DBC1}"/>
              </a:ext>
            </a:extLst>
          </p:cNvPr>
          <p:cNvSpPr txBox="1"/>
          <p:nvPr/>
        </p:nvSpPr>
        <p:spPr>
          <a:xfrm>
            <a:off x="4521200" y="1447800"/>
            <a:ext cx="3149600" cy="369332"/>
          </a:xfrm>
          <a:prstGeom prst="rect">
            <a:avLst/>
          </a:prstGeom>
          <a:noFill/>
        </p:spPr>
        <p:txBody>
          <a:bodyPr vert="horz" wrap="square" lIns="0" tIns="0" rIns="0" bIns="0" rtlCol="0" anchor="t">
            <a:noAutofit/>
          </a:bodyPr>
          <a:lstStyle/>
          <a:p>
            <a:r>
              <a:rPr lang="en-IN" b="1">
                <a:solidFill>
                  <a:srgbClr val="13293D"/>
                </a:solidFill>
                <a:latin typeface="Calibri" panose="020F0502020204030204" pitchFamily="34" charset="0"/>
              </a:rPr>
              <a:t>Command injection</a:t>
            </a:r>
          </a:p>
        </p:txBody>
      </p:sp>
      <p:sp>
        <p:nvSpPr>
          <p:cNvPr id="10" name="TextBox 9">
            <a:extLst>
              <a:ext uri="{FF2B5EF4-FFF2-40B4-BE49-F238E27FC236}">
                <a16:creationId xmlns:a16="http://schemas.microsoft.com/office/drawing/2014/main" id="{999FFEAE-95E2-5EF7-0EC2-42CE14B432B9}"/>
              </a:ext>
            </a:extLst>
          </p:cNvPr>
          <p:cNvSpPr txBox="1"/>
          <p:nvPr/>
        </p:nvSpPr>
        <p:spPr>
          <a:xfrm>
            <a:off x="4521200" y="1828800"/>
            <a:ext cx="3149600" cy="369332"/>
          </a:xfrm>
          <a:prstGeom prst="rect">
            <a:avLst/>
          </a:prstGeom>
          <a:noFill/>
        </p:spPr>
        <p:txBody>
          <a:bodyPr vert="horz" wrap="square" lIns="0" tIns="0" rIns="0" bIns="0" rtlCol="0" anchor="t">
            <a:noAutofit/>
          </a:bodyPr>
          <a:lstStyle/>
          <a:p>
            <a:r>
              <a:rPr lang="en-IN" sz="1200">
                <a:solidFill>
                  <a:srgbClr val="E4572E"/>
                </a:solidFill>
                <a:latin typeface="Consolas" panose="020B0609020204030204" pitchFamily="49" charset="0"/>
              </a:rPr>
              <a:t>subprocess.run(..., shell=True)</a:t>
            </a:r>
          </a:p>
        </p:txBody>
      </p:sp>
      <p:sp>
        <p:nvSpPr>
          <p:cNvPr id="11" name="TextBox 10">
            <a:extLst>
              <a:ext uri="{FF2B5EF4-FFF2-40B4-BE49-F238E27FC236}">
                <a16:creationId xmlns:a16="http://schemas.microsoft.com/office/drawing/2014/main" id="{FD15411C-6350-6A43-1CDD-E8ED4243DC84}"/>
              </a:ext>
            </a:extLst>
          </p:cNvPr>
          <p:cNvSpPr txBox="1"/>
          <p:nvPr/>
        </p:nvSpPr>
        <p:spPr>
          <a:xfrm>
            <a:off x="4521200" y="2387600"/>
            <a:ext cx="3149600" cy="369332"/>
          </a:xfrm>
          <a:prstGeom prst="rect">
            <a:avLst/>
          </a:prstGeom>
          <a:noFill/>
        </p:spPr>
        <p:txBody>
          <a:bodyPr vert="horz" wrap="square" lIns="0" tIns="0" rIns="0" bIns="0" rtlCol="0" anchor="t">
            <a:noAutofit/>
          </a:bodyPr>
          <a:lstStyle/>
          <a:p>
            <a:r>
              <a:rPr lang="en-US" sz="1400">
                <a:solidFill>
                  <a:srgbClr val="1E2A35"/>
                </a:solidFill>
                <a:latin typeface="Calibri" panose="020F0502020204030204" pitchFamily="34" charset="0"/>
              </a:rPr>
              <a:t>Attacker can: run their own commands on the server</a:t>
            </a:r>
            <a:endParaRPr lang="en-IN" sz="1400">
              <a:solidFill>
                <a:srgbClr val="1E2A35"/>
              </a:solidFill>
              <a:latin typeface="Calibri" panose="020F0502020204030204" pitchFamily="34" charset="0"/>
            </a:endParaRPr>
          </a:p>
        </p:txBody>
      </p:sp>
      <p:sp>
        <p:nvSpPr>
          <p:cNvPr id="12" name="TextBox 11">
            <a:extLst>
              <a:ext uri="{FF2B5EF4-FFF2-40B4-BE49-F238E27FC236}">
                <a16:creationId xmlns:a16="http://schemas.microsoft.com/office/drawing/2014/main" id="{033AF211-B2B7-95AC-3ECC-C42E00888570}"/>
              </a:ext>
            </a:extLst>
          </p:cNvPr>
          <p:cNvSpPr txBox="1"/>
          <p:nvPr/>
        </p:nvSpPr>
        <p:spPr>
          <a:xfrm>
            <a:off x="4521200" y="3048000"/>
            <a:ext cx="3149600" cy="369332"/>
          </a:xfrm>
          <a:prstGeom prst="rect">
            <a:avLst/>
          </a:prstGeom>
          <a:noFill/>
        </p:spPr>
        <p:txBody>
          <a:bodyPr vert="horz" wrap="square" lIns="0" tIns="0" rIns="0" bIns="0" rtlCol="0" anchor="t">
            <a:noAutofit/>
          </a:bodyPr>
          <a:lstStyle/>
          <a:p>
            <a:r>
              <a:rPr lang="en-US" sz="1400" b="1">
                <a:solidFill>
                  <a:srgbClr val="1B998B"/>
                </a:solidFill>
                <a:latin typeface="Calibri" panose="020F0502020204030204" pitchFamily="34" charset="0"/>
              </a:rPr>
              <a:t>Fix: Argument list, no shell</a:t>
            </a:r>
            <a:endParaRPr lang="en-IN" sz="1400" b="1">
              <a:solidFill>
                <a:srgbClr val="1B998B"/>
              </a:solidFill>
              <a:latin typeface="Calibri" panose="020F0502020204030204" pitchFamily="34" charset="0"/>
            </a:endParaRPr>
          </a:p>
        </p:txBody>
      </p:sp>
      <p:sp>
        <p:nvSpPr>
          <p:cNvPr id="13" name="Rectangle: Rounded Corners 12">
            <a:extLst>
              <a:ext uri="{FF2B5EF4-FFF2-40B4-BE49-F238E27FC236}">
                <a16:creationId xmlns:a16="http://schemas.microsoft.com/office/drawing/2014/main" id="{7B6AF605-706A-8F40-AF95-CE1DDFF0BDDC}"/>
              </a:ext>
            </a:extLst>
          </p:cNvPr>
          <p:cNvSpPr/>
          <p:nvPr/>
        </p:nvSpPr>
        <p:spPr>
          <a:xfrm>
            <a:off x="8026400" y="1270000"/>
            <a:ext cx="3556000" cy="2311400"/>
          </a:xfrm>
          <a:prstGeom prst="roundRect">
            <a:avLst>
              <a:gd name="adj" fmla="val 10000"/>
            </a:avLst>
          </a:prstGeom>
          <a:solidFill>
            <a:srgbClr val="EEF3F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EE7B64E2-C34F-E4BF-095D-0BD528CD609A}"/>
              </a:ext>
            </a:extLst>
          </p:cNvPr>
          <p:cNvSpPr txBox="1"/>
          <p:nvPr/>
        </p:nvSpPr>
        <p:spPr>
          <a:xfrm>
            <a:off x="8229600" y="1447800"/>
            <a:ext cx="3149600" cy="369332"/>
          </a:xfrm>
          <a:prstGeom prst="rect">
            <a:avLst/>
          </a:prstGeom>
          <a:noFill/>
        </p:spPr>
        <p:txBody>
          <a:bodyPr vert="horz" wrap="square" lIns="0" tIns="0" rIns="0" bIns="0" rtlCol="0" anchor="t">
            <a:noAutofit/>
          </a:bodyPr>
          <a:lstStyle/>
          <a:p>
            <a:r>
              <a:rPr lang="en-IN" b="1">
                <a:solidFill>
                  <a:srgbClr val="13293D"/>
                </a:solidFill>
                <a:latin typeface="Calibri" panose="020F0502020204030204" pitchFamily="34" charset="0"/>
              </a:rPr>
              <a:t>Code execution</a:t>
            </a:r>
          </a:p>
        </p:txBody>
      </p:sp>
      <p:sp>
        <p:nvSpPr>
          <p:cNvPr id="15" name="TextBox 14">
            <a:extLst>
              <a:ext uri="{FF2B5EF4-FFF2-40B4-BE49-F238E27FC236}">
                <a16:creationId xmlns:a16="http://schemas.microsoft.com/office/drawing/2014/main" id="{9825FFC0-B305-2D62-6942-DC3C7AE98758}"/>
              </a:ext>
            </a:extLst>
          </p:cNvPr>
          <p:cNvSpPr txBox="1"/>
          <p:nvPr/>
        </p:nvSpPr>
        <p:spPr>
          <a:xfrm>
            <a:off x="8229600" y="1828800"/>
            <a:ext cx="3149600" cy="369332"/>
          </a:xfrm>
          <a:prstGeom prst="rect">
            <a:avLst/>
          </a:prstGeom>
          <a:noFill/>
        </p:spPr>
        <p:txBody>
          <a:bodyPr vert="horz" wrap="square" lIns="0" tIns="0" rIns="0" bIns="0" rtlCol="0" anchor="t">
            <a:noAutofit/>
          </a:bodyPr>
          <a:lstStyle/>
          <a:p>
            <a:r>
              <a:rPr lang="en-IN" sz="1200">
                <a:solidFill>
                  <a:srgbClr val="E4572E"/>
                </a:solidFill>
                <a:latin typeface="Consolas" panose="020B0609020204030204" pitchFamily="49" charset="0"/>
              </a:rPr>
              <a:t>eval(), pickle, yaml.load()</a:t>
            </a:r>
          </a:p>
        </p:txBody>
      </p:sp>
      <p:sp>
        <p:nvSpPr>
          <p:cNvPr id="16" name="TextBox 15">
            <a:extLst>
              <a:ext uri="{FF2B5EF4-FFF2-40B4-BE49-F238E27FC236}">
                <a16:creationId xmlns:a16="http://schemas.microsoft.com/office/drawing/2014/main" id="{E816A64D-9BE9-55D8-14ED-85D570DD4776}"/>
              </a:ext>
            </a:extLst>
          </p:cNvPr>
          <p:cNvSpPr txBox="1"/>
          <p:nvPr/>
        </p:nvSpPr>
        <p:spPr>
          <a:xfrm>
            <a:off x="8229600" y="2387600"/>
            <a:ext cx="3149600" cy="369332"/>
          </a:xfrm>
          <a:prstGeom prst="rect">
            <a:avLst/>
          </a:prstGeom>
          <a:noFill/>
        </p:spPr>
        <p:txBody>
          <a:bodyPr vert="horz" wrap="square" lIns="0" tIns="0" rIns="0" bIns="0" rtlCol="0" anchor="t">
            <a:noAutofit/>
          </a:bodyPr>
          <a:lstStyle/>
          <a:p>
            <a:r>
              <a:rPr lang="en-US" sz="1400">
                <a:solidFill>
                  <a:srgbClr val="1E2A35"/>
                </a:solidFill>
                <a:latin typeface="Calibri" panose="020F0502020204030204" pitchFamily="34" charset="0"/>
              </a:rPr>
              <a:t>Attacker can: run any Python code they send</a:t>
            </a:r>
            <a:endParaRPr lang="en-IN" sz="1400">
              <a:solidFill>
                <a:srgbClr val="1E2A35"/>
              </a:solidFill>
              <a:latin typeface="Calibri" panose="020F0502020204030204" pitchFamily="34" charset="0"/>
            </a:endParaRPr>
          </a:p>
        </p:txBody>
      </p:sp>
      <p:sp>
        <p:nvSpPr>
          <p:cNvPr id="17" name="TextBox 16">
            <a:extLst>
              <a:ext uri="{FF2B5EF4-FFF2-40B4-BE49-F238E27FC236}">
                <a16:creationId xmlns:a16="http://schemas.microsoft.com/office/drawing/2014/main" id="{2042858D-E985-AD87-B045-8B9F900E2880}"/>
              </a:ext>
            </a:extLst>
          </p:cNvPr>
          <p:cNvSpPr txBox="1"/>
          <p:nvPr/>
        </p:nvSpPr>
        <p:spPr>
          <a:xfrm>
            <a:off x="8229600" y="3048000"/>
            <a:ext cx="3149600" cy="369332"/>
          </a:xfrm>
          <a:prstGeom prst="rect">
            <a:avLst/>
          </a:prstGeom>
          <a:noFill/>
        </p:spPr>
        <p:txBody>
          <a:bodyPr vert="horz" wrap="square" lIns="0" tIns="0" rIns="0" bIns="0" rtlCol="0" anchor="t">
            <a:noAutofit/>
          </a:bodyPr>
          <a:lstStyle/>
          <a:p>
            <a:r>
              <a:rPr lang="en-US" sz="1400" b="1">
                <a:solidFill>
                  <a:srgbClr val="1B998B"/>
                </a:solidFill>
                <a:latin typeface="Calibri" panose="020F0502020204030204" pitchFamily="34" charset="0"/>
              </a:rPr>
              <a:t>Fix: Safe parsers and JSON</a:t>
            </a:r>
            <a:endParaRPr lang="en-IN" sz="1400" b="1">
              <a:solidFill>
                <a:srgbClr val="1B998B"/>
              </a:solidFill>
              <a:latin typeface="Calibri" panose="020F0502020204030204" pitchFamily="34" charset="0"/>
            </a:endParaRPr>
          </a:p>
        </p:txBody>
      </p:sp>
      <p:sp>
        <p:nvSpPr>
          <p:cNvPr id="18" name="Rectangle: Rounded Corners 17">
            <a:extLst>
              <a:ext uri="{FF2B5EF4-FFF2-40B4-BE49-F238E27FC236}">
                <a16:creationId xmlns:a16="http://schemas.microsoft.com/office/drawing/2014/main" id="{363F7E15-DA78-A506-87ED-FCCA0D0CE5FD}"/>
              </a:ext>
            </a:extLst>
          </p:cNvPr>
          <p:cNvSpPr/>
          <p:nvPr/>
        </p:nvSpPr>
        <p:spPr>
          <a:xfrm>
            <a:off x="609600" y="3759200"/>
            <a:ext cx="3556000" cy="2311400"/>
          </a:xfrm>
          <a:prstGeom prst="roundRect">
            <a:avLst>
              <a:gd name="adj" fmla="val 10000"/>
            </a:avLst>
          </a:prstGeom>
          <a:solidFill>
            <a:srgbClr val="EEF3F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347F693E-BB22-1A02-E791-428C7AF43FC0}"/>
              </a:ext>
            </a:extLst>
          </p:cNvPr>
          <p:cNvSpPr txBox="1"/>
          <p:nvPr/>
        </p:nvSpPr>
        <p:spPr>
          <a:xfrm>
            <a:off x="812800" y="3937000"/>
            <a:ext cx="3149600" cy="369332"/>
          </a:xfrm>
          <a:prstGeom prst="rect">
            <a:avLst/>
          </a:prstGeom>
          <a:noFill/>
        </p:spPr>
        <p:txBody>
          <a:bodyPr vert="horz" wrap="square" lIns="0" tIns="0" rIns="0" bIns="0" rtlCol="0" anchor="t">
            <a:noAutofit/>
          </a:bodyPr>
          <a:lstStyle/>
          <a:p>
            <a:r>
              <a:rPr lang="en-IN" b="1">
                <a:solidFill>
                  <a:srgbClr val="13293D"/>
                </a:solidFill>
                <a:latin typeface="Calibri" panose="020F0502020204030204" pitchFamily="34" charset="0"/>
              </a:rPr>
              <a:t>Broken TLS</a:t>
            </a:r>
          </a:p>
        </p:txBody>
      </p:sp>
      <p:sp>
        <p:nvSpPr>
          <p:cNvPr id="20" name="TextBox 19">
            <a:extLst>
              <a:ext uri="{FF2B5EF4-FFF2-40B4-BE49-F238E27FC236}">
                <a16:creationId xmlns:a16="http://schemas.microsoft.com/office/drawing/2014/main" id="{4F189E40-0246-D955-2E4C-9C2893074E94}"/>
              </a:ext>
            </a:extLst>
          </p:cNvPr>
          <p:cNvSpPr txBox="1"/>
          <p:nvPr/>
        </p:nvSpPr>
        <p:spPr>
          <a:xfrm>
            <a:off x="812800" y="4318000"/>
            <a:ext cx="3149600" cy="369332"/>
          </a:xfrm>
          <a:prstGeom prst="rect">
            <a:avLst/>
          </a:prstGeom>
          <a:noFill/>
        </p:spPr>
        <p:txBody>
          <a:bodyPr vert="horz" wrap="square" lIns="0" tIns="0" rIns="0" bIns="0" rtlCol="0" anchor="t">
            <a:noAutofit/>
          </a:bodyPr>
          <a:lstStyle/>
          <a:p>
            <a:r>
              <a:rPr lang="en-US" sz="1200">
                <a:solidFill>
                  <a:srgbClr val="E4572E"/>
                </a:solidFill>
                <a:latin typeface="Consolas" panose="020B0609020204030204" pitchFamily="49" charset="0"/>
              </a:rPr>
              <a:t>requests.get(url, verify=False)</a:t>
            </a:r>
            <a:endParaRPr lang="en-IN" sz="1200">
              <a:solidFill>
                <a:srgbClr val="E4572E"/>
              </a:solidFill>
              <a:latin typeface="Consolas" panose="020B0609020204030204" pitchFamily="49" charset="0"/>
            </a:endParaRPr>
          </a:p>
        </p:txBody>
      </p:sp>
      <p:sp>
        <p:nvSpPr>
          <p:cNvPr id="21" name="TextBox 20">
            <a:extLst>
              <a:ext uri="{FF2B5EF4-FFF2-40B4-BE49-F238E27FC236}">
                <a16:creationId xmlns:a16="http://schemas.microsoft.com/office/drawing/2014/main" id="{3342F9ED-F821-BA43-9589-AB34849EC127}"/>
              </a:ext>
            </a:extLst>
          </p:cNvPr>
          <p:cNvSpPr txBox="1"/>
          <p:nvPr/>
        </p:nvSpPr>
        <p:spPr>
          <a:xfrm>
            <a:off x="812800" y="4876800"/>
            <a:ext cx="3149600" cy="369332"/>
          </a:xfrm>
          <a:prstGeom prst="rect">
            <a:avLst/>
          </a:prstGeom>
          <a:noFill/>
        </p:spPr>
        <p:txBody>
          <a:bodyPr vert="horz" wrap="square" lIns="0" tIns="0" rIns="0" bIns="0" rtlCol="0" anchor="t">
            <a:noAutofit/>
          </a:bodyPr>
          <a:lstStyle/>
          <a:p>
            <a:r>
              <a:rPr lang="en-US" sz="1400">
                <a:solidFill>
                  <a:srgbClr val="1E2A35"/>
                </a:solidFill>
                <a:latin typeface="Calibri" panose="020F0502020204030204" pitchFamily="34" charset="0"/>
              </a:rPr>
              <a:t>Attacker can: read or change traffic in transit</a:t>
            </a:r>
            <a:endParaRPr lang="en-IN" sz="1400">
              <a:solidFill>
                <a:srgbClr val="1E2A35"/>
              </a:solidFill>
              <a:latin typeface="Calibri" panose="020F0502020204030204" pitchFamily="34" charset="0"/>
            </a:endParaRPr>
          </a:p>
        </p:txBody>
      </p:sp>
      <p:sp>
        <p:nvSpPr>
          <p:cNvPr id="22" name="TextBox 21">
            <a:extLst>
              <a:ext uri="{FF2B5EF4-FFF2-40B4-BE49-F238E27FC236}">
                <a16:creationId xmlns:a16="http://schemas.microsoft.com/office/drawing/2014/main" id="{217FCF28-F975-33AD-B6CC-5479FD36D2C4}"/>
              </a:ext>
            </a:extLst>
          </p:cNvPr>
          <p:cNvSpPr txBox="1"/>
          <p:nvPr/>
        </p:nvSpPr>
        <p:spPr>
          <a:xfrm>
            <a:off x="812800" y="5537200"/>
            <a:ext cx="3149600" cy="369332"/>
          </a:xfrm>
          <a:prstGeom prst="rect">
            <a:avLst/>
          </a:prstGeom>
          <a:noFill/>
        </p:spPr>
        <p:txBody>
          <a:bodyPr vert="horz" wrap="square" lIns="0" tIns="0" rIns="0" bIns="0" rtlCol="0" anchor="t">
            <a:noAutofit/>
          </a:bodyPr>
          <a:lstStyle/>
          <a:p>
            <a:r>
              <a:rPr lang="en-US" sz="1400" b="1">
                <a:solidFill>
                  <a:srgbClr val="1B998B"/>
                </a:solidFill>
                <a:latin typeface="Calibri" panose="020F0502020204030204" pitchFamily="34" charset="0"/>
              </a:rPr>
              <a:t>Fix: Keep certificate checks on</a:t>
            </a:r>
            <a:endParaRPr lang="en-IN" sz="1400" b="1">
              <a:solidFill>
                <a:srgbClr val="1B998B"/>
              </a:solidFill>
              <a:latin typeface="Calibri" panose="020F0502020204030204" pitchFamily="34" charset="0"/>
            </a:endParaRPr>
          </a:p>
        </p:txBody>
      </p:sp>
      <p:sp>
        <p:nvSpPr>
          <p:cNvPr id="23" name="Rectangle: Rounded Corners 22">
            <a:extLst>
              <a:ext uri="{FF2B5EF4-FFF2-40B4-BE49-F238E27FC236}">
                <a16:creationId xmlns:a16="http://schemas.microsoft.com/office/drawing/2014/main" id="{0FF6456B-CBEB-194F-EB5F-AD359B9E3A71}"/>
              </a:ext>
            </a:extLst>
          </p:cNvPr>
          <p:cNvSpPr/>
          <p:nvPr/>
        </p:nvSpPr>
        <p:spPr>
          <a:xfrm>
            <a:off x="4318000" y="3759200"/>
            <a:ext cx="3556000" cy="2311400"/>
          </a:xfrm>
          <a:prstGeom prst="roundRect">
            <a:avLst>
              <a:gd name="adj" fmla="val 10000"/>
            </a:avLst>
          </a:prstGeom>
          <a:solidFill>
            <a:srgbClr val="EEF3F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TextBox 23">
            <a:extLst>
              <a:ext uri="{FF2B5EF4-FFF2-40B4-BE49-F238E27FC236}">
                <a16:creationId xmlns:a16="http://schemas.microsoft.com/office/drawing/2014/main" id="{C7C32A33-1587-E8B1-3AC2-B24AB394548D}"/>
              </a:ext>
            </a:extLst>
          </p:cNvPr>
          <p:cNvSpPr txBox="1"/>
          <p:nvPr/>
        </p:nvSpPr>
        <p:spPr>
          <a:xfrm>
            <a:off x="4521200" y="3937000"/>
            <a:ext cx="3149600" cy="369332"/>
          </a:xfrm>
          <a:prstGeom prst="rect">
            <a:avLst/>
          </a:prstGeom>
          <a:noFill/>
        </p:spPr>
        <p:txBody>
          <a:bodyPr vert="horz" wrap="square" lIns="0" tIns="0" rIns="0" bIns="0" rtlCol="0" anchor="t">
            <a:noAutofit/>
          </a:bodyPr>
          <a:lstStyle/>
          <a:p>
            <a:r>
              <a:rPr lang="en-IN" b="1">
                <a:solidFill>
                  <a:srgbClr val="13293D"/>
                </a:solidFill>
                <a:latin typeface="Calibri" panose="020F0502020204030204" pitchFamily="34" charset="0"/>
              </a:rPr>
              <a:t>Weak cryptography</a:t>
            </a:r>
          </a:p>
        </p:txBody>
      </p:sp>
      <p:sp>
        <p:nvSpPr>
          <p:cNvPr id="25" name="TextBox 24">
            <a:extLst>
              <a:ext uri="{FF2B5EF4-FFF2-40B4-BE49-F238E27FC236}">
                <a16:creationId xmlns:a16="http://schemas.microsoft.com/office/drawing/2014/main" id="{E4522482-A335-54F2-3B71-4298D4F1A2F1}"/>
              </a:ext>
            </a:extLst>
          </p:cNvPr>
          <p:cNvSpPr txBox="1"/>
          <p:nvPr/>
        </p:nvSpPr>
        <p:spPr>
          <a:xfrm>
            <a:off x="4521200" y="4318000"/>
            <a:ext cx="3149600" cy="369332"/>
          </a:xfrm>
          <a:prstGeom prst="rect">
            <a:avLst/>
          </a:prstGeom>
          <a:noFill/>
        </p:spPr>
        <p:txBody>
          <a:bodyPr vert="horz" wrap="square" lIns="0" tIns="0" rIns="0" bIns="0" rtlCol="0" anchor="t">
            <a:noAutofit/>
          </a:bodyPr>
          <a:lstStyle/>
          <a:p>
            <a:r>
              <a:rPr lang="en-IN" sz="1200">
                <a:solidFill>
                  <a:srgbClr val="E4572E"/>
                </a:solidFill>
                <a:latin typeface="Consolas" panose="020B0609020204030204" pitchFamily="49" charset="0"/>
              </a:rPr>
              <a:t>md5, AES-ECB, RSA-1024</a:t>
            </a:r>
          </a:p>
        </p:txBody>
      </p:sp>
      <p:sp>
        <p:nvSpPr>
          <p:cNvPr id="26" name="TextBox 25">
            <a:extLst>
              <a:ext uri="{FF2B5EF4-FFF2-40B4-BE49-F238E27FC236}">
                <a16:creationId xmlns:a16="http://schemas.microsoft.com/office/drawing/2014/main" id="{774186F4-9E66-16BA-A33F-0B43C7EA07B9}"/>
              </a:ext>
            </a:extLst>
          </p:cNvPr>
          <p:cNvSpPr txBox="1"/>
          <p:nvPr/>
        </p:nvSpPr>
        <p:spPr>
          <a:xfrm>
            <a:off x="4521200" y="4876800"/>
            <a:ext cx="3149600" cy="369332"/>
          </a:xfrm>
          <a:prstGeom prst="rect">
            <a:avLst/>
          </a:prstGeom>
          <a:noFill/>
        </p:spPr>
        <p:txBody>
          <a:bodyPr vert="horz" wrap="square" lIns="0" tIns="0" rIns="0" bIns="0" rtlCol="0" anchor="t">
            <a:noAutofit/>
          </a:bodyPr>
          <a:lstStyle/>
          <a:p>
            <a:r>
              <a:rPr lang="en-US" sz="1400">
                <a:solidFill>
                  <a:srgbClr val="1E2A35"/>
                </a:solidFill>
                <a:latin typeface="Calibri" panose="020F0502020204030204" pitchFamily="34" charset="0"/>
              </a:rPr>
              <a:t>Attacker can: crack hashes, see patterns, break keys</a:t>
            </a:r>
            <a:endParaRPr lang="en-IN" sz="1400">
              <a:solidFill>
                <a:srgbClr val="1E2A35"/>
              </a:solidFill>
              <a:latin typeface="Calibri" panose="020F0502020204030204" pitchFamily="34" charset="0"/>
            </a:endParaRPr>
          </a:p>
        </p:txBody>
      </p:sp>
      <p:sp>
        <p:nvSpPr>
          <p:cNvPr id="27" name="TextBox 26">
            <a:extLst>
              <a:ext uri="{FF2B5EF4-FFF2-40B4-BE49-F238E27FC236}">
                <a16:creationId xmlns:a16="http://schemas.microsoft.com/office/drawing/2014/main" id="{E86E5EF4-A860-975A-3AE7-D5F885057F4A}"/>
              </a:ext>
            </a:extLst>
          </p:cNvPr>
          <p:cNvSpPr txBox="1"/>
          <p:nvPr/>
        </p:nvSpPr>
        <p:spPr>
          <a:xfrm>
            <a:off x="4521200" y="5537200"/>
            <a:ext cx="3149600" cy="369332"/>
          </a:xfrm>
          <a:prstGeom prst="rect">
            <a:avLst/>
          </a:prstGeom>
          <a:noFill/>
        </p:spPr>
        <p:txBody>
          <a:bodyPr vert="horz" wrap="square" lIns="0" tIns="0" rIns="0" bIns="0" rtlCol="0" anchor="t">
            <a:noAutofit/>
          </a:bodyPr>
          <a:lstStyle/>
          <a:p>
            <a:r>
              <a:rPr lang="en-IN" sz="1400" b="1">
                <a:solidFill>
                  <a:srgbClr val="1B998B"/>
                </a:solidFill>
                <a:latin typeface="Calibri" panose="020F0502020204030204" pitchFamily="34" charset="0"/>
              </a:rPr>
              <a:t>Fix: PBKDF2, AES-GCM, RSA-3072</a:t>
            </a:r>
          </a:p>
        </p:txBody>
      </p:sp>
      <p:sp>
        <p:nvSpPr>
          <p:cNvPr id="28" name="Rectangle: Rounded Corners 27">
            <a:extLst>
              <a:ext uri="{FF2B5EF4-FFF2-40B4-BE49-F238E27FC236}">
                <a16:creationId xmlns:a16="http://schemas.microsoft.com/office/drawing/2014/main" id="{868BF232-9215-A4B7-02BF-D53B2DD694A3}"/>
              </a:ext>
            </a:extLst>
          </p:cNvPr>
          <p:cNvSpPr/>
          <p:nvPr/>
        </p:nvSpPr>
        <p:spPr>
          <a:xfrm>
            <a:off x="8026400" y="3759200"/>
            <a:ext cx="3556000" cy="2311400"/>
          </a:xfrm>
          <a:prstGeom prst="roundRect">
            <a:avLst>
              <a:gd name="adj" fmla="val 10000"/>
            </a:avLst>
          </a:prstGeom>
          <a:solidFill>
            <a:srgbClr val="EEF3F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TextBox 28">
            <a:extLst>
              <a:ext uri="{FF2B5EF4-FFF2-40B4-BE49-F238E27FC236}">
                <a16:creationId xmlns:a16="http://schemas.microsoft.com/office/drawing/2014/main" id="{6F42DCA1-FB05-26E3-2991-C190CEE3BA3D}"/>
              </a:ext>
            </a:extLst>
          </p:cNvPr>
          <p:cNvSpPr txBox="1"/>
          <p:nvPr/>
        </p:nvSpPr>
        <p:spPr>
          <a:xfrm>
            <a:off x="8229600" y="3937000"/>
            <a:ext cx="3149600" cy="369332"/>
          </a:xfrm>
          <a:prstGeom prst="rect">
            <a:avLst/>
          </a:prstGeom>
          <a:noFill/>
        </p:spPr>
        <p:txBody>
          <a:bodyPr vert="horz" wrap="square" lIns="0" tIns="0" rIns="0" bIns="0" rtlCol="0" anchor="t">
            <a:noAutofit/>
          </a:bodyPr>
          <a:lstStyle/>
          <a:p>
            <a:r>
              <a:rPr lang="en-IN" b="1">
                <a:solidFill>
                  <a:srgbClr val="13293D"/>
                </a:solidFill>
                <a:latin typeface="Calibri" panose="020F0502020204030204" pitchFamily="34" charset="0"/>
              </a:rPr>
              <a:t>Guessable tokens</a:t>
            </a:r>
          </a:p>
        </p:txBody>
      </p:sp>
      <p:sp>
        <p:nvSpPr>
          <p:cNvPr id="30" name="TextBox 29">
            <a:extLst>
              <a:ext uri="{FF2B5EF4-FFF2-40B4-BE49-F238E27FC236}">
                <a16:creationId xmlns:a16="http://schemas.microsoft.com/office/drawing/2014/main" id="{C917BC9D-6283-6CEB-06DE-60062122E794}"/>
              </a:ext>
            </a:extLst>
          </p:cNvPr>
          <p:cNvSpPr txBox="1"/>
          <p:nvPr/>
        </p:nvSpPr>
        <p:spPr>
          <a:xfrm>
            <a:off x="8229600" y="4318000"/>
            <a:ext cx="3149600" cy="369332"/>
          </a:xfrm>
          <a:prstGeom prst="rect">
            <a:avLst/>
          </a:prstGeom>
          <a:noFill/>
        </p:spPr>
        <p:txBody>
          <a:bodyPr vert="horz" wrap="square" lIns="0" tIns="0" rIns="0" bIns="0" rtlCol="0" anchor="t">
            <a:noAutofit/>
          </a:bodyPr>
          <a:lstStyle/>
          <a:p>
            <a:r>
              <a:rPr lang="en-IN" sz="1200">
                <a:solidFill>
                  <a:srgbClr val="E4572E"/>
                </a:solidFill>
                <a:latin typeface="Consolas" panose="020B0609020204030204" pitchFamily="49" charset="0"/>
              </a:rPr>
              <a:t>random.randint(100000, 999999)</a:t>
            </a:r>
          </a:p>
        </p:txBody>
      </p:sp>
      <p:sp>
        <p:nvSpPr>
          <p:cNvPr id="31" name="TextBox 30">
            <a:extLst>
              <a:ext uri="{FF2B5EF4-FFF2-40B4-BE49-F238E27FC236}">
                <a16:creationId xmlns:a16="http://schemas.microsoft.com/office/drawing/2014/main" id="{3A91E86C-A9B6-06C3-236A-3DFDA3B6AF96}"/>
              </a:ext>
            </a:extLst>
          </p:cNvPr>
          <p:cNvSpPr txBox="1"/>
          <p:nvPr/>
        </p:nvSpPr>
        <p:spPr>
          <a:xfrm>
            <a:off x="8229600" y="4876800"/>
            <a:ext cx="3149600" cy="369332"/>
          </a:xfrm>
          <a:prstGeom prst="rect">
            <a:avLst/>
          </a:prstGeom>
          <a:noFill/>
        </p:spPr>
        <p:txBody>
          <a:bodyPr vert="horz" wrap="square" lIns="0" tIns="0" rIns="0" bIns="0" rtlCol="0" anchor="t">
            <a:noAutofit/>
          </a:bodyPr>
          <a:lstStyle/>
          <a:p>
            <a:r>
              <a:rPr lang="en-US" sz="1400">
                <a:solidFill>
                  <a:srgbClr val="1E2A35"/>
                </a:solidFill>
                <a:latin typeface="Calibri" panose="020F0502020204030204" pitchFamily="34" charset="0"/>
              </a:rPr>
              <a:t>Attacker can: guess someone's session token</a:t>
            </a:r>
            <a:endParaRPr lang="en-IN" sz="1400">
              <a:solidFill>
                <a:srgbClr val="1E2A35"/>
              </a:solidFill>
              <a:latin typeface="Calibri" panose="020F0502020204030204" pitchFamily="34" charset="0"/>
            </a:endParaRPr>
          </a:p>
        </p:txBody>
      </p:sp>
      <p:sp>
        <p:nvSpPr>
          <p:cNvPr id="32" name="TextBox 31">
            <a:extLst>
              <a:ext uri="{FF2B5EF4-FFF2-40B4-BE49-F238E27FC236}">
                <a16:creationId xmlns:a16="http://schemas.microsoft.com/office/drawing/2014/main" id="{3CFFA347-96F9-A714-FF42-70EFADBC37A7}"/>
              </a:ext>
            </a:extLst>
          </p:cNvPr>
          <p:cNvSpPr txBox="1"/>
          <p:nvPr/>
        </p:nvSpPr>
        <p:spPr>
          <a:xfrm>
            <a:off x="8229600" y="5537200"/>
            <a:ext cx="3149600" cy="369332"/>
          </a:xfrm>
          <a:prstGeom prst="rect">
            <a:avLst/>
          </a:prstGeom>
          <a:noFill/>
        </p:spPr>
        <p:txBody>
          <a:bodyPr vert="horz" wrap="square" lIns="0" tIns="0" rIns="0" bIns="0" rtlCol="0" anchor="t">
            <a:noAutofit/>
          </a:bodyPr>
          <a:lstStyle/>
          <a:p>
            <a:r>
              <a:rPr lang="en-IN" sz="1400" b="1">
                <a:solidFill>
                  <a:srgbClr val="1B998B"/>
                </a:solidFill>
                <a:latin typeface="Calibri" panose="020F0502020204030204" pitchFamily="34" charset="0"/>
              </a:rPr>
              <a:t>Fix: secrets.token_urlsafe()</a:t>
            </a:r>
          </a:p>
        </p:txBody>
      </p:sp>
      <p:sp>
        <p:nvSpPr>
          <p:cNvPr id="33" name="TextBox 32">
            <a:extLst>
              <a:ext uri="{FF2B5EF4-FFF2-40B4-BE49-F238E27FC236}">
                <a16:creationId xmlns:a16="http://schemas.microsoft.com/office/drawing/2014/main" id="{3EFD5684-861F-AD61-F97F-ABD4B52F404B}"/>
              </a:ext>
            </a:extLst>
          </p:cNvPr>
          <p:cNvSpPr txBox="1"/>
          <p:nvPr/>
        </p:nvSpPr>
        <p:spPr>
          <a:xfrm>
            <a:off x="609600" y="6502400"/>
            <a:ext cx="5080000" cy="369332"/>
          </a:xfrm>
          <a:prstGeom prst="rect">
            <a:avLst/>
          </a:prstGeom>
          <a:noFill/>
        </p:spPr>
        <p:txBody>
          <a:bodyPr vert="horz" wrap="square" lIns="0" tIns="0" rIns="0" bIns="0" rtlCol="0" anchor="t">
            <a:noAutofit/>
          </a:bodyPr>
          <a:lstStyle/>
          <a:p>
            <a:r>
              <a:rPr lang="en-US" sz="1000">
                <a:solidFill>
                  <a:srgbClr val="5B6B79"/>
                </a:solidFill>
                <a:latin typeface="Calibri" panose="020F0502020204030204" pitchFamily="34" charset="0"/>
              </a:rPr>
              <a:t>Securing the path to the cloud</a:t>
            </a:r>
            <a:endParaRPr lang="en-IN" sz="1000">
              <a:solidFill>
                <a:srgbClr val="5B6B79"/>
              </a:solidFill>
              <a:latin typeface="Calibri" panose="020F0502020204030204" pitchFamily="34" charset="0"/>
            </a:endParaRPr>
          </a:p>
        </p:txBody>
      </p:sp>
      <p:sp>
        <p:nvSpPr>
          <p:cNvPr id="34" name="TextBox 33">
            <a:extLst>
              <a:ext uri="{FF2B5EF4-FFF2-40B4-BE49-F238E27FC236}">
                <a16:creationId xmlns:a16="http://schemas.microsoft.com/office/drawing/2014/main" id="{EBF7E681-71EB-E4A0-4408-36D4BAE8D71A}"/>
              </a:ext>
            </a:extLst>
          </p:cNvPr>
          <p:cNvSpPr txBox="1"/>
          <p:nvPr/>
        </p:nvSpPr>
        <p:spPr>
          <a:xfrm>
            <a:off x="10312400" y="6502400"/>
            <a:ext cx="1270000" cy="369332"/>
          </a:xfrm>
          <a:prstGeom prst="rect">
            <a:avLst/>
          </a:prstGeom>
          <a:noFill/>
        </p:spPr>
        <p:txBody>
          <a:bodyPr vert="horz" wrap="square" lIns="0" tIns="0" rIns="0" bIns="0" rtlCol="0" anchor="t">
            <a:noAutofit/>
          </a:bodyPr>
          <a:lstStyle/>
          <a:p>
            <a:pPr algn="r"/>
            <a:r>
              <a:rPr lang="en-IN" sz="1000">
                <a:solidFill>
                  <a:srgbClr val="5B6B79"/>
                </a:solidFill>
                <a:latin typeface="Calibri" panose="020F0502020204030204" pitchFamily="34" charset="0"/>
              </a:rPr>
              <a:t>18</a:t>
            </a:r>
          </a:p>
        </p:txBody>
      </p:sp>
    </p:spTree>
    <p:extLst>
      <p:ext uri="{BB962C8B-B14F-4D97-AF65-F5344CB8AC3E}">
        <p14:creationId xmlns:p14="http://schemas.microsoft.com/office/powerpoint/2010/main" val="403608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4C84EF-1848-8905-A59B-F21D692416B3}"/>
              </a:ext>
            </a:extLst>
          </p:cNvPr>
          <p:cNvSpPr txBox="1"/>
          <p:nvPr/>
        </p:nvSpPr>
        <p:spPr>
          <a:xfrm>
            <a:off x="609600" y="381000"/>
            <a:ext cx="10972800" cy="369332"/>
          </a:xfrm>
          <a:prstGeom prst="rect">
            <a:avLst/>
          </a:prstGeom>
          <a:noFill/>
        </p:spPr>
        <p:txBody>
          <a:bodyPr vert="horz" wrap="square" lIns="0" tIns="0" rIns="0" bIns="0" rtlCol="0" anchor="t">
            <a:noAutofit/>
          </a:bodyPr>
          <a:lstStyle/>
          <a:p>
            <a:r>
              <a:rPr lang="en-IN" sz="3400" b="1">
                <a:solidFill>
                  <a:srgbClr val="13293D"/>
                </a:solidFill>
                <a:latin typeface="Calibri" panose="020F0502020204030204" pitchFamily="34" charset="0"/>
              </a:rPr>
              <a:t>Reading a SonarQube report</a:t>
            </a:r>
          </a:p>
        </p:txBody>
      </p:sp>
      <p:sp>
        <p:nvSpPr>
          <p:cNvPr id="3" name="Rectangle: Rounded Corners 2">
            <a:extLst>
              <a:ext uri="{FF2B5EF4-FFF2-40B4-BE49-F238E27FC236}">
                <a16:creationId xmlns:a16="http://schemas.microsoft.com/office/drawing/2014/main" id="{22F1F342-39F2-7F04-E6BE-A282615B7EEE}"/>
              </a:ext>
            </a:extLst>
          </p:cNvPr>
          <p:cNvSpPr/>
          <p:nvPr/>
        </p:nvSpPr>
        <p:spPr>
          <a:xfrm>
            <a:off x="609600" y="1320800"/>
            <a:ext cx="5334000" cy="1981200"/>
          </a:xfrm>
          <a:prstGeom prst="roundRect">
            <a:avLst>
              <a:gd name="adj" fmla="val 10000"/>
            </a:avLst>
          </a:prstGeom>
          <a:solidFill>
            <a:srgbClr val="EEF3F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Oval 3">
            <a:extLst>
              <a:ext uri="{FF2B5EF4-FFF2-40B4-BE49-F238E27FC236}">
                <a16:creationId xmlns:a16="http://schemas.microsoft.com/office/drawing/2014/main" id="{5FFDDD20-FBB4-CC4B-A8B7-72F623F099AF}"/>
              </a:ext>
            </a:extLst>
          </p:cNvPr>
          <p:cNvSpPr/>
          <p:nvPr/>
        </p:nvSpPr>
        <p:spPr>
          <a:xfrm>
            <a:off x="863600" y="1574800"/>
            <a:ext cx="508000" cy="508000"/>
          </a:xfrm>
          <a:prstGeom prst="ellipse">
            <a:avLst/>
          </a:prstGeom>
          <a:solidFill>
            <a:srgbClr val="1B998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IN" sz="1600" b="1">
                <a:solidFill>
                  <a:srgbClr val="FFFFFF"/>
                </a:solidFill>
                <a:latin typeface="Calibri" panose="020F0502020204030204" pitchFamily="34" charset="0"/>
              </a:rPr>
              <a:t>1</a:t>
            </a:r>
          </a:p>
        </p:txBody>
      </p:sp>
      <p:sp>
        <p:nvSpPr>
          <p:cNvPr id="5" name="TextBox 4">
            <a:extLst>
              <a:ext uri="{FF2B5EF4-FFF2-40B4-BE49-F238E27FC236}">
                <a16:creationId xmlns:a16="http://schemas.microsoft.com/office/drawing/2014/main" id="{43338CAA-2E92-947C-82DE-9F0B00BED9C1}"/>
              </a:ext>
            </a:extLst>
          </p:cNvPr>
          <p:cNvSpPr txBox="1"/>
          <p:nvPr/>
        </p:nvSpPr>
        <p:spPr>
          <a:xfrm>
            <a:off x="1574800" y="1651000"/>
            <a:ext cx="4064000" cy="369332"/>
          </a:xfrm>
          <a:prstGeom prst="rect">
            <a:avLst/>
          </a:prstGeom>
          <a:noFill/>
        </p:spPr>
        <p:txBody>
          <a:bodyPr vert="horz" wrap="square" lIns="0" tIns="0" rIns="0" bIns="0" rtlCol="0" anchor="t">
            <a:noAutofit/>
          </a:bodyPr>
          <a:lstStyle/>
          <a:p>
            <a:r>
              <a:rPr lang="en-IN" sz="2000" b="1">
                <a:solidFill>
                  <a:srgbClr val="13293D"/>
                </a:solidFill>
                <a:latin typeface="Calibri" panose="020F0502020204030204" pitchFamily="34" charset="0"/>
              </a:rPr>
              <a:t>Quality gate</a:t>
            </a:r>
          </a:p>
        </p:txBody>
      </p:sp>
      <p:sp>
        <p:nvSpPr>
          <p:cNvPr id="6" name="TextBox 5">
            <a:extLst>
              <a:ext uri="{FF2B5EF4-FFF2-40B4-BE49-F238E27FC236}">
                <a16:creationId xmlns:a16="http://schemas.microsoft.com/office/drawing/2014/main" id="{A4EFE554-1B94-A538-DBF7-CD5682871358}"/>
              </a:ext>
            </a:extLst>
          </p:cNvPr>
          <p:cNvSpPr txBox="1"/>
          <p:nvPr/>
        </p:nvSpPr>
        <p:spPr>
          <a:xfrm>
            <a:off x="1574800" y="2082800"/>
            <a:ext cx="4064000" cy="369332"/>
          </a:xfrm>
          <a:prstGeom prst="rect">
            <a:avLst/>
          </a:prstGeom>
          <a:noFill/>
        </p:spPr>
        <p:txBody>
          <a:bodyPr vert="horz" wrap="square" lIns="0" tIns="0" rIns="0" bIns="0" rtlCol="0" anchor="t">
            <a:noAutofit/>
          </a:bodyPr>
          <a:lstStyle/>
          <a:p>
            <a:r>
              <a:rPr lang="en-US" sz="1500">
                <a:solidFill>
                  <a:srgbClr val="1E2A35"/>
                </a:solidFill>
                <a:latin typeface="Calibri" panose="020F0502020204030204" pitchFamily="34" charset="0"/>
              </a:rPr>
              <a:t>The pass/fail verdict for the whole project, based on rules the team agrees.</a:t>
            </a:r>
            <a:endParaRPr lang="en-IN" sz="1500">
              <a:solidFill>
                <a:srgbClr val="1E2A35"/>
              </a:solidFill>
              <a:latin typeface="Calibri" panose="020F0502020204030204" pitchFamily="34" charset="0"/>
            </a:endParaRPr>
          </a:p>
        </p:txBody>
      </p:sp>
      <p:sp>
        <p:nvSpPr>
          <p:cNvPr id="7" name="TextBox 6">
            <a:extLst>
              <a:ext uri="{FF2B5EF4-FFF2-40B4-BE49-F238E27FC236}">
                <a16:creationId xmlns:a16="http://schemas.microsoft.com/office/drawing/2014/main" id="{DA76DEB4-CC16-2F95-E993-0701314224F6}"/>
              </a:ext>
            </a:extLst>
          </p:cNvPr>
          <p:cNvSpPr txBox="1"/>
          <p:nvPr/>
        </p:nvSpPr>
        <p:spPr>
          <a:xfrm>
            <a:off x="1574800" y="2819400"/>
            <a:ext cx="4064000" cy="369332"/>
          </a:xfrm>
          <a:prstGeom prst="rect">
            <a:avLst/>
          </a:prstGeom>
          <a:noFill/>
        </p:spPr>
        <p:txBody>
          <a:bodyPr vert="horz" wrap="square" lIns="0" tIns="0" rIns="0" bIns="0" rtlCol="0" anchor="t">
            <a:noAutofit/>
          </a:bodyPr>
          <a:lstStyle/>
          <a:p>
            <a:r>
              <a:rPr lang="en-IN" sz="1400" b="1">
                <a:solidFill>
                  <a:srgbClr val="1B998B"/>
                </a:solidFill>
                <a:latin typeface="Calibri" panose="020F0502020204030204" pitchFamily="34" charset="0"/>
              </a:rPr>
              <a:t>Insecure version: Failed</a:t>
            </a:r>
          </a:p>
        </p:txBody>
      </p:sp>
      <p:sp>
        <p:nvSpPr>
          <p:cNvPr id="8" name="Rectangle: Rounded Corners 7">
            <a:extLst>
              <a:ext uri="{FF2B5EF4-FFF2-40B4-BE49-F238E27FC236}">
                <a16:creationId xmlns:a16="http://schemas.microsoft.com/office/drawing/2014/main" id="{8BD602F6-8455-B929-B038-939BCB330E65}"/>
              </a:ext>
            </a:extLst>
          </p:cNvPr>
          <p:cNvSpPr/>
          <p:nvPr/>
        </p:nvSpPr>
        <p:spPr>
          <a:xfrm>
            <a:off x="6248400" y="1320800"/>
            <a:ext cx="5334000" cy="1981200"/>
          </a:xfrm>
          <a:prstGeom prst="roundRect">
            <a:avLst>
              <a:gd name="adj" fmla="val 10000"/>
            </a:avLst>
          </a:prstGeom>
          <a:solidFill>
            <a:srgbClr val="EEF3F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a:extLst>
              <a:ext uri="{FF2B5EF4-FFF2-40B4-BE49-F238E27FC236}">
                <a16:creationId xmlns:a16="http://schemas.microsoft.com/office/drawing/2014/main" id="{BBF79EA1-0C02-7290-012A-FE0DCB7E4F87}"/>
              </a:ext>
            </a:extLst>
          </p:cNvPr>
          <p:cNvSpPr/>
          <p:nvPr/>
        </p:nvSpPr>
        <p:spPr>
          <a:xfrm>
            <a:off x="6502400" y="1574800"/>
            <a:ext cx="508000" cy="508000"/>
          </a:xfrm>
          <a:prstGeom prst="ellipse">
            <a:avLst/>
          </a:prstGeom>
          <a:solidFill>
            <a:srgbClr val="1B998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IN" sz="1600" b="1">
                <a:solidFill>
                  <a:srgbClr val="FFFFFF"/>
                </a:solidFill>
                <a:latin typeface="Calibri" panose="020F0502020204030204" pitchFamily="34" charset="0"/>
              </a:rPr>
              <a:t>2</a:t>
            </a:r>
          </a:p>
        </p:txBody>
      </p:sp>
      <p:sp>
        <p:nvSpPr>
          <p:cNvPr id="10" name="TextBox 9">
            <a:extLst>
              <a:ext uri="{FF2B5EF4-FFF2-40B4-BE49-F238E27FC236}">
                <a16:creationId xmlns:a16="http://schemas.microsoft.com/office/drawing/2014/main" id="{6ABEB957-0446-8A50-3CAD-67096F9D7855}"/>
              </a:ext>
            </a:extLst>
          </p:cNvPr>
          <p:cNvSpPr txBox="1"/>
          <p:nvPr/>
        </p:nvSpPr>
        <p:spPr>
          <a:xfrm>
            <a:off x="7213600" y="1651000"/>
            <a:ext cx="4064000" cy="369332"/>
          </a:xfrm>
          <a:prstGeom prst="rect">
            <a:avLst/>
          </a:prstGeom>
          <a:noFill/>
        </p:spPr>
        <p:txBody>
          <a:bodyPr vert="horz" wrap="square" lIns="0" tIns="0" rIns="0" bIns="0" rtlCol="0" anchor="t">
            <a:noAutofit/>
          </a:bodyPr>
          <a:lstStyle/>
          <a:p>
            <a:r>
              <a:rPr lang="en-IN" sz="2000" b="1">
                <a:solidFill>
                  <a:srgbClr val="13293D"/>
                </a:solidFill>
                <a:latin typeface="Calibri" panose="020F0502020204030204" pitchFamily="34" charset="0"/>
              </a:rPr>
              <a:t>Issues</a:t>
            </a:r>
          </a:p>
        </p:txBody>
      </p:sp>
      <p:sp>
        <p:nvSpPr>
          <p:cNvPr id="11" name="TextBox 10">
            <a:extLst>
              <a:ext uri="{FF2B5EF4-FFF2-40B4-BE49-F238E27FC236}">
                <a16:creationId xmlns:a16="http://schemas.microsoft.com/office/drawing/2014/main" id="{26B7136B-A20A-D57B-436E-5AFD43579932}"/>
              </a:ext>
            </a:extLst>
          </p:cNvPr>
          <p:cNvSpPr txBox="1"/>
          <p:nvPr/>
        </p:nvSpPr>
        <p:spPr>
          <a:xfrm>
            <a:off x="7213600" y="2082800"/>
            <a:ext cx="4064000" cy="369332"/>
          </a:xfrm>
          <a:prstGeom prst="rect">
            <a:avLst/>
          </a:prstGeom>
          <a:noFill/>
        </p:spPr>
        <p:txBody>
          <a:bodyPr vert="horz" wrap="square" lIns="0" tIns="0" rIns="0" bIns="0" rtlCol="0" anchor="t">
            <a:noAutofit/>
          </a:bodyPr>
          <a:lstStyle/>
          <a:p>
            <a:r>
              <a:rPr lang="en-US" sz="1500">
                <a:solidFill>
                  <a:srgbClr val="1E2A35"/>
                </a:solidFill>
                <a:latin typeface="Calibri" panose="020F0502020204030204" pitchFamily="34" charset="0"/>
              </a:rPr>
              <a:t>Confirmed bugs and vulnerabilities, each pointing at the exact line, with an explanation.</a:t>
            </a:r>
            <a:endParaRPr lang="en-IN" sz="1500">
              <a:solidFill>
                <a:srgbClr val="1E2A35"/>
              </a:solidFill>
              <a:latin typeface="Calibri" panose="020F0502020204030204" pitchFamily="34" charset="0"/>
            </a:endParaRPr>
          </a:p>
        </p:txBody>
      </p:sp>
      <p:sp>
        <p:nvSpPr>
          <p:cNvPr id="12" name="TextBox 11">
            <a:extLst>
              <a:ext uri="{FF2B5EF4-FFF2-40B4-BE49-F238E27FC236}">
                <a16:creationId xmlns:a16="http://schemas.microsoft.com/office/drawing/2014/main" id="{D9854D65-BB69-B371-F93C-545F7BC45EB9}"/>
              </a:ext>
            </a:extLst>
          </p:cNvPr>
          <p:cNvSpPr txBox="1"/>
          <p:nvPr/>
        </p:nvSpPr>
        <p:spPr>
          <a:xfrm>
            <a:off x="7213600" y="2819400"/>
            <a:ext cx="4064000" cy="369332"/>
          </a:xfrm>
          <a:prstGeom prst="rect">
            <a:avLst/>
          </a:prstGeom>
          <a:noFill/>
        </p:spPr>
        <p:txBody>
          <a:bodyPr vert="horz" wrap="square" lIns="0" tIns="0" rIns="0" bIns="0" rtlCol="0" anchor="t">
            <a:noAutofit/>
          </a:bodyPr>
          <a:lstStyle/>
          <a:p>
            <a:r>
              <a:rPr lang="en-US" sz="1400" b="1">
                <a:solidFill>
                  <a:srgbClr val="1B998B"/>
                </a:solidFill>
                <a:latin typeface="Calibri" panose="020F0502020204030204" pitchFamily="34" charset="0"/>
              </a:rPr>
              <a:t>For example: certificate checks turned off</a:t>
            </a:r>
            <a:endParaRPr lang="en-IN" sz="1400" b="1">
              <a:solidFill>
                <a:srgbClr val="1B998B"/>
              </a:solidFill>
              <a:latin typeface="Calibri" panose="020F0502020204030204" pitchFamily="34" charset="0"/>
            </a:endParaRPr>
          </a:p>
        </p:txBody>
      </p:sp>
      <p:sp>
        <p:nvSpPr>
          <p:cNvPr id="13" name="Rectangle: Rounded Corners 12">
            <a:extLst>
              <a:ext uri="{FF2B5EF4-FFF2-40B4-BE49-F238E27FC236}">
                <a16:creationId xmlns:a16="http://schemas.microsoft.com/office/drawing/2014/main" id="{EB137F00-8FC2-92CD-CBD6-024760E3C72A}"/>
              </a:ext>
            </a:extLst>
          </p:cNvPr>
          <p:cNvSpPr/>
          <p:nvPr/>
        </p:nvSpPr>
        <p:spPr>
          <a:xfrm>
            <a:off x="609600" y="3479800"/>
            <a:ext cx="5334000" cy="1981200"/>
          </a:xfrm>
          <a:prstGeom prst="roundRect">
            <a:avLst>
              <a:gd name="adj" fmla="val 10000"/>
            </a:avLst>
          </a:prstGeom>
          <a:solidFill>
            <a:srgbClr val="EEF3F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id="{C648DEFA-4EB1-5B12-464B-BD328DA506BB}"/>
              </a:ext>
            </a:extLst>
          </p:cNvPr>
          <p:cNvSpPr/>
          <p:nvPr/>
        </p:nvSpPr>
        <p:spPr>
          <a:xfrm>
            <a:off x="863600" y="3733800"/>
            <a:ext cx="508000" cy="508000"/>
          </a:xfrm>
          <a:prstGeom prst="ellipse">
            <a:avLst/>
          </a:prstGeom>
          <a:solidFill>
            <a:srgbClr val="1B998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IN" sz="1600" b="1">
                <a:solidFill>
                  <a:srgbClr val="FFFFFF"/>
                </a:solidFill>
                <a:latin typeface="Calibri" panose="020F0502020204030204" pitchFamily="34" charset="0"/>
              </a:rPr>
              <a:t>3</a:t>
            </a:r>
          </a:p>
        </p:txBody>
      </p:sp>
      <p:sp>
        <p:nvSpPr>
          <p:cNvPr id="15" name="TextBox 14">
            <a:extLst>
              <a:ext uri="{FF2B5EF4-FFF2-40B4-BE49-F238E27FC236}">
                <a16:creationId xmlns:a16="http://schemas.microsoft.com/office/drawing/2014/main" id="{4EBD378B-29FB-CA6B-F06D-A331510F76C6}"/>
              </a:ext>
            </a:extLst>
          </p:cNvPr>
          <p:cNvSpPr txBox="1"/>
          <p:nvPr/>
        </p:nvSpPr>
        <p:spPr>
          <a:xfrm>
            <a:off x="1574800" y="3810000"/>
            <a:ext cx="4064000" cy="369332"/>
          </a:xfrm>
          <a:prstGeom prst="rect">
            <a:avLst/>
          </a:prstGeom>
          <a:noFill/>
        </p:spPr>
        <p:txBody>
          <a:bodyPr vert="horz" wrap="square" lIns="0" tIns="0" rIns="0" bIns="0" rtlCol="0" anchor="t">
            <a:noAutofit/>
          </a:bodyPr>
          <a:lstStyle/>
          <a:p>
            <a:r>
              <a:rPr lang="en-IN" sz="2000" b="1">
                <a:solidFill>
                  <a:srgbClr val="13293D"/>
                </a:solidFill>
                <a:latin typeface="Calibri" panose="020F0502020204030204" pitchFamily="34" charset="0"/>
              </a:rPr>
              <a:t>Security hotspots</a:t>
            </a:r>
          </a:p>
        </p:txBody>
      </p:sp>
      <p:sp>
        <p:nvSpPr>
          <p:cNvPr id="16" name="TextBox 15">
            <a:extLst>
              <a:ext uri="{FF2B5EF4-FFF2-40B4-BE49-F238E27FC236}">
                <a16:creationId xmlns:a16="http://schemas.microsoft.com/office/drawing/2014/main" id="{9F92004A-F944-0BF7-3789-6E40A71F5544}"/>
              </a:ext>
            </a:extLst>
          </p:cNvPr>
          <p:cNvSpPr txBox="1"/>
          <p:nvPr/>
        </p:nvSpPr>
        <p:spPr>
          <a:xfrm>
            <a:off x="1574800" y="4241800"/>
            <a:ext cx="4064000" cy="369332"/>
          </a:xfrm>
          <a:prstGeom prst="rect">
            <a:avLst/>
          </a:prstGeom>
          <a:noFill/>
        </p:spPr>
        <p:txBody>
          <a:bodyPr vert="horz" wrap="square" lIns="0" tIns="0" rIns="0" bIns="0" rtlCol="0" anchor="t">
            <a:noAutofit/>
          </a:bodyPr>
          <a:lstStyle/>
          <a:p>
            <a:r>
              <a:rPr lang="en-US" sz="1500">
                <a:solidFill>
                  <a:srgbClr val="1E2A35"/>
                </a:solidFill>
                <a:latin typeface="Calibri" panose="020F0502020204030204" pitchFamily="34" charset="0"/>
              </a:rPr>
              <a:t>Risky code that a person must review: it may be safe in context, or it may not.</a:t>
            </a:r>
            <a:endParaRPr lang="en-IN" sz="1500">
              <a:solidFill>
                <a:srgbClr val="1E2A35"/>
              </a:solidFill>
              <a:latin typeface="Calibri" panose="020F0502020204030204" pitchFamily="34" charset="0"/>
            </a:endParaRPr>
          </a:p>
        </p:txBody>
      </p:sp>
      <p:sp>
        <p:nvSpPr>
          <p:cNvPr id="17" name="TextBox 16">
            <a:extLst>
              <a:ext uri="{FF2B5EF4-FFF2-40B4-BE49-F238E27FC236}">
                <a16:creationId xmlns:a16="http://schemas.microsoft.com/office/drawing/2014/main" id="{041A4CEB-6335-0EEB-850E-0B05CD3F5A1E}"/>
              </a:ext>
            </a:extLst>
          </p:cNvPr>
          <p:cNvSpPr txBox="1"/>
          <p:nvPr/>
        </p:nvSpPr>
        <p:spPr>
          <a:xfrm>
            <a:off x="1574800" y="4978400"/>
            <a:ext cx="4064000" cy="369332"/>
          </a:xfrm>
          <a:prstGeom prst="rect">
            <a:avLst/>
          </a:prstGeom>
          <a:noFill/>
        </p:spPr>
        <p:txBody>
          <a:bodyPr vert="horz" wrap="square" lIns="0" tIns="0" rIns="0" bIns="0" rtlCol="0" anchor="t">
            <a:noAutofit/>
          </a:bodyPr>
          <a:lstStyle/>
          <a:p>
            <a:r>
              <a:rPr lang="en-US" sz="1400" b="1">
                <a:solidFill>
                  <a:srgbClr val="1B998B"/>
                </a:solidFill>
                <a:latin typeface="Calibri" panose="020F0502020204030204" pitchFamily="34" charset="0"/>
              </a:rPr>
              <a:t>For example: eval, shell=True, MD5</a:t>
            </a:r>
            <a:endParaRPr lang="en-IN" sz="1400" b="1">
              <a:solidFill>
                <a:srgbClr val="1B998B"/>
              </a:solidFill>
              <a:latin typeface="Calibri" panose="020F0502020204030204" pitchFamily="34" charset="0"/>
            </a:endParaRPr>
          </a:p>
        </p:txBody>
      </p:sp>
      <p:sp>
        <p:nvSpPr>
          <p:cNvPr id="18" name="Rectangle: Rounded Corners 17">
            <a:extLst>
              <a:ext uri="{FF2B5EF4-FFF2-40B4-BE49-F238E27FC236}">
                <a16:creationId xmlns:a16="http://schemas.microsoft.com/office/drawing/2014/main" id="{BEB0DB37-1381-DBEB-1168-56AAE57E7F04}"/>
              </a:ext>
            </a:extLst>
          </p:cNvPr>
          <p:cNvSpPr/>
          <p:nvPr/>
        </p:nvSpPr>
        <p:spPr>
          <a:xfrm>
            <a:off x="6248400" y="3479800"/>
            <a:ext cx="5334000" cy="1981200"/>
          </a:xfrm>
          <a:prstGeom prst="roundRect">
            <a:avLst>
              <a:gd name="adj" fmla="val 10000"/>
            </a:avLst>
          </a:prstGeom>
          <a:solidFill>
            <a:srgbClr val="EEF3F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Oval 18">
            <a:extLst>
              <a:ext uri="{FF2B5EF4-FFF2-40B4-BE49-F238E27FC236}">
                <a16:creationId xmlns:a16="http://schemas.microsoft.com/office/drawing/2014/main" id="{C5C03E2B-4F0B-EDFF-D972-C78E258B0086}"/>
              </a:ext>
            </a:extLst>
          </p:cNvPr>
          <p:cNvSpPr/>
          <p:nvPr/>
        </p:nvSpPr>
        <p:spPr>
          <a:xfrm>
            <a:off x="6502400" y="3733800"/>
            <a:ext cx="508000" cy="508000"/>
          </a:xfrm>
          <a:prstGeom prst="ellipse">
            <a:avLst/>
          </a:prstGeom>
          <a:solidFill>
            <a:srgbClr val="1B998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IN" sz="1600" b="1">
                <a:solidFill>
                  <a:srgbClr val="FFFFFF"/>
                </a:solidFill>
                <a:latin typeface="Calibri" panose="020F0502020204030204" pitchFamily="34" charset="0"/>
              </a:rPr>
              <a:t>4</a:t>
            </a:r>
          </a:p>
        </p:txBody>
      </p:sp>
      <p:sp>
        <p:nvSpPr>
          <p:cNvPr id="20" name="TextBox 19">
            <a:extLst>
              <a:ext uri="{FF2B5EF4-FFF2-40B4-BE49-F238E27FC236}">
                <a16:creationId xmlns:a16="http://schemas.microsoft.com/office/drawing/2014/main" id="{B5FCED6F-AAB8-3DBF-D7E3-56C12798D24F}"/>
              </a:ext>
            </a:extLst>
          </p:cNvPr>
          <p:cNvSpPr txBox="1"/>
          <p:nvPr/>
        </p:nvSpPr>
        <p:spPr>
          <a:xfrm>
            <a:off x="7213600" y="3810000"/>
            <a:ext cx="4064000" cy="369332"/>
          </a:xfrm>
          <a:prstGeom prst="rect">
            <a:avLst/>
          </a:prstGeom>
          <a:noFill/>
        </p:spPr>
        <p:txBody>
          <a:bodyPr vert="horz" wrap="square" lIns="0" tIns="0" rIns="0" bIns="0" rtlCol="0" anchor="t">
            <a:noAutofit/>
          </a:bodyPr>
          <a:lstStyle/>
          <a:p>
            <a:r>
              <a:rPr lang="en-IN" sz="2000" b="1">
                <a:solidFill>
                  <a:srgbClr val="13293D"/>
                </a:solidFill>
                <a:latin typeface="Calibri" panose="020F0502020204030204" pitchFamily="34" charset="0"/>
              </a:rPr>
              <a:t>Review</a:t>
            </a:r>
          </a:p>
        </p:txBody>
      </p:sp>
      <p:sp>
        <p:nvSpPr>
          <p:cNvPr id="21" name="TextBox 20">
            <a:extLst>
              <a:ext uri="{FF2B5EF4-FFF2-40B4-BE49-F238E27FC236}">
                <a16:creationId xmlns:a16="http://schemas.microsoft.com/office/drawing/2014/main" id="{B9C729B8-4AC7-6E16-F72E-1E4C3EC3083B}"/>
              </a:ext>
            </a:extLst>
          </p:cNvPr>
          <p:cNvSpPr txBox="1"/>
          <p:nvPr/>
        </p:nvSpPr>
        <p:spPr>
          <a:xfrm>
            <a:off x="7213600" y="4241800"/>
            <a:ext cx="4064000" cy="369332"/>
          </a:xfrm>
          <a:prstGeom prst="rect">
            <a:avLst/>
          </a:prstGeom>
          <a:noFill/>
        </p:spPr>
        <p:txBody>
          <a:bodyPr vert="horz" wrap="square" lIns="0" tIns="0" rIns="0" bIns="0" rtlCol="0" anchor="t">
            <a:noAutofit/>
          </a:bodyPr>
          <a:lstStyle/>
          <a:p>
            <a:r>
              <a:rPr lang="en-US" sz="1500">
                <a:solidFill>
                  <a:srgbClr val="1E2A35"/>
                </a:solidFill>
                <a:latin typeface="Calibri" panose="020F0502020204030204" pitchFamily="34" charset="0"/>
              </a:rPr>
              <a:t>Mark each hotspot Safe or Fixed, with a reason. The decision is recorded for audit.</a:t>
            </a:r>
            <a:endParaRPr lang="en-IN" sz="1500">
              <a:solidFill>
                <a:srgbClr val="1E2A35"/>
              </a:solidFill>
              <a:latin typeface="Calibri" panose="020F0502020204030204" pitchFamily="34" charset="0"/>
            </a:endParaRPr>
          </a:p>
        </p:txBody>
      </p:sp>
      <p:sp>
        <p:nvSpPr>
          <p:cNvPr id="22" name="TextBox 21">
            <a:extLst>
              <a:ext uri="{FF2B5EF4-FFF2-40B4-BE49-F238E27FC236}">
                <a16:creationId xmlns:a16="http://schemas.microsoft.com/office/drawing/2014/main" id="{73B21C0B-27AB-1077-3898-EFC89EAE8874}"/>
              </a:ext>
            </a:extLst>
          </p:cNvPr>
          <p:cNvSpPr txBox="1"/>
          <p:nvPr/>
        </p:nvSpPr>
        <p:spPr>
          <a:xfrm>
            <a:off x="7213600" y="4978400"/>
            <a:ext cx="4064000" cy="369332"/>
          </a:xfrm>
          <a:prstGeom prst="rect">
            <a:avLst/>
          </a:prstGeom>
          <a:noFill/>
        </p:spPr>
        <p:txBody>
          <a:bodyPr vert="horz" wrap="square" lIns="0" tIns="0" rIns="0" bIns="0" rtlCol="0" anchor="t">
            <a:noAutofit/>
          </a:bodyPr>
          <a:lstStyle/>
          <a:p>
            <a:r>
              <a:rPr lang="en-US" sz="1400" b="1">
                <a:solidFill>
                  <a:srgbClr val="1B998B"/>
                </a:solidFill>
                <a:latin typeface="Calibri" panose="020F0502020204030204" pitchFamily="34" charset="0"/>
              </a:rPr>
              <a:t>Fixed version: Passed after review</a:t>
            </a:r>
            <a:endParaRPr lang="en-IN" sz="1400" b="1">
              <a:solidFill>
                <a:srgbClr val="1B998B"/>
              </a:solidFill>
              <a:latin typeface="Calibri" panose="020F0502020204030204" pitchFamily="34" charset="0"/>
            </a:endParaRPr>
          </a:p>
        </p:txBody>
      </p:sp>
      <p:sp>
        <p:nvSpPr>
          <p:cNvPr id="23" name="TextBox 22">
            <a:extLst>
              <a:ext uri="{FF2B5EF4-FFF2-40B4-BE49-F238E27FC236}">
                <a16:creationId xmlns:a16="http://schemas.microsoft.com/office/drawing/2014/main" id="{3404CE8B-2576-AEA8-8C01-62C565D8F6E6}"/>
              </a:ext>
            </a:extLst>
          </p:cNvPr>
          <p:cNvSpPr txBox="1"/>
          <p:nvPr/>
        </p:nvSpPr>
        <p:spPr>
          <a:xfrm>
            <a:off x="609600" y="5689600"/>
            <a:ext cx="10972800" cy="369332"/>
          </a:xfrm>
          <a:prstGeom prst="rect">
            <a:avLst/>
          </a:prstGeom>
          <a:noFill/>
        </p:spPr>
        <p:txBody>
          <a:bodyPr vert="horz" wrap="square" lIns="0" tIns="0" rIns="0" bIns="0" rtlCol="0" anchor="t">
            <a:noAutofit/>
          </a:bodyPr>
          <a:lstStyle/>
          <a:p>
            <a:r>
              <a:rPr lang="en-US" sz="1500">
                <a:solidFill>
                  <a:srgbClr val="5B6B79"/>
                </a:solidFill>
                <a:latin typeface="Calibri" panose="020F0502020204030204" pitchFamily="34" charset="0"/>
              </a:rPr>
              <a:t>SonarQube is what many teams run on every pull request: a dashboard, history, and a gate that can block a merge.</a:t>
            </a:r>
            <a:endParaRPr lang="en-IN" sz="1500">
              <a:solidFill>
                <a:srgbClr val="5B6B79"/>
              </a:solidFill>
              <a:latin typeface="Calibri" panose="020F0502020204030204" pitchFamily="34" charset="0"/>
            </a:endParaRPr>
          </a:p>
        </p:txBody>
      </p:sp>
      <p:sp>
        <p:nvSpPr>
          <p:cNvPr id="24" name="TextBox 23">
            <a:extLst>
              <a:ext uri="{FF2B5EF4-FFF2-40B4-BE49-F238E27FC236}">
                <a16:creationId xmlns:a16="http://schemas.microsoft.com/office/drawing/2014/main" id="{511D1C3B-E929-8B09-433A-E4940B22E8CF}"/>
              </a:ext>
            </a:extLst>
          </p:cNvPr>
          <p:cNvSpPr txBox="1"/>
          <p:nvPr/>
        </p:nvSpPr>
        <p:spPr>
          <a:xfrm>
            <a:off x="609600" y="6502400"/>
            <a:ext cx="5080000" cy="369332"/>
          </a:xfrm>
          <a:prstGeom prst="rect">
            <a:avLst/>
          </a:prstGeom>
          <a:noFill/>
        </p:spPr>
        <p:txBody>
          <a:bodyPr vert="horz" wrap="square" lIns="0" tIns="0" rIns="0" bIns="0" rtlCol="0" anchor="t">
            <a:noAutofit/>
          </a:bodyPr>
          <a:lstStyle/>
          <a:p>
            <a:r>
              <a:rPr lang="en-US" sz="1000">
                <a:solidFill>
                  <a:srgbClr val="5B6B79"/>
                </a:solidFill>
                <a:latin typeface="Calibri" panose="020F0502020204030204" pitchFamily="34" charset="0"/>
              </a:rPr>
              <a:t>Securing the path to the cloud</a:t>
            </a:r>
            <a:endParaRPr lang="en-IN" sz="1000">
              <a:solidFill>
                <a:srgbClr val="5B6B79"/>
              </a:solidFill>
              <a:latin typeface="Calibri" panose="020F0502020204030204" pitchFamily="34" charset="0"/>
            </a:endParaRPr>
          </a:p>
        </p:txBody>
      </p:sp>
      <p:sp>
        <p:nvSpPr>
          <p:cNvPr id="25" name="TextBox 24">
            <a:extLst>
              <a:ext uri="{FF2B5EF4-FFF2-40B4-BE49-F238E27FC236}">
                <a16:creationId xmlns:a16="http://schemas.microsoft.com/office/drawing/2014/main" id="{C0EF7621-52AC-EC40-3141-C9968E1716C8}"/>
              </a:ext>
            </a:extLst>
          </p:cNvPr>
          <p:cNvSpPr txBox="1"/>
          <p:nvPr/>
        </p:nvSpPr>
        <p:spPr>
          <a:xfrm>
            <a:off x="10312400" y="6502400"/>
            <a:ext cx="1270000" cy="369332"/>
          </a:xfrm>
          <a:prstGeom prst="rect">
            <a:avLst/>
          </a:prstGeom>
          <a:noFill/>
        </p:spPr>
        <p:txBody>
          <a:bodyPr vert="horz" wrap="square" lIns="0" tIns="0" rIns="0" bIns="0" rtlCol="0" anchor="t">
            <a:noAutofit/>
          </a:bodyPr>
          <a:lstStyle/>
          <a:p>
            <a:pPr algn="r"/>
            <a:r>
              <a:rPr lang="en-IN" sz="1000">
                <a:solidFill>
                  <a:srgbClr val="5B6B79"/>
                </a:solidFill>
                <a:latin typeface="Calibri" panose="020F0502020204030204" pitchFamily="34" charset="0"/>
              </a:rPr>
              <a:t>19</a:t>
            </a:r>
          </a:p>
        </p:txBody>
      </p:sp>
    </p:spTree>
    <p:extLst>
      <p:ext uri="{BB962C8B-B14F-4D97-AF65-F5344CB8AC3E}">
        <p14:creationId xmlns:p14="http://schemas.microsoft.com/office/powerpoint/2010/main" val="17571857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CA972D8-272D-7230-91A8-C180AFCDFB19}"/>
              </a:ext>
            </a:extLst>
          </p:cNvPr>
          <p:cNvSpPr txBox="1"/>
          <p:nvPr/>
        </p:nvSpPr>
        <p:spPr>
          <a:xfrm>
            <a:off x="609600" y="381000"/>
            <a:ext cx="10972800" cy="369332"/>
          </a:xfrm>
          <a:prstGeom prst="rect">
            <a:avLst/>
          </a:prstGeom>
          <a:noFill/>
        </p:spPr>
        <p:txBody>
          <a:bodyPr vert="horz" wrap="square" lIns="0" tIns="0" rIns="0" bIns="0" rtlCol="0" anchor="t">
            <a:noAutofit/>
          </a:bodyPr>
          <a:lstStyle/>
          <a:p>
            <a:r>
              <a:rPr lang="en-IN" sz="3400" b="1">
                <a:solidFill>
                  <a:srgbClr val="13293D"/>
                </a:solidFill>
                <a:latin typeface="Calibri" panose="020F0502020204030204" pitchFamily="34" charset="0"/>
              </a:rPr>
              <a:t>Lab 2 · Commands</a:t>
            </a:r>
          </a:p>
        </p:txBody>
      </p:sp>
      <p:sp>
        <p:nvSpPr>
          <p:cNvPr id="3" name="TextBox 2">
            <a:extLst>
              <a:ext uri="{FF2B5EF4-FFF2-40B4-BE49-F238E27FC236}">
                <a16:creationId xmlns:a16="http://schemas.microsoft.com/office/drawing/2014/main" id="{65D43183-57A3-B8BF-83ED-8024EDFC0C4E}"/>
              </a:ext>
            </a:extLst>
          </p:cNvPr>
          <p:cNvSpPr txBox="1"/>
          <p:nvPr/>
        </p:nvSpPr>
        <p:spPr>
          <a:xfrm>
            <a:off x="609600" y="1168400"/>
            <a:ext cx="5080000" cy="369332"/>
          </a:xfrm>
          <a:prstGeom prst="rect">
            <a:avLst/>
          </a:prstGeom>
          <a:noFill/>
        </p:spPr>
        <p:txBody>
          <a:bodyPr vert="horz" wrap="square" lIns="0" tIns="0" rIns="0" bIns="0" rtlCol="0" anchor="t">
            <a:noAutofit/>
          </a:bodyPr>
          <a:lstStyle/>
          <a:p>
            <a:r>
              <a:rPr lang="en-IN" sz="1200" b="1">
                <a:solidFill>
                  <a:srgbClr val="1B998B"/>
                </a:solidFill>
                <a:latin typeface="Calibri" panose="020F0502020204030204" pitchFamily="34" charset="0"/>
              </a:rPr>
              <a:t>EVERYONE</a:t>
            </a:r>
          </a:p>
        </p:txBody>
      </p:sp>
      <p:sp>
        <p:nvSpPr>
          <p:cNvPr id="4" name="Rectangle: Rounded Corners 3">
            <a:extLst>
              <a:ext uri="{FF2B5EF4-FFF2-40B4-BE49-F238E27FC236}">
                <a16:creationId xmlns:a16="http://schemas.microsoft.com/office/drawing/2014/main" id="{2646CB79-72CB-D127-17EB-21CF5E8FB6B8}"/>
              </a:ext>
            </a:extLst>
          </p:cNvPr>
          <p:cNvSpPr/>
          <p:nvPr/>
        </p:nvSpPr>
        <p:spPr>
          <a:xfrm>
            <a:off x="609600" y="1447800"/>
            <a:ext cx="10972800" cy="561975"/>
          </a:xfrm>
          <a:prstGeom prst="roundRect">
            <a:avLst>
              <a:gd name="adj" fmla="val 10000"/>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6AA73B02-E1FE-DDA1-01D7-87322A20836C}"/>
              </a:ext>
            </a:extLst>
          </p:cNvPr>
          <p:cNvSpPr txBox="1"/>
          <p:nvPr/>
        </p:nvSpPr>
        <p:spPr>
          <a:xfrm>
            <a:off x="863600" y="1625600"/>
            <a:ext cx="10464800" cy="369332"/>
          </a:xfrm>
          <a:prstGeom prst="rect">
            <a:avLst/>
          </a:prstGeom>
          <a:noFill/>
        </p:spPr>
        <p:txBody>
          <a:bodyPr vert="horz" wrap="square" lIns="0" tIns="0" rIns="0" bIns="0" rtlCol="0" anchor="t">
            <a:noAutofit/>
          </a:bodyPr>
          <a:lstStyle/>
          <a:p>
            <a:r>
              <a:rPr lang="en-US" sz="1300">
                <a:solidFill>
                  <a:srgbClr val="8FD3C9"/>
                </a:solidFill>
                <a:latin typeface="Consolas" panose="020B0609020204030204" pitchFamily="49" charset="0"/>
              </a:rPr>
              <a:t># Open in VS Code: labs/lab2-insecure-code/start/report_service.py</a:t>
            </a:r>
            <a:endParaRPr lang="en-IN" sz="1300">
              <a:solidFill>
                <a:srgbClr val="8FD3C9"/>
              </a:solidFill>
              <a:latin typeface="Consolas" panose="020B0609020204030204" pitchFamily="49" charset="0"/>
            </a:endParaRPr>
          </a:p>
        </p:txBody>
      </p:sp>
      <p:sp>
        <p:nvSpPr>
          <p:cNvPr id="6" name="TextBox 5">
            <a:extLst>
              <a:ext uri="{FF2B5EF4-FFF2-40B4-BE49-F238E27FC236}">
                <a16:creationId xmlns:a16="http://schemas.microsoft.com/office/drawing/2014/main" id="{8710F139-25A6-5133-3C34-A5BE1927F1BA}"/>
              </a:ext>
            </a:extLst>
          </p:cNvPr>
          <p:cNvSpPr txBox="1"/>
          <p:nvPr/>
        </p:nvSpPr>
        <p:spPr>
          <a:xfrm>
            <a:off x="609600" y="2212975"/>
            <a:ext cx="7620000" cy="369332"/>
          </a:xfrm>
          <a:prstGeom prst="rect">
            <a:avLst/>
          </a:prstGeom>
          <a:noFill/>
        </p:spPr>
        <p:txBody>
          <a:bodyPr vert="horz" wrap="square" lIns="0" tIns="0" rIns="0" bIns="0" rtlCol="0" anchor="t">
            <a:noAutofit/>
          </a:bodyPr>
          <a:lstStyle/>
          <a:p>
            <a:r>
              <a:rPr lang="en-IN" sz="1200" b="1">
                <a:solidFill>
                  <a:srgbClr val="1B998B"/>
                </a:solidFill>
                <a:latin typeface="Calibri" panose="020F0502020204030204" pitchFamily="34" charset="0"/>
              </a:rPr>
              <a:t>FACILITATOR (UBUNTU TERMINAL, REPO FOLDER)</a:t>
            </a:r>
          </a:p>
        </p:txBody>
      </p:sp>
      <p:sp>
        <p:nvSpPr>
          <p:cNvPr id="7" name="Rectangle: Rounded Corners 6">
            <a:extLst>
              <a:ext uri="{FF2B5EF4-FFF2-40B4-BE49-F238E27FC236}">
                <a16:creationId xmlns:a16="http://schemas.microsoft.com/office/drawing/2014/main" id="{A4AAC82F-113D-9AE2-8991-9497DE75B7D7}"/>
              </a:ext>
            </a:extLst>
          </p:cNvPr>
          <p:cNvSpPr/>
          <p:nvPr/>
        </p:nvSpPr>
        <p:spPr>
          <a:xfrm>
            <a:off x="609600" y="2492375"/>
            <a:ext cx="10972800" cy="1879600"/>
          </a:xfrm>
          <a:prstGeom prst="roundRect">
            <a:avLst>
              <a:gd name="adj" fmla="val 10000"/>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4CDDEA78-F394-19EB-EF86-940923B481F6}"/>
              </a:ext>
            </a:extLst>
          </p:cNvPr>
          <p:cNvSpPr txBox="1"/>
          <p:nvPr/>
        </p:nvSpPr>
        <p:spPr>
          <a:xfrm>
            <a:off x="863600" y="2670175"/>
            <a:ext cx="10464800" cy="369332"/>
          </a:xfrm>
          <a:prstGeom prst="rect">
            <a:avLst/>
          </a:prstGeom>
          <a:noFill/>
        </p:spPr>
        <p:txBody>
          <a:bodyPr vert="horz" wrap="square" lIns="0" tIns="0" rIns="0" bIns="0" rtlCol="0" anchor="t">
            <a:noAutofit/>
          </a:bodyPr>
          <a:lstStyle/>
          <a:p>
            <a:r>
              <a:rPr lang="en-IN" sz="1200">
                <a:solidFill>
                  <a:srgbClr val="FFFFFF"/>
                </a:solidFill>
                <a:latin typeface="Consolas" panose="020B0609020204030204" pitchFamily="49" charset="0"/>
              </a:rPr>
              <a:t>docker compose --profile sonarqube up -d sonarqube</a:t>
            </a:r>
          </a:p>
          <a:p>
            <a:r>
              <a:rPr lang="en-IN" sz="1200">
                <a:solidFill>
                  <a:srgbClr val="FFFFFF"/>
                </a:solidFill>
                <a:latin typeface="Consolas" panose="020B0609020204030204" pitchFamily="49" charset="0"/>
              </a:rPr>
              <a:t>docker compose --profile sonarqube logs -f sonarqube</a:t>
            </a:r>
            <a:r>
              <a:rPr lang="en-IN" sz="1200">
                <a:solidFill>
                  <a:srgbClr val="8FD3C9"/>
                </a:solidFill>
                <a:latin typeface="Consolas" panose="020B0609020204030204" pitchFamily="49" charset="0"/>
              </a:rPr>
              <a:t>   # wait: "SonarQube is operational"</a:t>
            </a:r>
          </a:p>
          <a:p>
            <a:r>
              <a:rPr lang="en-IN" sz="1200">
                <a:solidFill>
                  <a:srgbClr val="8FD3C9"/>
                </a:solidFill>
                <a:latin typeface="Consolas" panose="020B0609020204030204" pitchFamily="49" charset="0"/>
              </a:rPr>
              <a:t># http://localhost:9000 : log in, create a token, create the Workshop quality gate</a:t>
            </a:r>
          </a:p>
          <a:p>
            <a:r>
              <a:rPr lang="en-IN" sz="1200">
                <a:solidFill>
                  <a:srgbClr val="FFFFFF"/>
                </a:solidFill>
                <a:latin typeface="Consolas" panose="020B0609020204030204" pitchFamily="49" charset="0"/>
              </a:rPr>
              <a:t>export SONAR_TOKEN=&lt;your token&gt;</a:t>
            </a:r>
          </a:p>
          <a:p>
            <a:r>
              <a:rPr lang="en-IN" sz="1200">
                <a:solidFill>
                  <a:srgbClr val="FFFFFF"/>
                </a:solidFill>
                <a:latin typeface="Consolas" panose="020B0609020204030204" pitchFamily="49" charset="0"/>
              </a:rPr>
              <a:t>docker compose --profile sonarqube run --rm -e SONAR_TOKEN sonar-scanner \</a:t>
            </a:r>
          </a:p>
          <a:p>
            <a:r>
              <a:rPr lang="en-IN" sz="1200">
                <a:solidFill>
                  <a:srgbClr val="FFFFFF"/>
                </a:solidFill>
                <a:latin typeface="Consolas" panose="020B0609020204030204" pitchFamily="49" charset="0"/>
              </a:rPr>
              <a:t>  -Dsonar.projectKey=lab2-start "-Dsonar.projectName=Lab 2 - Insecure code (start)" -Dsonar.sources=start</a:t>
            </a:r>
          </a:p>
          <a:p>
            <a:r>
              <a:rPr lang="en-IN" sz="1200">
                <a:solidFill>
                  <a:srgbClr val="FFFFFF"/>
                </a:solidFill>
                <a:latin typeface="Consolas" panose="020B0609020204030204" pitchFamily="49" charset="0"/>
              </a:rPr>
              <a:t>docker compose --profile sonarqube run --rm -e SONAR_TOKEN sonar-scanner \</a:t>
            </a:r>
          </a:p>
          <a:p>
            <a:r>
              <a:rPr lang="en-IN" sz="1200">
                <a:solidFill>
                  <a:srgbClr val="FFFFFF"/>
                </a:solidFill>
                <a:latin typeface="Consolas" panose="020B0609020204030204" pitchFamily="49" charset="0"/>
              </a:rPr>
              <a:t>  -Dsonar.projectKey=lab2-solution "-Dsonar.projectName=Lab 2 - Fixed code (solution)" -Dsonar.sources=solution</a:t>
            </a:r>
          </a:p>
        </p:txBody>
      </p:sp>
      <p:sp>
        <p:nvSpPr>
          <p:cNvPr id="9" name="TextBox 8">
            <a:extLst>
              <a:ext uri="{FF2B5EF4-FFF2-40B4-BE49-F238E27FC236}">
                <a16:creationId xmlns:a16="http://schemas.microsoft.com/office/drawing/2014/main" id="{44DA44C8-6153-8544-5833-FAF1A9A3FDFC}"/>
              </a:ext>
            </a:extLst>
          </p:cNvPr>
          <p:cNvSpPr txBox="1"/>
          <p:nvPr/>
        </p:nvSpPr>
        <p:spPr>
          <a:xfrm>
            <a:off x="609600" y="6502400"/>
            <a:ext cx="5080000" cy="369332"/>
          </a:xfrm>
          <a:prstGeom prst="rect">
            <a:avLst/>
          </a:prstGeom>
          <a:noFill/>
        </p:spPr>
        <p:txBody>
          <a:bodyPr vert="horz" wrap="square" lIns="0" tIns="0" rIns="0" bIns="0" rtlCol="0" anchor="t">
            <a:noAutofit/>
          </a:bodyPr>
          <a:lstStyle/>
          <a:p>
            <a:r>
              <a:rPr lang="en-US" sz="1000">
                <a:solidFill>
                  <a:srgbClr val="5B6B79"/>
                </a:solidFill>
                <a:latin typeface="Calibri" panose="020F0502020204030204" pitchFamily="34" charset="0"/>
              </a:rPr>
              <a:t>Securing the path to the cloud</a:t>
            </a:r>
            <a:endParaRPr lang="en-IN" sz="1000">
              <a:solidFill>
                <a:srgbClr val="5B6B79"/>
              </a:solidFill>
              <a:latin typeface="Calibri" panose="020F0502020204030204" pitchFamily="34" charset="0"/>
            </a:endParaRPr>
          </a:p>
        </p:txBody>
      </p:sp>
      <p:sp>
        <p:nvSpPr>
          <p:cNvPr id="10" name="TextBox 9">
            <a:extLst>
              <a:ext uri="{FF2B5EF4-FFF2-40B4-BE49-F238E27FC236}">
                <a16:creationId xmlns:a16="http://schemas.microsoft.com/office/drawing/2014/main" id="{F3557A8B-28A5-B85C-FBA9-020088CF57F7}"/>
              </a:ext>
            </a:extLst>
          </p:cNvPr>
          <p:cNvSpPr txBox="1"/>
          <p:nvPr/>
        </p:nvSpPr>
        <p:spPr>
          <a:xfrm>
            <a:off x="10312400" y="6502400"/>
            <a:ext cx="1270000" cy="369332"/>
          </a:xfrm>
          <a:prstGeom prst="rect">
            <a:avLst/>
          </a:prstGeom>
          <a:noFill/>
        </p:spPr>
        <p:txBody>
          <a:bodyPr vert="horz" wrap="square" lIns="0" tIns="0" rIns="0" bIns="0" rtlCol="0" anchor="t">
            <a:noAutofit/>
          </a:bodyPr>
          <a:lstStyle/>
          <a:p>
            <a:pPr algn="r"/>
            <a:r>
              <a:rPr lang="en-IN" sz="1000">
                <a:solidFill>
                  <a:srgbClr val="5B6B79"/>
                </a:solidFill>
                <a:latin typeface="Calibri" panose="020F0502020204030204" pitchFamily="34" charset="0"/>
              </a:rPr>
              <a:t>20</a:t>
            </a:r>
          </a:p>
        </p:txBody>
      </p:sp>
    </p:spTree>
    <p:extLst>
      <p:ext uri="{BB962C8B-B14F-4D97-AF65-F5344CB8AC3E}">
        <p14:creationId xmlns:p14="http://schemas.microsoft.com/office/powerpoint/2010/main" val="17831523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329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C26246F-40C4-20D2-FFB3-A072C397D549}"/>
              </a:ext>
            </a:extLst>
          </p:cNvPr>
          <p:cNvSpPr txBox="1"/>
          <p:nvPr/>
        </p:nvSpPr>
        <p:spPr>
          <a:xfrm>
            <a:off x="609600" y="1219200"/>
            <a:ext cx="5080000" cy="369332"/>
          </a:xfrm>
          <a:prstGeom prst="rect">
            <a:avLst/>
          </a:prstGeom>
          <a:noFill/>
        </p:spPr>
        <p:txBody>
          <a:bodyPr vert="horz" wrap="square" lIns="0" tIns="0" rIns="0" bIns="0" rtlCol="0" anchor="t">
            <a:noAutofit/>
          </a:bodyPr>
          <a:lstStyle/>
          <a:p>
            <a:r>
              <a:rPr lang="en-IN" sz="12000" b="1">
                <a:solidFill>
                  <a:srgbClr val="1B998B"/>
                </a:solidFill>
                <a:latin typeface="Calibri" panose="020F0502020204030204" pitchFamily="34" charset="0"/>
              </a:rPr>
              <a:t>03</a:t>
            </a:r>
          </a:p>
        </p:txBody>
      </p:sp>
      <p:sp>
        <p:nvSpPr>
          <p:cNvPr id="3" name="TextBox 2">
            <a:extLst>
              <a:ext uri="{FF2B5EF4-FFF2-40B4-BE49-F238E27FC236}">
                <a16:creationId xmlns:a16="http://schemas.microsoft.com/office/drawing/2014/main" id="{4615BF66-CFE8-39A5-C29E-FEBBD15B0D65}"/>
              </a:ext>
            </a:extLst>
          </p:cNvPr>
          <p:cNvSpPr txBox="1"/>
          <p:nvPr/>
        </p:nvSpPr>
        <p:spPr>
          <a:xfrm>
            <a:off x="609600" y="3175000"/>
            <a:ext cx="10972800" cy="369332"/>
          </a:xfrm>
          <a:prstGeom prst="rect">
            <a:avLst/>
          </a:prstGeom>
          <a:noFill/>
        </p:spPr>
        <p:txBody>
          <a:bodyPr vert="horz" wrap="square" lIns="0" tIns="0" rIns="0" bIns="0" rtlCol="0" anchor="t">
            <a:noAutofit/>
          </a:bodyPr>
          <a:lstStyle/>
          <a:p>
            <a:r>
              <a:rPr lang="en-IN" sz="4400" b="1">
                <a:solidFill>
                  <a:srgbClr val="FFFFFF"/>
                </a:solidFill>
                <a:latin typeface="Calibri" panose="020F0502020204030204" pitchFamily="34" charset="0"/>
              </a:rPr>
              <a:t>The CI security gate</a:t>
            </a:r>
          </a:p>
        </p:txBody>
      </p:sp>
      <p:sp>
        <p:nvSpPr>
          <p:cNvPr id="4" name="TextBox 3">
            <a:extLst>
              <a:ext uri="{FF2B5EF4-FFF2-40B4-BE49-F238E27FC236}">
                <a16:creationId xmlns:a16="http://schemas.microsoft.com/office/drawing/2014/main" id="{6A6F5913-4928-80F0-505D-110272AD4F48}"/>
              </a:ext>
            </a:extLst>
          </p:cNvPr>
          <p:cNvSpPr txBox="1"/>
          <p:nvPr/>
        </p:nvSpPr>
        <p:spPr>
          <a:xfrm>
            <a:off x="609600" y="4038600"/>
            <a:ext cx="9652000" cy="369332"/>
          </a:xfrm>
          <a:prstGeom prst="rect">
            <a:avLst/>
          </a:prstGeom>
          <a:noFill/>
        </p:spPr>
        <p:txBody>
          <a:bodyPr vert="horz" wrap="square" lIns="0" tIns="0" rIns="0" bIns="0" rtlCol="0" anchor="t">
            <a:noAutofit/>
          </a:bodyPr>
          <a:lstStyle/>
          <a:p>
            <a:r>
              <a:rPr lang="en-US" sz="2000">
                <a:solidFill>
                  <a:srgbClr val="C9D6DF"/>
                </a:solidFill>
                <a:latin typeface="Calibri" panose="020F0502020204030204" pitchFamily="34" charset="0"/>
              </a:rPr>
              <a:t>Cloud misconfigurations in Terraform, caught by Checkov and blocked by a Jenkins pipeline</a:t>
            </a:r>
            <a:endParaRPr lang="en-IN" sz="2000">
              <a:solidFill>
                <a:srgbClr val="C9D6DF"/>
              </a:solidFill>
              <a:latin typeface="Calibri" panose="020F0502020204030204" pitchFamily="34" charset="0"/>
            </a:endParaRPr>
          </a:p>
        </p:txBody>
      </p:sp>
      <p:sp>
        <p:nvSpPr>
          <p:cNvPr id="5" name="TextBox 4">
            <a:extLst>
              <a:ext uri="{FF2B5EF4-FFF2-40B4-BE49-F238E27FC236}">
                <a16:creationId xmlns:a16="http://schemas.microsoft.com/office/drawing/2014/main" id="{A42843AC-102A-BD41-0FBA-47ED50C336CB}"/>
              </a:ext>
            </a:extLst>
          </p:cNvPr>
          <p:cNvSpPr txBox="1"/>
          <p:nvPr/>
        </p:nvSpPr>
        <p:spPr>
          <a:xfrm>
            <a:off x="609600" y="5207000"/>
            <a:ext cx="10972800" cy="369332"/>
          </a:xfrm>
          <a:prstGeom prst="rect">
            <a:avLst/>
          </a:prstGeom>
          <a:noFill/>
        </p:spPr>
        <p:txBody>
          <a:bodyPr vert="horz" wrap="square" lIns="0" tIns="0" rIns="0" bIns="0" rtlCol="0" anchor="t">
            <a:noAutofit/>
          </a:bodyPr>
          <a:lstStyle/>
          <a:p>
            <a:r>
              <a:rPr lang="en-IN" sz="1600" b="1">
                <a:solidFill>
                  <a:srgbClr val="1B998B"/>
                </a:solidFill>
                <a:latin typeface="Calibri" panose="020F0502020204030204" pitchFamily="34" charset="0"/>
              </a:rPr>
              <a:t>Tools: Terraform, Checkov, Jenkins   ·   15 minutes</a:t>
            </a:r>
          </a:p>
        </p:txBody>
      </p:sp>
    </p:spTree>
    <p:extLst>
      <p:ext uri="{BB962C8B-B14F-4D97-AF65-F5344CB8AC3E}">
        <p14:creationId xmlns:p14="http://schemas.microsoft.com/office/powerpoint/2010/main" val="24567276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99FA0A8-0BA9-5A46-7669-4822579FA9DB}"/>
              </a:ext>
            </a:extLst>
          </p:cNvPr>
          <p:cNvSpPr txBox="1"/>
          <p:nvPr/>
        </p:nvSpPr>
        <p:spPr>
          <a:xfrm>
            <a:off x="609600" y="381000"/>
            <a:ext cx="10972800" cy="369332"/>
          </a:xfrm>
          <a:prstGeom prst="rect">
            <a:avLst/>
          </a:prstGeom>
          <a:noFill/>
        </p:spPr>
        <p:txBody>
          <a:bodyPr vert="horz" wrap="square" lIns="0" tIns="0" rIns="0" bIns="0" rtlCol="0" anchor="t">
            <a:noAutofit/>
          </a:bodyPr>
          <a:lstStyle/>
          <a:p>
            <a:r>
              <a:rPr lang="en-US" sz="3400" b="1">
                <a:solidFill>
                  <a:srgbClr val="13293D"/>
                </a:solidFill>
                <a:latin typeface="Calibri" panose="020F0502020204030204" pitchFamily="34" charset="0"/>
              </a:rPr>
              <a:t>Lab 3 · What we're trying to achieve</a:t>
            </a:r>
            <a:endParaRPr lang="en-IN" sz="3400" b="1">
              <a:solidFill>
                <a:srgbClr val="13293D"/>
              </a:solidFill>
              <a:latin typeface="Calibri" panose="020F0502020204030204" pitchFamily="34" charset="0"/>
            </a:endParaRPr>
          </a:p>
        </p:txBody>
      </p:sp>
      <p:sp>
        <p:nvSpPr>
          <p:cNvPr id="3" name="Rectangle: Rounded Corners 2">
            <a:extLst>
              <a:ext uri="{FF2B5EF4-FFF2-40B4-BE49-F238E27FC236}">
                <a16:creationId xmlns:a16="http://schemas.microsoft.com/office/drawing/2014/main" id="{8F47F2F1-1669-71EC-1302-079B6F1443CC}"/>
              </a:ext>
            </a:extLst>
          </p:cNvPr>
          <p:cNvSpPr/>
          <p:nvPr/>
        </p:nvSpPr>
        <p:spPr>
          <a:xfrm>
            <a:off x="609600" y="1320800"/>
            <a:ext cx="5080000" cy="3479800"/>
          </a:xfrm>
          <a:prstGeom prst="roundRect">
            <a:avLst>
              <a:gd name="adj" fmla="val 10000"/>
            </a:avLst>
          </a:prstGeom>
          <a:solidFill>
            <a:srgbClr val="EEF3F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CEE63843-9207-10C1-D76E-2D4896670DB9}"/>
              </a:ext>
            </a:extLst>
          </p:cNvPr>
          <p:cNvSpPr txBox="1"/>
          <p:nvPr/>
        </p:nvSpPr>
        <p:spPr>
          <a:xfrm>
            <a:off x="914400" y="1574800"/>
            <a:ext cx="4470400" cy="369332"/>
          </a:xfrm>
          <a:prstGeom prst="rect">
            <a:avLst/>
          </a:prstGeom>
          <a:noFill/>
        </p:spPr>
        <p:txBody>
          <a:bodyPr vert="horz" wrap="square" lIns="0" tIns="0" rIns="0" bIns="0" rtlCol="0" anchor="t">
            <a:noAutofit/>
          </a:bodyPr>
          <a:lstStyle/>
          <a:p>
            <a:r>
              <a:rPr lang="en-IN" sz="1200" b="1">
                <a:solidFill>
                  <a:srgbClr val="1B998B"/>
                </a:solidFill>
                <a:latin typeface="Calibri" panose="020F0502020204030204" pitchFamily="34" charset="0"/>
              </a:rPr>
              <a:t>THE SCENARIO</a:t>
            </a:r>
          </a:p>
        </p:txBody>
      </p:sp>
      <p:sp>
        <p:nvSpPr>
          <p:cNvPr id="5" name="TextBox 4">
            <a:extLst>
              <a:ext uri="{FF2B5EF4-FFF2-40B4-BE49-F238E27FC236}">
                <a16:creationId xmlns:a16="http://schemas.microsoft.com/office/drawing/2014/main" id="{741C33FD-939E-06F4-A2CE-3B60649254E2}"/>
              </a:ext>
            </a:extLst>
          </p:cNvPr>
          <p:cNvSpPr txBox="1"/>
          <p:nvPr/>
        </p:nvSpPr>
        <p:spPr>
          <a:xfrm>
            <a:off x="914400" y="1905000"/>
            <a:ext cx="4470400" cy="369332"/>
          </a:xfrm>
          <a:prstGeom prst="rect">
            <a:avLst/>
          </a:prstGeom>
          <a:noFill/>
        </p:spPr>
        <p:txBody>
          <a:bodyPr vert="horz" wrap="square" lIns="0" tIns="0" rIns="0" bIns="0" rtlCol="0" anchor="t">
            <a:noAutofit/>
          </a:bodyPr>
          <a:lstStyle/>
          <a:p>
            <a:r>
              <a:rPr lang="en-US" sz="1700">
                <a:solidFill>
                  <a:srgbClr val="1E2A35"/>
                </a:solidFill>
                <a:latin typeface="Calibri" panose="020F0502020204030204" pitchFamily="34" charset="0"/>
              </a:rPr>
              <a:t>The team describes its AWS setup in Terraform: a storage bucket, a firewall rule, a server and a permission policy. Someone took shortcuts to 'just make it work', and the pipeline is about to deploy it.</a:t>
            </a:r>
            <a:endParaRPr lang="en-IN" sz="1700">
              <a:solidFill>
                <a:srgbClr val="1E2A35"/>
              </a:solidFill>
              <a:latin typeface="Calibri" panose="020F0502020204030204" pitchFamily="34" charset="0"/>
            </a:endParaRPr>
          </a:p>
        </p:txBody>
      </p:sp>
      <p:sp>
        <p:nvSpPr>
          <p:cNvPr id="6" name="TextBox 5">
            <a:extLst>
              <a:ext uri="{FF2B5EF4-FFF2-40B4-BE49-F238E27FC236}">
                <a16:creationId xmlns:a16="http://schemas.microsoft.com/office/drawing/2014/main" id="{2E219E03-8141-5407-6AE1-851E6557165F}"/>
              </a:ext>
            </a:extLst>
          </p:cNvPr>
          <p:cNvSpPr txBox="1"/>
          <p:nvPr/>
        </p:nvSpPr>
        <p:spPr>
          <a:xfrm>
            <a:off x="914400" y="3886200"/>
            <a:ext cx="4470400" cy="369332"/>
          </a:xfrm>
          <a:prstGeom prst="rect">
            <a:avLst/>
          </a:prstGeom>
          <a:noFill/>
        </p:spPr>
        <p:txBody>
          <a:bodyPr vert="horz" wrap="square" lIns="0" tIns="0" rIns="0" bIns="0" rtlCol="0" anchor="b">
            <a:noAutofit/>
          </a:bodyPr>
          <a:lstStyle/>
          <a:p>
            <a:r>
              <a:rPr lang="en-US" sz="2000" b="1">
                <a:solidFill>
                  <a:srgbClr val="E4572E"/>
                </a:solidFill>
                <a:latin typeface="Calibri" panose="020F0502020204030204" pitchFamily="34" charset="0"/>
              </a:rPr>
              <a:t>Would you let this deploy?</a:t>
            </a:r>
            <a:endParaRPr lang="en-IN" sz="2000" b="1">
              <a:solidFill>
                <a:srgbClr val="E4572E"/>
              </a:solidFill>
              <a:latin typeface="Calibri" panose="020F0502020204030204" pitchFamily="34" charset="0"/>
            </a:endParaRPr>
          </a:p>
        </p:txBody>
      </p:sp>
      <p:sp>
        <p:nvSpPr>
          <p:cNvPr id="7" name="TextBox 6">
            <a:extLst>
              <a:ext uri="{FF2B5EF4-FFF2-40B4-BE49-F238E27FC236}">
                <a16:creationId xmlns:a16="http://schemas.microsoft.com/office/drawing/2014/main" id="{05031681-B533-196F-5D60-84AB07286C6C}"/>
              </a:ext>
            </a:extLst>
          </p:cNvPr>
          <p:cNvSpPr txBox="1"/>
          <p:nvPr/>
        </p:nvSpPr>
        <p:spPr>
          <a:xfrm>
            <a:off x="6248400" y="1574800"/>
            <a:ext cx="5334000" cy="369332"/>
          </a:xfrm>
          <a:prstGeom prst="rect">
            <a:avLst/>
          </a:prstGeom>
          <a:noFill/>
        </p:spPr>
        <p:txBody>
          <a:bodyPr vert="horz" wrap="square" lIns="0" tIns="0" rIns="0" bIns="0" rtlCol="0" anchor="t">
            <a:noAutofit/>
          </a:bodyPr>
          <a:lstStyle/>
          <a:p>
            <a:r>
              <a:rPr lang="en-US" sz="1200" b="1">
                <a:solidFill>
                  <a:srgbClr val="1B998B"/>
                </a:solidFill>
                <a:latin typeface="Calibri" panose="020F0502020204030204" pitchFamily="34" charset="0"/>
              </a:rPr>
              <a:t>BY THE END OF THIS LAB YOU WILL</a:t>
            </a:r>
            <a:endParaRPr lang="en-IN" sz="1200" b="1">
              <a:solidFill>
                <a:srgbClr val="1B998B"/>
              </a:solidFill>
              <a:latin typeface="Calibri" panose="020F0502020204030204" pitchFamily="34" charset="0"/>
            </a:endParaRPr>
          </a:p>
        </p:txBody>
      </p:sp>
      <p:sp>
        <p:nvSpPr>
          <p:cNvPr id="8" name="Oval 7">
            <a:extLst>
              <a:ext uri="{FF2B5EF4-FFF2-40B4-BE49-F238E27FC236}">
                <a16:creationId xmlns:a16="http://schemas.microsoft.com/office/drawing/2014/main" id="{1B9D2022-598F-4A33-797B-781E031B2D8C}"/>
              </a:ext>
            </a:extLst>
          </p:cNvPr>
          <p:cNvSpPr/>
          <p:nvPr/>
        </p:nvSpPr>
        <p:spPr>
          <a:xfrm>
            <a:off x="6248400" y="1981200"/>
            <a:ext cx="482600" cy="482600"/>
          </a:xfrm>
          <a:prstGeom prst="ellipse">
            <a:avLst/>
          </a:prstGeom>
          <a:solidFill>
            <a:srgbClr val="1B998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IN" sz="1600" b="1">
                <a:solidFill>
                  <a:srgbClr val="FFFFFF"/>
                </a:solidFill>
                <a:latin typeface="Calibri" panose="020F0502020204030204" pitchFamily="34" charset="0"/>
              </a:rPr>
              <a:t>1</a:t>
            </a:r>
          </a:p>
        </p:txBody>
      </p:sp>
      <p:sp>
        <p:nvSpPr>
          <p:cNvPr id="9" name="TextBox 8">
            <a:extLst>
              <a:ext uri="{FF2B5EF4-FFF2-40B4-BE49-F238E27FC236}">
                <a16:creationId xmlns:a16="http://schemas.microsoft.com/office/drawing/2014/main" id="{FD842D95-BF88-4662-E105-6E2E7AE7DB2C}"/>
              </a:ext>
            </a:extLst>
          </p:cNvPr>
          <p:cNvSpPr txBox="1"/>
          <p:nvPr/>
        </p:nvSpPr>
        <p:spPr>
          <a:xfrm>
            <a:off x="6934200" y="2006600"/>
            <a:ext cx="4648200" cy="369332"/>
          </a:xfrm>
          <a:prstGeom prst="rect">
            <a:avLst/>
          </a:prstGeom>
          <a:noFill/>
        </p:spPr>
        <p:txBody>
          <a:bodyPr vert="horz" wrap="square" lIns="0" tIns="0" rIns="0" bIns="0" rtlCol="0" anchor="t">
            <a:noAutofit/>
          </a:bodyPr>
          <a:lstStyle/>
          <a:p>
            <a:r>
              <a:rPr lang="en-IN" sz="1700">
                <a:solidFill>
                  <a:srgbClr val="1E2A35"/>
                </a:solidFill>
                <a:latin typeface="Calibri" panose="020F0502020204030204" pitchFamily="34" charset="0"/>
              </a:rPr>
              <a:t>Spot common cloud misconfigurations in infrastructure code</a:t>
            </a:r>
          </a:p>
        </p:txBody>
      </p:sp>
      <p:sp>
        <p:nvSpPr>
          <p:cNvPr id="10" name="Oval 9">
            <a:extLst>
              <a:ext uri="{FF2B5EF4-FFF2-40B4-BE49-F238E27FC236}">
                <a16:creationId xmlns:a16="http://schemas.microsoft.com/office/drawing/2014/main" id="{C3C8597C-8E7F-1C75-39C3-F2C181A350B8}"/>
              </a:ext>
            </a:extLst>
          </p:cNvPr>
          <p:cNvSpPr/>
          <p:nvPr/>
        </p:nvSpPr>
        <p:spPr>
          <a:xfrm>
            <a:off x="6248400" y="2921000"/>
            <a:ext cx="482600" cy="482600"/>
          </a:xfrm>
          <a:prstGeom prst="ellipse">
            <a:avLst/>
          </a:prstGeom>
          <a:solidFill>
            <a:srgbClr val="1B998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IN" sz="1600" b="1">
                <a:solidFill>
                  <a:srgbClr val="FFFFFF"/>
                </a:solidFill>
                <a:latin typeface="Calibri" panose="020F0502020204030204" pitchFamily="34" charset="0"/>
              </a:rPr>
              <a:t>2</a:t>
            </a:r>
          </a:p>
        </p:txBody>
      </p:sp>
      <p:sp>
        <p:nvSpPr>
          <p:cNvPr id="11" name="TextBox 10">
            <a:extLst>
              <a:ext uri="{FF2B5EF4-FFF2-40B4-BE49-F238E27FC236}">
                <a16:creationId xmlns:a16="http://schemas.microsoft.com/office/drawing/2014/main" id="{3BC807DA-74E9-3694-0CA8-4052D8874F6C}"/>
              </a:ext>
            </a:extLst>
          </p:cNvPr>
          <p:cNvSpPr txBox="1"/>
          <p:nvPr/>
        </p:nvSpPr>
        <p:spPr>
          <a:xfrm>
            <a:off x="6934200" y="2946400"/>
            <a:ext cx="4648200" cy="369332"/>
          </a:xfrm>
          <a:prstGeom prst="rect">
            <a:avLst/>
          </a:prstGeom>
          <a:noFill/>
        </p:spPr>
        <p:txBody>
          <a:bodyPr vert="horz" wrap="square" lIns="0" tIns="0" rIns="0" bIns="0" rtlCol="0" anchor="t">
            <a:noAutofit/>
          </a:bodyPr>
          <a:lstStyle/>
          <a:p>
            <a:r>
              <a:rPr lang="en-US" sz="1700">
                <a:solidFill>
                  <a:srgbClr val="1E2A35"/>
                </a:solidFill>
                <a:latin typeface="Calibri" panose="020F0502020204030204" pitchFamily="34" charset="0"/>
              </a:rPr>
              <a:t>Scan Terraform with Checkov, without touching AWS</a:t>
            </a:r>
            <a:endParaRPr lang="en-IN" sz="1700">
              <a:solidFill>
                <a:srgbClr val="1E2A35"/>
              </a:solidFill>
              <a:latin typeface="Calibri" panose="020F0502020204030204" pitchFamily="34" charset="0"/>
            </a:endParaRPr>
          </a:p>
        </p:txBody>
      </p:sp>
      <p:sp>
        <p:nvSpPr>
          <p:cNvPr id="12" name="Oval 11">
            <a:extLst>
              <a:ext uri="{FF2B5EF4-FFF2-40B4-BE49-F238E27FC236}">
                <a16:creationId xmlns:a16="http://schemas.microsoft.com/office/drawing/2014/main" id="{AB53B766-D26B-5EB5-494F-1A6431755B39}"/>
              </a:ext>
            </a:extLst>
          </p:cNvPr>
          <p:cNvSpPr/>
          <p:nvPr/>
        </p:nvSpPr>
        <p:spPr>
          <a:xfrm>
            <a:off x="6248400" y="3860800"/>
            <a:ext cx="482600" cy="482600"/>
          </a:xfrm>
          <a:prstGeom prst="ellipse">
            <a:avLst/>
          </a:prstGeom>
          <a:solidFill>
            <a:srgbClr val="1B998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IN" sz="1600" b="1">
                <a:solidFill>
                  <a:srgbClr val="FFFFFF"/>
                </a:solidFill>
                <a:latin typeface="Calibri" panose="020F0502020204030204" pitchFamily="34" charset="0"/>
              </a:rPr>
              <a:t>3</a:t>
            </a:r>
          </a:p>
        </p:txBody>
      </p:sp>
      <p:sp>
        <p:nvSpPr>
          <p:cNvPr id="13" name="TextBox 12">
            <a:extLst>
              <a:ext uri="{FF2B5EF4-FFF2-40B4-BE49-F238E27FC236}">
                <a16:creationId xmlns:a16="http://schemas.microsoft.com/office/drawing/2014/main" id="{C61C032F-2064-8457-F24C-3AB8F116FC49}"/>
              </a:ext>
            </a:extLst>
          </p:cNvPr>
          <p:cNvSpPr txBox="1"/>
          <p:nvPr/>
        </p:nvSpPr>
        <p:spPr>
          <a:xfrm>
            <a:off x="6934200" y="3886200"/>
            <a:ext cx="4648200" cy="369332"/>
          </a:xfrm>
          <a:prstGeom prst="rect">
            <a:avLst/>
          </a:prstGeom>
          <a:noFill/>
        </p:spPr>
        <p:txBody>
          <a:bodyPr vert="horz" wrap="square" lIns="0" tIns="0" rIns="0" bIns="0" rtlCol="0" anchor="t">
            <a:noAutofit/>
          </a:bodyPr>
          <a:lstStyle/>
          <a:p>
            <a:r>
              <a:rPr lang="en-US" sz="1700">
                <a:solidFill>
                  <a:srgbClr val="1E2A35"/>
                </a:solidFill>
                <a:latin typeface="Calibri" panose="020F0502020204030204" pitchFamily="34" charset="0"/>
              </a:rPr>
              <a:t>See a pipeline block an unsafe deployment, then let the fixed one through</a:t>
            </a:r>
            <a:endParaRPr lang="en-IN" sz="1700">
              <a:solidFill>
                <a:srgbClr val="1E2A35"/>
              </a:solidFill>
              <a:latin typeface="Calibri" panose="020F0502020204030204" pitchFamily="34" charset="0"/>
            </a:endParaRPr>
          </a:p>
        </p:txBody>
      </p:sp>
      <p:sp>
        <p:nvSpPr>
          <p:cNvPr id="14" name="Rectangle: Rounded Corners 13">
            <a:extLst>
              <a:ext uri="{FF2B5EF4-FFF2-40B4-BE49-F238E27FC236}">
                <a16:creationId xmlns:a16="http://schemas.microsoft.com/office/drawing/2014/main" id="{226CA9CA-56D1-6277-8F32-65116CC2FB1F}"/>
              </a:ext>
            </a:extLst>
          </p:cNvPr>
          <p:cNvSpPr/>
          <p:nvPr/>
        </p:nvSpPr>
        <p:spPr>
          <a:xfrm>
            <a:off x="609600" y="5054600"/>
            <a:ext cx="10972800" cy="711200"/>
          </a:xfrm>
          <a:prstGeom prst="roundRect">
            <a:avLst>
              <a:gd name="adj" fmla="val 10000"/>
            </a:avLst>
          </a:prstGeom>
          <a:solidFill>
            <a:srgbClr val="FCE5D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0" tIns="25400" rIns="76200" bIns="25400" rtlCol="0" anchor="ctr"/>
          <a:lstStyle/>
          <a:p>
            <a:r>
              <a:rPr lang="en-US" sz="1500" b="1">
                <a:solidFill>
                  <a:srgbClr val="E4572E"/>
                </a:solidFill>
                <a:latin typeface="Calibri" panose="020F0502020204030204" pitchFamily="34" charset="0"/>
              </a:rPr>
              <a:t>Real world:  Capital One, 2019: a misconfigured app and the old metadata service exposed data on 100M+ customers.</a:t>
            </a:r>
            <a:endParaRPr lang="en-IN" sz="1500" b="1">
              <a:solidFill>
                <a:srgbClr val="E4572E"/>
              </a:solidFill>
              <a:latin typeface="Calibri" panose="020F0502020204030204" pitchFamily="34" charset="0"/>
            </a:endParaRPr>
          </a:p>
        </p:txBody>
      </p:sp>
      <p:sp>
        <p:nvSpPr>
          <p:cNvPr id="15" name="TextBox 14">
            <a:extLst>
              <a:ext uri="{FF2B5EF4-FFF2-40B4-BE49-F238E27FC236}">
                <a16:creationId xmlns:a16="http://schemas.microsoft.com/office/drawing/2014/main" id="{CF596277-12EC-275F-8B62-8B485F21DDC5}"/>
              </a:ext>
            </a:extLst>
          </p:cNvPr>
          <p:cNvSpPr txBox="1"/>
          <p:nvPr/>
        </p:nvSpPr>
        <p:spPr>
          <a:xfrm>
            <a:off x="609600" y="6502400"/>
            <a:ext cx="5080000" cy="369332"/>
          </a:xfrm>
          <a:prstGeom prst="rect">
            <a:avLst/>
          </a:prstGeom>
          <a:noFill/>
        </p:spPr>
        <p:txBody>
          <a:bodyPr vert="horz" wrap="square" lIns="0" tIns="0" rIns="0" bIns="0" rtlCol="0" anchor="t">
            <a:noAutofit/>
          </a:bodyPr>
          <a:lstStyle/>
          <a:p>
            <a:r>
              <a:rPr lang="en-US" sz="1000">
                <a:solidFill>
                  <a:srgbClr val="5B6B79"/>
                </a:solidFill>
                <a:latin typeface="Calibri" panose="020F0502020204030204" pitchFamily="34" charset="0"/>
              </a:rPr>
              <a:t>Securing the path to the cloud</a:t>
            </a:r>
            <a:endParaRPr lang="en-IN" sz="1000">
              <a:solidFill>
                <a:srgbClr val="5B6B79"/>
              </a:solidFill>
              <a:latin typeface="Calibri" panose="020F0502020204030204" pitchFamily="34" charset="0"/>
            </a:endParaRPr>
          </a:p>
        </p:txBody>
      </p:sp>
      <p:sp>
        <p:nvSpPr>
          <p:cNvPr id="16" name="TextBox 15">
            <a:extLst>
              <a:ext uri="{FF2B5EF4-FFF2-40B4-BE49-F238E27FC236}">
                <a16:creationId xmlns:a16="http://schemas.microsoft.com/office/drawing/2014/main" id="{392A10FC-DB70-593D-8935-D9E822B80A7B}"/>
              </a:ext>
            </a:extLst>
          </p:cNvPr>
          <p:cNvSpPr txBox="1"/>
          <p:nvPr/>
        </p:nvSpPr>
        <p:spPr>
          <a:xfrm>
            <a:off x="10312400" y="6502400"/>
            <a:ext cx="1270000" cy="369332"/>
          </a:xfrm>
          <a:prstGeom prst="rect">
            <a:avLst/>
          </a:prstGeom>
          <a:noFill/>
        </p:spPr>
        <p:txBody>
          <a:bodyPr vert="horz" wrap="square" lIns="0" tIns="0" rIns="0" bIns="0" rtlCol="0" anchor="t">
            <a:noAutofit/>
          </a:bodyPr>
          <a:lstStyle/>
          <a:p>
            <a:pPr algn="r"/>
            <a:r>
              <a:rPr lang="en-IN" sz="1000">
                <a:solidFill>
                  <a:srgbClr val="5B6B79"/>
                </a:solidFill>
                <a:latin typeface="Calibri" panose="020F0502020204030204" pitchFamily="34" charset="0"/>
              </a:rPr>
              <a:t>22</a:t>
            </a:r>
          </a:p>
        </p:txBody>
      </p:sp>
    </p:spTree>
    <p:extLst>
      <p:ext uri="{BB962C8B-B14F-4D97-AF65-F5344CB8AC3E}">
        <p14:creationId xmlns:p14="http://schemas.microsoft.com/office/powerpoint/2010/main" val="14329732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CD8FF05-A741-0797-79D2-07F8171376D7}"/>
              </a:ext>
            </a:extLst>
          </p:cNvPr>
          <p:cNvSpPr txBox="1"/>
          <p:nvPr/>
        </p:nvSpPr>
        <p:spPr>
          <a:xfrm>
            <a:off x="609600" y="381000"/>
            <a:ext cx="10972800" cy="369332"/>
          </a:xfrm>
          <a:prstGeom prst="rect">
            <a:avLst/>
          </a:prstGeom>
          <a:noFill/>
        </p:spPr>
        <p:txBody>
          <a:bodyPr vert="horz" wrap="square" lIns="0" tIns="0" rIns="0" bIns="0" rtlCol="0" anchor="t">
            <a:noAutofit/>
          </a:bodyPr>
          <a:lstStyle/>
          <a:p>
            <a:r>
              <a:rPr lang="en-US" sz="3400" b="1">
                <a:solidFill>
                  <a:srgbClr val="13293D"/>
                </a:solidFill>
                <a:latin typeface="Calibri" panose="020F0502020204030204" pitchFamily="34" charset="0"/>
              </a:rPr>
              <a:t>Six misconfigurations in one Terraform file</a:t>
            </a:r>
            <a:endParaRPr lang="en-IN" sz="3400" b="1">
              <a:solidFill>
                <a:srgbClr val="13293D"/>
              </a:solidFill>
              <a:latin typeface="Calibri" panose="020F0502020204030204" pitchFamily="34" charset="0"/>
            </a:endParaRPr>
          </a:p>
        </p:txBody>
      </p:sp>
      <p:sp>
        <p:nvSpPr>
          <p:cNvPr id="3" name="Rectangle 2">
            <a:extLst>
              <a:ext uri="{FF2B5EF4-FFF2-40B4-BE49-F238E27FC236}">
                <a16:creationId xmlns:a16="http://schemas.microsoft.com/office/drawing/2014/main" id="{1B00A544-5F5D-8180-E88A-AB9FE2735AB6}"/>
              </a:ext>
            </a:extLst>
          </p:cNvPr>
          <p:cNvSpPr/>
          <p:nvPr/>
        </p:nvSpPr>
        <p:spPr>
          <a:xfrm>
            <a:off x="609600" y="1270000"/>
            <a:ext cx="2184400" cy="457200"/>
          </a:xfrm>
          <a:prstGeom prst="rect">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r>
              <a:rPr lang="en-IN" sz="1500" b="1">
                <a:solidFill>
                  <a:srgbClr val="FFFFFF"/>
                </a:solidFill>
                <a:latin typeface="Calibri" panose="020F0502020204030204" pitchFamily="34" charset="0"/>
              </a:rPr>
              <a:t>Component</a:t>
            </a:r>
          </a:p>
        </p:txBody>
      </p:sp>
      <p:sp>
        <p:nvSpPr>
          <p:cNvPr id="4" name="Rectangle 3">
            <a:extLst>
              <a:ext uri="{FF2B5EF4-FFF2-40B4-BE49-F238E27FC236}">
                <a16:creationId xmlns:a16="http://schemas.microsoft.com/office/drawing/2014/main" id="{437826CB-FF49-794E-04A9-0572BDD9CAEB}"/>
              </a:ext>
            </a:extLst>
          </p:cNvPr>
          <p:cNvSpPr/>
          <p:nvPr/>
        </p:nvSpPr>
        <p:spPr>
          <a:xfrm>
            <a:off x="2946400" y="1270000"/>
            <a:ext cx="4191000" cy="457200"/>
          </a:xfrm>
          <a:prstGeom prst="rect">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r>
              <a:rPr lang="en-IN" sz="1500" b="1">
                <a:solidFill>
                  <a:srgbClr val="FFFFFF"/>
                </a:solidFill>
                <a:latin typeface="Calibri" panose="020F0502020204030204" pitchFamily="34" charset="0"/>
              </a:rPr>
              <a:t>Risk</a:t>
            </a:r>
          </a:p>
        </p:txBody>
      </p:sp>
      <p:sp>
        <p:nvSpPr>
          <p:cNvPr id="5" name="Rectangle 4">
            <a:extLst>
              <a:ext uri="{FF2B5EF4-FFF2-40B4-BE49-F238E27FC236}">
                <a16:creationId xmlns:a16="http://schemas.microsoft.com/office/drawing/2014/main" id="{4BBDB30E-3CA2-DC1A-5C5F-DFBFBA4ED8CA}"/>
              </a:ext>
            </a:extLst>
          </p:cNvPr>
          <p:cNvSpPr/>
          <p:nvPr/>
        </p:nvSpPr>
        <p:spPr>
          <a:xfrm>
            <a:off x="7289800" y="1270000"/>
            <a:ext cx="4292600" cy="457200"/>
          </a:xfrm>
          <a:prstGeom prst="rect">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r>
              <a:rPr lang="en-IN" sz="1500" b="1">
                <a:solidFill>
                  <a:srgbClr val="FFFFFF"/>
                </a:solidFill>
                <a:latin typeface="Calibri" panose="020F0502020204030204" pitchFamily="34" charset="0"/>
              </a:rPr>
              <a:t>Fix</a:t>
            </a:r>
          </a:p>
        </p:txBody>
      </p:sp>
      <p:sp>
        <p:nvSpPr>
          <p:cNvPr id="6" name="Rectangle 5">
            <a:extLst>
              <a:ext uri="{FF2B5EF4-FFF2-40B4-BE49-F238E27FC236}">
                <a16:creationId xmlns:a16="http://schemas.microsoft.com/office/drawing/2014/main" id="{8318B17B-61D3-26D0-7A60-D7631591E92A}"/>
              </a:ext>
            </a:extLst>
          </p:cNvPr>
          <p:cNvSpPr/>
          <p:nvPr/>
        </p:nvSpPr>
        <p:spPr>
          <a:xfrm>
            <a:off x="609600" y="1803400"/>
            <a:ext cx="2184400" cy="533400"/>
          </a:xfrm>
          <a:prstGeom prst="rect">
            <a:avLst/>
          </a:prstGeom>
          <a:solidFill>
            <a:srgbClr val="EEF3F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r>
              <a:rPr lang="en-IN" sz="1500" b="1">
                <a:solidFill>
                  <a:srgbClr val="13293D"/>
                </a:solidFill>
                <a:latin typeface="Calibri" panose="020F0502020204030204" pitchFamily="34" charset="0"/>
              </a:rPr>
              <a:t>S3 bucket</a:t>
            </a:r>
          </a:p>
        </p:txBody>
      </p:sp>
      <p:sp>
        <p:nvSpPr>
          <p:cNvPr id="7" name="Rectangle 6">
            <a:extLst>
              <a:ext uri="{FF2B5EF4-FFF2-40B4-BE49-F238E27FC236}">
                <a16:creationId xmlns:a16="http://schemas.microsoft.com/office/drawing/2014/main" id="{212998B2-5367-4CCB-A27A-B563B814701D}"/>
              </a:ext>
            </a:extLst>
          </p:cNvPr>
          <p:cNvSpPr/>
          <p:nvPr/>
        </p:nvSpPr>
        <p:spPr>
          <a:xfrm>
            <a:off x="2946400" y="1803400"/>
            <a:ext cx="4191000" cy="533400"/>
          </a:xfrm>
          <a:prstGeom prst="rect">
            <a:avLst/>
          </a:prstGeom>
          <a:solidFill>
            <a:srgbClr val="EEF3F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r>
              <a:rPr lang="en-IN" sz="1500">
                <a:solidFill>
                  <a:srgbClr val="E4572E"/>
                </a:solidFill>
                <a:latin typeface="Calibri" panose="020F0502020204030204" pitchFamily="34" charset="0"/>
              </a:rPr>
              <a:t>Public access allowed</a:t>
            </a:r>
          </a:p>
        </p:txBody>
      </p:sp>
      <p:sp>
        <p:nvSpPr>
          <p:cNvPr id="8" name="Rectangle 7">
            <a:extLst>
              <a:ext uri="{FF2B5EF4-FFF2-40B4-BE49-F238E27FC236}">
                <a16:creationId xmlns:a16="http://schemas.microsoft.com/office/drawing/2014/main" id="{D410C60E-83C3-DB1D-CD37-F80383C4A621}"/>
              </a:ext>
            </a:extLst>
          </p:cNvPr>
          <p:cNvSpPr/>
          <p:nvPr/>
        </p:nvSpPr>
        <p:spPr>
          <a:xfrm>
            <a:off x="7289800" y="1803400"/>
            <a:ext cx="4292600" cy="533400"/>
          </a:xfrm>
          <a:prstGeom prst="rect">
            <a:avLst/>
          </a:prstGeom>
          <a:solidFill>
            <a:srgbClr val="EEF3F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r>
              <a:rPr lang="en-IN" sz="1500" b="1">
                <a:solidFill>
                  <a:srgbClr val="1B998B"/>
                </a:solidFill>
                <a:latin typeface="Calibri" panose="020F0502020204030204" pitchFamily="34" charset="0"/>
              </a:rPr>
              <a:t>All public access blocked</a:t>
            </a:r>
          </a:p>
        </p:txBody>
      </p:sp>
      <p:sp>
        <p:nvSpPr>
          <p:cNvPr id="9" name="Rectangle 8">
            <a:extLst>
              <a:ext uri="{FF2B5EF4-FFF2-40B4-BE49-F238E27FC236}">
                <a16:creationId xmlns:a16="http://schemas.microsoft.com/office/drawing/2014/main" id="{613E3818-9D6A-C339-FFDB-B36DF2CFB196}"/>
              </a:ext>
            </a:extLst>
          </p:cNvPr>
          <p:cNvSpPr/>
          <p:nvPr/>
        </p:nvSpPr>
        <p:spPr>
          <a:xfrm>
            <a:off x="609600" y="2387600"/>
            <a:ext cx="2184400" cy="5334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r>
              <a:rPr lang="en-IN" sz="1500" b="1">
                <a:solidFill>
                  <a:srgbClr val="13293D"/>
                </a:solidFill>
                <a:latin typeface="Calibri" panose="020F0502020204030204" pitchFamily="34" charset="0"/>
              </a:rPr>
              <a:t>Security group</a:t>
            </a:r>
          </a:p>
        </p:txBody>
      </p:sp>
      <p:sp>
        <p:nvSpPr>
          <p:cNvPr id="10" name="Rectangle 9">
            <a:extLst>
              <a:ext uri="{FF2B5EF4-FFF2-40B4-BE49-F238E27FC236}">
                <a16:creationId xmlns:a16="http://schemas.microsoft.com/office/drawing/2014/main" id="{1CB43C9C-C4E2-CB9E-66D9-9CB72F38A1AB}"/>
              </a:ext>
            </a:extLst>
          </p:cNvPr>
          <p:cNvSpPr/>
          <p:nvPr/>
        </p:nvSpPr>
        <p:spPr>
          <a:xfrm>
            <a:off x="2946400" y="2387600"/>
            <a:ext cx="4191000" cy="5334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r>
              <a:rPr lang="en-US" sz="1500">
                <a:solidFill>
                  <a:srgbClr val="E4572E"/>
                </a:solidFill>
                <a:latin typeface="Calibri" panose="020F0502020204030204" pitchFamily="34" charset="0"/>
              </a:rPr>
              <a:t>SSH open to the whole internet (0.0.0.0/0)</a:t>
            </a:r>
            <a:endParaRPr lang="en-IN" sz="1500">
              <a:solidFill>
                <a:srgbClr val="E4572E"/>
              </a:solidFill>
              <a:latin typeface="Calibri" panose="020F0502020204030204" pitchFamily="34" charset="0"/>
            </a:endParaRPr>
          </a:p>
        </p:txBody>
      </p:sp>
      <p:sp>
        <p:nvSpPr>
          <p:cNvPr id="11" name="Rectangle 10">
            <a:extLst>
              <a:ext uri="{FF2B5EF4-FFF2-40B4-BE49-F238E27FC236}">
                <a16:creationId xmlns:a16="http://schemas.microsoft.com/office/drawing/2014/main" id="{B4D718FF-4DC2-9FEC-FE70-CDAEC1C6E9B2}"/>
              </a:ext>
            </a:extLst>
          </p:cNvPr>
          <p:cNvSpPr/>
          <p:nvPr/>
        </p:nvSpPr>
        <p:spPr>
          <a:xfrm>
            <a:off x="7289800" y="2387600"/>
            <a:ext cx="4292600" cy="5334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r>
              <a:rPr lang="en-US" sz="1500" b="1">
                <a:solidFill>
                  <a:srgbClr val="1B998B"/>
                </a:solidFill>
                <a:latin typeface="Calibri" panose="020F0502020204030204" pitchFamily="34" charset="0"/>
              </a:rPr>
              <a:t>SSH from the internal network only</a:t>
            </a:r>
            <a:endParaRPr lang="en-IN" sz="1500" b="1">
              <a:solidFill>
                <a:srgbClr val="1B998B"/>
              </a:solidFill>
              <a:latin typeface="Calibri" panose="020F0502020204030204" pitchFamily="34" charset="0"/>
            </a:endParaRPr>
          </a:p>
        </p:txBody>
      </p:sp>
      <p:sp>
        <p:nvSpPr>
          <p:cNvPr id="12" name="Rectangle 11">
            <a:extLst>
              <a:ext uri="{FF2B5EF4-FFF2-40B4-BE49-F238E27FC236}">
                <a16:creationId xmlns:a16="http://schemas.microsoft.com/office/drawing/2014/main" id="{CD24D66E-BF1A-A9AB-6A2F-490CA27C565D}"/>
              </a:ext>
            </a:extLst>
          </p:cNvPr>
          <p:cNvSpPr/>
          <p:nvPr/>
        </p:nvSpPr>
        <p:spPr>
          <a:xfrm>
            <a:off x="609600" y="2971800"/>
            <a:ext cx="2184400" cy="533400"/>
          </a:xfrm>
          <a:prstGeom prst="rect">
            <a:avLst/>
          </a:prstGeom>
          <a:solidFill>
            <a:srgbClr val="EEF3F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r>
              <a:rPr lang="en-IN" sz="1500" b="1">
                <a:solidFill>
                  <a:srgbClr val="13293D"/>
                </a:solidFill>
                <a:latin typeface="Calibri" panose="020F0502020204030204" pitchFamily="34" charset="0"/>
              </a:rPr>
              <a:t>EC2 instance</a:t>
            </a:r>
          </a:p>
        </p:txBody>
      </p:sp>
      <p:sp>
        <p:nvSpPr>
          <p:cNvPr id="13" name="Rectangle 12">
            <a:extLst>
              <a:ext uri="{FF2B5EF4-FFF2-40B4-BE49-F238E27FC236}">
                <a16:creationId xmlns:a16="http://schemas.microsoft.com/office/drawing/2014/main" id="{7E526CCC-3FC5-F0DF-4F60-2017734F3D99}"/>
              </a:ext>
            </a:extLst>
          </p:cNvPr>
          <p:cNvSpPr/>
          <p:nvPr/>
        </p:nvSpPr>
        <p:spPr>
          <a:xfrm>
            <a:off x="2946400" y="2971800"/>
            <a:ext cx="4191000" cy="533400"/>
          </a:xfrm>
          <a:prstGeom prst="rect">
            <a:avLst/>
          </a:prstGeom>
          <a:solidFill>
            <a:srgbClr val="EEF3F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r>
              <a:rPr lang="en-IN" sz="1500">
                <a:solidFill>
                  <a:srgbClr val="E4572E"/>
                </a:solidFill>
                <a:latin typeface="Calibri" panose="020F0502020204030204" pitchFamily="34" charset="0"/>
              </a:rPr>
              <a:t>Public IP address</a:t>
            </a:r>
          </a:p>
        </p:txBody>
      </p:sp>
      <p:sp>
        <p:nvSpPr>
          <p:cNvPr id="14" name="Rectangle 13">
            <a:extLst>
              <a:ext uri="{FF2B5EF4-FFF2-40B4-BE49-F238E27FC236}">
                <a16:creationId xmlns:a16="http://schemas.microsoft.com/office/drawing/2014/main" id="{FB373431-B0EA-1F96-2818-FBB702BC0638}"/>
              </a:ext>
            </a:extLst>
          </p:cNvPr>
          <p:cNvSpPr/>
          <p:nvPr/>
        </p:nvSpPr>
        <p:spPr>
          <a:xfrm>
            <a:off x="7289800" y="2971800"/>
            <a:ext cx="4292600" cy="533400"/>
          </a:xfrm>
          <a:prstGeom prst="rect">
            <a:avLst/>
          </a:prstGeom>
          <a:solidFill>
            <a:srgbClr val="EEF3F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r>
              <a:rPr lang="en-US" sz="1500" b="1">
                <a:solidFill>
                  <a:srgbClr val="1B998B"/>
                </a:solidFill>
                <a:latin typeface="Calibri" panose="020F0502020204030204" pitchFamily="34" charset="0"/>
              </a:rPr>
              <a:t>Private, behind a load balancer</a:t>
            </a:r>
            <a:endParaRPr lang="en-IN" sz="1500" b="1">
              <a:solidFill>
                <a:srgbClr val="1B998B"/>
              </a:solidFill>
              <a:latin typeface="Calibri" panose="020F0502020204030204" pitchFamily="34" charset="0"/>
            </a:endParaRPr>
          </a:p>
        </p:txBody>
      </p:sp>
      <p:sp>
        <p:nvSpPr>
          <p:cNvPr id="15" name="Rectangle 14">
            <a:extLst>
              <a:ext uri="{FF2B5EF4-FFF2-40B4-BE49-F238E27FC236}">
                <a16:creationId xmlns:a16="http://schemas.microsoft.com/office/drawing/2014/main" id="{35A96626-2B11-77D0-D826-652850522743}"/>
              </a:ext>
            </a:extLst>
          </p:cNvPr>
          <p:cNvSpPr/>
          <p:nvPr/>
        </p:nvSpPr>
        <p:spPr>
          <a:xfrm>
            <a:off x="609600" y="3556000"/>
            <a:ext cx="2184400" cy="5334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r>
              <a:rPr lang="en-IN" sz="1500" b="1">
                <a:solidFill>
                  <a:srgbClr val="13293D"/>
                </a:solidFill>
                <a:latin typeface="Calibri" panose="020F0502020204030204" pitchFamily="34" charset="0"/>
              </a:rPr>
              <a:t>EC2 instance</a:t>
            </a:r>
          </a:p>
        </p:txBody>
      </p:sp>
      <p:sp>
        <p:nvSpPr>
          <p:cNvPr id="16" name="Rectangle 15">
            <a:extLst>
              <a:ext uri="{FF2B5EF4-FFF2-40B4-BE49-F238E27FC236}">
                <a16:creationId xmlns:a16="http://schemas.microsoft.com/office/drawing/2014/main" id="{88DC74D9-C013-7184-3FA3-6BA900A3A01A}"/>
              </a:ext>
            </a:extLst>
          </p:cNvPr>
          <p:cNvSpPr/>
          <p:nvPr/>
        </p:nvSpPr>
        <p:spPr>
          <a:xfrm>
            <a:off x="2946400" y="3556000"/>
            <a:ext cx="4191000" cy="5334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r>
              <a:rPr lang="en-IN" sz="1500">
                <a:solidFill>
                  <a:srgbClr val="E4572E"/>
                </a:solidFill>
                <a:latin typeface="Calibri" panose="020F0502020204030204" pitchFamily="34" charset="0"/>
              </a:rPr>
              <a:t>Old metadata service (IMDSv1)</a:t>
            </a:r>
          </a:p>
        </p:txBody>
      </p:sp>
      <p:sp>
        <p:nvSpPr>
          <p:cNvPr id="17" name="Rectangle 16">
            <a:extLst>
              <a:ext uri="{FF2B5EF4-FFF2-40B4-BE49-F238E27FC236}">
                <a16:creationId xmlns:a16="http://schemas.microsoft.com/office/drawing/2014/main" id="{78222CA2-3B37-8B84-E154-0130C1498AC5}"/>
              </a:ext>
            </a:extLst>
          </p:cNvPr>
          <p:cNvSpPr/>
          <p:nvPr/>
        </p:nvSpPr>
        <p:spPr>
          <a:xfrm>
            <a:off x="7289800" y="3556000"/>
            <a:ext cx="4292600" cy="5334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r>
              <a:rPr lang="en-IN" sz="1500" b="1">
                <a:solidFill>
                  <a:srgbClr val="1B998B"/>
                </a:solidFill>
                <a:latin typeface="Calibri" panose="020F0502020204030204" pitchFamily="34" charset="0"/>
              </a:rPr>
              <a:t>IMDSv2 session tokens required</a:t>
            </a:r>
          </a:p>
        </p:txBody>
      </p:sp>
      <p:sp>
        <p:nvSpPr>
          <p:cNvPr id="18" name="Rectangle 17">
            <a:extLst>
              <a:ext uri="{FF2B5EF4-FFF2-40B4-BE49-F238E27FC236}">
                <a16:creationId xmlns:a16="http://schemas.microsoft.com/office/drawing/2014/main" id="{BFF4DC67-E89A-0334-C673-FA9502DCE4B3}"/>
              </a:ext>
            </a:extLst>
          </p:cNvPr>
          <p:cNvSpPr/>
          <p:nvPr/>
        </p:nvSpPr>
        <p:spPr>
          <a:xfrm>
            <a:off x="609600" y="4140200"/>
            <a:ext cx="2184400" cy="533400"/>
          </a:xfrm>
          <a:prstGeom prst="rect">
            <a:avLst/>
          </a:prstGeom>
          <a:solidFill>
            <a:srgbClr val="EEF3F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r>
              <a:rPr lang="en-IN" sz="1500" b="1">
                <a:solidFill>
                  <a:srgbClr val="13293D"/>
                </a:solidFill>
                <a:latin typeface="Calibri" panose="020F0502020204030204" pitchFamily="34" charset="0"/>
              </a:rPr>
              <a:t>EC2 instance</a:t>
            </a:r>
          </a:p>
        </p:txBody>
      </p:sp>
      <p:sp>
        <p:nvSpPr>
          <p:cNvPr id="19" name="Rectangle 18">
            <a:extLst>
              <a:ext uri="{FF2B5EF4-FFF2-40B4-BE49-F238E27FC236}">
                <a16:creationId xmlns:a16="http://schemas.microsoft.com/office/drawing/2014/main" id="{2D3CF61B-797A-C115-FD8F-488849CB7B29}"/>
              </a:ext>
            </a:extLst>
          </p:cNvPr>
          <p:cNvSpPr/>
          <p:nvPr/>
        </p:nvSpPr>
        <p:spPr>
          <a:xfrm>
            <a:off x="2946400" y="4140200"/>
            <a:ext cx="4191000" cy="533400"/>
          </a:xfrm>
          <a:prstGeom prst="rect">
            <a:avLst/>
          </a:prstGeom>
          <a:solidFill>
            <a:srgbClr val="EEF3F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r>
              <a:rPr lang="en-IN" sz="1500">
                <a:solidFill>
                  <a:srgbClr val="E4572E"/>
                </a:solidFill>
                <a:latin typeface="Calibri" panose="020F0502020204030204" pitchFamily="34" charset="0"/>
              </a:rPr>
              <a:t>Disk not encrypted</a:t>
            </a:r>
          </a:p>
        </p:txBody>
      </p:sp>
      <p:sp>
        <p:nvSpPr>
          <p:cNvPr id="20" name="Rectangle 19">
            <a:extLst>
              <a:ext uri="{FF2B5EF4-FFF2-40B4-BE49-F238E27FC236}">
                <a16:creationId xmlns:a16="http://schemas.microsoft.com/office/drawing/2014/main" id="{049432AD-1385-F347-8047-C2D6BE458196}"/>
              </a:ext>
            </a:extLst>
          </p:cNvPr>
          <p:cNvSpPr/>
          <p:nvPr/>
        </p:nvSpPr>
        <p:spPr>
          <a:xfrm>
            <a:off x="7289800" y="4140200"/>
            <a:ext cx="4292600" cy="533400"/>
          </a:xfrm>
          <a:prstGeom prst="rect">
            <a:avLst/>
          </a:prstGeom>
          <a:solidFill>
            <a:srgbClr val="EEF3F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r>
              <a:rPr lang="en-IN" sz="1500" b="1">
                <a:solidFill>
                  <a:srgbClr val="1B998B"/>
                </a:solidFill>
                <a:latin typeface="Calibri" panose="020F0502020204030204" pitchFamily="34" charset="0"/>
              </a:rPr>
              <a:t>Disk encrypted</a:t>
            </a:r>
          </a:p>
        </p:txBody>
      </p:sp>
      <p:sp>
        <p:nvSpPr>
          <p:cNvPr id="21" name="Rectangle 20">
            <a:extLst>
              <a:ext uri="{FF2B5EF4-FFF2-40B4-BE49-F238E27FC236}">
                <a16:creationId xmlns:a16="http://schemas.microsoft.com/office/drawing/2014/main" id="{E264F1A9-DF45-2D4D-EE2C-BC5853410D59}"/>
              </a:ext>
            </a:extLst>
          </p:cNvPr>
          <p:cNvSpPr/>
          <p:nvPr/>
        </p:nvSpPr>
        <p:spPr>
          <a:xfrm>
            <a:off x="609600" y="4724400"/>
            <a:ext cx="2184400" cy="5334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r>
              <a:rPr lang="en-IN" sz="1500" b="1">
                <a:solidFill>
                  <a:srgbClr val="13293D"/>
                </a:solidFill>
                <a:latin typeface="Calibri" panose="020F0502020204030204" pitchFamily="34" charset="0"/>
              </a:rPr>
              <a:t>IAM policy</a:t>
            </a:r>
          </a:p>
        </p:txBody>
      </p:sp>
      <p:sp>
        <p:nvSpPr>
          <p:cNvPr id="22" name="Rectangle 21">
            <a:extLst>
              <a:ext uri="{FF2B5EF4-FFF2-40B4-BE49-F238E27FC236}">
                <a16:creationId xmlns:a16="http://schemas.microsoft.com/office/drawing/2014/main" id="{C692D600-78A9-5BDE-A245-ADC222CC5D68}"/>
              </a:ext>
            </a:extLst>
          </p:cNvPr>
          <p:cNvSpPr/>
          <p:nvPr/>
        </p:nvSpPr>
        <p:spPr>
          <a:xfrm>
            <a:off x="2946400" y="4724400"/>
            <a:ext cx="4191000" cy="5334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r>
              <a:rPr lang="en-US" sz="1500">
                <a:solidFill>
                  <a:srgbClr val="E4572E"/>
                </a:solidFill>
                <a:latin typeface="Calibri" panose="020F0502020204030204" pitchFamily="34" charset="0"/>
              </a:rPr>
              <a:t>Every action on every resource</a:t>
            </a:r>
            <a:endParaRPr lang="en-IN" sz="1500">
              <a:solidFill>
                <a:srgbClr val="E4572E"/>
              </a:solidFill>
              <a:latin typeface="Calibri" panose="020F0502020204030204" pitchFamily="34" charset="0"/>
            </a:endParaRPr>
          </a:p>
        </p:txBody>
      </p:sp>
      <p:sp>
        <p:nvSpPr>
          <p:cNvPr id="23" name="Rectangle 22">
            <a:extLst>
              <a:ext uri="{FF2B5EF4-FFF2-40B4-BE49-F238E27FC236}">
                <a16:creationId xmlns:a16="http://schemas.microsoft.com/office/drawing/2014/main" id="{77E968F2-14EA-2CB1-15F7-9F191A2910B4}"/>
              </a:ext>
            </a:extLst>
          </p:cNvPr>
          <p:cNvSpPr/>
          <p:nvPr/>
        </p:nvSpPr>
        <p:spPr>
          <a:xfrm>
            <a:off x="7289800" y="4724400"/>
            <a:ext cx="4292600" cy="5334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r>
              <a:rPr lang="en-US" sz="1500" b="1">
                <a:solidFill>
                  <a:srgbClr val="1B998B"/>
                </a:solidFill>
                <a:latin typeface="Calibri" panose="020F0502020204030204" pitchFamily="34" charset="0"/>
              </a:rPr>
              <a:t>Two actions on one bucket</a:t>
            </a:r>
            <a:endParaRPr lang="en-IN" sz="1500" b="1">
              <a:solidFill>
                <a:srgbClr val="1B998B"/>
              </a:solidFill>
              <a:latin typeface="Calibri" panose="020F0502020204030204" pitchFamily="34" charset="0"/>
            </a:endParaRPr>
          </a:p>
        </p:txBody>
      </p:sp>
      <p:sp>
        <p:nvSpPr>
          <p:cNvPr id="24" name="TextBox 23">
            <a:extLst>
              <a:ext uri="{FF2B5EF4-FFF2-40B4-BE49-F238E27FC236}">
                <a16:creationId xmlns:a16="http://schemas.microsoft.com/office/drawing/2014/main" id="{C54B28B4-C3D3-7FB5-54B3-8C76E4891BFF}"/>
              </a:ext>
            </a:extLst>
          </p:cNvPr>
          <p:cNvSpPr txBox="1"/>
          <p:nvPr/>
        </p:nvSpPr>
        <p:spPr>
          <a:xfrm>
            <a:off x="609600" y="5486400"/>
            <a:ext cx="10972800" cy="369332"/>
          </a:xfrm>
          <a:prstGeom prst="rect">
            <a:avLst/>
          </a:prstGeom>
          <a:noFill/>
        </p:spPr>
        <p:txBody>
          <a:bodyPr vert="horz" wrap="square" lIns="0" tIns="0" rIns="0" bIns="0" rtlCol="0" anchor="t">
            <a:noAutofit/>
          </a:bodyPr>
          <a:lstStyle/>
          <a:p>
            <a:r>
              <a:rPr lang="en-US" b="1">
                <a:solidFill>
                  <a:srgbClr val="13293D"/>
                </a:solidFill>
                <a:latin typeface="Calibri" panose="020F0502020204030204" pitchFamily="34" charset="0"/>
              </a:rPr>
              <a:t>Checkov finds all six without touching AWS: it only reads the file.</a:t>
            </a:r>
            <a:endParaRPr lang="en-IN" b="1">
              <a:solidFill>
                <a:srgbClr val="13293D"/>
              </a:solidFill>
              <a:latin typeface="Calibri" panose="020F0502020204030204" pitchFamily="34" charset="0"/>
            </a:endParaRPr>
          </a:p>
        </p:txBody>
      </p:sp>
      <p:sp>
        <p:nvSpPr>
          <p:cNvPr id="25" name="TextBox 24">
            <a:extLst>
              <a:ext uri="{FF2B5EF4-FFF2-40B4-BE49-F238E27FC236}">
                <a16:creationId xmlns:a16="http://schemas.microsoft.com/office/drawing/2014/main" id="{73852B8C-1A94-1073-D2FE-B8E79C7D1D52}"/>
              </a:ext>
            </a:extLst>
          </p:cNvPr>
          <p:cNvSpPr txBox="1"/>
          <p:nvPr/>
        </p:nvSpPr>
        <p:spPr>
          <a:xfrm>
            <a:off x="609600" y="6502400"/>
            <a:ext cx="5080000" cy="369332"/>
          </a:xfrm>
          <a:prstGeom prst="rect">
            <a:avLst/>
          </a:prstGeom>
          <a:noFill/>
        </p:spPr>
        <p:txBody>
          <a:bodyPr vert="horz" wrap="square" lIns="0" tIns="0" rIns="0" bIns="0" rtlCol="0" anchor="t">
            <a:noAutofit/>
          </a:bodyPr>
          <a:lstStyle/>
          <a:p>
            <a:r>
              <a:rPr lang="en-US" sz="1000">
                <a:solidFill>
                  <a:srgbClr val="5B6B79"/>
                </a:solidFill>
                <a:latin typeface="Calibri" panose="020F0502020204030204" pitchFamily="34" charset="0"/>
              </a:rPr>
              <a:t>Securing the path to the cloud</a:t>
            </a:r>
            <a:endParaRPr lang="en-IN" sz="1000">
              <a:solidFill>
                <a:srgbClr val="5B6B79"/>
              </a:solidFill>
              <a:latin typeface="Calibri" panose="020F0502020204030204" pitchFamily="34" charset="0"/>
            </a:endParaRPr>
          </a:p>
        </p:txBody>
      </p:sp>
      <p:sp>
        <p:nvSpPr>
          <p:cNvPr id="26" name="TextBox 25">
            <a:extLst>
              <a:ext uri="{FF2B5EF4-FFF2-40B4-BE49-F238E27FC236}">
                <a16:creationId xmlns:a16="http://schemas.microsoft.com/office/drawing/2014/main" id="{450BD93C-18D6-1D5D-9D3E-725D4912D257}"/>
              </a:ext>
            </a:extLst>
          </p:cNvPr>
          <p:cNvSpPr txBox="1"/>
          <p:nvPr/>
        </p:nvSpPr>
        <p:spPr>
          <a:xfrm>
            <a:off x="10312400" y="6502400"/>
            <a:ext cx="1270000" cy="369332"/>
          </a:xfrm>
          <a:prstGeom prst="rect">
            <a:avLst/>
          </a:prstGeom>
          <a:noFill/>
        </p:spPr>
        <p:txBody>
          <a:bodyPr vert="horz" wrap="square" lIns="0" tIns="0" rIns="0" bIns="0" rtlCol="0" anchor="t">
            <a:noAutofit/>
          </a:bodyPr>
          <a:lstStyle/>
          <a:p>
            <a:pPr algn="r"/>
            <a:r>
              <a:rPr lang="en-IN" sz="1000">
                <a:solidFill>
                  <a:srgbClr val="5B6B79"/>
                </a:solidFill>
                <a:latin typeface="Calibri" panose="020F0502020204030204" pitchFamily="34" charset="0"/>
              </a:rPr>
              <a:t>23</a:t>
            </a:r>
          </a:p>
        </p:txBody>
      </p:sp>
    </p:spTree>
    <p:extLst>
      <p:ext uri="{BB962C8B-B14F-4D97-AF65-F5344CB8AC3E}">
        <p14:creationId xmlns:p14="http://schemas.microsoft.com/office/powerpoint/2010/main" val="26130401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A0A60C1-1A08-15FC-76BD-DD293EDAA57C}"/>
              </a:ext>
            </a:extLst>
          </p:cNvPr>
          <p:cNvSpPr txBox="1"/>
          <p:nvPr/>
        </p:nvSpPr>
        <p:spPr>
          <a:xfrm>
            <a:off x="609600" y="381000"/>
            <a:ext cx="10972800" cy="369332"/>
          </a:xfrm>
          <a:prstGeom prst="rect">
            <a:avLst/>
          </a:prstGeom>
          <a:noFill/>
        </p:spPr>
        <p:txBody>
          <a:bodyPr vert="horz" wrap="square" lIns="0" tIns="0" rIns="0" bIns="0" rtlCol="0" anchor="t">
            <a:noAutofit/>
          </a:bodyPr>
          <a:lstStyle/>
          <a:p>
            <a:r>
              <a:rPr lang="en-US" sz="3400" b="1">
                <a:solidFill>
                  <a:srgbClr val="13293D"/>
                </a:solidFill>
                <a:latin typeface="Calibri" panose="020F0502020204030204" pitchFamily="34" charset="0"/>
              </a:rPr>
              <a:t>A gate that blocks unsafe deploys</a:t>
            </a:r>
            <a:endParaRPr lang="en-IN" sz="3400" b="1">
              <a:solidFill>
                <a:srgbClr val="13293D"/>
              </a:solidFill>
              <a:latin typeface="Calibri" panose="020F0502020204030204" pitchFamily="34" charset="0"/>
            </a:endParaRPr>
          </a:p>
        </p:txBody>
      </p:sp>
      <p:sp>
        <p:nvSpPr>
          <p:cNvPr id="3" name="TextBox 2">
            <a:extLst>
              <a:ext uri="{FF2B5EF4-FFF2-40B4-BE49-F238E27FC236}">
                <a16:creationId xmlns:a16="http://schemas.microsoft.com/office/drawing/2014/main" id="{F57FD38A-5483-37E1-2DFC-3244F2372B1A}"/>
              </a:ext>
            </a:extLst>
          </p:cNvPr>
          <p:cNvSpPr txBox="1"/>
          <p:nvPr/>
        </p:nvSpPr>
        <p:spPr>
          <a:xfrm>
            <a:off x="609600" y="1905000"/>
            <a:ext cx="2286000" cy="369332"/>
          </a:xfrm>
          <a:prstGeom prst="rect">
            <a:avLst/>
          </a:prstGeom>
          <a:noFill/>
        </p:spPr>
        <p:txBody>
          <a:bodyPr vert="horz" wrap="square" lIns="0" tIns="0" rIns="0" bIns="0" rtlCol="0" anchor="t">
            <a:noAutofit/>
          </a:bodyPr>
          <a:lstStyle/>
          <a:p>
            <a:r>
              <a:rPr lang="en-IN" sz="1700" b="1">
                <a:solidFill>
                  <a:srgbClr val="13293D"/>
                </a:solidFill>
                <a:latin typeface="Calibri" panose="020F0502020204030204" pitchFamily="34" charset="0"/>
              </a:rPr>
              <a:t>Insecure main.tf</a:t>
            </a:r>
          </a:p>
        </p:txBody>
      </p:sp>
      <p:sp>
        <p:nvSpPr>
          <p:cNvPr id="4" name="Rectangle: Rounded Corners 3">
            <a:extLst>
              <a:ext uri="{FF2B5EF4-FFF2-40B4-BE49-F238E27FC236}">
                <a16:creationId xmlns:a16="http://schemas.microsoft.com/office/drawing/2014/main" id="{AABA4240-817E-61BE-2876-FEA0599E8254}"/>
              </a:ext>
            </a:extLst>
          </p:cNvPr>
          <p:cNvSpPr/>
          <p:nvPr/>
        </p:nvSpPr>
        <p:spPr>
          <a:xfrm>
            <a:off x="3048000" y="1625600"/>
            <a:ext cx="3429000" cy="889000"/>
          </a:xfrm>
          <a:prstGeom prst="roundRect">
            <a:avLst>
              <a:gd name="adj" fmla="val 10000"/>
            </a:avLst>
          </a:prstGeom>
          <a:solidFill>
            <a:srgbClr val="E457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IN" sz="1600" b="1">
                <a:solidFill>
                  <a:srgbClr val="FFFFFF"/>
                </a:solidFill>
                <a:latin typeface="Calibri" panose="020F0502020204030204" pitchFamily="34" charset="0"/>
              </a:rPr>
              <a:t>Terraform security check</a:t>
            </a:r>
          </a:p>
          <a:p>
            <a:pPr algn="ctr"/>
            <a:r>
              <a:rPr lang="en-IN" sz="1600" b="1">
                <a:solidFill>
                  <a:srgbClr val="FFFFFF"/>
                </a:solidFill>
                <a:latin typeface="Calibri" panose="020F0502020204030204" pitchFamily="34" charset="0"/>
              </a:rPr>
              <a:t>FAILED</a:t>
            </a:r>
          </a:p>
        </p:txBody>
      </p:sp>
      <p:cxnSp>
        <p:nvCxnSpPr>
          <p:cNvPr id="5" name="Straight Connector 4">
            <a:extLst>
              <a:ext uri="{FF2B5EF4-FFF2-40B4-BE49-F238E27FC236}">
                <a16:creationId xmlns:a16="http://schemas.microsoft.com/office/drawing/2014/main" id="{12282313-6052-8B11-26DD-6C43BC5F0843}"/>
              </a:ext>
            </a:extLst>
          </p:cNvPr>
          <p:cNvCxnSpPr/>
          <p:nvPr/>
        </p:nvCxnSpPr>
        <p:spPr>
          <a:xfrm>
            <a:off x="6553200" y="2070100"/>
            <a:ext cx="508000" cy="0"/>
          </a:xfrm>
          <a:prstGeom prst="line">
            <a:avLst/>
          </a:prstGeom>
          <a:ln w="25400">
            <a:solidFill>
              <a:srgbClr val="5B6B79"/>
            </a:solidFill>
            <a:tailEnd type="triangle"/>
          </a:ln>
        </p:spPr>
        <p:style>
          <a:lnRef idx="2">
            <a:schemeClr val="accent1"/>
          </a:lnRef>
          <a:fillRef idx="0">
            <a:schemeClr val="accent1"/>
          </a:fillRef>
          <a:effectRef idx="1">
            <a:schemeClr val="accent1"/>
          </a:effectRef>
          <a:fontRef idx="minor">
            <a:schemeClr val="tx1"/>
          </a:fontRef>
        </p:style>
      </p:cxnSp>
      <p:sp>
        <p:nvSpPr>
          <p:cNvPr id="6" name="Rectangle: Rounded Corners 5">
            <a:extLst>
              <a:ext uri="{FF2B5EF4-FFF2-40B4-BE49-F238E27FC236}">
                <a16:creationId xmlns:a16="http://schemas.microsoft.com/office/drawing/2014/main" id="{756392F2-5C2D-4A15-192B-5A057CE79DF9}"/>
              </a:ext>
            </a:extLst>
          </p:cNvPr>
          <p:cNvSpPr/>
          <p:nvPr/>
        </p:nvSpPr>
        <p:spPr>
          <a:xfrm>
            <a:off x="7137400" y="1625600"/>
            <a:ext cx="2540000" cy="889000"/>
          </a:xfrm>
          <a:prstGeom prst="roundRect">
            <a:avLst>
              <a:gd name="adj" fmla="val 10000"/>
            </a:avLst>
          </a:prstGeom>
          <a:solidFill>
            <a:srgbClr val="D5DB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IN" sz="1600" b="1">
                <a:solidFill>
                  <a:srgbClr val="5B6B79"/>
                </a:solidFill>
                <a:latin typeface="Calibri" panose="020F0502020204030204" pitchFamily="34" charset="0"/>
              </a:rPr>
              <a:t>Deploy</a:t>
            </a:r>
          </a:p>
          <a:p>
            <a:pPr algn="ctr"/>
            <a:r>
              <a:rPr lang="en-IN" sz="1600" b="1">
                <a:solidFill>
                  <a:srgbClr val="5B6B79"/>
                </a:solidFill>
                <a:latin typeface="Calibri" panose="020F0502020204030204" pitchFamily="34" charset="0"/>
              </a:rPr>
              <a:t>Skipped</a:t>
            </a:r>
          </a:p>
        </p:txBody>
      </p:sp>
      <p:sp>
        <p:nvSpPr>
          <p:cNvPr id="7" name="Rectangle: Rounded Corners 6">
            <a:extLst>
              <a:ext uri="{FF2B5EF4-FFF2-40B4-BE49-F238E27FC236}">
                <a16:creationId xmlns:a16="http://schemas.microsoft.com/office/drawing/2014/main" id="{FDE34EE8-1D9E-F02C-CBB1-4DCC81139968}"/>
              </a:ext>
            </a:extLst>
          </p:cNvPr>
          <p:cNvSpPr/>
          <p:nvPr/>
        </p:nvSpPr>
        <p:spPr>
          <a:xfrm>
            <a:off x="9931400" y="1841500"/>
            <a:ext cx="1651000" cy="457200"/>
          </a:xfrm>
          <a:prstGeom prst="roundRect">
            <a:avLst>
              <a:gd name="adj" fmla="val 10000"/>
            </a:avLst>
          </a:prstGeom>
          <a:solidFill>
            <a:srgbClr val="FCE5D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IN" sz="1500" b="1">
                <a:solidFill>
                  <a:srgbClr val="E4572E"/>
                </a:solidFill>
                <a:latin typeface="Calibri" panose="020F0502020204030204" pitchFamily="34" charset="0"/>
              </a:rPr>
              <a:t>Red build</a:t>
            </a:r>
          </a:p>
        </p:txBody>
      </p:sp>
      <p:sp>
        <p:nvSpPr>
          <p:cNvPr id="8" name="TextBox 7">
            <a:extLst>
              <a:ext uri="{FF2B5EF4-FFF2-40B4-BE49-F238E27FC236}">
                <a16:creationId xmlns:a16="http://schemas.microsoft.com/office/drawing/2014/main" id="{670B304E-522B-C828-F34B-53F91314B637}"/>
              </a:ext>
            </a:extLst>
          </p:cNvPr>
          <p:cNvSpPr txBox="1"/>
          <p:nvPr/>
        </p:nvSpPr>
        <p:spPr>
          <a:xfrm>
            <a:off x="609600" y="3327400"/>
            <a:ext cx="2286000" cy="369332"/>
          </a:xfrm>
          <a:prstGeom prst="rect">
            <a:avLst/>
          </a:prstGeom>
          <a:noFill/>
        </p:spPr>
        <p:txBody>
          <a:bodyPr vert="horz" wrap="square" lIns="0" tIns="0" rIns="0" bIns="0" rtlCol="0" anchor="t">
            <a:noAutofit/>
          </a:bodyPr>
          <a:lstStyle/>
          <a:p>
            <a:r>
              <a:rPr lang="en-IN" sz="1700" b="1">
                <a:solidFill>
                  <a:srgbClr val="13293D"/>
                </a:solidFill>
                <a:latin typeface="Calibri" panose="020F0502020204030204" pitchFamily="34" charset="0"/>
              </a:rPr>
              <a:t>Fixed main.tf</a:t>
            </a:r>
          </a:p>
        </p:txBody>
      </p:sp>
      <p:sp>
        <p:nvSpPr>
          <p:cNvPr id="9" name="Rectangle: Rounded Corners 8">
            <a:extLst>
              <a:ext uri="{FF2B5EF4-FFF2-40B4-BE49-F238E27FC236}">
                <a16:creationId xmlns:a16="http://schemas.microsoft.com/office/drawing/2014/main" id="{B0BAE8AA-9BF8-A4AA-56F6-63D586CD7C51}"/>
              </a:ext>
            </a:extLst>
          </p:cNvPr>
          <p:cNvSpPr/>
          <p:nvPr/>
        </p:nvSpPr>
        <p:spPr>
          <a:xfrm>
            <a:off x="3048000" y="3048000"/>
            <a:ext cx="3429000" cy="889000"/>
          </a:xfrm>
          <a:prstGeom prst="roundRect">
            <a:avLst>
              <a:gd name="adj" fmla="val 10000"/>
            </a:avLst>
          </a:prstGeom>
          <a:solidFill>
            <a:srgbClr val="1B998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IN" sz="1600" b="1">
                <a:solidFill>
                  <a:srgbClr val="FFFFFF"/>
                </a:solidFill>
                <a:latin typeface="Calibri" panose="020F0502020204030204" pitchFamily="34" charset="0"/>
              </a:rPr>
              <a:t>Terraform security check</a:t>
            </a:r>
          </a:p>
          <a:p>
            <a:pPr algn="ctr"/>
            <a:r>
              <a:rPr lang="en-IN" sz="1600" b="1">
                <a:solidFill>
                  <a:srgbClr val="FFFFFF"/>
                </a:solidFill>
                <a:latin typeface="Calibri" panose="020F0502020204030204" pitchFamily="34" charset="0"/>
              </a:rPr>
              <a:t>PASSED</a:t>
            </a:r>
          </a:p>
        </p:txBody>
      </p:sp>
      <p:cxnSp>
        <p:nvCxnSpPr>
          <p:cNvPr id="10" name="Straight Connector 9">
            <a:extLst>
              <a:ext uri="{FF2B5EF4-FFF2-40B4-BE49-F238E27FC236}">
                <a16:creationId xmlns:a16="http://schemas.microsoft.com/office/drawing/2014/main" id="{F8CB3802-105B-3146-B2DA-4132903484F7}"/>
              </a:ext>
            </a:extLst>
          </p:cNvPr>
          <p:cNvCxnSpPr/>
          <p:nvPr/>
        </p:nvCxnSpPr>
        <p:spPr>
          <a:xfrm>
            <a:off x="6553200" y="3492500"/>
            <a:ext cx="508000" cy="0"/>
          </a:xfrm>
          <a:prstGeom prst="line">
            <a:avLst/>
          </a:prstGeom>
          <a:ln w="25400">
            <a:solidFill>
              <a:srgbClr val="5B6B79"/>
            </a:solidFill>
            <a:tailEnd type="triangle"/>
          </a:ln>
        </p:spPr>
        <p:style>
          <a:lnRef idx="2">
            <a:schemeClr val="accent1"/>
          </a:lnRef>
          <a:fillRef idx="0">
            <a:schemeClr val="accent1"/>
          </a:fillRef>
          <a:effectRef idx="1">
            <a:schemeClr val="accent1"/>
          </a:effectRef>
          <a:fontRef idx="minor">
            <a:schemeClr val="tx1"/>
          </a:fontRef>
        </p:style>
      </p:cxnSp>
      <p:sp>
        <p:nvSpPr>
          <p:cNvPr id="11" name="Rectangle: Rounded Corners 10">
            <a:extLst>
              <a:ext uri="{FF2B5EF4-FFF2-40B4-BE49-F238E27FC236}">
                <a16:creationId xmlns:a16="http://schemas.microsoft.com/office/drawing/2014/main" id="{F4A56E70-1768-095F-7652-4AAE0D1C5F57}"/>
              </a:ext>
            </a:extLst>
          </p:cNvPr>
          <p:cNvSpPr/>
          <p:nvPr/>
        </p:nvSpPr>
        <p:spPr>
          <a:xfrm>
            <a:off x="7137400" y="3048000"/>
            <a:ext cx="2540000" cy="889000"/>
          </a:xfrm>
          <a:prstGeom prst="roundRect">
            <a:avLst>
              <a:gd name="adj" fmla="val 10000"/>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IN" sz="1600" b="1">
                <a:solidFill>
                  <a:srgbClr val="FFFFFF"/>
                </a:solidFill>
                <a:latin typeface="Calibri" panose="020F0502020204030204" pitchFamily="34" charset="0"/>
              </a:rPr>
              <a:t>Deploy</a:t>
            </a:r>
          </a:p>
          <a:p>
            <a:pPr algn="ctr"/>
            <a:r>
              <a:rPr lang="en-IN" sz="1600" b="1">
                <a:solidFill>
                  <a:srgbClr val="FFFFFF"/>
                </a:solidFill>
                <a:latin typeface="Calibri" panose="020F0502020204030204" pitchFamily="34" charset="0"/>
              </a:rPr>
              <a:t>Runs</a:t>
            </a:r>
          </a:p>
        </p:txBody>
      </p:sp>
      <p:sp>
        <p:nvSpPr>
          <p:cNvPr id="12" name="Rectangle: Rounded Corners 11">
            <a:extLst>
              <a:ext uri="{FF2B5EF4-FFF2-40B4-BE49-F238E27FC236}">
                <a16:creationId xmlns:a16="http://schemas.microsoft.com/office/drawing/2014/main" id="{02F2C437-0F4B-9ADF-A388-3FA872809293}"/>
              </a:ext>
            </a:extLst>
          </p:cNvPr>
          <p:cNvSpPr/>
          <p:nvPr/>
        </p:nvSpPr>
        <p:spPr>
          <a:xfrm>
            <a:off x="9931400" y="3263900"/>
            <a:ext cx="1651000" cy="457200"/>
          </a:xfrm>
          <a:prstGeom prst="roundRect">
            <a:avLst>
              <a:gd name="adj" fmla="val 10000"/>
            </a:avLst>
          </a:prstGeom>
          <a:solidFill>
            <a:srgbClr val="D3EC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IN" sz="1500" b="1">
                <a:solidFill>
                  <a:srgbClr val="1B998B"/>
                </a:solidFill>
                <a:latin typeface="Calibri" panose="020F0502020204030204" pitchFamily="34" charset="0"/>
              </a:rPr>
              <a:t>Green build</a:t>
            </a:r>
          </a:p>
        </p:txBody>
      </p:sp>
      <p:sp>
        <p:nvSpPr>
          <p:cNvPr id="13" name="Rectangle: Rounded Corners 12">
            <a:extLst>
              <a:ext uri="{FF2B5EF4-FFF2-40B4-BE49-F238E27FC236}">
                <a16:creationId xmlns:a16="http://schemas.microsoft.com/office/drawing/2014/main" id="{02049113-76C2-429B-E7B3-E8A02D4ACA10}"/>
              </a:ext>
            </a:extLst>
          </p:cNvPr>
          <p:cNvSpPr/>
          <p:nvPr/>
        </p:nvSpPr>
        <p:spPr>
          <a:xfrm>
            <a:off x="609600" y="4445000"/>
            <a:ext cx="10972800" cy="711200"/>
          </a:xfrm>
          <a:prstGeom prst="roundRect">
            <a:avLst>
              <a:gd name="adj" fmla="val 10000"/>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C177B2EE-762A-9281-4B67-6C57CD0E9E27}"/>
              </a:ext>
            </a:extLst>
          </p:cNvPr>
          <p:cNvSpPr txBox="1"/>
          <p:nvPr/>
        </p:nvSpPr>
        <p:spPr>
          <a:xfrm>
            <a:off x="914400" y="4648200"/>
            <a:ext cx="10363200" cy="369332"/>
          </a:xfrm>
          <a:prstGeom prst="rect">
            <a:avLst/>
          </a:prstGeom>
          <a:noFill/>
        </p:spPr>
        <p:txBody>
          <a:bodyPr vert="horz" wrap="square" lIns="0" tIns="0" rIns="0" bIns="0" rtlCol="0" anchor="t">
            <a:noAutofit/>
          </a:bodyPr>
          <a:lstStyle/>
          <a:p>
            <a:r>
              <a:rPr lang="en-IN" sz="1600">
                <a:solidFill>
                  <a:srgbClr val="FFFFFF"/>
                </a:solidFill>
                <a:latin typeface="Consolas" panose="020B0609020204030204" pitchFamily="49" charset="0"/>
              </a:rPr>
              <a:t>checkov -d . --config-file checkov-baseline.yaml</a:t>
            </a:r>
          </a:p>
        </p:txBody>
      </p:sp>
      <p:sp>
        <p:nvSpPr>
          <p:cNvPr id="15" name="TextBox 14">
            <a:extLst>
              <a:ext uri="{FF2B5EF4-FFF2-40B4-BE49-F238E27FC236}">
                <a16:creationId xmlns:a16="http://schemas.microsoft.com/office/drawing/2014/main" id="{F4695EE0-43C0-26AF-4D5B-469D2BBBD5DA}"/>
              </a:ext>
            </a:extLst>
          </p:cNvPr>
          <p:cNvSpPr txBox="1"/>
          <p:nvPr/>
        </p:nvSpPr>
        <p:spPr>
          <a:xfrm>
            <a:off x="609600" y="5384800"/>
            <a:ext cx="10972800" cy="369332"/>
          </a:xfrm>
          <a:prstGeom prst="rect">
            <a:avLst/>
          </a:prstGeom>
          <a:noFill/>
        </p:spPr>
        <p:txBody>
          <a:bodyPr vert="horz" wrap="square" lIns="0" tIns="0" rIns="0" bIns="0" rtlCol="0" anchor="t">
            <a:noAutofit/>
          </a:bodyPr>
          <a:lstStyle/>
          <a:p>
            <a:r>
              <a:rPr lang="en-US" sz="1600">
                <a:solidFill>
                  <a:srgbClr val="1E2A35"/>
                </a:solidFill>
                <a:latin typeface="Calibri" panose="020F0502020204030204" pitchFamily="34" charset="0"/>
              </a:rPr>
              <a:t>The same check runs on a laptop and in Jenkins. A failed check stops the pipeline before anything reaches the cloud.</a:t>
            </a:r>
            <a:endParaRPr lang="en-IN" sz="1600">
              <a:solidFill>
                <a:srgbClr val="1E2A35"/>
              </a:solidFill>
              <a:latin typeface="Calibri" panose="020F0502020204030204" pitchFamily="34" charset="0"/>
            </a:endParaRPr>
          </a:p>
        </p:txBody>
      </p:sp>
      <p:sp>
        <p:nvSpPr>
          <p:cNvPr id="16" name="TextBox 15">
            <a:extLst>
              <a:ext uri="{FF2B5EF4-FFF2-40B4-BE49-F238E27FC236}">
                <a16:creationId xmlns:a16="http://schemas.microsoft.com/office/drawing/2014/main" id="{69A6A8E9-112B-553C-5E3B-12AD51727C60}"/>
              </a:ext>
            </a:extLst>
          </p:cNvPr>
          <p:cNvSpPr txBox="1"/>
          <p:nvPr/>
        </p:nvSpPr>
        <p:spPr>
          <a:xfrm>
            <a:off x="609600" y="6502400"/>
            <a:ext cx="5080000" cy="369332"/>
          </a:xfrm>
          <a:prstGeom prst="rect">
            <a:avLst/>
          </a:prstGeom>
          <a:noFill/>
        </p:spPr>
        <p:txBody>
          <a:bodyPr vert="horz" wrap="square" lIns="0" tIns="0" rIns="0" bIns="0" rtlCol="0" anchor="t">
            <a:noAutofit/>
          </a:bodyPr>
          <a:lstStyle/>
          <a:p>
            <a:r>
              <a:rPr lang="en-US" sz="1000">
                <a:solidFill>
                  <a:srgbClr val="5B6B79"/>
                </a:solidFill>
                <a:latin typeface="Calibri" panose="020F0502020204030204" pitchFamily="34" charset="0"/>
              </a:rPr>
              <a:t>Securing the path to the cloud</a:t>
            </a:r>
            <a:endParaRPr lang="en-IN" sz="1000">
              <a:solidFill>
                <a:srgbClr val="5B6B79"/>
              </a:solidFill>
              <a:latin typeface="Calibri" panose="020F0502020204030204" pitchFamily="34" charset="0"/>
            </a:endParaRPr>
          </a:p>
        </p:txBody>
      </p:sp>
      <p:sp>
        <p:nvSpPr>
          <p:cNvPr id="17" name="TextBox 16">
            <a:extLst>
              <a:ext uri="{FF2B5EF4-FFF2-40B4-BE49-F238E27FC236}">
                <a16:creationId xmlns:a16="http://schemas.microsoft.com/office/drawing/2014/main" id="{EDE8530D-5E6D-882A-14C5-235D234F3729}"/>
              </a:ext>
            </a:extLst>
          </p:cNvPr>
          <p:cNvSpPr txBox="1"/>
          <p:nvPr/>
        </p:nvSpPr>
        <p:spPr>
          <a:xfrm>
            <a:off x="10312400" y="6502400"/>
            <a:ext cx="1270000" cy="369332"/>
          </a:xfrm>
          <a:prstGeom prst="rect">
            <a:avLst/>
          </a:prstGeom>
          <a:noFill/>
        </p:spPr>
        <p:txBody>
          <a:bodyPr vert="horz" wrap="square" lIns="0" tIns="0" rIns="0" bIns="0" rtlCol="0" anchor="t">
            <a:noAutofit/>
          </a:bodyPr>
          <a:lstStyle/>
          <a:p>
            <a:pPr algn="r"/>
            <a:r>
              <a:rPr lang="en-IN" sz="1000">
                <a:solidFill>
                  <a:srgbClr val="5B6B79"/>
                </a:solidFill>
                <a:latin typeface="Calibri" panose="020F0502020204030204" pitchFamily="34" charset="0"/>
              </a:rPr>
              <a:t>24</a:t>
            </a:r>
          </a:p>
        </p:txBody>
      </p:sp>
    </p:spTree>
    <p:extLst>
      <p:ext uri="{BB962C8B-B14F-4D97-AF65-F5344CB8AC3E}">
        <p14:creationId xmlns:p14="http://schemas.microsoft.com/office/powerpoint/2010/main" val="3815687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10ED905-C17E-1070-31B8-9D492F0C5ED4}"/>
              </a:ext>
            </a:extLst>
          </p:cNvPr>
          <p:cNvSpPr txBox="1"/>
          <p:nvPr/>
        </p:nvSpPr>
        <p:spPr>
          <a:xfrm>
            <a:off x="609600" y="381000"/>
            <a:ext cx="10972800" cy="369332"/>
          </a:xfrm>
          <a:prstGeom prst="rect">
            <a:avLst/>
          </a:prstGeom>
          <a:noFill/>
        </p:spPr>
        <p:txBody>
          <a:bodyPr vert="horz" wrap="square" lIns="0" tIns="0" rIns="0" bIns="0" rtlCol="0" anchor="t">
            <a:noAutofit/>
          </a:bodyPr>
          <a:lstStyle/>
          <a:p>
            <a:r>
              <a:rPr lang="en-IN" sz="3400" b="1">
                <a:solidFill>
                  <a:srgbClr val="13293D"/>
                </a:solidFill>
                <a:latin typeface="Calibri" panose="020F0502020204030204" pitchFamily="34" charset="0"/>
              </a:rPr>
              <a:t>Lab 3 · Commands</a:t>
            </a:r>
          </a:p>
        </p:txBody>
      </p:sp>
      <p:sp>
        <p:nvSpPr>
          <p:cNvPr id="3" name="TextBox 2">
            <a:extLst>
              <a:ext uri="{FF2B5EF4-FFF2-40B4-BE49-F238E27FC236}">
                <a16:creationId xmlns:a16="http://schemas.microsoft.com/office/drawing/2014/main" id="{96DC0E45-BABC-F4E3-021E-495D92EF3D18}"/>
              </a:ext>
            </a:extLst>
          </p:cNvPr>
          <p:cNvSpPr txBox="1"/>
          <p:nvPr/>
        </p:nvSpPr>
        <p:spPr>
          <a:xfrm>
            <a:off x="609600" y="1168400"/>
            <a:ext cx="5080000" cy="369332"/>
          </a:xfrm>
          <a:prstGeom prst="rect">
            <a:avLst/>
          </a:prstGeom>
          <a:noFill/>
        </p:spPr>
        <p:txBody>
          <a:bodyPr vert="horz" wrap="square" lIns="0" tIns="0" rIns="0" bIns="0" rtlCol="0" anchor="t">
            <a:noAutofit/>
          </a:bodyPr>
          <a:lstStyle/>
          <a:p>
            <a:r>
              <a:rPr lang="en-IN" sz="1200" b="1">
                <a:solidFill>
                  <a:srgbClr val="1B998B"/>
                </a:solidFill>
                <a:latin typeface="Calibri" panose="020F0502020204030204" pitchFamily="34" charset="0"/>
              </a:rPr>
              <a:t>EVERYONE (TOOLBOX)</a:t>
            </a:r>
          </a:p>
        </p:txBody>
      </p:sp>
      <p:sp>
        <p:nvSpPr>
          <p:cNvPr id="4" name="Rectangle: Rounded Corners 3">
            <a:extLst>
              <a:ext uri="{FF2B5EF4-FFF2-40B4-BE49-F238E27FC236}">
                <a16:creationId xmlns:a16="http://schemas.microsoft.com/office/drawing/2014/main" id="{F593CC2E-1A34-3669-FC27-232B9D9BFDC5}"/>
              </a:ext>
            </a:extLst>
          </p:cNvPr>
          <p:cNvSpPr/>
          <p:nvPr/>
        </p:nvSpPr>
        <p:spPr>
          <a:xfrm>
            <a:off x="609600" y="1447800"/>
            <a:ext cx="10972800" cy="736600"/>
          </a:xfrm>
          <a:prstGeom prst="roundRect">
            <a:avLst>
              <a:gd name="adj" fmla="val 10000"/>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A591CBA9-EB7A-FA7B-51E5-DFB8AB432558}"/>
              </a:ext>
            </a:extLst>
          </p:cNvPr>
          <p:cNvSpPr txBox="1"/>
          <p:nvPr/>
        </p:nvSpPr>
        <p:spPr>
          <a:xfrm>
            <a:off x="863600" y="1625600"/>
            <a:ext cx="10464800" cy="369332"/>
          </a:xfrm>
          <a:prstGeom prst="rect">
            <a:avLst/>
          </a:prstGeom>
          <a:noFill/>
        </p:spPr>
        <p:txBody>
          <a:bodyPr vert="horz" wrap="square" lIns="0" tIns="0" rIns="0" bIns="0" rtlCol="0" anchor="t">
            <a:noAutofit/>
          </a:bodyPr>
          <a:lstStyle/>
          <a:p>
            <a:r>
              <a:rPr lang="en-IN" sz="1200">
                <a:solidFill>
                  <a:srgbClr val="FFFFFF"/>
                </a:solidFill>
                <a:latin typeface="Consolas" panose="020B0609020204030204" pitchFamily="49" charset="0"/>
              </a:rPr>
              <a:t>checkov -d labs/lab3-ci-gate/start --config-file scripts/checkov-baseline.yaml   </a:t>
            </a:r>
            <a:r>
              <a:rPr lang="en-IN" sz="1200">
                <a:solidFill>
                  <a:srgbClr val="8FD3C9"/>
                </a:solidFill>
                <a:latin typeface="Consolas" panose="020B0609020204030204" pitchFamily="49" charset="0"/>
              </a:rPr>
              <a:t>   # FAILED</a:t>
            </a:r>
          </a:p>
          <a:p>
            <a:r>
              <a:rPr lang="en-IN" sz="1200">
                <a:solidFill>
                  <a:srgbClr val="FFFFFF"/>
                </a:solidFill>
                <a:latin typeface="Consolas" panose="020B0609020204030204" pitchFamily="49" charset="0"/>
              </a:rPr>
              <a:t>checkov -d labs/lab3-ci-gate/solution --config-file scripts/checkov-baseline.yaml</a:t>
            </a:r>
            <a:r>
              <a:rPr lang="en-IN" sz="1200">
                <a:solidFill>
                  <a:srgbClr val="8FD3C9"/>
                </a:solidFill>
                <a:latin typeface="Consolas" panose="020B0609020204030204" pitchFamily="49" charset="0"/>
              </a:rPr>
              <a:t>   # passes</a:t>
            </a:r>
          </a:p>
        </p:txBody>
      </p:sp>
      <p:sp>
        <p:nvSpPr>
          <p:cNvPr id="6" name="TextBox 5">
            <a:extLst>
              <a:ext uri="{FF2B5EF4-FFF2-40B4-BE49-F238E27FC236}">
                <a16:creationId xmlns:a16="http://schemas.microsoft.com/office/drawing/2014/main" id="{64BF5221-5B85-CCC1-5134-E7D65C109AE4}"/>
              </a:ext>
            </a:extLst>
          </p:cNvPr>
          <p:cNvSpPr txBox="1"/>
          <p:nvPr/>
        </p:nvSpPr>
        <p:spPr>
          <a:xfrm>
            <a:off x="609600" y="2387600"/>
            <a:ext cx="8890000" cy="369332"/>
          </a:xfrm>
          <a:prstGeom prst="rect">
            <a:avLst/>
          </a:prstGeom>
          <a:noFill/>
        </p:spPr>
        <p:txBody>
          <a:bodyPr vert="horz" wrap="square" lIns="0" tIns="0" rIns="0" bIns="0" rtlCol="0" anchor="t">
            <a:noAutofit/>
          </a:bodyPr>
          <a:lstStyle/>
          <a:p>
            <a:r>
              <a:rPr lang="pt-BR" sz="1200" b="1">
                <a:solidFill>
                  <a:srgbClr val="1B998B"/>
                </a:solidFill>
                <a:latin typeface="Calibri" panose="020F0502020204030204" pitchFamily="34" charset="0"/>
              </a:rPr>
              <a:t>FACILITATOR: JENKINS DEMO (UBUNTU TERMINAL, REPO FOLDER)</a:t>
            </a:r>
            <a:endParaRPr lang="en-IN" sz="1200" b="1">
              <a:solidFill>
                <a:srgbClr val="1B998B"/>
              </a:solidFill>
              <a:latin typeface="Calibri" panose="020F0502020204030204" pitchFamily="34" charset="0"/>
            </a:endParaRPr>
          </a:p>
        </p:txBody>
      </p:sp>
      <p:sp>
        <p:nvSpPr>
          <p:cNvPr id="7" name="Rectangle: Rounded Corners 6">
            <a:extLst>
              <a:ext uri="{FF2B5EF4-FFF2-40B4-BE49-F238E27FC236}">
                <a16:creationId xmlns:a16="http://schemas.microsoft.com/office/drawing/2014/main" id="{5EE245D4-A419-610D-7743-5B3CC20D153C}"/>
              </a:ext>
            </a:extLst>
          </p:cNvPr>
          <p:cNvSpPr/>
          <p:nvPr/>
        </p:nvSpPr>
        <p:spPr>
          <a:xfrm>
            <a:off x="609600" y="2667000"/>
            <a:ext cx="10972800" cy="1498600"/>
          </a:xfrm>
          <a:prstGeom prst="roundRect">
            <a:avLst>
              <a:gd name="adj" fmla="val 10000"/>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AFE753BD-E13B-5DC5-6BF5-EAAB1BA71C24}"/>
              </a:ext>
            </a:extLst>
          </p:cNvPr>
          <p:cNvSpPr txBox="1"/>
          <p:nvPr/>
        </p:nvSpPr>
        <p:spPr>
          <a:xfrm>
            <a:off x="863600" y="2844800"/>
            <a:ext cx="10464800" cy="369332"/>
          </a:xfrm>
          <a:prstGeom prst="rect">
            <a:avLst/>
          </a:prstGeom>
          <a:noFill/>
        </p:spPr>
        <p:txBody>
          <a:bodyPr vert="horz" wrap="square" lIns="0" tIns="0" rIns="0" bIns="0" rtlCol="0" anchor="t">
            <a:noAutofit/>
          </a:bodyPr>
          <a:lstStyle/>
          <a:p>
            <a:r>
              <a:rPr lang="en-IN" sz="1200">
                <a:solidFill>
                  <a:srgbClr val="FFFFFF"/>
                </a:solidFill>
                <a:latin typeface="Consolas" panose="020B0609020204030204" pitchFamily="49" charset="0"/>
              </a:rPr>
              <a:t>rm -rf labs/lab3-ci-gate/demo-repo</a:t>
            </a:r>
          </a:p>
          <a:p>
            <a:r>
              <a:rPr lang="en-IN" sz="1200">
                <a:solidFill>
                  <a:srgbClr val="FFFFFF"/>
                </a:solidFill>
                <a:latin typeface="Consolas" panose="020B0609020204030204" pitchFamily="49" charset="0"/>
              </a:rPr>
              <a:t>docker compose run --rm toolbox bash labs/lab3-ci-gate/prepare-repo.sh labs/lab3-ci-gate/demo-repo</a:t>
            </a:r>
          </a:p>
          <a:p>
            <a:r>
              <a:rPr lang="en-IN" sz="1200">
                <a:solidFill>
                  <a:srgbClr val="FFFFFF"/>
                </a:solidFill>
                <a:latin typeface="Consolas" panose="020B0609020204030204" pitchFamily="49" charset="0"/>
              </a:rPr>
              <a:t>docker compose --profile jenkins up -d --build jenkins</a:t>
            </a:r>
          </a:p>
          <a:p>
            <a:r>
              <a:rPr lang="en-IN" sz="1200">
                <a:solidFill>
                  <a:srgbClr val="8FD3C9"/>
                </a:solidFill>
                <a:latin typeface="Consolas" panose="020B0609020204030204" pitchFamily="49" charset="0"/>
              </a:rPr>
              <a:t># http://localhost:8080 : job secure-gate, Build Now   (red build)</a:t>
            </a:r>
          </a:p>
          <a:p>
            <a:r>
              <a:rPr lang="en-IN" sz="1200">
                <a:solidFill>
                  <a:srgbClr val="FFFFFF"/>
                </a:solidFill>
                <a:latin typeface="Consolas" panose="020B0609020204030204" pitchFamily="49" charset="0"/>
              </a:rPr>
              <a:t>docker compose run --rm toolbox bash labs/lab3-ci-gate/apply-fixes.sh labs/lab3-ci-gate/demo-repo</a:t>
            </a:r>
          </a:p>
          <a:p>
            <a:r>
              <a:rPr lang="en-IN" sz="1200">
                <a:solidFill>
                  <a:srgbClr val="8FD3C9"/>
                </a:solidFill>
                <a:latin typeface="Consolas" panose="020B0609020204030204" pitchFamily="49" charset="0"/>
              </a:rPr>
              <a:t># Build Now again   (green build)</a:t>
            </a:r>
          </a:p>
        </p:txBody>
      </p:sp>
      <p:sp>
        <p:nvSpPr>
          <p:cNvPr id="9" name="TextBox 8">
            <a:extLst>
              <a:ext uri="{FF2B5EF4-FFF2-40B4-BE49-F238E27FC236}">
                <a16:creationId xmlns:a16="http://schemas.microsoft.com/office/drawing/2014/main" id="{B5D30FFA-7119-3E3B-2A36-2BB48DB26F61}"/>
              </a:ext>
            </a:extLst>
          </p:cNvPr>
          <p:cNvSpPr txBox="1"/>
          <p:nvPr/>
        </p:nvSpPr>
        <p:spPr>
          <a:xfrm>
            <a:off x="609600" y="6502400"/>
            <a:ext cx="5080000" cy="369332"/>
          </a:xfrm>
          <a:prstGeom prst="rect">
            <a:avLst/>
          </a:prstGeom>
          <a:noFill/>
        </p:spPr>
        <p:txBody>
          <a:bodyPr vert="horz" wrap="square" lIns="0" tIns="0" rIns="0" bIns="0" rtlCol="0" anchor="t">
            <a:noAutofit/>
          </a:bodyPr>
          <a:lstStyle/>
          <a:p>
            <a:r>
              <a:rPr lang="en-US" sz="1000">
                <a:solidFill>
                  <a:srgbClr val="5B6B79"/>
                </a:solidFill>
                <a:latin typeface="Calibri" panose="020F0502020204030204" pitchFamily="34" charset="0"/>
              </a:rPr>
              <a:t>Securing the path to the cloud</a:t>
            </a:r>
            <a:endParaRPr lang="en-IN" sz="1000">
              <a:solidFill>
                <a:srgbClr val="5B6B79"/>
              </a:solidFill>
              <a:latin typeface="Calibri" panose="020F0502020204030204" pitchFamily="34" charset="0"/>
            </a:endParaRPr>
          </a:p>
        </p:txBody>
      </p:sp>
      <p:sp>
        <p:nvSpPr>
          <p:cNvPr id="10" name="TextBox 9">
            <a:extLst>
              <a:ext uri="{FF2B5EF4-FFF2-40B4-BE49-F238E27FC236}">
                <a16:creationId xmlns:a16="http://schemas.microsoft.com/office/drawing/2014/main" id="{C4DDFFEB-D928-4EEC-8C19-F138855C6B9D}"/>
              </a:ext>
            </a:extLst>
          </p:cNvPr>
          <p:cNvSpPr txBox="1"/>
          <p:nvPr/>
        </p:nvSpPr>
        <p:spPr>
          <a:xfrm>
            <a:off x="10312400" y="6502400"/>
            <a:ext cx="1270000" cy="369332"/>
          </a:xfrm>
          <a:prstGeom prst="rect">
            <a:avLst/>
          </a:prstGeom>
          <a:noFill/>
        </p:spPr>
        <p:txBody>
          <a:bodyPr vert="horz" wrap="square" lIns="0" tIns="0" rIns="0" bIns="0" rtlCol="0" anchor="t">
            <a:noAutofit/>
          </a:bodyPr>
          <a:lstStyle/>
          <a:p>
            <a:pPr algn="r"/>
            <a:r>
              <a:rPr lang="en-IN" sz="1000">
                <a:solidFill>
                  <a:srgbClr val="5B6B79"/>
                </a:solidFill>
                <a:latin typeface="Calibri" panose="020F0502020204030204" pitchFamily="34" charset="0"/>
              </a:rPr>
              <a:t>25</a:t>
            </a:r>
          </a:p>
        </p:txBody>
      </p:sp>
    </p:spTree>
    <p:extLst>
      <p:ext uri="{BB962C8B-B14F-4D97-AF65-F5344CB8AC3E}">
        <p14:creationId xmlns:p14="http://schemas.microsoft.com/office/powerpoint/2010/main" val="28120598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329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3EA40C-995B-9F51-2EFF-28E274E8E713}"/>
              </a:ext>
            </a:extLst>
          </p:cNvPr>
          <p:cNvSpPr txBox="1"/>
          <p:nvPr/>
        </p:nvSpPr>
        <p:spPr>
          <a:xfrm>
            <a:off x="609600" y="1219200"/>
            <a:ext cx="5080000" cy="369332"/>
          </a:xfrm>
          <a:prstGeom prst="rect">
            <a:avLst/>
          </a:prstGeom>
          <a:noFill/>
        </p:spPr>
        <p:txBody>
          <a:bodyPr vert="horz" wrap="square" lIns="0" tIns="0" rIns="0" bIns="0" rtlCol="0" anchor="t">
            <a:noAutofit/>
          </a:bodyPr>
          <a:lstStyle/>
          <a:p>
            <a:r>
              <a:rPr lang="en-IN" sz="12000" b="1">
                <a:solidFill>
                  <a:srgbClr val="1B998B"/>
                </a:solidFill>
                <a:latin typeface="Calibri" panose="020F0502020204030204" pitchFamily="34" charset="0"/>
              </a:rPr>
              <a:t>04</a:t>
            </a:r>
          </a:p>
        </p:txBody>
      </p:sp>
      <p:sp>
        <p:nvSpPr>
          <p:cNvPr id="3" name="TextBox 2">
            <a:extLst>
              <a:ext uri="{FF2B5EF4-FFF2-40B4-BE49-F238E27FC236}">
                <a16:creationId xmlns:a16="http://schemas.microsoft.com/office/drawing/2014/main" id="{23CE16AA-0104-4B85-E16F-24EF5E18F109}"/>
              </a:ext>
            </a:extLst>
          </p:cNvPr>
          <p:cNvSpPr txBox="1"/>
          <p:nvPr/>
        </p:nvSpPr>
        <p:spPr>
          <a:xfrm>
            <a:off x="609600" y="3175000"/>
            <a:ext cx="10972800" cy="369332"/>
          </a:xfrm>
          <a:prstGeom prst="rect">
            <a:avLst/>
          </a:prstGeom>
          <a:noFill/>
        </p:spPr>
        <p:txBody>
          <a:bodyPr vert="horz" wrap="square" lIns="0" tIns="0" rIns="0" bIns="0" rtlCol="0" anchor="t">
            <a:noAutofit/>
          </a:bodyPr>
          <a:lstStyle/>
          <a:p>
            <a:r>
              <a:rPr lang="en-IN" sz="4400" b="1">
                <a:solidFill>
                  <a:srgbClr val="FFFFFF"/>
                </a:solidFill>
                <a:latin typeface="Calibri" panose="020F0502020204030204" pitchFamily="34" charset="0"/>
              </a:rPr>
              <a:t>Into the cloud</a:t>
            </a:r>
          </a:p>
        </p:txBody>
      </p:sp>
      <p:sp>
        <p:nvSpPr>
          <p:cNvPr id="4" name="TextBox 3">
            <a:extLst>
              <a:ext uri="{FF2B5EF4-FFF2-40B4-BE49-F238E27FC236}">
                <a16:creationId xmlns:a16="http://schemas.microsoft.com/office/drawing/2014/main" id="{0029237D-9175-E0CE-8F1E-BAAE1675CD77}"/>
              </a:ext>
            </a:extLst>
          </p:cNvPr>
          <p:cNvSpPr txBox="1"/>
          <p:nvPr/>
        </p:nvSpPr>
        <p:spPr>
          <a:xfrm>
            <a:off x="609600" y="4038600"/>
            <a:ext cx="9652000" cy="369332"/>
          </a:xfrm>
          <a:prstGeom prst="rect">
            <a:avLst/>
          </a:prstGeom>
          <a:noFill/>
        </p:spPr>
        <p:txBody>
          <a:bodyPr vert="horz" wrap="square" lIns="0" tIns="0" rIns="0" bIns="0" rtlCol="0" anchor="t">
            <a:noAutofit/>
          </a:bodyPr>
          <a:lstStyle/>
          <a:p>
            <a:r>
              <a:rPr lang="en-US" sz="2000">
                <a:solidFill>
                  <a:srgbClr val="C9D6DF"/>
                </a:solidFill>
                <a:latin typeface="Calibri" panose="020F0502020204030204" pitchFamily="34" charset="0"/>
              </a:rPr>
              <a:t>Deploy to a real AWS account, then watch a manual change leak data that every scanner missed</a:t>
            </a:r>
            <a:endParaRPr lang="en-IN" sz="2000">
              <a:solidFill>
                <a:srgbClr val="C9D6DF"/>
              </a:solidFill>
              <a:latin typeface="Calibri" panose="020F0502020204030204" pitchFamily="34" charset="0"/>
            </a:endParaRPr>
          </a:p>
        </p:txBody>
      </p:sp>
      <p:sp>
        <p:nvSpPr>
          <p:cNvPr id="5" name="TextBox 4">
            <a:extLst>
              <a:ext uri="{FF2B5EF4-FFF2-40B4-BE49-F238E27FC236}">
                <a16:creationId xmlns:a16="http://schemas.microsoft.com/office/drawing/2014/main" id="{8BA39209-9EAE-80D3-9DC9-881639A44582}"/>
              </a:ext>
            </a:extLst>
          </p:cNvPr>
          <p:cNvSpPr txBox="1"/>
          <p:nvPr/>
        </p:nvSpPr>
        <p:spPr>
          <a:xfrm>
            <a:off x="609600" y="5207000"/>
            <a:ext cx="10972800" cy="369332"/>
          </a:xfrm>
          <a:prstGeom prst="rect">
            <a:avLst/>
          </a:prstGeom>
          <a:noFill/>
        </p:spPr>
        <p:txBody>
          <a:bodyPr vert="horz" wrap="square" lIns="0" tIns="0" rIns="0" bIns="0" rtlCol="0" anchor="t">
            <a:noAutofit/>
          </a:bodyPr>
          <a:lstStyle/>
          <a:p>
            <a:r>
              <a:rPr lang="en-US" sz="1600" b="1">
                <a:solidFill>
                  <a:srgbClr val="1B998B"/>
                </a:solidFill>
                <a:latin typeface="Calibri" panose="020F0502020204030204" pitchFamily="34" charset="0"/>
              </a:rPr>
              <a:t>Tools: Terraform, AWS CLI   ·   15 minutes live demo</a:t>
            </a:r>
            <a:endParaRPr lang="en-IN" sz="1600" b="1">
              <a:solidFill>
                <a:srgbClr val="1B998B"/>
              </a:solidFill>
              <a:latin typeface="Calibri" panose="020F0502020204030204" pitchFamily="34" charset="0"/>
            </a:endParaRPr>
          </a:p>
        </p:txBody>
      </p:sp>
    </p:spTree>
    <p:extLst>
      <p:ext uri="{BB962C8B-B14F-4D97-AF65-F5344CB8AC3E}">
        <p14:creationId xmlns:p14="http://schemas.microsoft.com/office/powerpoint/2010/main" val="37994497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61A8F32-84DA-77AE-5D4C-AD4515391104}"/>
              </a:ext>
            </a:extLst>
          </p:cNvPr>
          <p:cNvSpPr txBox="1"/>
          <p:nvPr/>
        </p:nvSpPr>
        <p:spPr>
          <a:xfrm>
            <a:off x="609600" y="381000"/>
            <a:ext cx="10972800" cy="369332"/>
          </a:xfrm>
          <a:prstGeom prst="rect">
            <a:avLst/>
          </a:prstGeom>
          <a:noFill/>
        </p:spPr>
        <p:txBody>
          <a:bodyPr vert="horz" wrap="square" lIns="0" tIns="0" rIns="0" bIns="0" rtlCol="0" anchor="t">
            <a:noAutofit/>
          </a:bodyPr>
          <a:lstStyle/>
          <a:p>
            <a:r>
              <a:rPr lang="en-US" sz="3400" b="1">
                <a:solidFill>
                  <a:srgbClr val="13293D"/>
                </a:solidFill>
                <a:latin typeface="Calibri" panose="020F0502020204030204" pitchFamily="34" charset="0"/>
              </a:rPr>
              <a:t>Lab 4 · What we're trying to achieve</a:t>
            </a:r>
            <a:endParaRPr lang="en-IN" sz="3400" b="1">
              <a:solidFill>
                <a:srgbClr val="13293D"/>
              </a:solidFill>
              <a:latin typeface="Calibri" panose="020F0502020204030204" pitchFamily="34" charset="0"/>
            </a:endParaRPr>
          </a:p>
        </p:txBody>
      </p:sp>
      <p:sp>
        <p:nvSpPr>
          <p:cNvPr id="3" name="Rectangle: Rounded Corners 2">
            <a:extLst>
              <a:ext uri="{FF2B5EF4-FFF2-40B4-BE49-F238E27FC236}">
                <a16:creationId xmlns:a16="http://schemas.microsoft.com/office/drawing/2014/main" id="{421815B8-ABB6-C23C-4FE0-2B4218AF3DD4}"/>
              </a:ext>
            </a:extLst>
          </p:cNvPr>
          <p:cNvSpPr/>
          <p:nvPr/>
        </p:nvSpPr>
        <p:spPr>
          <a:xfrm>
            <a:off x="609600" y="1320800"/>
            <a:ext cx="5080000" cy="3479800"/>
          </a:xfrm>
          <a:prstGeom prst="roundRect">
            <a:avLst>
              <a:gd name="adj" fmla="val 10000"/>
            </a:avLst>
          </a:prstGeom>
          <a:solidFill>
            <a:srgbClr val="EEF3F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562F17DA-CF38-E62F-4EE1-720834EBD6CB}"/>
              </a:ext>
            </a:extLst>
          </p:cNvPr>
          <p:cNvSpPr txBox="1"/>
          <p:nvPr/>
        </p:nvSpPr>
        <p:spPr>
          <a:xfrm>
            <a:off x="914400" y="1574800"/>
            <a:ext cx="4470400" cy="369332"/>
          </a:xfrm>
          <a:prstGeom prst="rect">
            <a:avLst/>
          </a:prstGeom>
          <a:noFill/>
        </p:spPr>
        <p:txBody>
          <a:bodyPr vert="horz" wrap="square" lIns="0" tIns="0" rIns="0" bIns="0" rtlCol="0" anchor="t">
            <a:noAutofit/>
          </a:bodyPr>
          <a:lstStyle/>
          <a:p>
            <a:r>
              <a:rPr lang="en-IN" sz="1200" b="1">
                <a:solidFill>
                  <a:srgbClr val="1B998B"/>
                </a:solidFill>
                <a:latin typeface="Calibri" panose="020F0502020204030204" pitchFamily="34" charset="0"/>
              </a:rPr>
              <a:t>THE SCENARIO</a:t>
            </a:r>
          </a:p>
        </p:txBody>
      </p:sp>
      <p:sp>
        <p:nvSpPr>
          <p:cNvPr id="5" name="TextBox 4">
            <a:extLst>
              <a:ext uri="{FF2B5EF4-FFF2-40B4-BE49-F238E27FC236}">
                <a16:creationId xmlns:a16="http://schemas.microsoft.com/office/drawing/2014/main" id="{31CA4B41-0FDB-5D70-116F-2C9AF72986F1}"/>
              </a:ext>
            </a:extLst>
          </p:cNvPr>
          <p:cNvSpPr txBox="1"/>
          <p:nvPr/>
        </p:nvSpPr>
        <p:spPr>
          <a:xfrm>
            <a:off x="914400" y="1905000"/>
            <a:ext cx="4470400" cy="369332"/>
          </a:xfrm>
          <a:prstGeom prst="rect">
            <a:avLst/>
          </a:prstGeom>
          <a:noFill/>
        </p:spPr>
        <p:txBody>
          <a:bodyPr vert="horz" wrap="square" lIns="0" tIns="0" rIns="0" bIns="0" rtlCol="0" anchor="t">
            <a:noAutofit/>
          </a:bodyPr>
          <a:lstStyle/>
          <a:p>
            <a:r>
              <a:rPr lang="en-US" sz="1700">
                <a:solidFill>
                  <a:srgbClr val="1E2A35"/>
                </a:solidFill>
                <a:latin typeface="Calibri" panose="020F0502020204030204" pitchFamily="34" charset="0"/>
              </a:rPr>
              <a:t>The code passed every check and is deployed to AWS: a private bucket of customer records, a locked-down firewall and a least-privilege role. Then a colleague 'just fixes something' directly in the AWS console.</a:t>
            </a:r>
            <a:endParaRPr lang="en-IN" sz="1700">
              <a:solidFill>
                <a:srgbClr val="1E2A35"/>
              </a:solidFill>
              <a:latin typeface="Calibri" panose="020F0502020204030204" pitchFamily="34" charset="0"/>
            </a:endParaRPr>
          </a:p>
        </p:txBody>
      </p:sp>
      <p:sp>
        <p:nvSpPr>
          <p:cNvPr id="6" name="TextBox 5">
            <a:extLst>
              <a:ext uri="{FF2B5EF4-FFF2-40B4-BE49-F238E27FC236}">
                <a16:creationId xmlns:a16="http://schemas.microsoft.com/office/drawing/2014/main" id="{6E55307A-A7EF-96DA-DDF6-F7BE08DBC23F}"/>
              </a:ext>
            </a:extLst>
          </p:cNvPr>
          <p:cNvSpPr txBox="1"/>
          <p:nvPr/>
        </p:nvSpPr>
        <p:spPr>
          <a:xfrm>
            <a:off x="914400" y="3886200"/>
            <a:ext cx="4470400" cy="369332"/>
          </a:xfrm>
          <a:prstGeom prst="rect">
            <a:avLst/>
          </a:prstGeom>
          <a:noFill/>
        </p:spPr>
        <p:txBody>
          <a:bodyPr vert="horz" wrap="square" lIns="0" tIns="0" rIns="0" bIns="0" rtlCol="0" anchor="b">
            <a:noAutofit/>
          </a:bodyPr>
          <a:lstStyle/>
          <a:p>
            <a:r>
              <a:rPr lang="en-IN" sz="2000" b="1">
                <a:solidFill>
                  <a:srgbClr val="E4572E"/>
                </a:solidFill>
                <a:latin typeface="Calibri" panose="020F0502020204030204" pitchFamily="34" charset="0"/>
              </a:rPr>
              <a:t>Will the pipeline notice?</a:t>
            </a:r>
          </a:p>
        </p:txBody>
      </p:sp>
      <p:sp>
        <p:nvSpPr>
          <p:cNvPr id="7" name="TextBox 6">
            <a:extLst>
              <a:ext uri="{FF2B5EF4-FFF2-40B4-BE49-F238E27FC236}">
                <a16:creationId xmlns:a16="http://schemas.microsoft.com/office/drawing/2014/main" id="{561E608E-203E-F31B-0E0E-B1F71F18A708}"/>
              </a:ext>
            </a:extLst>
          </p:cNvPr>
          <p:cNvSpPr txBox="1"/>
          <p:nvPr/>
        </p:nvSpPr>
        <p:spPr>
          <a:xfrm>
            <a:off x="6248400" y="1574800"/>
            <a:ext cx="5334000" cy="369332"/>
          </a:xfrm>
          <a:prstGeom prst="rect">
            <a:avLst/>
          </a:prstGeom>
          <a:noFill/>
        </p:spPr>
        <p:txBody>
          <a:bodyPr vert="horz" wrap="square" lIns="0" tIns="0" rIns="0" bIns="0" rtlCol="0" anchor="t">
            <a:noAutofit/>
          </a:bodyPr>
          <a:lstStyle/>
          <a:p>
            <a:r>
              <a:rPr lang="en-US" sz="1200" b="1">
                <a:solidFill>
                  <a:srgbClr val="1B998B"/>
                </a:solidFill>
                <a:latin typeface="Calibri" panose="020F0502020204030204" pitchFamily="34" charset="0"/>
              </a:rPr>
              <a:t>BY THE END OF THIS LAB YOU WILL</a:t>
            </a:r>
            <a:endParaRPr lang="en-IN" sz="1200" b="1">
              <a:solidFill>
                <a:srgbClr val="1B998B"/>
              </a:solidFill>
              <a:latin typeface="Calibri" panose="020F0502020204030204" pitchFamily="34" charset="0"/>
            </a:endParaRPr>
          </a:p>
        </p:txBody>
      </p:sp>
      <p:sp>
        <p:nvSpPr>
          <p:cNvPr id="8" name="Oval 7">
            <a:extLst>
              <a:ext uri="{FF2B5EF4-FFF2-40B4-BE49-F238E27FC236}">
                <a16:creationId xmlns:a16="http://schemas.microsoft.com/office/drawing/2014/main" id="{7B3A378C-0EC0-D51A-4140-1ABF1247FA0A}"/>
              </a:ext>
            </a:extLst>
          </p:cNvPr>
          <p:cNvSpPr/>
          <p:nvPr/>
        </p:nvSpPr>
        <p:spPr>
          <a:xfrm>
            <a:off x="6248400" y="1981200"/>
            <a:ext cx="482600" cy="482600"/>
          </a:xfrm>
          <a:prstGeom prst="ellipse">
            <a:avLst/>
          </a:prstGeom>
          <a:solidFill>
            <a:srgbClr val="1B998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IN" sz="1600" b="1">
                <a:solidFill>
                  <a:srgbClr val="FFFFFF"/>
                </a:solidFill>
                <a:latin typeface="Calibri" panose="020F0502020204030204" pitchFamily="34" charset="0"/>
              </a:rPr>
              <a:t>1</a:t>
            </a:r>
          </a:p>
        </p:txBody>
      </p:sp>
      <p:sp>
        <p:nvSpPr>
          <p:cNvPr id="9" name="TextBox 8">
            <a:extLst>
              <a:ext uri="{FF2B5EF4-FFF2-40B4-BE49-F238E27FC236}">
                <a16:creationId xmlns:a16="http://schemas.microsoft.com/office/drawing/2014/main" id="{2E0E0308-86E0-91C8-17A4-812BF8A91E45}"/>
              </a:ext>
            </a:extLst>
          </p:cNvPr>
          <p:cNvSpPr txBox="1"/>
          <p:nvPr/>
        </p:nvSpPr>
        <p:spPr>
          <a:xfrm>
            <a:off x="6934200" y="2006600"/>
            <a:ext cx="4648200" cy="369332"/>
          </a:xfrm>
          <a:prstGeom prst="rect">
            <a:avLst/>
          </a:prstGeom>
          <a:noFill/>
        </p:spPr>
        <p:txBody>
          <a:bodyPr vert="horz" wrap="square" lIns="0" tIns="0" rIns="0" bIns="0" rtlCol="0" anchor="t">
            <a:noAutofit/>
          </a:bodyPr>
          <a:lstStyle/>
          <a:p>
            <a:r>
              <a:rPr lang="en-US" sz="1700">
                <a:solidFill>
                  <a:srgbClr val="1E2A35"/>
                </a:solidFill>
                <a:latin typeface="Calibri" panose="020F0502020204030204" pitchFamily="34" charset="0"/>
              </a:rPr>
              <a:t>See real cloud resources created from code, secure by default</a:t>
            </a:r>
            <a:endParaRPr lang="en-IN" sz="1700">
              <a:solidFill>
                <a:srgbClr val="1E2A35"/>
              </a:solidFill>
              <a:latin typeface="Calibri" panose="020F0502020204030204" pitchFamily="34" charset="0"/>
            </a:endParaRPr>
          </a:p>
        </p:txBody>
      </p:sp>
      <p:sp>
        <p:nvSpPr>
          <p:cNvPr id="10" name="Oval 9">
            <a:extLst>
              <a:ext uri="{FF2B5EF4-FFF2-40B4-BE49-F238E27FC236}">
                <a16:creationId xmlns:a16="http://schemas.microsoft.com/office/drawing/2014/main" id="{254F20A2-68E4-6C78-A751-C255AA1FD260}"/>
              </a:ext>
            </a:extLst>
          </p:cNvPr>
          <p:cNvSpPr/>
          <p:nvPr/>
        </p:nvSpPr>
        <p:spPr>
          <a:xfrm>
            <a:off x="6248400" y="2921000"/>
            <a:ext cx="482600" cy="482600"/>
          </a:xfrm>
          <a:prstGeom prst="ellipse">
            <a:avLst/>
          </a:prstGeom>
          <a:solidFill>
            <a:srgbClr val="1B998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IN" sz="1600" b="1">
                <a:solidFill>
                  <a:srgbClr val="FFFFFF"/>
                </a:solidFill>
                <a:latin typeface="Calibri" panose="020F0502020204030204" pitchFamily="34" charset="0"/>
              </a:rPr>
              <a:t>2</a:t>
            </a:r>
          </a:p>
        </p:txBody>
      </p:sp>
      <p:sp>
        <p:nvSpPr>
          <p:cNvPr id="11" name="TextBox 10">
            <a:extLst>
              <a:ext uri="{FF2B5EF4-FFF2-40B4-BE49-F238E27FC236}">
                <a16:creationId xmlns:a16="http://schemas.microsoft.com/office/drawing/2014/main" id="{2B410A37-CCCF-A958-255C-4EBC28B4A9DF}"/>
              </a:ext>
            </a:extLst>
          </p:cNvPr>
          <p:cNvSpPr txBox="1"/>
          <p:nvPr/>
        </p:nvSpPr>
        <p:spPr>
          <a:xfrm>
            <a:off x="6934200" y="2946400"/>
            <a:ext cx="4648200" cy="369332"/>
          </a:xfrm>
          <a:prstGeom prst="rect">
            <a:avLst/>
          </a:prstGeom>
          <a:noFill/>
        </p:spPr>
        <p:txBody>
          <a:bodyPr vert="horz" wrap="square" lIns="0" tIns="0" rIns="0" bIns="0" rtlCol="0" anchor="t">
            <a:noAutofit/>
          </a:bodyPr>
          <a:lstStyle/>
          <a:p>
            <a:r>
              <a:rPr lang="en-US" sz="1700">
                <a:solidFill>
                  <a:srgbClr val="1E2A35"/>
                </a:solidFill>
                <a:latin typeface="Calibri" panose="020F0502020204030204" pitchFamily="34" charset="0"/>
              </a:rPr>
              <a:t>Watch a manual change leak data, live, on your own phone</a:t>
            </a:r>
            <a:endParaRPr lang="en-IN" sz="1700">
              <a:solidFill>
                <a:srgbClr val="1E2A35"/>
              </a:solidFill>
              <a:latin typeface="Calibri" panose="020F0502020204030204" pitchFamily="34" charset="0"/>
            </a:endParaRPr>
          </a:p>
        </p:txBody>
      </p:sp>
      <p:sp>
        <p:nvSpPr>
          <p:cNvPr id="12" name="Oval 11">
            <a:extLst>
              <a:ext uri="{FF2B5EF4-FFF2-40B4-BE49-F238E27FC236}">
                <a16:creationId xmlns:a16="http://schemas.microsoft.com/office/drawing/2014/main" id="{161F798F-D49C-2EE2-4F5F-564B5EEE4040}"/>
              </a:ext>
            </a:extLst>
          </p:cNvPr>
          <p:cNvSpPr/>
          <p:nvPr/>
        </p:nvSpPr>
        <p:spPr>
          <a:xfrm>
            <a:off x="6248400" y="3860800"/>
            <a:ext cx="482600" cy="482600"/>
          </a:xfrm>
          <a:prstGeom prst="ellipse">
            <a:avLst/>
          </a:prstGeom>
          <a:solidFill>
            <a:srgbClr val="1B998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IN" sz="1600" b="1">
                <a:solidFill>
                  <a:srgbClr val="FFFFFF"/>
                </a:solidFill>
                <a:latin typeface="Calibri" panose="020F0502020204030204" pitchFamily="34" charset="0"/>
              </a:rPr>
              <a:t>3</a:t>
            </a:r>
          </a:p>
        </p:txBody>
      </p:sp>
      <p:sp>
        <p:nvSpPr>
          <p:cNvPr id="13" name="TextBox 12">
            <a:extLst>
              <a:ext uri="{FF2B5EF4-FFF2-40B4-BE49-F238E27FC236}">
                <a16:creationId xmlns:a16="http://schemas.microsoft.com/office/drawing/2014/main" id="{59106349-4245-BD2C-2E39-5FE745C64A28}"/>
              </a:ext>
            </a:extLst>
          </p:cNvPr>
          <p:cNvSpPr txBox="1"/>
          <p:nvPr/>
        </p:nvSpPr>
        <p:spPr>
          <a:xfrm>
            <a:off x="6934200" y="3886200"/>
            <a:ext cx="4648200" cy="369332"/>
          </a:xfrm>
          <a:prstGeom prst="rect">
            <a:avLst/>
          </a:prstGeom>
          <a:noFill/>
        </p:spPr>
        <p:txBody>
          <a:bodyPr vert="horz" wrap="square" lIns="0" tIns="0" rIns="0" bIns="0" rtlCol="0" anchor="t">
            <a:noAutofit/>
          </a:bodyPr>
          <a:lstStyle/>
          <a:p>
            <a:r>
              <a:rPr lang="en-US" sz="1700">
                <a:solidFill>
                  <a:srgbClr val="1E2A35"/>
                </a:solidFill>
                <a:latin typeface="Calibri" panose="020F0502020204030204" pitchFamily="34" charset="0"/>
              </a:rPr>
              <a:t>Detect the drift and put the cloud back the way the code says</a:t>
            </a:r>
            <a:endParaRPr lang="en-IN" sz="1700">
              <a:solidFill>
                <a:srgbClr val="1E2A35"/>
              </a:solidFill>
              <a:latin typeface="Calibri" panose="020F0502020204030204" pitchFamily="34" charset="0"/>
            </a:endParaRPr>
          </a:p>
        </p:txBody>
      </p:sp>
      <p:sp>
        <p:nvSpPr>
          <p:cNvPr id="14" name="Rectangle: Rounded Corners 13">
            <a:extLst>
              <a:ext uri="{FF2B5EF4-FFF2-40B4-BE49-F238E27FC236}">
                <a16:creationId xmlns:a16="http://schemas.microsoft.com/office/drawing/2014/main" id="{E287CB18-596F-0A9E-5545-2D26A0A24CF9}"/>
              </a:ext>
            </a:extLst>
          </p:cNvPr>
          <p:cNvSpPr/>
          <p:nvPr/>
        </p:nvSpPr>
        <p:spPr>
          <a:xfrm>
            <a:off x="609600" y="5054600"/>
            <a:ext cx="10972800" cy="711200"/>
          </a:xfrm>
          <a:prstGeom prst="roundRect">
            <a:avLst>
              <a:gd name="adj" fmla="val 10000"/>
            </a:avLst>
          </a:prstGeom>
          <a:solidFill>
            <a:srgbClr val="FCE5D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0" tIns="25400" rIns="76200" bIns="25400" rtlCol="0" anchor="ctr"/>
          <a:lstStyle/>
          <a:p>
            <a:r>
              <a:rPr lang="en-US" sz="1500" b="1">
                <a:solidFill>
                  <a:srgbClr val="E4572E"/>
                </a:solidFill>
                <a:latin typeface="Calibri" panose="020F0502020204030204" pitchFamily="34" charset="0"/>
              </a:rPr>
              <a:t>Real world:  Misconfigured storage exposed so much data that AWS added Block Public Access in 2018.</a:t>
            </a:r>
            <a:endParaRPr lang="en-IN" sz="1500" b="1">
              <a:solidFill>
                <a:srgbClr val="E4572E"/>
              </a:solidFill>
              <a:latin typeface="Calibri" panose="020F0502020204030204" pitchFamily="34" charset="0"/>
            </a:endParaRPr>
          </a:p>
        </p:txBody>
      </p:sp>
      <p:sp>
        <p:nvSpPr>
          <p:cNvPr id="15" name="TextBox 14">
            <a:extLst>
              <a:ext uri="{FF2B5EF4-FFF2-40B4-BE49-F238E27FC236}">
                <a16:creationId xmlns:a16="http://schemas.microsoft.com/office/drawing/2014/main" id="{92E4E0FF-B0A0-E6B6-E9B7-45358FD5F70D}"/>
              </a:ext>
            </a:extLst>
          </p:cNvPr>
          <p:cNvSpPr txBox="1"/>
          <p:nvPr/>
        </p:nvSpPr>
        <p:spPr>
          <a:xfrm>
            <a:off x="609600" y="6502400"/>
            <a:ext cx="5080000" cy="369332"/>
          </a:xfrm>
          <a:prstGeom prst="rect">
            <a:avLst/>
          </a:prstGeom>
          <a:noFill/>
        </p:spPr>
        <p:txBody>
          <a:bodyPr vert="horz" wrap="square" lIns="0" tIns="0" rIns="0" bIns="0" rtlCol="0" anchor="t">
            <a:noAutofit/>
          </a:bodyPr>
          <a:lstStyle/>
          <a:p>
            <a:r>
              <a:rPr lang="en-US" sz="1000">
                <a:solidFill>
                  <a:srgbClr val="5B6B79"/>
                </a:solidFill>
                <a:latin typeface="Calibri" panose="020F0502020204030204" pitchFamily="34" charset="0"/>
              </a:rPr>
              <a:t>Securing the path to the cloud</a:t>
            </a:r>
            <a:endParaRPr lang="en-IN" sz="1000">
              <a:solidFill>
                <a:srgbClr val="5B6B79"/>
              </a:solidFill>
              <a:latin typeface="Calibri" panose="020F0502020204030204" pitchFamily="34" charset="0"/>
            </a:endParaRPr>
          </a:p>
        </p:txBody>
      </p:sp>
      <p:sp>
        <p:nvSpPr>
          <p:cNvPr id="16" name="TextBox 15">
            <a:extLst>
              <a:ext uri="{FF2B5EF4-FFF2-40B4-BE49-F238E27FC236}">
                <a16:creationId xmlns:a16="http://schemas.microsoft.com/office/drawing/2014/main" id="{4AF6F2EC-DDAA-2A52-C796-7905E2B2001F}"/>
              </a:ext>
            </a:extLst>
          </p:cNvPr>
          <p:cNvSpPr txBox="1"/>
          <p:nvPr/>
        </p:nvSpPr>
        <p:spPr>
          <a:xfrm>
            <a:off x="10312400" y="6502400"/>
            <a:ext cx="1270000" cy="369332"/>
          </a:xfrm>
          <a:prstGeom prst="rect">
            <a:avLst/>
          </a:prstGeom>
          <a:noFill/>
        </p:spPr>
        <p:txBody>
          <a:bodyPr vert="horz" wrap="square" lIns="0" tIns="0" rIns="0" bIns="0" rtlCol="0" anchor="t">
            <a:noAutofit/>
          </a:bodyPr>
          <a:lstStyle/>
          <a:p>
            <a:pPr algn="r"/>
            <a:r>
              <a:rPr lang="en-IN" sz="1000">
                <a:solidFill>
                  <a:srgbClr val="5B6B79"/>
                </a:solidFill>
                <a:latin typeface="Calibri" panose="020F0502020204030204" pitchFamily="34" charset="0"/>
              </a:rPr>
              <a:t>27</a:t>
            </a:r>
          </a:p>
        </p:txBody>
      </p:sp>
    </p:spTree>
    <p:extLst>
      <p:ext uri="{BB962C8B-B14F-4D97-AF65-F5344CB8AC3E}">
        <p14:creationId xmlns:p14="http://schemas.microsoft.com/office/powerpoint/2010/main" val="15077035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6DA6EC7-9FF5-21C4-6A0F-EC1FA00CB9DF}"/>
              </a:ext>
            </a:extLst>
          </p:cNvPr>
          <p:cNvSpPr txBox="1"/>
          <p:nvPr/>
        </p:nvSpPr>
        <p:spPr>
          <a:xfrm>
            <a:off x="609600" y="381000"/>
            <a:ext cx="10972800" cy="369332"/>
          </a:xfrm>
          <a:prstGeom prst="rect">
            <a:avLst/>
          </a:prstGeom>
          <a:noFill/>
        </p:spPr>
        <p:txBody>
          <a:bodyPr vert="horz" wrap="square" lIns="0" tIns="0" rIns="0" bIns="0" rtlCol="0" anchor="t">
            <a:noAutofit/>
          </a:bodyPr>
          <a:lstStyle/>
          <a:p>
            <a:r>
              <a:rPr lang="en-IN" sz="3400" b="1">
                <a:solidFill>
                  <a:srgbClr val="13293D"/>
                </a:solidFill>
                <a:latin typeface="Calibri" panose="020F0502020204030204" pitchFamily="34" charset="0"/>
              </a:rPr>
              <a:t>Deploy, drift, detect, fix</a:t>
            </a:r>
          </a:p>
        </p:txBody>
      </p:sp>
      <p:sp>
        <p:nvSpPr>
          <p:cNvPr id="3" name="TextBox 2">
            <a:extLst>
              <a:ext uri="{FF2B5EF4-FFF2-40B4-BE49-F238E27FC236}">
                <a16:creationId xmlns:a16="http://schemas.microsoft.com/office/drawing/2014/main" id="{1A4EE348-7BCE-677B-4E68-019007BEB215}"/>
              </a:ext>
            </a:extLst>
          </p:cNvPr>
          <p:cNvSpPr txBox="1"/>
          <p:nvPr/>
        </p:nvSpPr>
        <p:spPr>
          <a:xfrm>
            <a:off x="609600" y="1016000"/>
            <a:ext cx="10972800" cy="369332"/>
          </a:xfrm>
          <a:prstGeom prst="rect">
            <a:avLst/>
          </a:prstGeom>
          <a:noFill/>
        </p:spPr>
        <p:txBody>
          <a:bodyPr vert="horz" wrap="square" lIns="0" tIns="0" rIns="0" bIns="0" rtlCol="0" anchor="t">
            <a:noAutofit/>
          </a:bodyPr>
          <a:lstStyle/>
          <a:p>
            <a:r>
              <a:rPr lang="en-US" sz="1600">
                <a:solidFill>
                  <a:srgbClr val="5B6B79"/>
                </a:solidFill>
                <a:latin typeface="Calibri" panose="020F0502020204030204" pitchFamily="34" charset="0"/>
              </a:rPr>
              <a:t>Everything below happens on a real AWS account, in about ten minutes</a:t>
            </a:r>
            <a:endParaRPr lang="en-IN" sz="1600">
              <a:solidFill>
                <a:srgbClr val="5B6B79"/>
              </a:solidFill>
              <a:latin typeface="Calibri" panose="020F0502020204030204" pitchFamily="34" charset="0"/>
            </a:endParaRPr>
          </a:p>
        </p:txBody>
      </p:sp>
      <p:sp>
        <p:nvSpPr>
          <p:cNvPr id="4" name="Rectangle: Rounded Corners 3">
            <a:extLst>
              <a:ext uri="{FF2B5EF4-FFF2-40B4-BE49-F238E27FC236}">
                <a16:creationId xmlns:a16="http://schemas.microsoft.com/office/drawing/2014/main" id="{C51FE889-6938-B255-0A19-6986DB4EB40F}"/>
              </a:ext>
            </a:extLst>
          </p:cNvPr>
          <p:cNvSpPr/>
          <p:nvPr/>
        </p:nvSpPr>
        <p:spPr>
          <a:xfrm>
            <a:off x="609600" y="1498600"/>
            <a:ext cx="2032000" cy="2997200"/>
          </a:xfrm>
          <a:prstGeom prst="roundRect">
            <a:avLst>
              <a:gd name="adj" fmla="val 10000"/>
            </a:avLst>
          </a:prstGeom>
          <a:solidFill>
            <a:srgbClr val="EEF3F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val 4">
            <a:extLst>
              <a:ext uri="{FF2B5EF4-FFF2-40B4-BE49-F238E27FC236}">
                <a16:creationId xmlns:a16="http://schemas.microsoft.com/office/drawing/2014/main" id="{377B5347-5D7A-48A8-1531-181A4E003499}"/>
              </a:ext>
            </a:extLst>
          </p:cNvPr>
          <p:cNvSpPr/>
          <p:nvPr/>
        </p:nvSpPr>
        <p:spPr>
          <a:xfrm>
            <a:off x="812800" y="1701800"/>
            <a:ext cx="457200" cy="457200"/>
          </a:xfrm>
          <a:prstGeom prst="ellipse">
            <a:avLst/>
          </a:prstGeom>
          <a:solidFill>
            <a:srgbClr val="1B998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IN" sz="1500" b="1">
                <a:solidFill>
                  <a:srgbClr val="FFFFFF"/>
                </a:solidFill>
                <a:latin typeface="Calibri" panose="020F0502020204030204" pitchFamily="34" charset="0"/>
              </a:rPr>
              <a:t>1</a:t>
            </a:r>
          </a:p>
        </p:txBody>
      </p:sp>
      <p:sp>
        <p:nvSpPr>
          <p:cNvPr id="6" name="TextBox 5">
            <a:extLst>
              <a:ext uri="{FF2B5EF4-FFF2-40B4-BE49-F238E27FC236}">
                <a16:creationId xmlns:a16="http://schemas.microsoft.com/office/drawing/2014/main" id="{3BB849C4-87E5-17AD-7D8A-08FC2BE719B1}"/>
              </a:ext>
            </a:extLst>
          </p:cNvPr>
          <p:cNvSpPr txBox="1"/>
          <p:nvPr/>
        </p:nvSpPr>
        <p:spPr>
          <a:xfrm>
            <a:off x="812800" y="2311400"/>
            <a:ext cx="1625600" cy="369332"/>
          </a:xfrm>
          <a:prstGeom prst="rect">
            <a:avLst/>
          </a:prstGeom>
          <a:noFill/>
        </p:spPr>
        <p:txBody>
          <a:bodyPr vert="horz" wrap="square" lIns="0" tIns="0" rIns="0" bIns="0" rtlCol="0" anchor="t">
            <a:noAutofit/>
          </a:bodyPr>
          <a:lstStyle/>
          <a:p>
            <a:r>
              <a:rPr lang="en-IN" sz="2000" b="1">
                <a:solidFill>
                  <a:srgbClr val="13293D"/>
                </a:solidFill>
                <a:latin typeface="Calibri" panose="020F0502020204030204" pitchFamily="34" charset="0"/>
              </a:rPr>
              <a:t>Deploy</a:t>
            </a:r>
          </a:p>
        </p:txBody>
      </p:sp>
      <p:sp>
        <p:nvSpPr>
          <p:cNvPr id="7" name="TextBox 6">
            <a:extLst>
              <a:ext uri="{FF2B5EF4-FFF2-40B4-BE49-F238E27FC236}">
                <a16:creationId xmlns:a16="http://schemas.microsoft.com/office/drawing/2014/main" id="{4D24B50F-EF78-B92D-52E0-3EBB1C4E65F3}"/>
              </a:ext>
            </a:extLst>
          </p:cNvPr>
          <p:cNvSpPr txBox="1"/>
          <p:nvPr/>
        </p:nvSpPr>
        <p:spPr>
          <a:xfrm>
            <a:off x="812800" y="2717800"/>
            <a:ext cx="1625600" cy="369332"/>
          </a:xfrm>
          <a:prstGeom prst="rect">
            <a:avLst/>
          </a:prstGeom>
          <a:noFill/>
        </p:spPr>
        <p:txBody>
          <a:bodyPr vert="horz" wrap="square" lIns="0" tIns="0" rIns="0" bIns="0" rtlCol="0" anchor="t">
            <a:noAutofit/>
          </a:bodyPr>
          <a:lstStyle/>
          <a:p>
            <a:r>
              <a:rPr lang="en-US" sz="1400">
                <a:solidFill>
                  <a:srgbClr val="1E2A35"/>
                </a:solidFill>
                <a:latin typeface="Calibri" panose="020F0502020204030204" pitchFamily="34" charset="0"/>
              </a:rPr>
              <a:t>Terraform creates a private bucket, an HTTPS-only firewall and a least-privilege role.</a:t>
            </a:r>
            <a:endParaRPr lang="en-IN" sz="1400">
              <a:solidFill>
                <a:srgbClr val="1E2A35"/>
              </a:solidFill>
              <a:latin typeface="Calibri" panose="020F0502020204030204" pitchFamily="34" charset="0"/>
            </a:endParaRPr>
          </a:p>
        </p:txBody>
      </p:sp>
      <p:sp>
        <p:nvSpPr>
          <p:cNvPr id="8" name="Rectangle: Rounded Corners 7">
            <a:extLst>
              <a:ext uri="{FF2B5EF4-FFF2-40B4-BE49-F238E27FC236}">
                <a16:creationId xmlns:a16="http://schemas.microsoft.com/office/drawing/2014/main" id="{7F660846-6199-0512-4C0A-2E2290EC55DA}"/>
              </a:ext>
            </a:extLst>
          </p:cNvPr>
          <p:cNvSpPr/>
          <p:nvPr/>
        </p:nvSpPr>
        <p:spPr>
          <a:xfrm>
            <a:off x="812800" y="3987800"/>
            <a:ext cx="1625600" cy="330200"/>
          </a:xfrm>
          <a:prstGeom prst="roundRect">
            <a:avLst>
              <a:gd name="adj" fmla="val 10000"/>
            </a:avLst>
          </a:prstGeom>
          <a:solidFill>
            <a:srgbClr val="D3EC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IN" sz="1200" b="1">
                <a:solidFill>
                  <a:srgbClr val="1B998B"/>
                </a:solidFill>
                <a:latin typeface="Calibri" panose="020F0502020204030204" pitchFamily="34" charset="0"/>
              </a:rPr>
              <a:t>check: PASS</a:t>
            </a:r>
          </a:p>
        </p:txBody>
      </p:sp>
      <p:sp>
        <p:nvSpPr>
          <p:cNvPr id="9" name="Rectangle: Rounded Corners 8">
            <a:extLst>
              <a:ext uri="{FF2B5EF4-FFF2-40B4-BE49-F238E27FC236}">
                <a16:creationId xmlns:a16="http://schemas.microsoft.com/office/drawing/2014/main" id="{AB8BFBC9-8FC5-D24E-11BC-412DCC06C595}"/>
              </a:ext>
            </a:extLst>
          </p:cNvPr>
          <p:cNvSpPr/>
          <p:nvPr/>
        </p:nvSpPr>
        <p:spPr>
          <a:xfrm>
            <a:off x="2844800" y="1498600"/>
            <a:ext cx="2032000" cy="2997200"/>
          </a:xfrm>
          <a:prstGeom prst="roundRect">
            <a:avLst>
              <a:gd name="adj" fmla="val 10000"/>
            </a:avLst>
          </a:prstGeom>
          <a:solidFill>
            <a:srgbClr val="EEF3F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id="{88717769-A623-72BE-1BF9-3CF948DE7FE9}"/>
              </a:ext>
            </a:extLst>
          </p:cNvPr>
          <p:cNvSpPr/>
          <p:nvPr/>
        </p:nvSpPr>
        <p:spPr>
          <a:xfrm>
            <a:off x="3048000" y="1701800"/>
            <a:ext cx="457200" cy="457200"/>
          </a:xfrm>
          <a:prstGeom prst="ellipse">
            <a:avLst/>
          </a:prstGeom>
          <a:solidFill>
            <a:srgbClr val="E457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IN" sz="1500" b="1">
                <a:solidFill>
                  <a:srgbClr val="FFFFFF"/>
                </a:solidFill>
                <a:latin typeface="Calibri" panose="020F0502020204030204" pitchFamily="34" charset="0"/>
              </a:rPr>
              <a:t>2</a:t>
            </a:r>
          </a:p>
        </p:txBody>
      </p:sp>
      <p:sp>
        <p:nvSpPr>
          <p:cNvPr id="11" name="TextBox 10">
            <a:extLst>
              <a:ext uri="{FF2B5EF4-FFF2-40B4-BE49-F238E27FC236}">
                <a16:creationId xmlns:a16="http://schemas.microsoft.com/office/drawing/2014/main" id="{A4938C6E-3536-B02D-2B87-8513B54BA056}"/>
              </a:ext>
            </a:extLst>
          </p:cNvPr>
          <p:cNvSpPr txBox="1"/>
          <p:nvPr/>
        </p:nvSpPr>
        <p:spPr>
          <a:xfrm>
            <a:off x="3048000" y="2311400"/>
            <a:ext cx="1625600" cy="369332"/>
          </a:xfrm>
          <a:prstGeom prst="rect">
            <a:avLst/>
          </a:prstGeom>
          <a:noFill/>
        </p:spPr>
        <p:txBody>
          <a:bodyPr vert="horz" wrap="square" lIns="0" tIns="0" rIns="0" bIns="0" rtlCol="0" anchor="t">
            <a:noAutofit/>
          </a:bodyPr>
          <a:lstStyle/>
          <a:p>
            <a:r>
              <a:rPr lang="en-IN" sz="2000" b="1">
                <a:solidFill>
                  <a:srgbClr val="13293D"/>
                </a:solidFill>
                <a:latin typeface="Calibri" panose="020F0502020204030204" pitchFamily="34" charset="0"/>
              </a:rPr>
              <a:t>Drift</a:t>
            </a:r>
          </a:p>
        </p:txBody>
      </p:sp>
      <p:sp>
        <p:nvSpPr>
          <p:cNvPr id="12" name="TextBox 11">
            <a:extLst>
              <a:ext uri="{FF2B5EF4-FFF2-40B4-BE49-F238E27FC236}">
                <a16:creationId xmlns:a16="http://schemas.microsoft.com/office/drawing/2014/main" id="{7E8A79FA-8C31-7B8F-F263-BF197EE2BC0F}"/>
              </a:ext>
            </a:extLst>
          </p:cNvPr>
          <p:cNvSpPr txBox="1"/>
          <p:nvPr/>
        </p:nvSpPr>
        <p:spPr>
          <a:xfrm>
            <a:off x="3048000" y="2717800"/>
            <a:ext cx="1625600" cy="369332"/>
          </a:xfrm>
          <a:prstGeom prst="rect">
            <a:avLst/>
          </a:prstGeom>
          <a:noFill/>
        </p:spPr>
        <p:txBody>
          <a:bodyPr vert="horz" wrap="square" lIns="0" tIns="0" rIns="0" bIns="0" rtlCol="0" anchor="t">
            <a:noAutofit/>
          </a:bodyPr>
          <a:lstStyle/>
          <a:p>
            <a:r>
              <a:rPr lang="en-US" sz="1400">
                <a:solidFill>
                  <a:srgbClr val="1E2A35"/>
                </a:solidFill>
                <a:latin typeface="Calibri" panose="020F0502020204030204" pitchFamily="34" charset="0"/>
              </a:rPr>
              <a:t>A colleague opens SSH to the world and makes the bucket public, by hand.</a:t>
            </a:r>
            <a:endParaRPr lang="en-IN" sz="1400">
              <a:solidFill>
                <a:srgbClr val="1E2A35"/>
              </a:solidFill>
              <a:latin typeface="Calibri" panose="020F0502020204030204" pitchFamily="34" charset="0"/>
            </a:endParaRPr>
          </a:p>
        </p:txBody>
      </p:sp>
      <p:sp>
        <p:nvSpPr>
          <p:cNvPr id="13" name="Rectangle: Rounded Corners 12">
            <a:extLst>
              <a:ext uri="{FF2B5EF4-FFF2-40B4-BE49-F238E27FC236}">
                <a16:creationId xmlns:a16="http://schemas.microsoft.com/office/drawing/2014/main" id="{5E3B84D5-D7D2-A4A8-2037-19DA64655A5E}"/>
              </a:ext>
            </a:extLst>
          </p:cNvPr>
          <p:cNvSpPr/>
          <p:nvPr/>
        </p:nvSpPr>
        <p:spPr>
          <a:xfrm>
            <a:off x="3048000" y="3987800"/>
            <a:ext cx="1625600" cy="330200"/>
          </a:xfrm>
          <a:prstGeom prst="roundRect">
            <a:avLst>
              <a:gd name="adj" fmla="val 10000"/>
            </a:avLst>
          </a:prstGeom>
          <a:solidFill>
            <a:srgbClr val="FCE5D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IN" sz="1200" b="1">
                <a:solidFill>
                  <a:srgbClr val="E4572E"/>
                </a:solidFill>
                <a:latin typeface="Calibri" panose="020F0502020204030204" pitchFamily="34" charset="0"/>
              </a:rPr>
              <a:t>check: FAIL</a:t>
            </a:r>
          </a:p>
        </p:txBody>
      </p:sp>
      <p:cxnSp>
        <p:nvCxnSpPr>
          <p:cNvPr id="14" name="Straight Connector 13">
            <a:extLst>
              <a:ext uri="{FF2B5EF4-FFF2-40B4-BE49-F238E27FC236}">
                <a16:creationId xmlns:a16="http://schemas.microsoft.com/office/drawing/2014/main" id="{C5401CEB-96BD-1618-E048-05DACBCE2159}"/>
              </a:ext>
            </a:extLst>
          </p:cNvPr>
          <p:cNvCxnSpPr/>
          <p:nvPr/>
        </p:nvCxnSpPr>
        <p:spPr>
          <a:xfrm>
            <a:off x="2667000" y="2997200"/>
            <a:ext cx="152400" cy="0"/>
          </a:xfrm>
          <a:prstGeom prst="line">
            <a:avLst/>
          </a:prstGeom>
          <a:ln w="25400">
            <a:solidFill>
              <a:srgbClr val="5B6B79"/>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Rounded Corners 14">
            <a:extLst>
              <a:ext uri="{FF2B5EF4-FFF2-40B4-BE49-F238E27FC236}">
                <a16:creationId xmlns:a16="http://schemas.microsoft.com/office/drawing/2014/main" id="{ACFA7C7E-04A5-971C-1C80-B68117190F6E}"/>
              </a:ext>
            </a:extLst>
          </p:cNvPr>
          <p:cNvSpPr/>
          <p:nvPr/>
        </p:nvSpPr>
        <p:spPr>
          <a:xfrm>
            <a:off x="5080000" y="1498600"/>
            <a:ext cx="2032000" cy="2997200"/>
          </a:xfrm>
          <a:prstGeom prst="roundRect">
            <a:avLst>
              <a:gd name="adj" fmla="val 10000"/>
            </a:avLst>
          </a:prstGeom>
          <a:solidFill>
            <a:srgbClr val="EEF3F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Oval 15">
            <a:extLst>
              <a:ext uri="{FF2B5EF4-FFF2-40B4-BE49-F238E27FC236}">
                <a16:creationId xmlns:a16="http://schemas.microsoft.com/office/drawing/2014/main" id="{9CFE717A-56A5-2E6B-0F9A-0420012CA523}"/>
              </a:ext>
            </a:extLst>
          </p:cNvPr>
          <p:cNvSpPr/>
          <p:nvPr/>
        </p:nvSpPr>
        <p:spPr>
          <a:xfrm>
            <a:off x="5283200" y="1701800"/>
            <a:ext cx="457200" cy="457200"/>
          </a:xfrm>
          <a:prstGeom prst="ellipse">
            <a:avLst/>
          </a:prstGeom>
          <a:solidFill>
            <a:srgbClr val="E457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IN" sz="1500" b="1">
                <a:solidFill>
                  <a:srgbClr val="FFFFFF"/>
                </a:solidFill>
                <a:latin typeface="Calibri" panose="020F0502020204030204" pitchFamily="34" charset="0"/>
              </a:rPr>
              <a:t>3</a:t>
            </a:r>
          </a:p>
        </p:txBody>
      </p:sp>
      <p:sp>
        <p:nvSpPr>
          <p:cNvPr id="17" name="TextBox 16">
            <a:extLst>
              <a:ext uri="{FF2B5EF4-FFF2-40B4-BE49-F238E27FC236}">
                <a16:creationId xmlns:a16="http://schemas.microsoft.com/office/drawing/2014/main" id="{D82D4274-6AAA-A52D-64D5-C03F8A6018FB}"/>
              </a:ext>
            </a:extLst>
          </p:cNvPr>
          <p:cNvSpPr txBox="1"/>
          <p:nvPr/>
        </p:nvSpPr>
        <p:spPr>
          <a:xfrm>
            <a:off x="5283200" y="2311400"/>
            <a:ext cx="1625600" cy="369332"/>
          </a:xfrm>
          <a:prstGeom prst="rect">
            <a:avLst/>
          </a:prstGeom>
          <a:noFill/>
        </p:spPr>
        <p:txBody>
          <a:bodyPr vert="horz" wrap="square" lIns="0" tIns="0" rIns="0" bIns="0" rtlCol="0" anchor="t">
            <a:noAutofit/>
          </a:bodyPr>
          <a:lstStyle/>
          <a:p>
            <a:r>
              <a:rPr lang="en-IN" sz="2000" b="1">
                <a:solidFill>
                  <a:srgbClr val="13293D"/>
                </a:solidFill>
                <a:latin typeface="Calibri" panose="020F0502020204030204" pitchFamily="34" charset="0"/>
              </a:rPr>
              <a:t>Leak</a:t>
            </a:r>
          </a:p>
        </p:txBody>
      </p:sp>
      <p:sp>
        <p:nvSpPr>
          <p:cNvPr id="18" name="TextBox 17">
            <a:extLst>
              <a:ext uri="{FF2B5EF4-FFF2-40B4-BE49-F238E27FC236}">
                <a16:creationId xmlns:a16="http://schemas.microsoft.com/office/drawing/2014/main" id="{AA037BD6-551B-43DF-18F3-31314408ACC3}"/>
              </a:ext>
            </a:extLst>
          </p:cNvPr>
          <p:cNvSpPr txBox="1"/>
          <p:nvPr/>
        </p:nvSpPr>
        <p:spPr>
          <a:xfrm>
            <a:off x="5283200" y="2717800"/>
            <a:ext cx="1625600" cy="369332"/>
          </a:xfrm>
          <a:prstGeom prst="rect">
            <a:avLst/>
          </a:prstGeom>
          <a:noFill/>
        </p:spPr>
        <p:txBody>
          <a:bodyPr vert="horz" wrap="square" lIns="0" tIns="0" rIns="0" bIns="0" rtlCol="0" anchor="t">
            <a:noAutofit/>
          </a:bodyPr>
          <a:lstStyle/>
          <a:p>
            <a:r>
              <a:rPr lang="en-US" sz="1400">
                <a:solidFill>
                  <a:srgbClr val="1E2A35"/>
                </a:solidFill>
                <a:latin typeface="Calibri" panose="020F0502020204030204" pitchFamily="34" charset="0"/>
              </a:rPr>
              <a:t>Scan the QR code: the confidential customer page opens on your phone.</a:t>
            </a:r>
            <a:endParaRPr lang="en-IN" sz="1400">
              <a:solidFill>
                <a:srgbClr val="1E2A35"/>
              </a:solidFill>
              <a:latin typeface="Calibri" panose="020F0502020204030204" pitchFamily="34" charset="0"/>
            </a:endParaRPr>
          </a:p>
        </p:txBody>
      </p:sp>
      <p:sp>
        <p:nvSpPr>
          <p:cNvPr id="19" name="Rectangle: Rounded Corners 18">
            <a:extLst>
              <a:ext uri="{FF2B5EF4-FFF2-40B4-BE49-F238E27FC236}">
                <a16:creationId xmlns:a16="http://schemas.microsoft.com/office/drawing/2014/main" id="{529E5E98-C5C9-F241-0A1A-CAF6EE8BEEF2}"/>
              </a:ext>
            </a:extLst>
          </p:cNvPr>
          <p:cNvSpPr/>
          <p:nvPr/>
        </p:nvSpPr>
        <p:spPr>
          <a:xfrm>
            <a:off x="5283200" y="3987800"/>
            <a:ext cx="1625600" cy="330200"/>
          </a:xfrm>
          <a:prstGeom prst="roundRect">
            <a:avLst>
              <a:gd name="adj" fmla="val 10000"/>
            </a:avLst>
          </a:prstGeom>
          <a:solidFill>
            <a:srgbClr val="FCE5D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IN" sz="1200" b="1">
                <a:solidFill>
                  <a:srgbClr val="E4572E"/>
                </a:solidFill>
                <a:latin typeface="Calibri" panose="020F0502020204030204" pitchFamily="34" charset="0"/>
              </a:rPr>
              <a:t>no login needed</a:t>
            </a:r>
          </a:p>
        </p:txBody>
      </p:sp>
      <p:cxnSp>
        <p:nvCxnSpPr>
          <p:cNvPr id="20" name="Straight Connector 19">
            <a:extLst>
              <a:ext uri="{FF2B5EF4-FFF2-40B4-BE49-F238E27FC236}">
                <a16:creationId xmlns:a16="http://schemas.microsoft.com/office/drawing/2014/main" id="{FAB16382-9D5C-CBF7-9764-ADF28DAC2C28}"/>
              </a:ext>
            </a:extLst>
          </p:cNvPr>
          <p:cNvCxnSpPr/>
          <p:nvPr/>
        </p:nvCxnSpPr>
        <p:spPr>
          <a:xfrm>
            <a:off x="4902200" y="2997200"/>
            <a:ext cx="152400" cy="0"/>
          </a:xfrm>
          <a:prstGeom prst="line">
            <a:avLst/>
          </a:prstGeom>
          <a:ln w="25400">
            <a:solidFill>
              <a:srgbClr val="5B6B79"/>
            </a:solidFill>
            <a:tailEnd type="triangle"/>
          </a:ln>
        </p:spPr>
        <p:style>
          <a:lnRef idx="2">
            <a:schemeClr val="accent1"/>
          </a:lnRef>
          <a:fillRef idx="0">
            <a:schemeClr val="accent1"/>
          </a:fillRef>
          <a:effectRef idx="1">
            <a:schemeClr val="accent1"/>
          </a:effectRef>
          <a:fontRef idx="minor">
            <a:schemeClr val="tx1"/>
          </a:fontRef>
        </p:style>
      </p:cxnSp>
      <p:sp>
        <p:nvSpPr>
          <p:cNvPr id="21" name="Rectangle: Rounded Corners 20">
            <a:extLst>
              <a:ext uri="{FF2B5EF4-FFF2-40B4-BE49-F238E27FC236}">
                <a16:creationId xmlns:a16="http://schemas.microsoft.com/office/drawing/2014/main" id="{415B60EE-E9C2-2054-5BAF-31D4CB78D75C}"/>
              </a:ext>
            </a:extLst>
          </p:cNvPr>
          <p:cNvSpPr/>
          <p:nvPr/>
        </p:nvSpPr>
        <p:spPr>
          <a:xfrm>
            <a:off x="7315200" y="1498600"/>
            <a:ext cx="2032000" cy="2997200"/>
          </a:xfrm>
          <a:prstGeom prst="roundRect">
            <a:avLst>
              <a:gd name="adj" fmla="val 10000"/>
            </a:avLst>
          </a:prstGeom>
          <a:solidFill>
            <a:srgbClr val="EEF3F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Oval 21">
            <a:extLst>
              <a:ext uri="{FF2B5EF4-FFF2-40B4-BE49-F238E27FC236}">
                <a16:creationId xmlns:a16="http://schemas.microsoft.com/office/drawing/2014/main" id="{4745642E-22AD-44B3-4560-5D9E10FBCE74}"/>
              </a:ext>
            </a:extLst>
          </p:cNvPr>
          <p:cNvSpPr/>
          <p:nvPr/>
        </p:nvSpPr>
        <p:spPr>
          <a:xfrm>
            <a:off x="7518400" y="1701800"/>
            <a:ext cx="457200" cy="457200"/>
          </a:xfrm>
          <a:prstGeom prst="ellipse">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IN" sz="1500" b="1">
                <a:solidFill>
                  <a:srgbClr val="FFFFFF"/>
                </a:solidFill>
                <a:latin typeface="Calibri" panose="020F0502020204030204" pitchFamily="34" charset="0"/>
              </a:rPr>
              <a:t>4</a:t>
            </a:r>
          </a:p>
        </p:txBody>
      </p:sp>
      <p:sp>
        <p:nvSpPr>
          <p:cNvPr id="23" name="TextBox 22">
            <a:extLst>
              <a:ext uri="{FF2B5EF4-FFF2-40B4-BE49-F238E27FC236}">
                <a16:creationId xmlns:a16="http://schemas.microsoft.com/office/drawing/2014/main" id="{FA2AF2A7-DD46-8C08-830A-F7FF0374D36A}"/>
              </a:ext>
            </a:extLst>
          </p:cNvPr>
          <p:cNvSpPr txBox="1"/>
          <p:nvPr/>
        </p:nvSpPr>
        <p:spPr>
          <a:xfrm>
            <a:off x="7518400" y="2311400"/>
            <a:ext cx="1625600" cy="369332"/>
          </a:xfrm>
          <a:prstGeom prst="rect">
            <a:avLst/>
          </a:prstGeom>
          <a:noFill/>
        </p:spPr>
        <p:txBody>
          <a:bodyPr vert="horz" wrap="square" lIns="0" tIns="0" rIns="0" bIns="0" rtlCol="0" anchor="t">
            <a:noAutofit/>
          </a:bodyPr>
          <a:lstStyle/>
          <a:p>
            <a:r>
              <a:rPr lang="en-IN" sz="2000" b="1">
                <a:solidFill>
                  <a:srgbClr val="13293D"/>
                </a:solidFill>
                <a:latin typeface="Calibri" panose="020F0502020204030204" pitchFamily="34" charset="0"/>
              </a:rPr>
              <a:t>Detect</a:t>
            </a:r>
          </a:p>
        </p:txBody>
      </p:sp>
      <p:sp>
        <p:nvSpPr>
          <p:cNvPr id="24" name="TextBox 23">
            <a:extLst>
              <a:ext uri="{FF2B5EF4-FFF2-40B4-BE49-F238E27FC236}">
                <a16:creationId xmlns:a16="http://schemas.microsoft.com/office/drawing/2014/main" id="{FB670BD3-E6F3-D3E1-1F51-E0479ADA4A7B}"/>
              </a:ext>
            </a:extLst>
          </p:cNvPr>
          <p:cNvSpPr txBox="1"/>
          <p:nvPr/>
        </p:nvSpPr>
        <p:spPr>
          <a:xfrm>
            <a:off x="7518400" y="2717800"/>
            <a:ext cx="1625600" cy="369332"/>
          </a:xfrm>
          <a:prstGeom prst="rect">
            <a:avLst/>
          </a:prstGeom>
          <a:noFill/>
        </p:spPr>
        <p:txBody>
          <a:bodyPr vert="horz" wrap="square" lIns="0" tIns="0" rIns="0" bIns="0" rtlCol="0" anchor="t">
            <a:noAutofit/>
          </a:bodyPr>
          <a:lstStyle/>
          <a:p>
            <a:r>
              <a:rPr lang="en-US" sz="1400">
                <a:solidFill>
                  <a:srgbClr val="1E2A35"/>
                </a:solidFill>
                <a:latin typeface="Calibri" panose="020F0502020204030204" pitchFamily="34" charset="0"/>
              </a:rPr>
              <a:t>terraform plan compares the live cloud with the code and lists every change.</a:t>
            </a:r>
            <a:endParaRPr lang="en-IN" sz="1400">
              <a:solidFill>
                <a:srgbClr val="1E2A35"/>
              </a:solidFill>
              <a:latin typeface="Calibri" panose="020F0502020204030204" pitchFamily="34" charset="0"/>
            </a:endParaRPr>
          </a:p>
        </p:txBody>
      </p:sp>
      <p:sp>
        <p:nvSpPr>
          <p:cNvPr id="25" name="Rectangle: Rounded Corners 24">
            <a:extLst>
              <a:ext uri="{FF2B5EF4-FFF2-40B4-BE49-F238E27FC236}">
                <a16:creationId xmlns:a16="http://schemas.microsoft.com/office/drawing/2014/main" id="{09EABBA8-AD82-022C-584B-5AFE18F1EA81}"/>
              </a:ext>
            </a:extLst>
          </p:cNvPr>
          <p:cNvSpPr/>
          <p:nvPr/>
        </p:nvSpPr>
        <p:spPr>
          <a:xfrm>
            <a:off x="7518400" y="3987800"/>
            <a:ext cx="1625600" cy="330200"/>
          </a:xfrm>
          <a:prstGeom prst="roundRect">
            <a:avLst>
              <a:gd name="adj" fmla="val 10000"/>
            </a:avLst>
          </a:prstGeom>
          <a:solidFill>
            <a:srgbClr val="D5DB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IN" sz="1200" b="1">
                <a:solidFill>
                  <a:srgbClr val="13293D"/>
                </a:solidFill>
                <a:latin typeface="Calibri" panose="020F0502020204030204" pitchFamily="34" charset="0"/>
              </a:rPr>
              <a:t>3 changes found</a:t>
            </a:r>
          </a:p>
        </p:txBody>
      </p:sp>
      <p:cxnSp>
        <p:nvCxnSpPr>
          <p:cNvPr id="26" name="Straight Connector 25">
            <a:extLst>
              <a:ext uri="{FF2B5EF4-FFF2-40B4-BE49-F238E27FC236}">
                <a16:creationId xmlns:a16="http://schemas.microsoft.com/office/drawing/2014/main" id="{B32BC19F-87EC-997F-A2D3-4365ED6B8C65}"/>
              </a:ext>
            </a:extLst>
          </p:cNvPr>
          <p:cNvCxnSpPr/>
          <p:nvPr/>
        </p:nvCxnSpPr>
        <p:spPr>
          <a:xfrm>
            <a:off x="7137400" y="2997200"/>
            <a:ext cx="152400" cy="0"/>
          </a:xfrm>
          <a:prstGeom prst="line">
            <a:avLst/>
          </a:prstGeom>
          <a:ln w="25400">
            <a:solidFill>
              <a:srgbClr val="5B6B79"/>
            </a:solidFill>
            <a:tailEnd type="triangle"/>
          </a:ln>
        </p:spPr>
        <p:style>
          <a:lnRef idx="2">
            <a:schemeClr val="accent1"/>
          </a:lnRef>
          <a:fillRef idx="0">
            <a:schemeClr val="accent1"/>
          </a:fillRef>
          <a:effectRef idx="1">
            <a:schemeClr val="accent1"/>
          </a:effectRef>
          <a:fontRef idx="minor">
            <a:schemeClr val="tx1"/>
          </a:fontRef>
        </p:style>
      </p:cxnSp>
      <p:sp>
        <p:nvSpPr>
          <p:cNvPr id="27" name="Rectangle: Rounded Corners 26">
            <a:extLst>
              <a:ext uri="{FF2B5EF4-FFF2-40B4-BE49-F238E27FC236}">
                <a16:creationId xmlns:a16="http://schemas.microsoft.com/office/drawing/2014/main" id="{1D43DA52-5014-49F9-59A4-96D4E78A8082}"/>
              </a:ext>
            </a:extLst>
          </p:cNvPr>
          <p:cNvSpPr/>
          <p:nvPr/>
        </p:nvSpPr>
        <p:spPr>
          <a:xfrm>
            <a:off x="9550400" y="1498600"/>
            <a:ext cx="2032000" cy="2997200"/>
          </a:xfrm>
          <a:prstGeom prst="roundRect">
            <a:avLst>
              <a:gd name="adj" fmla="val 10000"/>
            </a:avLst>
          </a:prstGeom>
          <a:solidFill>
            <a:srgbClr val="EEF3F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Oval 27">
            <a:extLst>
              <a:ext uri="{FF2B5EF4-FFF2-40B4-BE49-F238E27FC236}">
                <a16:creationId xmlns:a16="http://schemas.microsoft.com/office/drawing/2014/main" id="{DFC7F218-FA78-A09D-EC91-96A8518B739A}"/>
              </a:ext>
            </a:extLst>
          </p:cNvPr>
          <p:cNvSpPr/>
          <p:nvPr/>
        </p:nvSpPr>
        <p:spPr>
          <a:xfrm>
            <a:off x="9753600" y="1701800"/>
            <a:ext cx="457200" cy="457200"/>
          </a:xfrm>
          <a:prstGeom prst="ellipse">
            <a:avLst/>
          </a:prstGeom>
          <a:solidFill>
            <a:srgbClr val="1B998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IN" sz="1500" b="1">
                <a:solidFill>
                  <a:srgbClr val="FFFFFF"/>
                </a:solidFill>
                <a:latin typeface="Calibri" panose="020F0502020204030204" pitchFamily="34" charset="0"/>
              </a:rPr>
              <a:t>5</a:t>
            </a:r>
          </a:p>
        </p:txBody>
      </p:sp>
      <p:sp>
        <p:nvSpPr>
          <p:cNvPr id="29" name="TextBox 28">
            <a:extLst>
              <a:ext uri="{FF2B5EF4-FFF2-40B4-BE49-F238E27FC236}">
                <a16:creationId xmlns:a16="http://schemas.microsoft.com/office/drawing/2014/main" id="{541EAD3B-7334-AAA3-F3A7-B1D5F50978F6}"/>
              </a:ext>
            </a:extLst>
          </p:cNvPr>
          <p:cNvSpPr txBox="1"/>
          <p:nvPr/>
        </p:nvSpPr>
        <p:spPr>
          <a:xfrm>
            <a:off x="9753600" y="2311400"/>
            <a:ext cx="1625600" cy="369332"/>
          </a:xfrm>
          <a:prstGeom prst="rect">
            <a:avLst/>
          </a:prstGeom>
          <a:noFill/>
        </p:spPr>
        <p:txBody>
          <a:bodyPr vert="horz" wrap="square" lIns="0" tIns="0" rIns="0" bIns="0" rtlCol="0" anchor="t">
            <a:noAutofit/>
          </a:bodyPr>
          <a:lstStyle/>
          <a:p>
            <a:r>
              <a:rPr lang="en-IN" sz="2000" b="1">
                <a:solidFill>
                  <a:srgbClr val="13293D"/>
                </a:solidFill>
                <a:latin typeface="Calibri" panose="020F0502020204030204" pitchFamily="34" charset="0"/>
              </a:rPr>
              <a:t>Fix</a:t>
            </a:r>
          </a:p>
        </p:txBody>
      </p:sp>
      <p:sp>
        <p:nvSpPr>
          <p:cNvPr id="30" name="TextBox 29">
            <a:extLst>
              <a:ext uri="{FF2B5EF4-FFF2-40B4-BE49-F238E27FC236}">
                <a16:creationId xmlns:a16="http://schemas.microsoft.com/office/drawing/2014/main" id="{D4B559F2-A938-4F64-ACA8-7D5D033E211C}"/>
              </a:ext>
            </a:extLst>
          </p:cNvPr>
          <p:cNvSpPr txBox="1"/>
          <p:nvPr/>
        </p:nvSpPr>
        <p:spPr>
          <a:xfrm>
            <a:off x="9753600" y="2717800"/>
            <a:ext cx="1625600" cy="369332"/>
          </a:xfrm>
          <a:prstGeom prst="rect">
            <a:avLst/>
          </a:prstGeom>
          <a:noFill/>
        </p:spPr>
        <p:txBody>
          <a:bodyPr vert="horz" wrap="square" lIns="0" tIns="0" rIns="0" bIns="0" rtlCol="0" anchor="t">
            <a:noAutofit/>
          </a:bodyPr>
          <a:lstStyle/>
          <a:p>
            <a:r>
              <a:rPr lang="en-US" sz="1400">
                <a:solidFill>
                  <a:srgbClr val="1E2A35"/>
                </a:solidFill>
                <a:latin typeface="Calibri" panose="020F0502020204030204" pitchFamily="34" charset="0"/>
              </a:rPr>
              <a:t>terraform apply puts it back. Refresh your phone: Access Denied.</a:t>
            </a:r>
            <a:endParaRPr lang="en-IN" sz="1400">
              <a:solidFill>
                <a:srgbClr val="1E2A35"/>
              </a:solidFill>
              <a:latin typeface="Calibri" panose="020F0502020204030204" pitchFamily="34" charset="0"/>
            </a:endParaRPr>
          </a:p>
        </p:txBody>
      </p:sp>
      <p:sp>
        <p:nvSpPr>
          <p:cNvPr id="31" name="Rectangle: Rounded Corners 30">
            <a:extLst>
              <a:ext uri="{FF2B5EF4-FFF2-40B4-BE49-F238E27FC236}">
                <a16:creationId xmlns:a16="http://schemas.microsoft.com/office/drawing/2014/main" id="{78D99F65-220C-F837-AB98-C8EA22364A88}"/>
              </a:ext>
            </a:extLst>
          </p:cNvPr>
          <p:cNvSpPr/>
          <p:nvPr/>
        </p:nvSpPr>
        <p:spPr>
          <a:xfrm>
            <a:off x="9753600" y="3987800"/>
            <a:ext cx="1625600" cy="330200"/>
          </a:xfrm>
          <a:prstGeom prst="roundRect">
            <a:avLst>
              <a:gd name="adj" fmla="val 10000"/>
            </a:avLst>
          </a:prstGeom>
          <a:solidFill>
            <a:srgbClr val="D3EC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IN" sz="1200" b="1">
                <a:solidFill>
                  <a:srgbClr val="1B998B"/>
                </a:solidFill>
                <a:latin typeface="Calibri" panose="020F0502020204030204" pitchFamily="34" charset="0"/>
              </a:rPr>
              <a:t>check: PASS</a:t>
            </a:r>
          </a:p>
        </p:txBody>
      </p:sp>
      <p:cxnSp>
        <p:nvCxnSpPr>
          <p:cNvPr id="32" name="Straight Connector 31">
            <a:extLst>
              <a:ext uri="{FF2B5EF4-FFF2-40B4-BE49-F238E27FC236}">
                <a16:creationId xmlns:a16="http://schemas.microsoft.com/office/drawing/2014/main" id="{68DC8BA5-40B6-46BB-B771-2EAC328831D0}"/>
              </a:ext>
            </a:extLst>
          </p:cNvPr>
          <p:cNvCxnSpPr/>
          <p:nvPr/>
        </p:nvCxnSpPr>
        <p:spPr>
          <a:xfrm>
            <a:off x="9372600" y="2997200"/>
            <a:ext cx="152400" cy="0"/>
          </a:xfrm>
          <a:prstGeom prst="line">
            <a:avLst/>
          </a:prstGeom>
          <a:ln w="25400">
            <a:solidFill>
              <a:srgbClr val="5B6B79"/>
            </a:solidFill>
            <a:tailEnd type="triangle"/>
          </a:ln>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D33127B0-DDAA-6606-C03D-C7773E4ECE68}"/>
              </a:ext>
            </a:extLst>
          </p:cNvPr>
          <p:cNvSpPr txBox="1"/>
          <p:nvPr/>
        </p:nvSpPr>
        <p:spPr>
          <a:xfrm>
            <a:off x="609600" y="4775200"/>
            <a:ext cx="10972800" cy="369332"/>
          </a:xfrm>
          <a:prstGeom prst="rect">
            <a:avLst/>
          </a:prstGeom>
          <a:noFill/>
        </p:spPr>
        <p:txBody>
          <a:bodyPr vert="horz" wrap="square" lIns="0" tIns="0" rIns="0" bIns="0" rtlCol="0" anchor="t">
            <a:noAutofit/>
          </a:bodyPr>
          <a:lstStyle/>
          <a:p>
            <a:r>
              <a:rPr lang="en-US" sz="1600">
                <a:solidFill>
                  <a:srgbClr val="1E2A35"/>
                </a:solidFill>
                <a:latin typeface="Calibri" panose="020F0502020204030204" pitchFamily="34" charset="0"/>
              </a:rPr>
              <a:t>The code never changed, so gitleaks, SonarQube and Checkov would all still pass. Only watching the live account catches drift: AWS Config, Security Hub, Prowler.</a:t>
            </a:r>
            <a:endParaRPr lang="en-IN" sz="1600">
              <a:solidFill>
                <a:srgbClr val="1E2A35"/>
              </a:solidFill>
              <a:latin typeface="Calibri" panose="020F0502020204030204" pitchFamily="34" charset="0"/>
            </a:endParaRPr>
          </a:p>
        </p:txBody>
      </p:sp>
      <p:sp>
        <p:nvSpPr>
          <p:cNvPr id="34" name="TextBox 33">
            <a:extLst>
              <a:ext uri="{FF2B5EF4-FFF2-40B4-BE49-F238E27FC236}">
                <a16:creationId xmlns:a16="http://schemas.microsoft.com/office/drawing/2014/main" id="{1634E6EB-6C8B-CED1-A221-EAB957D58BD9}"/>
              </a:ext>
            </a:extLst>
          </p:cNvPr>
          <p:cNvSpPr txBox="1"/>
          <p:nvPr/>
        </p:nvSpPr>
        <p:spPr>
          <a:xfrm>
            <a:off x="609600" y="6502400"/>
            <a:ext cx="5080000" cy="369332"/>
          </a:xfrm>
          <a:prstGeom prst="rect">
            <a:avLst/>
          </a:prstGeom>
          <a:noFill/>
        </p:spPr>
        <p:txBody>
          <a:bodyPr vert="horz" wrap="square" lIns="0" tIns="0" rIns="0" bIns="0" rtlCol="0" anchor="t">
            <a:noAutofit/>
          </a:bodyPr>
          <a:lstStyle/>
          <a:p>
            <a:r>
              <a:rPr lang="en-US" sz="1000">
                <a:solidFill>
                  <a:srgbClr val="5B6B79"/>
                </a:solidFill>
                <a:latin typeface="Calibri" panose="020F0502020204030204" pitchFamily="34" charset="0"/>
              </a:rPr>
              <a:t>Securing the path to the cloud</a:t>
            </a:r>
            <a:endParaRPr lang="en-IN" sz="1000">
              <a:solidFill>
                <a:srgbClr val="5B6B79"/>
              </a:solidFill>
              <a:latin typeface="Calibri" panose="020F0502020204030204" pitchFamily="34" charset="0"/>
            </a:endParaRPr>
          </a:p>
        </p:txBody>
      </p:sp>
      <p:sp>
        <p:nvSpPr>
          <p:cNvPr id="35" name="TextBox 34">
            <a:extLst>
              <a:ext uri="{FF2B5EF4-FFF2-40B4-BE49-F238E27FC236}">
                <a16:creationId xmlns:a16="http://schemas.microsoft.com/office/drawing/2014/main" id="{C2F84671-96B7-FC0A-3FCA-355023A01496}"/>
              </a:ext>
            </a:extLst>
          </p:cNvPr>
          <p:cNvSpPr txBox="1"/>
          <p:nvPr/>
        </p:nvSpPr>
        <p:spPr>
          <a:xfrm>
            <a:off x="10312400" y="6502400"/>
            <a:ext cx="1270000" cy="369332"/>
          </a:xfrm>
          <a:prstGeom prst="rect">
            <a:avLst/>
          </a:prstGeom>
          <a:noFill/>
        </p:spPr>
        <p:txBody>
          <a:bodyPr vert="horz" wrap="square" lIns="0" tIns="0" rIns="0" bIns="0" rtlCol="0" anchor="t">
            <a:noAutofit/>
          </a:bodyPr>
          <a:lstStyle/>
          <a:p>
            <a:pPr algn="r"/>
            <a:r>
              <a:rPr lang="en-IN" sz="1000">
                <a:solidFill>
                  <a:srgbClr val="5B6B79"/>
                </a:solidFill>
                <a:latin typeface="Calibri" panose="020F0502020204030204" pitchFamily="34" charset="0"/>
              </a:rPr>
              <a:t>28</a:t>
            </a:r>
          </a:p>
        </p:txBody>
      </p:sp>
    </p:spTree>
    <p:extLst>
      <p:ext uri="{BB962C8B-B14F-4D97-AF65-F5344CB8AC3E}">
        <p14:creationId xmlns:p14="http://schemas.microsoft.com/office/powerpoint/2010/main" val="30487790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0BFD381-2C00-C503-74B8-C7206EC2659E}"/>
              </a:ext>
            </a:extLst>
          </p:cNvPr>
          <p:cNvSpPr txBox="1"/>
          <p:nvPr/>
        </p:nvSpPr>
        <p:spPr>
          <a:xfrm>
            <a:off x="609600" y="381000"/>
            <a:ext cx="10972800" cy="369332"/>
          </a:xfrm>
          <a:prstGeom prst="rect">
            <a:avLst/>
          </a:prstGeom>
          <a:noFill/>
        </p:spPr>
        <p:txBody>
          <a:bodyPr vert="horz" wrap="square" lIns="0" tIns="0" rIns="0" bIns="0" rtlCol="0" anchor="t">
            <a:noAutofit/>
          </a:bodyPr>
          <a:lstStyle/>
          <a:p>
            <a:r>
              <a:rPr lang="en-US" sz="3400" b="1">
                <a:solidFill>
                  <a:srgbClr val="13293D"/>
                </a:solidFill>
                <a:latin typeface="Calibri" panose="020F0502020204030204" pitchFamily="34" charset="0"/>
              </a:rPr>
              <a:t>Shared responsibility, on what we just built</a:t>
            </a:r>
            <a:endParaRPr lang="en-IN" sz="3400" b="1">
              <a:solidFill>
                <a:srgbClr val="13293D"/>
              </a:solidFill>
              <a:latin typeface="Calibri" panose="020F0502020204030204" pitchFamily="34" charset="0"/>
            </a:endParaRPr>
          </a:p>
        </p:txBody>
      </p:sp>
      <p:sp>
        <p:nvSpPr>
          <p:cNvPr id="3" name="Rectangle 2">
            <a:extLst>
              <a:ext uri="{FF2B5EF4-FFF2-40B4-BE49-F238E27FC236}">
                <a16:creationId xmlns:a16="http://schemas.microsoft.com/office/drawing/2014/main" id="{98F25081-C00B-C7BD-4F27-CD23B78BF0DF}"/>
              </a:ext>
            </a:extLst>
          </p:cNvPr>
          <p:cNvSpPr/>
          <p:nvPr/>
        </p:nvSpPr>
        <p:spPr>
          <a:xfrm>
            <a:off x="609600" y="1270000"/>
            <a:ext cx="5334000" cy="508000"/>
          </a:xfrm>
          <a:prstGeom prst="rect">
            <a:avLst/>
          </a:prstGeom>
          <a:solidFill>
            <a:srgbClr val="D3EC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r>
              <a:rPr lang="en-IN" sz="1700" b="1">
                <a:solidFill>
                  <a:srgbClr val="13293D"/>
                </a:solidFill>
                <a:latin typeface="Calibri" panose="020F0502020204030204" pitchFamily="34" charset="0"/>
              </a:rPr>
              <a:t>AWS secured</a:t>
            </a:r>
          </a:p>
        </p:txBody>
      </p:sp>
      <p:sp>
        <p:nvSpPr>
          <p:cNvPr id="4" name="Rectangle 3">
            <a:extLst>
              <a:ext uri="{FF2B5EF4-FFF2-40B4-BE49-F238E27FC236}">
                <a16:creationId xmlns:a16="http://schemas.microsoft.com/office/drawing/2014/main" id="{3F2953A1-A45B-B4DC-1E14-FC4225D8A653}"/>
              </a:ext>
            </a:extLst>
          </p:cNvPr>
          <p:cNvSpPr/>
          <p:nvPr/>
        </p:nvSpPr>
        <p:spPr>
          <a:xfrm>
            <a:off x="6248400" y="1270000"/>
            <a:ext cx="5334000" cy="508000"/>
          </a:xfrm>
          <a:prstGeom prst="rect">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r>
              <a:rPr lang="en-IN" sz="1700" b="1">
                <a:solidFill>
                  <a:srgbClr val="FFFFFF"/>
                </a:solidFill>
                <a:latin typeface="Calibri" panose="020F0502020204030204" pitchFamily="34" charset="0"/>
              </a:rPr>
              <a:t>We decided</a:t>
            </a:r>
          </a:p>
        </p:txBody>
      </p:sp>
      <p:sp>
        <p:nvSpPr>
          <p:cNvPr id="5" name="Rectangle 4">
            <a:extLst>
              <a:ext uri="{FF2B5EF4-FFF2-40B4-BE49-F238E27FC236}">
                <a16:creationId xmlns:a16="http://schemas.microsoft.com/office/drawing/2014/main" id="{2B26B4B5-F3E5-E24A-B6B3-D5E96252F5F2}"/>
              </a:ext>
            </a:extLst>
          </p:cNvPr>
          <p:cNvSpPr/>
          <p:nvPr/>
        </p:nvSpPr>
        <p:spPr>
          <a:xfrm>
            <a:off x="609600" y="1879600"/>
            <a:ext cx="5334000" cy="635000"/>
          </a:xfrm>
          <a:prstGeom prst="rect">
            <a:avLst/>
          </a:prstGeom>
          <a:solidFill>
            <a:srgbClr val="EEF3F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r>
              <a:rPr lang="en-US" sz="1500">
                <a:solidFill>
                  <a:srgbClr val="1E2A35"/>
                </a:solidFill>
                <a:latin typeface="Calibri" panose="020F0502020204030204" pitchFamily="34" charset="0"/>
              </a:rPr>
              <a:t>Data centres, hardware, the S3 and VPC services</a:t>
            </a:r>
            <a:endParaRPr lang="en-IN" sz="1500">
              <a:solidFill>
                <a:srgbClr val="1E2A35"/>
              </a:solidFill>
              <a:latin typeface="Calibri" panose="020F0502020204030204" pitchFamily="34" charset="0"/>
            </a:endParaRPr>
          </a:p>
        </p:txBody>
      </p:sp>
      <p:sp>
        <p:nvSpPr>
          <p:cNvPr id="6" name="Rectangle 5">
            <a:extLst>
              <a:ext uri="{FF2B5EF4-FFF2-40B4-BE49-F238E27FC236}">
                <a16:creationId xmlns:a16="http://schemas.microsoft.com/office/drawing/2014/main" id="{5B298476-7E13-0922-8B7F-7BCED64DAC10}"/>
              </a:ext>
            </a:extLst>
          </p:cNvPr>
          <p:cNvSpPr/>
          <p:nvPr/>
        </p:nvSpPr>
        <p:spPr>
          <a:xfrm>
            <a:off x="6248400" y="1879600"/>
            <a:ext cx="5334000" cy="635000"/>
          </a:xfrm>
          <a:prstGeom prst="rect">
            <a:avLst/>
          </a:prstGeom>
          <a:solidFill>
            <a:srgbClr val="EEF3F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r>
              <a:rPr lang="en-US" sz="1500" b="1">
                <a:solidFill>
                  <a:srgbClr val="E4572E"/>
                </a:solidFill>
                <a:latin typeface="Calibri" panose="020F0502020204030204" pitchFamily="34" charset="0"/>
              </a:rPr>
              <a:t>Who can read the bucket</a:t>
            </a:r>
            <a:endParaRPr lang="en-IN" sz="1500" b="1">
              <a:solidFill>
                <a:srgbClr val="E4572E"/>
              </a:solidFill>
              <a:latin typeface="Calibri" panose="020F0502020204030204" pitchFamily="34" charset="0"/>
            </a:endParaRPr>
          </a:p>
        </p:txBody>
      </p:sp>
      <p:sp>
        <p:nvSpPr>
          <p:cNvPr id="7" name="Rectangle 6">
            <a:extLst>
              <a:ext uri="{FF2B5EF4-FFF2-40B4-BE49-F238E27FC236}">
                <a16:creationId xmlns:a16="http://schemas.microsoft.com/office/drawing/2014/main" id="{F99417B9-921B-BD21-3ADC-C82E8710095E}"/>
              </a:ext>
            </a:extLst>
          </p:cNvPr>
          <p:cNvSpPr/>
          <p:nvPr/>
        </p:nvSpPr>
        <p:spPr>
          <a:xfrm>
            <a:off x="609600" y="2590800"/>
            <a:ext cx="5334000" cy="6350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r>
              <a:rPr lang="en-US" sz="1500">
                <a:solidFill>
                  <a:srgbClr val="1E2A35"/>
                </a:solidFill>
                <a:latin typeface="Calibri" panose="020F0502020204030204" pitchFamily="34" charset="0"/>
              </a:rPr>
              <a:t>That Block Public Access works when switched on</a:t>
            </a:r>
            <a:endParaRPr lang="en-IN" sz="1500">
              <a:solidFill>
                <a:srgbClr val="1E2A35"/>
              </a:solidFill>
              <a:latin typeface="Calibri" panose="020F0502020204030204" pitchFamily="34" charset="0"/>
            </a:endParaRPr>
          </a:p>
        </p:txBody>
      </p:sp>
      <p:sp>
        <p:nvSpPr>
          <p:cNvPr id="8" name="Rectangle 7">
            <a:extLst>
              <a:ext uri="{FF2B5EF4-FFF2-40B4-BE49-F238E27FC236}">
                <a16:creationId xmlns:a16="http://schemas.microsoft.com/office/drawing/2014/main" id="{63048F24-135F-DB7C-B8E4-B767203649E8}"/>
              </a:ext>
            </a:extLst>
          </p:cNvPr>
          <p:cNvSpPr/>
          <p:nvPr/>
        </p:nvSpPr>
        <p:spPr>
          <a:xfrm>
            <a:off x="6248400" y="2590800"/>
            <a:ext cx="5334000" cy="6350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r>
              <a:rPr lang="en-US" sz="1500" b="1">
                <a:solidFill>
                  <a:srgbClr val="E4572E"/>
                </a:solidFill>
                <a:latin typeface="Calibri" panose="020F0502020204030204" pitchFamily="34" charset="0"/>
              </a:rPr>
              <a:t>Whether it is switched on</a:t>
            </a:r>
            <a:endParaRPr lang="en-IN" sz="1500" b="1">
              <a:solidFill>
                <a:srgbClr val="E4572E"/>
              </a:solidFill>
              <a:latin typeface="Calibri" panose="020F0502020204030204" pitchFamily="34" charset="0"/>
            </a:endParaRPr>
          </a:p>
        </p:txBody>
      </p:sp>
      <p:sp>
        <p:nvSpPr>
          <p:cNvPr id="9" name="Rectangle 8">
            <a:extLst>
              <a:ext uri="{FF2B5EF4-FFF2-40B4-BE49-F238E27FC236}">
                <a16:creationId xmlns:a16="http://schemas.microsoft.com/office/drawing/2014/main" id="{62C9F893-2740-9ED4-E52D-C3A379A08978}"/>
              </a:ext>
            </a:extLst>
          </p:cNvPr>
          <p:cNvSpPr/>
          <p:nvPr/>
        </p:nvSpPr>
        <p:spPr>
          <a:xfrm>
            <a:off x="609600" y="3302000"/>
            <a:ext cx="5334000" cy="635000"/>
          </a:xfrm>
          <a:prstGeom prst="rect">
            <a:avLst/>
          </a:prstGeom>
          <a:solidFill>
            <a:srgbClr val="EEF3F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r>
              <a:rPr lang="en-US" sz="1500">
                <a:solidFill>
                  <a:srgbClr val="1E2A35"/>
                </a:solidFill>
                <a:latin typeface="Calibri" panose="020F0502020204030204" pitchFamily="34" charset="0"/>
              </a:rPr>
              <a:t>That security groups filter traffic</a:t>
            </a:r>
            <a:endParaRPr lang="en-IN" sz="1500">
              <a:solidFill>
                <a:srgbClr val="1E2A35"/>
              </a:solidFill>
              <a:latin typeface="Calibri" panose="020F0502020204030204" pitchFamily="34" charset="0"/>
            </a:endParaRPr>
          </a:p>
        </p:txBody>
      </p:sp>
      <p:sp>
        <p:nvSpPr>
          <p:cNvPr id="10" name="Rectangle 9">
            <a:extLst>
              <a:ext uri="{FF2B5EF4-FFF2-40B4-BE49-F238E27FC236}">
                <a16:creationId xmlns:a16="http://schemas.microsoft.com/office/drawing/2014/main" id="{F9521F46-32D2-6406-A06D-C48097063A3C}"/>
              </a:ext>
            </a:extLst>
          </p:cNvPr>
          <p:cNvSpPr/>
          <p:nvPr/>
        </p:nvSpPr>
        <p:spPr>
          <a:xfrm>
            <a:off x="6248400" y="3302000"/>
            <a:ext cx="5334000" cy="635000"/>
          </a:xfrm>
          <a:prstGeom prst="rect">
            <a:avLst/>
          </a:prstGeom>
          <a:solidFill>
            <a:srgbClr val="EEF3F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r>
              <a:rPr lang="en-US" sz="1500" b="1">
                <a:solidFill>
                  <a:srgbClr val="E4572E"/>
                </a:solidFill>
                <a:latin typeface="Calibri" panose="020F0502020204030204" pitchFamily="34" charset="0"/>
              </a:rPr>
              <a:t>Which ports are open, and to whom</a:t>
            </a:r>
            <a:endParaRPr lang="en-IN" sz="1500" b="1">
              <a:solidFill>
                <a:srgbClr val="E4572E"/>
              </a:solidFill>
              <a:latin typeface="Calibri" panose="020F0502020204030204" pitchFamily="34" charset="0"/>
            </a:endParaRPr>
          </a:p>
        </p:txBody>
      </p:sp>
      <p:sp>
        <p:nvSpPr>
          <p:cNvPr id="11" name="Rectangle 10">
            <a:extLst>
              <a:ext uri="{FF2B5EF4-FFF2-40B4-BE49-F238E27FC236}">
                <a16:creationId xmlns:a16="http://schemas.microsoft.com/office/drawing/2014/main" id="{59814585-232F-80C6-43CE-49B32AF2B8CA}"/>
              </a:ext>
            </a:extLst>
          </p:cNvPr>
          <p:cNvSpPr/>
          <p:nvPr/>
        </p:nvSpPr>
        <p:spPr>
          <a:xfrm>
            <a:off x="609600" y="4013200"/>
            <a:ext cx="5334000" cy="6350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r>
              <a:rPr lang="en-US" sz="1500">
                <a:solidFill>
                  <a:srgbClr val="1E2A35"/>
                </a:solidFill>
                <a:latin typeface="Calibri" panose="020F0502020204030204" pitchFamily="34" charset="0"/>
              </a:rPr>
              <a:t>That IAM enforces every policy</a:t>
            </a:r>
            <a:endParaRPr lang="en-IN" sz="1500">
              <a:solidFill>
                <a:srgbClr val="1E2A35"/>
              </a:solidFill>
              <a:latin typeface="Calibri" panose="020F0502020204030204" pitchFamily="34" charset="0"/>
            </a:endParaRPr>
          </a:p>
        </p:txBody>
      </p:sp>
      <p:sp>
        <p:nvSpPr>
          <p:cNvPr id="12" name="Rectangle 11">
            <a:extLst>
              <a:ext uri="{FF2B5EF4-FFF2-40B4-BE49-F238E27FC236}">
                <a16:creationId xmlns:a16="http://schemas.microsoft.com/office/drawing/2014/main" id="{AB1FD98C-BDDF-6717-0312-B1118FFE6ADE}"/>
              </a:ext>
            </a:extLst>
          </p:cNvPr>
          <p:cNvSpPr/>
          <p:nvPr/>
        </p:nvSpPr>
        <p:spPr>
          <a:xfrm>
            <a:off x="6248400" y="4013200"/>
            <a:ext cx="5334000" cy="6350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r>
              <a:rPr lang="en-US" sz="1500" b="1">
                <a:solidFill>
                  <a:srgbClr val="E4572E"/>
                </a:solidFill>
                <a:latin typeface="Calibri" panose="020F0502020204030204" pitchFamily="34" charset="0"/>
              </a:rPr>
              <a:t>What each role is allowed to do</a:t>
            </a:r>
            <a:endParaRPr lang="en-IN" sz="1500" b="1">
              <a:solidFill>
                <a:srgbClr val="E4572E"/>
              </a:solidFill>
              <a:latin typeface="Calibri" panose="020F0502020204030204" pitchFamily="34" charset="0"/>
            </a:endParaRPr>
          </a:p>
        </p:txBody>
      </p:sp>
      <p:sp>
        <p:nvSpPr>
          <p:cNvPr id="13" name="TextBox 12">
            <a:extLst>
              <a:ext uri="{FF2B5EF4-FFF2-40B4-BE49-F238E27FC236}">
                <a16:creationId xmlns:a16="http://schemas.microsoft.com/office/drawing/2014/main" id="{82F550A2-8470-0F59-4D7E-362A06E33E43}"/>
              </a:ext>
            </a:extLst>
          </p:cNvPr>
          <p:cNvSpPr txBox="1"/>
          <p:nvPr/>
        </p:nvSpPr>
        <p:spPr>
          <a:xfrm>
            <a:off x="609600" y="4953000"/>
            <a:ext cx="10972800" cy="369332"/>
          </a:xfrm>
          <a:prstGeom prst="rect">
            <a:avLst/>
          </a:prstGeom>
          <a:noFill/>
        </p:spPr>
        <p:txBody>
          <a:bodyPr vert="horz" wrap="square" lIns="0" tIns="0" rIns="0" bIns="0" rtlCol="0" anchor="t">
            <a:noAutofit/>
          </a:bodyPr>
          <a:lstStyle/>
          <a:p>
            <a:r>
              <a:rPr lang="en-US" b="1">
                <a:solidFill>
                  <a:srgbClr val="13293D"/>
                </a:solidFill>
                <a:latin typeface="Calibri" panose="020F0502020204030204" pitchFamily="34" charset="0"/>
              </a:rPr>
              <a:t>Every mistake today, including the leak you just saw, was in the right-hand column.</a:t>
            </a:r>
            <a:endParaRPr lang="en-IN" b="1">
              <a:solidFill>
                <a:srgbClr val="13293D"/>
              </a:solidFill>
              <a:latin typeface="Calibri" panose="020F0502020204030204" pitchFamily="34" charset="0"/>
            </a:endParaRPr>
          </a:p>
        </p:txBody>
      </p:sp>
      <p:sp>
        <p:nvSpPr>
          <p:cNvPr id="14" name="TextBox 13">
            <a:extLst>
              <a:ext uri="{FF2B5EF4-FFF2-40B4-BE49-F238E27FC236}">
                <a16:creationId xmlns:a16="http://schemas.microsoft.com/office/drawing/2014/main" id="{042F8990-6D3B-E9C6-3DC4-817006CD6A87}"/>
              </a:ext>
            </a:extLst>
          </p:cNvPr>
          <p:cNvSpPr txBox="1"/>
          <p:nvPr/>
        </p:nvSpPr>
        <p:spPr>
          <a:xfrm>
            <a:off x="609600" y="6502400"/>
            <a:ext cx="5080000" cy="369332"/>
          </a:xfrm>
          <a:prstGeom prst="rect">
            <a:avLst/>
          </a:prstGeom>
          <a:noFill/>
        </p:spPr>
        <p:txBody>
          <a:bodyPr vert="horz" wrap="square" lIns="0" tIns="0" rIns="0" bIns="0" rtlCol="0" anchor="t">
            <a:noAutofit/>
          </a:bodyPr>
          <a:lstStyle/>
          <a:p>
            <a:r>
              <a:rPr lang="en-US" sz="1000">
                <a:solidFill>
                  <a:srgbClr val="5B6B79"/>
                </a:solidFill>
                <a:latin typeface="Calibri" panose="020F0502020204030204" pitchFamily="34" charset="0"/>
              </a:rPr>
              <a:t>Securing the path to the cloud</a:t>
            </a:r>
            <a:endParaRPr lang="en-IN" sz="1000">
              <a:solidFill>
                <a:srgbClr val="5B6B79"/>
              </a:solidFill>
              <a:latin typeface="Calibri" panose="020F0502020204030204" pitchFamily="34" charset="0"/>
            </a:endParaRPr>
          </a:p>
        </p:txBody>
      </p:sp>
      <p:sp>
        <p:nvSpPr>
          <p:cNvPr id="15" name="TextBox 14">
            <a:extLst>
              <a:ext uri="{FF2B5EF4-FFF2-40B4-BE49-F238E27FC236}">
                <a16:creationId xmlns:a16="http://schemas.microsoft.com/office/drawing/2014/main" id="{CFD5D4B3-6F7D-6E4B-3EE7-44058D784194}"/>
              </a:ext>
            </a:extLst>
          </p:cNvPr>
          <p:cNvSpPr txBox="1"/>
          <p:nvPr/>
        </p:nvSpPr>
        <p:spPr>
          <a:xfrm>
            <a:off x="10312400" y="6502400"/>
            <a:ext cx="1270000" cy="369332"/>
          </a:xfrm>
          <a:prstGeom prst="rect">
            <a:avLst/>
          </a:prstGeom>
          <a:noFill/>
        </p:spPr>
        <p:txBody>
          <a:bodyPr vert="horz" wrap="square" lIns="0" tIns="0" rIns="0" bIns="0" rtlCol="0" anchor="t">
            <a:noAutofit/>
          </a:bodyPr>
          <a:lstStyle/>
          <a:p>
            <a:pPr algn="r"/>
            <a:r>
              <a:rPr lang="en-IN" sz="1000">
                <a:solidFill>
                  <a:srgbClr val="5B6B79"/>
                </a:solidFill>
                <a:latin typeface="Calibri" panose="020F0502020204030204" pitchFamily="34" charset="0"/>
              </a:rPr>
              <a:t>29</a:t>
            </a:r>
          </a:p>
        </p:txBody>
      </p:sp>
    </p:spTree>
    <p:extLst>
      <p:ext uri="{BB962C8B-B14F-4D97-AF65-F5344CB8AC3E}">
        <p14:creationId xmlns:p14="http://schemas.microsoft.com/office/powerpoint/2010/main" val="17248330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4545E17-D56B-7754-BC2E-D3B8536F79DB}"/>
              </a:ext>
            </a:extLst>
          </p:cNvPr>
          <p:cNvSpPr txBox="1"/>
          <p:nvPr/>
        </p:nvSpPr>
        <p:spPr>
          <a:xfrm>
            <a:off x="609600" y="381000"/>
            <a:ext cx="10972800" cy="369332"/>
          </a:xfrm>
          <a:prstGeom prst="rect">
            <a:avLst/>
          </a:prstGeom>
          <a:noFill/>
        </p:spPr>
        <p:txBody>
          <a:bodyPr vert="horz" wrap="square" lIns="0" tIns="0" rIns="0" bIns="0" rtlCol="0" anchor="t">
            <a:noAutofit/>
          </a:bodyPr>
          <a:lstStyle/>
          <a:p>
            <a:r>
              <a:rPr lang="en-IN" sz="3400" b="1">
                <a:solidFill>
                  <a:srgbClr val="13293D"/>
                </a:solidFill>
                <a:latin typeface="Calibri" panose="020F0502020204030204" pitchFamily="34" charset="0"/>
              </a:rPr>
              <a:t>Lab 4 · Commands</a:t>
            </a:r>
          </a:p>
        </p:txBody>
      </p:sp>
      <p:sp>
        <p:nvSpPr>
          <p:cNvPr id="3" name="TextBox 2">
            <a:extLst>
              <a:ext uri="{FF2B5EF4-FFF2-40B4-BE49-F238E27FC236}">
                <a16:creationId xmlns:a16="http://schemas.microsoft.com/office/drawing/2014/main" id="{53991303-DA3F-30D3-C1BF-09C2C292AD84}"/>
              </a:ext>
            </a:extLst>
          </p:cNvPr>
          <p:cNvSpPr txBox="1"/>
          <p:nvPr/>
        </p:nvSpPr>
        <p:spPr>
          <a:xfrm>
            <a:off x="609600" y="1168400"/>
            <a:ext cx="10972800" cy="369332"/>
          </a:xfrm>
          <a:prstGeom prst="rect">
            <a:avLst/>
          </a:prstGeom>
          <a:noFill/>
        </p:spPr>
        <p:txBody>
          <a:bodyPr vert="horz" wrap="square" lIns="0" tIns="0" rIns="0" bIns="0" rtlCol="0" anchor="t">
            <a:noAutofit/>
          </a:bodyPr>
          <a:lstStyle/>
          <a:p>
            <a:r>
              <a:rPr lang="en-US" sz="1200" b="1">
                <a:solidFill>
                  <a:srgbClr val="1B998B"/>
                </a:solidFill>
                <a:latin typeface="Calibri" panose="020F0502020204030204" pitchFamily="34" charset="0"/>
              </a:rPr>
              <a:t>FACILITATOR (UBUNTU TERMINAL, SIGNED IN WITH AWS LOGIN; SETUP IN FACILITATOR.md)</a:t>
            </a:r>
            <a:endParaRPr lang="en-IN" sz="1200" b="1">
              <a:solidFill>
                <a:srgbClr val="1B998B"/>
              </a:solidFill>
              <a:latin typeface="Calibri" panose="020F0502020204030204" pitchFamily="34" charset="0"/>
            </a:endParaRPr>
          </a:p>
        </p:txBody>
      </p:sp>
      <p:sp>
        <p:nvSpPr>
          <p:cNvPr id="4" name="Rectangle: Rounded Corners 3">
            <a:extLst>
              <a:ext uri="{FF2B5EF4-FFF2-40B4-BE49-F238E27FC236}">
                <a16:creationId xmlns:a16="http://schemas.microsoft.com/office/drawing/2014/main" id="{683FECF6-FFFE-EA1A-18F9-1F6DEB8D18D6}"/>
              </a:ext>
            </a:extLst>
          </p:cNvPr>
          <p:cNvSpPr/>
          <p:nvPr/>
        </p:nvSpPr>
        <p:spPr>
          <a:xfrm>
            <a:off x="609600" y="1447800"/>
            <a:ext cx="10972800" cy="2625725"/>
          </a:xfrm>
          <a:prstGeom prst="roundRect">
            <a:avLst>
              <a:gd name="adj" fmla="val 10000"/>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B3DA0B86-268D-CA8D-A93B-B966E3F44224}"/>
              </a:ext>
            </a:extLst>
          </p:cNvPr>
          <p:cNvSpPr txBox="1"/>
          <p:nvPr/>
        </p:nvSpPr>
        <p:spPr>
          <a:xfrm>
            <a:off x="863600" y="1625600"/>
            <a:ext cx="10464800" cy="369332"/>
          </a:xfrm>
          <a:prstGeom prst="rect">
            <a:avLst/>
          </a:prstGeom>
          <a:noFill/>
        </p:spPr>
        <p:txBody>
          <a:bodyPr vert="horz" wrap="square" lIns="0" tIns="0" rIns="0" bIns="0" rtlCol="0" anchor="t">
            <a:noAutofit/>
          </a:bodyPr>
          <a:lstStyle/>
          <a:p>
            <a:r>
              <a:rPr lang="en-IN" sz="1300">
                <a:solidFill>
                  <a:srgbClr val="FFFFFF"/>
                </a:solidFill>
                <a:latin typeface="Consolas" panose="020B0609020204030204" pitchFamily="49" charset="0"/>
              </a:rPr>
              <a:t>export AWS_PROFILE=terraform</a:t>
            </a:r>
          </a:p>
          <a:p>
            <a:r>
              <a:rPr lang="en-IN" sz="1300">
                <a:solidFill>
                  <a:srgbClr val="FFFFFF"/>
                </a:solidFill>
                <a:latin typeface="Consolas" panose="020B0609020204030204" pitchFamily="49" charset="0"/>
              </a:rPr>
              <a:t>cd labs/lab4-into-the-cloud/terraform</a:t>
            </a:r>
          </a:p>
          <a:p>
            <a:r>
              <a:rPr lang="en-IN" sz="1300">
                <a:solidFill>
                  <a:srgbClr val="FFFFFF"/>
                </a:solidFill>
                <a:latin typeface="Consolas" panose="020B0609020204030204" pitchFamily="49" charset="0"/>
              </a:rPr>
              <a:t>terraform init &amp;&amp; terraform apply              </a:t>
            </a:r>
            <a:r>
              <a:rPr lang="en-IN" sz="1300">
                <a:solidFill>
                  <a:srgbClr val="8FD3C9"/>
                </a:solidFill>
                <a:latin typeface="Consolas" panose="020B0609020204030204" pitchFamily="49" charset="0"/>
              </a:rPr>
              <a:t>   # deploy: type yes</a:t>
            </a:r>
          </a:p>
          <a:p>
            <a:r>
              <a:rPr lang="en-IN" sz="1300">
                <a:solidFill>
                  <a:srgbClr val="FFFFFF"/>
                </a:solidFill>
                <a:latin typeface="Consolas" panose="020B0609020204030204" pitchFamily="49" charset="0"/>
              </a:rPr>
              <a:t>aws s3 cp ../customers.html "s3://$(terraform output -raw bucket_name)/" \</a:t>
            </a:r>
          </a:p>
          <a:p>
            <a:r>
              <a:rPr lang="en-IN" sz="1300">
                <a:solidFill>
                  <a:srgbClr val="FFFFFF"/>
                </a:solidFill>
                <a:latin typeface="Consolas" panose="020B0609020204030204" pitchFamily="49" charset="0"/>
              </a:rPr>
              <a:t>  --content-type text/html --cache-control no-store</a:t>
            </a:r>
          </a:p>
          <a:p>
            <a:r>
              <a:rPr lang="en-IN" sz="1300">
                <a:solidFill>
                  <a:srgbClr val="FFFFFF"/>
                </a:solidFill>
                <a:latin typeface="Consolas" panose="020B0609020204030204" pitchFamily="49" charset="0"/>
              </a:rPr>
              <a:t>bash ../check.sh                               </a:t>
            </a:r>
            <a:r>
              <a:rPr lang="en-IN" sz="1300">
                <a:solidFill>
                  <a:srgbClr val="8FD3C9"/>
                </a:solidFill>
                <a:latin typeface="Consolas" panose="020B0609020204030204" pitchFamily="49" charset="0"/>
              </a:rPr>
              <a:t>   # PASS PASS PASS</a:t>
            </a:r>
          </a:p>
          <a:p>
            <a:r>
              <a:rPr lang="en-IN" sz="1300">
                <a:solidFill>
                  <a:srgbClr val="FFFFFF"/>
                </a:solidFill>
                <a:latin typeface="Consolas" panose="020B0609020204030204" pitchFamily="49" charset="0"/>
              </a:rPr>
              <a:t>bash ../drift.sh                               </a:t>
            </a:r>
            <a:r>
              <a:rPr lang="en-IN" sz="1300">
                <a:solidFill>
                  <a:srgbClr val="8FD3C9"/>
                </a:solidFill>
                <a:latin typeface="Consolas" panose="020B0609020204030204" pitchFamily="49" charset="0"/>
              </a:rPr>
              <a:t>   # the leak: link + QR code</a:t>
            </a:r>
          </a:p>
          <a:p>
            <a:r>
              <a:rPr lang="en-IN" sz="1300">
                <a:solidFill>
                  <a:srgbClr val="FFFFFF"/>
                </a:solidFill>
                <a:latin typeface="Consolas" panose="020B0609020204030204" pitchFamily="49" charset="0"/>
              </a:rPr>
              <a:t>bash ../check.sh                               </a:t>
            </a:r>
            <a:r>
              <a:rPr lang="en-IN" sz="1300">
                <a:solidFill>
                  <a:srgbClr val="8FD3C9"/>
                </a:solidFill>
                <a:latin typeface="Consolas" panose="020B0609020204030204" pitchFamily="49" charset="0"/>
              </a:rPr>
              <a:t>   # FAIL FAIL FAIL</a:t>
            </a:r>
          </a:p>
          <a:p>
            <a:r>
              <a:rPr lang="en-IN" sz="1300">
                <a:solidFill>
                  <a:srgbClr val="FFFFFF"/>
                </a:solidFill>
                <a:latin typeface="Consolas" panose="020B0609020204030204" pitchFamily="49" charset="0"/>
              </a:rPr>
              <a:t>terraform plan &amp;&amp; terraform apply              </a:t>
            </a:r>
            <a:r>
              <a:rPr lang="en-IN" sz="1300">
                <a:solidFill>
                  <a:srgbClr val="8FD3C9"/>
                </a:solidFill>
                <a:latin typeface="Consolas" panose="020B0609020204030204" pitchFamily="49" charset="0"/>
              </a:rPr>
              <a:t>   # detect and fix</a:t>
            </a:r>
          </a:p>
          <a:p>
            <a:r>
              <a:rPr lang="en-IN" sz="1300">
                <a:solidFill>
                  <a:srgbClr val="FFFFFF"/>
                </a:solidFill>
                <a:latin typeface="Consolas" panose="020B0609020204030204" pitchFamily="49" charset="0"/>
              </a:rPr>
              <a:t>bash ../check.sh                               </a:t>
            </a:r>
            <a:r>
              <a:rPr lang="en-IN" sz="1300">
                <a:solidFill>
                  <a:srgbClr val="8FD3C9"/>
                </a:solidFill>
                <a:latin typeface="Consolas" panose="020B0609020204030204" pitchFamily="49" charset="0"/>
              </a:rPr>
              <a:t>   # PASS PASS PASS</a:t>
            </a:r>
          </a:p>
          <a:p>
            <a:r>
              <a:rPr lang="en-IN" sz="1300">
                <a:solidFill>
                  <a:srgbClr val="FFFFFF"/>
                </a:solidFill>
                <a:latin typeface="Consolas" panose="020B0609020204030204" pitchFamily="49" charset="0"/>
              </a:rPr>
              <a:t>terraform destroy                              </a:t>
            </a:r>
            <a:r>
              <a:rPr lang="en-IN" sz="1300">
                <a:solidFill>
                  <a:srgbClr val="8FD3C9"/>
                </a:solidFill>
                <a:latin typeface="Consolas" panose="020B0609020204030204" pitchFamily="49" charset="0"/>
              </a:rPr>
              <a:t>   # clean up</a:t>
            </a:r>
          </a:p>
        </p:txBody>
      </p:sp>
      <p:sp>
        <p:nvSpPr>
          <p:cNvPr id="6" name="TextBox 5">
            <a:extLst>
              <a:ext uri="{FF2B5EF4-FFF2-40B4-BE49-F238E27FC236}">
                <a16:creationId xmlns:a16="http://schemas.microsoft.com/office/drawing/2014/main" id="{DFB20424-E168-6BE1-5B1E-E4C2F65F2B12}"/>
              </a:ext>
            </a:extLst>
          </p:cNvPr>
          <p:cNvSpPr txBox="1"/>
          <p:nvPr/>
        </p:nvSpPr>
        <p:spPr>
          <a:xfrm>
            <a:off x="609600" y="6502400"/>
            <a:ext cx="5080000" cy="369332"/>
          </a:xfrm>
          <a:prstGeom prst="rect">
            <a:avLst/>
          </a:prstGeom>
          <a:noFill/>
        </p:spPr>
        <p:txBody>
          <a:bodyPr vert="horz" wrap="square" lIns="0" tIns="0" rIns="0" bIns="0" rtlCol="0" anchor="t">
            <a:noAutofit/>
          </a:bodyPr>
          <a:lstStyle/>
          <a:p>
            <a:r>
              <a:rPr lang="en-US" sz="1000">
                <a:solidFill>
                  <a:srgbClr val="5B6B79"/>
                </a:solidFill>
                <a:latin typeface="Calibri" panose="020F0502020204030204" pitchFamily="34" charset="0"/>
              </a:rPr>
              <a:t>Securing the path to the cloud</a:t>
            </a:r>
            <a:endParaRPr lang="en-IN" sz="1000">
              <a:solidFill>
                <a:srgbClr val="5B6B79"/>
              </a:solidFill>
              <a:latin typeface="Calibri" panose="020F0502020204030204" pitchFamily="34" charset="0"/>
            </a:endParaRPr>
          </a:p>
        </p:txBody>
      </p:sp>
      <p:sp>
        <p:nvSpPr>
          <p:cNvPr id="7" name="TextBox 6">
            <a:extLst>
              <a:ext uri="{FF2B5EF4-FFF2-40B4-BE49-F238E27FC236}">
                <a16:creationId xmlns:a16="http://schemas.microsoft.com/office/drawing/2014/main" id="{E3BA78E8-2726-1054-6560-1953E0257283}"/>
              </a:ext>
            </a:extLst>
          </p:cNvPr>
          <p:cNvSpPr txBox="1"/>
          <p:nvPr/>
        </p:nvSpPr>
        <p:spPr>
          <a:xfrm>
            <a:off x="10312400" y="6502400"/>
            <a:ext cx="1270000" cy="369332"/>
          </a:xfrm>
          <a:prstGeom prst="rect">
            <a:avLst/>
          </a:prstGeom>
          <a:noFill/>
        </p:spPr>
        <p:txBody>
          <a:bodyPr vert="horz" wrap="square" lIns="0" tIns="0" rIns="0" bIns="0" rtlCol="0" anchor="t">
            <a:noAutofit/>
          </a:bodyPr>
          <a:lstStyle/>
          <a:p>
            <a:pPr algn="r"/>
            <a:r>
              <a:rPr lang="en-IN" sz="1000">
                <a:solidFill>
                  <a:srgbClr val="5B6B79"/>
                </a:solidFill>
                <a:latin typeface="Calibri" panose="020F0502020204030204" pitchFamily="34" charset="0"/>
              </a:rPr>
              <a:t>30</a:t>
            </a:r>
          </a:p>
        </p:txBody>
      </p:sp>
    </p:spTree>
    <p:extLst>
      <p:ext uri="{BB962C8B-B14F-4D97-AF65-F5344CB8AC3E}">
        <p14:creationId xmlns:p14="http://schemas.microsoft.com/office/powerpoint/2010/main" val="39643969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1329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2461E1A-94FB-47C1-66D7-A5A20FA2D20E}"/>
              </a:ext>
            </a:extLst>
          </p:cNvPr>
          <p:cNvSpPr txBox="1"/>
          <p:nvPr/>
        </p:nvSpPr>
        <p:spPr>
          <a:xfrm>
            <a:off x="609600" y="381000"/>
            <a:ext cx="10972800" cy="369332"/>
          </a:xfrm>
          <a:prstGeom prst="rect">
            <a:avLst/>
          </a:prstGeom>
          <a:noFill/>
        </p:spPr>
        <p:txBody>
          <a:bodyPr vert="horz" wrap="square" lIns="0" tIns="0" rIns="0" bIns="0" rtlCol="0" anchor="t">
            <a:noAutofit/>
          </a:bodyPr>
          <a:lstStyle/>
          <a:p>
            <a:r>
              <a:rPr lang="en-IN" sz="3400" b="1">
                <a:solidFill>
                  <a:srgbClr val="FFFFFF"/>
                </a:solidFill>
                <a:latin typeface="Calibri" panose="020F0502020204030204" pitchFamily="34" charset="0"/>
              </a:rPr>
              <a:t>What to take away</a:t>
            </a:r>
          </a:p>
        </p:txBody>
      </p:sp>
      <p:sp>
        <p:nvSpPr>
          <p:cNvPr id="3" name="Oval 2">
            <a:extLst>
              <a:ext uri="{FF2B5EF4-FFF2-40B4-BE49-F238E27FC236}">
                <a16:creationId xmlns:a16="http://schemas.microsoft.com/office/drawing/2014/main" id="{44C7AC33-B394-0A2E-A50A-8BA36568E20C}"/>
              </a:ext>
            </a:extLst>
          </p:cNvPr>
          <p:cNvSpPr/>
          <p:nvPr/>
        </p:nvSpPr>
        <p:spPr>
          <a:xfrm>
            <a:off x="609600" y="1270000"/>
            <a:ext cx="508000" cy="508000"/>
          </a:xfrm>
          <a:prstGeom prst="ellipse">
            <a:avLst/>
          </a:prstGeom>
          <a:solidFill>
            <a:srgbClr val="1B998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IN" b="1">
                <a:solidFill>
                  <a:srgbClr val="FFFFFF"/>
                </a:solidFill>
                <a:latin typeface="Calibri" panose="020F0502020204030204" pitchFamily="34" charset="0"/>
              </a:rPr>
              <a:t>1</a:t>
            </a:r>
          </a:p>
        </p:txBody>
      </p:sp>
      <p:sp>
        <p:nvSpPr>
          <p:cNvPr id="4" name="TextBox 3">
            <a:extLst>
              <a:ext uri="{FF2B5EF4-FFF2-40B4-BE49-F238E27FC236}">
                <a16:creationId xmlns:a16="http://schemas.microsoft.com/office/drawing/2014/main" id="{CA322B8C-B3A9-25B2-36F7-BB3441B4F2C5}"/>
              </a:ext>
            </a:extLst>
          </p:cNvPr>
          <p:cNvSpPr txBox="1"/>
          <p:nvPr/>
        </p:nvSpPr>
        <p:spPr>
          <a:xfrm>
            <a:off x="1346200" y="1371600"/>
            <a:ext cx="10236200" cy="369332"/>
          </a:xfrm>
          <a:prstGeom prst="rect">
            <a:avLst/>
          </a:prstGeom>
          <a:noFill/>
        </p:spPr>
        <p:txBody>
          <a:bodyPr vert="horz" wrap="square" lIns="0" tIns="0" rIns="0" bIns="0" rtlCol="0" anchor="t">
            <a:noAutofit/>
          </a:bodyPr>
          <a:lstStyle/>
          <a:p>
            <a:r>
              <a:rPr lang="en-US" sz="1900">
                <a:solidFill>
                  <a:srgbClr val="FFFFFF"/>
                </a:solidFill>
                <a:latin typeface="Calibri" panose="020F0502020204030204" pitchFamily="34" charset="0"/>
              </a:rPr>
              <a:t>Never put secrets in code. If one leaks, rotate it first.</a:t>
            </a:r>
            <a:endParaRPr lang="en-IN" sz="1900">
              <a:solidFill>
                <a:srgbClr val="FFFFFF"/>
              </a:solidFill>
              <a:latin typeface="Calibri" panose="020F0502020204030204" pitchFamily="34" charset="0"/>
            </a:endParaRPr>
          </a:p>
        </p:txBody>
      </p:sp>
      <p:sp>
        <p:nvSpPr>
          <p:cNvPr id="5" name="Oval 4">
            <a:extLst>
              <a:ext uri="{FF2B5EF4-FFF2-40B4-BE49-F238E27FC236}">
                <a16:creationId xmlns:a16="http://schemas.microsoft.com/office/drawing/2014/main" id="{F0E675CB-BAC1-AFC9-7C0A-5A50DF454FF1}"/>
              </a:ext>
            </a:extLst>
          </p:cNvPr>
          <p:cNvSpPr/>
          <p:nvPr/>
        </p:nvSpPr>
        <p:spPr>
          <a:xfrm>
            <a:off x="609600" y="2006600"/>
            <a:ext cx="508000" cy="508000"/>
          </a:xfrm>
          <a:prstGeom prst="ellipse">
            <a:avLst/>
          </a:prstGeom>
          <a:solidFill>
            <a:srgbClr val="1B998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IN" b="1">
                <a:solidFill>
                  <a:srgbClr val="FFFFFF"/>
                </a:solidFill>
                <a:latin typeface="Calibri" panose="020F0502020204030204" pitchFamily="34" charset="0"/>
              </a:rPr>
              <a:t>2</a:t>
            </a:r>
          </a:p>
        </p:txBody>
      </p:sp>
      <p:sp>
        <p:nvSpPr>
          <p:cNvPr id="6" name="TextBox 5">
            <a:extLst>
              <a:ext uri="{FF2B5EF4-FFF2-40B4-BE49-F238E27FC236}">
                <a16:creationId xmlns:a16="http://schemas.microsoft.com/office/drawing/2014/main" id="{BF264778-1172-EAD6-A565-9EFA0186E714}"/>
              </a:ext>
            </a:extLst>
          </p:cNvPr>
          <p:cNvSpPr txBox="1"/>
          <p:nvPr/>
        </p:nvSpPr>
        <p:spPr>
          <a:xfrm>
            <a:off x="1346200" y="2108200"/>
            <a:ext cx="10236200" cy="369332"/>
          </a:xfrm>
          <a:prstGeom prst="rect">
            <a:avLst/>
          </a:prstGeom>
          <a:noFill/>
        </p:spPr>
        <p:txBody>
          <a:bodyPr vert="horz" wrap="square" lIns="0" tIns="0" rIns="0" bIns="0" rtlCol="0" anchor="t">
            <a:noAutofit/>
          </a:bodyPr>
          <a:lstStyle/>
          <a:p>
            <a:r>
              <a:rPr lang="en-US" sz="1900">
                <a:solidFill>
                  <a:srgbClr val="FFFFFF"/>
                </a:solidFill>
                <a:latin typeface="Calibri" panose="020F0502020204030204" pitchFamily="34" charset="0"/>
              </a:rPr>
              <a:t>Scan code early: the most dangerous bugs are well-known patterns.</a:t>
            </a:r>
            <a:endParaRPr lang="en-IN" sz="1900">
              <a:solidFill>
                <a:srgbClr val="FFFFFF"/>
              </a:solidFill>
              <a:latin typeface="Calibri" panose="020F0502020204030204" pitchFamily="34" charset="0"/>
            </a:endParaRPr>
          </a:p>
        </p:txBody>
      </p:sp>
      <p:sp>
        <p:nvSpPr>
          <p:cNvPr id="7" name="Oval 6">
            <a:extLst>
              <a:ext uri="{FF2B5EF4-FFF2-40B4-BE49-F238E27FC236}">
                <a16:creationId xmlns:a16="http://schemas.microsoft.com/office/drawing/2014/main" id="{77C46E67-FA09-F260-D853-CFF857DA6C43}"/>
              </a:ext>
            </a:extLst>
          </p:cNvPr>
          <p:cNvSpPr/>
          <p:nvPr/>
        </p:nvSpPr>
        <p:spPr>
          <a:xfrm>
            <a:off x="609600" y="2743200"/>
            <a:ext cx="508000" cy="508000"/>
          </a:xfrm>
          <a:prstGeom prst="ellipse">
            <a:avLst/>
          </a:prstGeom>
          <a:solidFill>
            <a:srgbClr val="1B998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IN" b="1">
                <a:solidFill>
                  <a:srgbClr val="FFFFFF"/>
                </a:solidFill>
                <a:latin typeface="Calibri" panose="020F0502020204030204" pitchFamily="34" charset="0"/>
              </a:rPr>
              <a:t>3</a:t>
            </a:r>
          </a:p>
        </p:txBody>
      </p:sp>
      <p:sp>
        <p:nvSpPr>
          <p:cNvPr id="8" name="TextBox 7">
            <a:extLst>
              <a:ext uri="{FF2B5EF4-FFF2-40B4-BE49-F238E27FC236}">
                <a16:creationId xmlns:a16="http://schemas.microsoft.com/office/drawing/2014/main" id="{38CF57E7-9C10-EF09-94CF-282DA63CDE14}"/>
              </a:ext>
            </a:extLst>
          </p:cNvPr>
          <p:cNvSpPr txBox="1"/>
          <p:nvPr/>
        </p:nvSpPr>
        <p:spPr>
          <a:xfrm>
            <a:off x="1346200" y="2844800"/>
            <a:ext cx="10236200" cy="369332"/>
          </a:xfrm>
          <a:prstGeom prst="rect">
            <a:avLst/>
          </a:prstGeom>
          <a:noFill/>
        </p:spPr>
        <p:txBody>
          <a:bodyPr vert="horz" wrap="square" lIns="0" tIns="0" rIns="0" bIns="0" rtlCol="0" anchor="t">
            <a:noAutofit/>
          </a:bodyPr>
          <a:lstStyle/>
          <a:p>
            <a:r>
              <a:rPr lang="en-US" sz="1900">
                <a:solidFill>
                  <a:srgbClr val="FFFFFF"/>
                </a:solidFill>
                <a:latin typeface="Calibri" panose="020F0502020204030204" pitchFamily="34" charset="0"/>
              </a:rPr>
              <a:t>Treat infrastructure as code, and scan it before it's created.</a:t>
            </a:r>
            <a:endParaRPr lang="en-IN" sz="1900">
              <a:solidFill>
                <a:srgbClr val="FFFFFF"/>
              </a:solidFill>
              <a:latin typeface="Calibri" panose="020F0502020204030204" pitchFamily="34" charset="0"/>
            </a:endParaRPr>
          </a:p>
        </p:txBody>
      </p:sp>
      <p:sp>
        <p:nvSpPr>
          <p:cNvPr id="9" name="Oval 8">
            <a:extLst>
              <a:ext uri="{FF2B5EF4-FFF2-40B4-BE49-F238E27FC236}">
                <a16:creationId xmlns:a16="http://schemas.microsoft.com/office/drawing/2014/main" id="{36B7775F-4D85-5A6C-0172-9949A9B78C9C}"/>
              </a:ext>
            </a:extLst>
          </p:cNvPr>
          <p:cNvSpPr/>
          <p:nvPr/>
        </p:nvSpPr>
        <p:spPr>
          <a:xfrm>
            <a:off x="609600" y="3479800"/>
            <a:ext cx="508000" cy="508000"/>
          </a:xfrm>
          <a:prstGeom prst="ellipse">
            <a:avLst/>
          </a:prstGeom>
          <a:solidFill>
            <a:srgbClr val="1B998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IN" b="1">
                <a:solidFill>
                  <a:srgbClr val="FFFFFF"/>
                </a:solidFill>
                <a:latin typeface="Calibri" panose="020F0502020204030204" pitchFamily="34" charset="0"/>
              </a:rPr>
              <a:t>4</a:t>
            </a:r>
          </a:p>
        </p:txBody>
      </p:sp>
      <p:sp>
        <p:nvSpPr>
          <p:cNvPr id="10" name="TextBox 9">
            <a:extLst>
              <a:ext uri="{FF2B5EF4-FFF2-40B4-BE49-F238E27FC236}">
                <a16:creationId xmlns:a16="http://schemas.microsoft.com/office/drawing/2014/main" id="{ED68CC2B-4865-D4A1-A846-0F83B6CF52CA}"/>
              </a:ext>
            </a:extLst>
          </p:cNvPr>
          <p:cNvSpPr txBox="1"/>
          <p:nvPr/>
        </p:nvSpPr>
        <p:spPr>
          <a:xfrm>
            <a:off x="1346200" y="3581400"/>
            <a:ext cx="10236200" cy="369332"/>
          </a:xfrm>
          <a:prstGeom prst="rect">
            <a:avLst/>
          </a:prstGeom>
          <a:noFill/>
        </p:spPr>
        <p:txBody>
          <a:bodyPr vert="horz" wrap="square" lIns="0" tIns="0" rIns="0" bIns="0" rtlCol="0" anchor="t">
            <a:noAutofit/>
          </a:bodyPr>
          <a:lstStyle/>
          <a:p>
            <a:r>
              <a:rPr lang="en-US" sz="1900">
                <a:solidFill>
                  <a:srgbClr val="FFFFFF"/>
                </a:solidFill>
                <a:latin typeface="Calibri" panose="020F0502020204030204" pitchFamily="34" charset="0"/>
              </a:rPr>
              <a:t>Automate the checks in a pipeline, so nobody can forget or skip them.</a:t>
            </a:r>
            <a:endParaRPr lang="en-IN" sz="1900">
              <a:solidFill>
                <a:srgbClr val="FFFFFF"/>
              </a:solidFill>
              <a:latin typeface="Calibri" panose="020F0502020204030204" pitchFamily="34" charset="0"/>
            </a:endParaRPr>
          </a:p>
        </p:txBody>
      </p:sp>
      <p:sp>
        <p:nvSpPr>
          <p:cNvPr id="11" name="Oval 10">
            <a:extLst>
              <a:ext uri="{FF2B5EF4-FFF2-40B4-BE49-F238E27FC236}">
                <a16:creationId xmlns:a16="http://schemas.microsoft.com/office/drawing/2014/main" id="{9E4FF83E-DB52-F02E-847E-A65E1D281403}"/>
              </a:ext>
            </a:extLst>
          </p:cNvPr>
          <p:cNvSpPr/>
          <p:nvPr/>
        </p:nvSpPr>
        <p:spPr>
          <a:xfrm>
            <a:off x="609600" y="4216400"/>
            <a:ext cx="508000" cy="508000"/>
          </a:xfrm>
          <a:prstGeom prst="ellipse">
            <a:avLst/>
          </a:prstGeom>
          <a:solidFill>
            <a:srgbClr val="1B998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IN" b="1">
                <a:solidFill>
                  <a:srgbClr val="FFFFFF"/>
                </a:solidFill>
                <a:latin typeface="Calibri" panose="020F0502020204030204" pitchFamily="34" charset="0"/>
              </a:rPr>
              <a:t>5</a:t>
            </a:r>
          </a:p>
        </p:txBody>
      </p:sp>
      <p:sp>
        <p:nvSpPr>
          <p:cNvPr id="12" name="TextBox 11">
            <a:extLst>
              <a:ext uri="{FF2B5EF4-FFF2-40B4-BE49-F238E27FC236}">
                <a16:creationId xmlns:a16="http://schemas.microsoft.com/office/drawing/2014/main" id="{9E256E93-464F-12BD-EA52-767088AA4683}"/>
              </a:ext>
            </a:extLst>
          </p:cNvPr>
          <p:cNvSpPr txBox="1"/>
          <p:nvPr/>
        </p:nvSpPr>
        <p:spPr>
          <a:xfrm>
            <a:off x="1346200" y="4318000"/>
            <a:ext cx="10236200" cy="369332"/>
          </a:xfrm>
          <a:prstGeom prst="rect">
            <a:avLst/>
          </a:prstGeom>
          <a:noFill/>
        </p:spPr>
        <p:txBody>
          <a:bodyPr vert="horz" wrap="square" lIns="0" tIns="0" rIns="0" bIns="0" rtlCol="0" anchor="t">
            <a:noAutofit/>
          </a:bodyPr>
          <a:lstStyle/>
          <a:p>
            <a:r>
              <a:rPr lang="en-US" sz="1900">
                <a:solidFill>
                  <a:srgbClr val="FFFFFF"/>
                </a:solidFill>
                <a:latin typeface="Calibri" panose="020F0502020204030204" pitchFamily="34" charset="0"/>
              </a:rPr>
              <a:t>Watch the live cloud too: it can change without the code changing.</a:t>
            </a:r>
            <a:endParaRPr lang="en-IN" sz="1900">
              <a:solidFill>
                <a:srgbClr val="FFFFFF"/>
              </a:solidFill>
              <a:latin typeface="Calibri" panose="020F0502020204030204" pitchFamily="34" charset="0"/>
            </a:endParaRPr>
          </a:p>
        </p:txBody>
      </p:sp>
      <p:sp>
        <p:nvSpPr>
          <p:cNvPr id="13" name="TextBox 12">
            <a:extLst>
              <a:ext uri="{FF2B5EF4-FFF2-40B4-BE49-F238E27FC236}">
                <a16:creationId xmlns:a16="http://schemas.microsoft.com/office/drawing/2014/main" id="{69B54DFA-CA92-B203-DFA6-477AC25AAED4}"/>
              </a:ext>
            </a:extLst>
          </p:cNvPr>
          <p:cNvSpPr txBox="1"/>
          <p:nvPr/>
        </p:nvSpPr>
        <p:spPr>
          <a:xfrm>
            <a:off x="609600" y="5232400"/>
            <a:ext cx="10972800" cy="369332"/>
          </a:xfrm>
          <a:prstGeom prst="rect">
            <a:avLst/>
          </a:prstGeom>
          <a:noFill/>
        </p:spPr>
        <p:txBody>
          <a:bodyPr vert="horz" wrap="square" lIns="0" tIns="0" rIns="0" bIns="0" rtlCol="0" anchor="t">
            <a:noAutofit/>
          </a:bodyPr>
          <a:lstStyle/>
          <a:p>
            <a:r>
              <a:rPr lang="en-IN" sz="4000" b="1">
                <a:solidFill>
                  <a:srgbClr val="FFFFFF"/>
                </a:solidFill>
                <a:latin typeface="Calibri" panose="020F0502020204030204" pitchFamily="34" charset="0"/>
              </a:rPr>
              <a:t>Questions?</a:t>
            </a:r>
          </a:p>
        </p:txBody>
      </p:sp>
      <p:sp>
        <p:nvSpPr>
          <p:cNvPr id="14" name="TextBox 13">
            <a:extLst>
              <a:ext uri="{FF2B5EF4-FFF2-40B4-BE49-F238E27FC236}">
                <a16:creationId xmlns:a16="http://schemas.microsoft.com/office/drawing/2014/main" id="{A916937F-C61A-3CD5-5942-EB2E8AEC0CCC}"/>
              </a:ext>
            </a:extLst>
          </p:cNvPr>
          <p:cNvSpPr txBox="1"/>
          <p:nvPr/>
        </p:nvSpPr>
        <p:spPr>
          <a:xfrm>
            <a:off x="609600" y="5969000"/>
            <a:ext cx="10972800" cy="369332"/>
          </a:xfrm>
          <a:prstGeom prst="rect">
            <a:avLst/>
          </a:prstGeom>
          <a:noFill/>
        </p:spPr>
        <p:txBody>
          <a:bodyPr vert="horz" wrap="square" lIns="0" tIns="0" rIns="0" bIns="0" rtlCol="0" anchor="t">
            <a:noAutofit/>
          </a:bodyPr>
          <a:lstStyle/>
          <a:p>
            <a:r>
              <a:rPr lang="en-US" sz="1600" b="1">
                <a:solidFill>
                  <a:srgbClr val="1B998B"/>
                </a:solidFill>
                <a:latin typeface="Calibri" panose="020F0502020204030204" pitchFamily="34" charset="0"/>
              </a:rPr>
              <a:t>Everything from today: github.com/PrathameshChopade/MIT-Cloud-Demo</a:t>
            </a:r>
            <a:endParaRPr lang="en-IN" sz="1600" b="1">
              <a:solidFill>
                <a:srgbClr val="1B998B"/>
              </a:solidFill>
              <a:latin typeface="Calibri" panose="020F0502020204030204" pitchFamily="34" charset="0"/>
            </a:endParaRPr>
          </a:p>
        </p:txBody>
      </p:sp>
    </p:spTree>
    <p:extLst>
      <p:ext uri="{BB962C8B-B14F-4D97-AF65-F5344CB8AC3E}">
        <p14:creationId xmlns:p14="http://schemas.microsoft.com/office/powerpoint/2010/main" val="36108555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4779</Words>
  <Application>Microsoft Office PowerPoint</Application>
  <PresentationFormat>Custom</PresentationFormat>
  <Paragraphs>591</Paragraphs>
  <Slides>31</Slides>
  <Notes>31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Aptos</vt:lpstr>
      <vt:lpstr>Aptos Display</vt: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Prathmesh</dc:creator>
  <cp:lastModifiedBy>Prathmesh</cp:lastModifiedBy>
  <cp:revision>1</cp:revision>
  <dcterms:created xsi:type="dcterms:W3CDTF">2026-10-22T08:42:21Z</dcterms:created>
  <dcterms:modified xsi:type="dcterms:W3CDTF">2026-10-22T08:42:21Z</dcterms:modified>
</cp:coreProperties>
</file>