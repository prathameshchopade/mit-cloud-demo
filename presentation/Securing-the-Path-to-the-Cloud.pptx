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245630-38AF-43AC-9265-9B903193E862}" type="datetimeFigureOut">
              <a:rPr lang="en-IN" smtClean="0"/>
              <a:t>22-10-2026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ED9AD6-2AA4-4661-857E-21464E3F76BA}" type="slidenum">
              <a:rPr lang="en-IN" smtClean="0"/>
              <a:t>‹#›</a:t>
            </a:fld>
            <a:endParaRPr lang="en-IN"/>
          </a:p>
        </p:txBody>
      </p:sp>
    </p:spTree>
    <p:extLst>
      <p:ext uri="{BB962C8B-B14F-4D97-AF65-F5344CB8AC3E}">
        <p14:creationId xmlns:p14="http://schemas.microsoft.com/office/powerpoint/2010/main" val="38800576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This is a hands-on session: by the end you will have found and fixed real security problems on your own laptop. Everything runs locally in Docker, and no cloud account is needed. The four circles are the four checkpoints we will visit today.</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a:t>
            </a:fld>
            <a:endParaRPr lang="en-IN"/>
          </a:p>
        </p:txBody>
      </p:sp>
    </p:spTree>
    <p:extLst>
      <p:ext uri="{BB962C8B-B14F-4D97-AF65-F5344CB8AC3E}">
        <p14:creationId xmlns:p14="http://schemas.microsoft.com/office/powerpoint/2010/main" val="13490655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Ninety minutes in total. Labs 1 and 3 are hands-on on your own laptop; Lab 2 is a walkthrough of SonarQube on my screen while you read the code. Jenkins and AWS are short demos. Questions on topics outside today go on the parking-lot board and I will follow up.</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a:t>
            </a:fld>
            <a:endParaRPr lang="en-IN"/>
          </a:p>
        </p:txBody>
      </p:sp>
    </p:spTree>
    <p:extLst>
      <p:ext uri="{BB962C8B-B14F-4D97-AF65-F5344CB8AC3E}">
        <p14:creationId xmlns:p14="http://schemas.microsoft.com/office/powerpoint/2010/main" val="35724852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expectations before anything else. Nobody needs a cloud account or credit card. None of the keys or data in the labs are real. Three parts are demos on my screen because they need servers or a cloud account. Everything is in the repo: each lab has a README.md with every step.</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3</a:t>
            </a:fld>
            <a:endParaRPr lang="en-IN"/>
          </a:p>
        </p:txBody>
      </p:sp>
    </p:spTree>
    <p:extLst>
      <p:ext uri="{BB962C8B-B14F-4D97-AF65-F5344CB8AC3E}">
        <p14:creationId xmlns:p14="http://schemas.microsoft.com/office/powerpoint/2010/main" val="3970741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it has these five properties, it is cloud, whether it runs in an AWS data centre or in your own. Mention Platform9 and OpenStack: the same self-service model, on the company's own hardware.</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4</a:t>
            </a:fld>
            <a:endParaRPr lang="en-IN"/>
          </a:p>
        </p:txBody>
      </p:sp>
    </p:spTree>
    <p:extLst>
      <p:ext uri="{BB962C8B-B14F-4D97-AF65-F5344CB8AC3E}">
        <p14:creationId xmlns:p14="http://schemas.microsoft.com/office/powerpoint/2010/main" val="21540635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cloud service model view: IaaS, PaaS and SaaS differ in how much of the stack the provider runs for you. It is closely related to, but not the same as, the shared responsibility model on slide 6, which applies the same split to security: whatever you manage here, you also have to secure. Read it left to right: the further right, the more the provider manages. Examples: on-premises is your own servers or VMware; IaaS is EC2 or an OpenStack/Platform9 VM, where you still patch the OS; PaaS is Elastic Beanstalk or App Service, where you just bring code; SaaS is Microsoft 365 or Gmail. Even in SaaS, your data and who can access it remain your job.</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5</a:t>
            </a:fld>
            <a:endParaRPr lang="en-IN"/>
          </a:p>
        </p:txBody>
      </p:sp>
    </p:spTree>
    <p:extLst>
      <p:ext uri="{BB962C8B-B14F-4D97-AF65-F5344CB8AC3E}">
        <p14:creationId xmlns:p14="http://schemas.microsoft.com/office/powerpoint/2010/main" val="863730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 cloud is built from these four. Glance is OpenStack's image service, the equivalent of AMIs: it stores the images servers boot from, so it sits with compute. Storage for workloads is Swift (objects), Cinder (disks) and Manila (shared files). Most mistakes today live in storage, network and identity settings.</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6</a:t>
            </a:fld>
            <a:endParaRPr lang="en-IN"/>
          </a:p>
        </p:txBody>
      </p:sp>
    </p:spTree>
    <p:extLst>
      <p:ext uri="{BB962C8B-B14F-4D97-AF65-F5344CB8AC3E}">
        <p14:creationId xmlns:p14="http://schemas.microsoft.com/office/powerpoint/2010/main" val="2890949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provider is responsible for security OF the cloud; you are responsible for security IN the cloud. AWS makes sure Block Public Access works; whether you switch it on is up to you.</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7</a:t>
            </a:fld>
            <a:endParaRPr lang="en-IN"/>
          </a:p>
        </p:txBody>
      </p:sp>
    </p:spTree>
    <p:extLst>
      <p:ext uri="{BB962C8B-B14F-4D97-AF65-F5344CB8AC3E}">
        <p14:creationId xmlns:p14="http://schemas.microsoft.com/office/powerpoint/2010/main" val="25079308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None of these needed an exotic exploit. Uber: keys in a repo (Lab 1). Capital One: a misconfigured app plus the old metadata service (Lab 3). Codecov: a credential left in a Docker image. Microsoft: a storage link with far too much access.</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8</a:t>
            </a:fld>
            <a:endParaRPr lang="en-IN"/>
          </a:p>
        </p:txBody>
      </p:sp>
    </p:spTree>
    <p:extLst>
      <p:ext uri="{BB962C8B-B14F-4D97-AF65-F5344CB8AC3E}">
        <p14:creationId xmlns:p14="http://schemas.microsoft.com/office/powerpoint/2010/main" val="2664453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change starts on a laptop and ends in production. Labs 1 to 3 catch problems before deployment; Lab 4 deploys to a real AWS account and shows what can still go wrong after it.</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9</a:t>
            </a:fld>
            <a:endParaRPr lang="en-IN"/>
          </a:p>
        </p:txBody>
      </p:sp>
    </p:spTree>
    <p:extLst>
      <p:ext uri="{BB962C8B-B14F-4D97-AF65-F5344CB8AC3E}">
        <p14:creationId xmlns:p14="http://schemas.microsoft.com/office/powerpoint/2010/main" val="3145540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Any of these works; the labs only need Docker with Compose, and Git. Docker Desktop needs a paid licence in larger companies, which is why I use WSL2 with Docker Engine instead. Ask now if anyone did not get READY from the verify script.</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10</a:t>
            </a:fld>
            <a:endParaRPr lang="en-IN"/>
          </a:p>
        </p:txBody>
      </p:sp>
    </p:spTree>
    <p:extLst>
      <p:ext uri="{BB962C8B-B14F-4D97-AF65-F5344CB8AC3E}">
        <p14:creationId xmlns:p14="http://schemas.microsoft.com/office/powerpoint/2010/main" val="3601391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Put this slide up while people arrive. Anyone who did not set up beforehand can start the build now; it takes a few minutes on a good connection. Anyone whose laptop cannot run Docker pairs with a neighbour.</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11</a:t>
            </a:fld>
            <a:endParaRPr lang="en-IN"/>
          </a:p>
        </p:txBody>
      </p:sp>
    </p:spTree>
    <p:extLst>
      <p:ext uri="{BB962C8B-B14F-4D97-AF65-F5344CB8AC3E}">
        <p14:creationId xmlns:p14="http://schemas.microsoft.com/office/powerpoint/2010/main" val="15705435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exactly what I am running. WSL2 runs Ubuntu in a small virtual machine; Docker Engine runs inside Ubuntu; the labs run in containers on top. I keep the kit on the Windows drive and open it in VS Code, so you can see the files on the projector.</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12</a:t>
            </a:fld>
            <a:endParaRPr lang="en-IN"/>
          </a:p>
        </p:txBody>
      </p:sp>
    </p:spTree>
    <p:extLst>
      <p:ext uri="{BB962C8B-B14F-4D97-AF65-F5344CB8AC3E}">
        <p14:creationId xmlns:p14="http://schemas.microsoft.com/office/powerpoint/2010/main" val="29014485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Everyone opens the toolbox now, from the kit folder. Anyone stuck pairs with a neighbour. Every lab follows the same four steps on the right.</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13</a:t>
            </a:fld>
            <a:endParaRPr lang="en-IN"/>
          </a:p>
        </p:txBody>
      </p:sp>
    </p:spTree>
    <p:extLst>
      <p:ext uri="{BB962C8B-B14F-4D97-AF65-F5344CB8AC3E}">
        <p14:creationId xmlns:p14="http://schemas.microsoft.com/office/powerpoint/2010/main" val="12447929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1. Open labs/lab1-secrets/README.md. Everyone follows the steps in the toolbox; I do the same on screen.</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14</a:t>
            </a:fld>
            <a:endParaRPr lang="en-IN"/>
          </a:p>
        </p:txBody>
      </p:sp>
    </p:spTree>
    <p:extLst>
      <p:ext uri="{BB962C8B-B14F-4D97-AF65-F5344CB8AC3E}">
        <p14:creationId xmlns:p14="http://schemas.microsoft.com/office/powerpoint/2010/main" val="23995173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up the story before anyone types. Ask the room: once the lines are deleted and committed, is the key safe? Most will say yes. The lab shows why not.</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15</a:t>
            </a:fld>
            <a:endParaRPr lang="en-IN"/>
          </a:p>
        </p:txBody>
      </p:sp>
    </p:spTree>
    <p:extLst>
      <p:ext uri="{BB962C8B-B14F-4D97-AF65-F5344CB8AC3E}">
        <p14:creationId xmlns:p14="http://schemas.microsoft.com/office/powerpoint/2010/main" val="10826838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"fix" commit hides the key from the current files, but gitleaks still finds it in history. Stress the order on the right: rotate first, clean up last. Secret scanners catch machine-generated keys well, and human-chosen passwords poorly.</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16</a:t>
            </a:fld>
            <a:endParaRPr lang="en-IN"/>
          </a:p>
        </p:txBody>
      </p:sp>
    </p:spTree>
    <p:extLst>
      <p:ext uri="{BB962C8B-B14F-4D97-AF65-F5344CB8AC3E}">
        <p14:creationId xmlns:p14="http://schemas.microsoft.com/office/powerpoint/2010/main" val="969281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everyone to open labs/lab1-secrets/README.md in VS Code and follow it in the toolbox. I do the same on screen.</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17</a:t>
            </a:fld>
            <a:endParaRPr lang="en-IN"/>
          </a:p>
        </p:txBody>
      </p:sp>
    </p:spTree>
    <p:extLst>
      <p:ext uri="{BB962C8B-B14F-4D97-AF65-F5344CB8AC3E}">
        <p14:creationId xmlns:p14="http://schemas.microsoft.com/office/powerpoint/2010/main" val="18414468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2. Everyone opens labs/lab2-insecure-code/start/report_service.py in VS Code. I run SonarQube on my screen.</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18</a:t>
            </a:fld>
            <a:endParaRPr lang="en-IN"/>
          </a:p>
        </p:txBody>
      </p:sp>
    </p:spTree>
    <p:extLst>
      <p:ext uri="{BB962C8B-B14F-4D97-AF65-F5344CB8AC3E}">
        <p14:creationId xmlns:p14="http://schemas.microsoft.com/office/powerpoint/2010/main" val="19937457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Frame it: code review alone misses these, because the code looks normal. A scanner reads every line, every time.</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19</a:t>
            </a:fld>
            <a:endParaRPr lang="en-IN"/>
          </a:p>
        </p:txBody>
      </p:sp>
    </p:spTree>
    <p:extLst>
      <p:ext uri="{BB962C8B-B14F-4D97-AF65-F5344CB8AC3E}">
        <p14:creationId xmlns:p14="http://schemas.microsoft.com/office/powerpoint/2010/main" val="33730429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six families cover the roughly twenty problems in the file; each one has a RISK comment in the code. Give the room a minute to read before showing SonarQube. The three to explain in depth: command injection, eval, and predictable tokens.</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20</a:t>
            </a:fld>
            <a:endParaRPr lang="en-IN"/>
          </a:p>
        </p:txBody>
      </p:sp>
    </p:spTree>
    <p:extLst>
      <p:ext uri="{BB962C8B-B14F-4D97-AF65-F5344CB8AC3E}">
        <p14:creationId xmlns:p14="http://schemas.microsoft.com/office/powerpoint/2010/main" val="5359756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the SonarQube tab. Projects list: the insecure and fixed projects side by side. Open the insecure one: Issues, filter by Security, click one to show the line and the explanation. Then Security Hotspots. Then in the fixed project: no issues; review the remaining hotspots live and mark them Safe with a reason.</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21</a:t>
            </a:fld>
            <a:endParaRPr lang="en-IN"/>
          </a:p>
        </p:txBody>
      </p:sp>
    </p:spTree>
    <p:extLst>
      <p:ext uri="{BB962C8B-B14F-4D97-AF65-F5344CB8AC3E}">
        <p14:creationId xmlns:p14="http://schemas.microsoft.com/office/powerpoint/2010/main" val="6833006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follow labs/lab2-insecure-code/README.md while I run SonarQube. Anyone with about 3 GB of free memory can follow along on their own laptop, in a host terminal.</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22</a:t>
            </a:fld>
            <a:endParaRPr lang="en-IN"/>
          </a:p>
        </p:txBody>
      </p:sp>
    </p:spTree>
    <p:extLst>
      <p:ext uri="{BB962C8B-B14F-4D97-AF65-F5344CB8AC3E}">
        <p14:creationId xmlns:p14="http://schemas.microsoft.com/office/powerpoint/2010/main" val="19567710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3. Open labs/lab3-ci-gate/start/main.tf and solution/main.tf side by side. Nothing touches AWS: Checkov only reads the files.</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23</a:t>
            </a:fld>
            <a:endParaRPr lang="en-IN"/>
          </a:p>
        </p:txBody>
      </p:sp>
    </p:spTree>
    <p:extLst>
      <p:ext uri="{BB962C8B-B14F-4D97-AF65-F5344CB8AC3E}">
        <p14:creationId xmlns:p14="http://schemas.microsoft.com/office/powerpoint/2010/main" val="6951096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Connect back to the building blocks: storage, network, compute and identity all appear in this one file. The question for the room: would you let this deploy?</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24</a:t>
            </a:fld>
            <a:endParaRPr lang="en-IN"/>
          </a:p>
        </p:txBody>
      </p:sp>
    </p:spTree>
    <p:extLst>
      <p:ext uri="{BB962C8B-B14F-4D97-AF65-F5344CB8AC3E}">
        <p14:creationId xmlns:p14="http://schemas.microsoft.com/office/powerpoint/2010/main" val="17263307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RISK lines in main.tf. The IMDSv1 row is the Capital One path. Run Checkov with the must-fix list on start: it fails. Run it on solution: it passes. Compare the two files side by side in VS Code.</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25</a:t>
            </a:fld>
            <a:endParaRPr lang="en-IN"/>
          </a:p>
        </p:txBody>
      </p:sp>
    </p:spTree>
    <p:extLst>
      <p:ext uri="{BB962C8B-B14F-4D97-AF65-F5344CB8AC3E}">
        <p14:creationId xmlns:p14="http://schemas.microsoft.com/office/powerpoint/2010/main" val="5613854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Jenkins. Build Now on the insecure version: red, Deploy skipped; show the console output. Apply the fixes and build again: green. Then the bridge to Lab 4: deploy is simulated here, so what can still go wrong once it is real?</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26</a:t>
            </a:fld>
            <a:endParaRPr lang="en-IN"/>
          </a:p>
        </p:txBody>
      </p:sp>
    </p:spTree>
    <p:extLst>
      <p:ext uri="{BB962C8B-B14F-4D97-AF65-F5344CB8AC3E}">
        <p14:creationId xmlns:p14="http://schemas.microsoft.com/office/powerpoint/2010/main" val="39271962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run the two Checkov scans from labs/lab3-ci-gate/README.md in the toolbox. Then switch to Jenkins: red build with Deploy skipped, apply the fixes, green build.</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27</a:t>
            </a:fld>
            <a:endParaRPr lang="en-IN"/>
          </a:p>
        </p:txBody>
      </p:sp>
    </p:spTree>
    <p:extLst>
      <p:ext uri="{BB962C8B-B14F-4D97-AF65-F5344CB8AC3E}">
        <p14:creationId xmlns:p14="http://schemas.microsoft.com/office/powerpoint/2010/main" val="370865397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4. My screen: a real AWS account. Phones ready: you will need them in a few minutes.</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28</a:t>
            </a:fld>
            <a:endParaRPr lang="en-IN"/>
          </a:p>
        </p:txBody>
      </p:sp>
    </p:spTree>
    <p:extLst>
      <p:ext uri="{BB962C8B-B14F-4D97-AF65-F5344CB8AC3E}">
        <p14:creationId xmlns:p14="http://schemas.microsoft.com/office/powerpoint/2010/main" val="2058917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up the twist: Labs 1 to 3 stopped bad code before deployment. This one starts with good code, deployed. The question for the room: once it is live, what can still go wrong?</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29</a:t>
            </a:fld>
            <a:endParaRPr lang="en-IN"/>
          </a:p>
        </p:txBody>
      </p:sp>
    </p:spTree>
    <p:extLst>
      <p:ext uri="{BB962C8B-B14F-4D97-AF65-F5344CB8AC3E}">
        <p14:creationId xmlns:p14="http://schemas.microsoft.com/office/powerpoint/2010/main" val="35043838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demo now, following labs/lab4-into-the-cloud/README.md. Step 3 is the moment: everyone scans the QR code from drift.sh and the confidential page opens on their phone. After terraform apply, ask them to refresh: Access Denied. Point out that no scanner from Labs 1 to 3 could have caught this, because the code never changed.</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30</a:t>
            </a:fld>
            <a:endParaRPr lang="en-IN"/>
          </a:p>
        </p:txBody>
      </p:sp>
    </p:spTree>
    <p:extLst>
      <p:ext uri="{BB962C8B-B14F-4D97-AF65-F5344CB8AC3E}">
        <p14:creationId xmlns:p14="http://schemas.microsoft.com/office/powerpoint/2010/main" val="32984111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Bring it back to slide 6. AWS did its part perfectly: Block Public Access, security groups and IAM all worked exactly as designed. Every problem was a decision on our side of the line.</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31</a:t>
            </a:fld>
            <a:endParaRPr lang="en-IN"/>
          </a:p>
        </p:txBody>
      </p:sp>
    </p:spTree>
    <p:extLst>
      <p:ext uri="{BB962C8B-B14F-4D97-AF65-F5344CB8AC3E}">
        <p14:creationId xmlns:p14="http://schemas.microsoft.com/office/powerpoint/2010/main" val="22939674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follow labs/lab4-into-the-cloud/README.md step by step. The full set of commands is there, including the AWS sign-in setup.</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32</a:t>
            </a:fld>
            <a:endParaRPr lang="en-IN"/>
          </a:p>
        </p:txBody>
      </p:sp>
    </p:spTree>
    <p:extLst>
      <p:ext uri="{BB962C8B-B14F-4D97-AF65-F5344CB8AC3E}">
        <p14:creationId xmlns:p14="http://schemas.microsoft.com/office/powerpoint/2010/main" val="16635989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Recap the five points. Everything, including every step, is in the repo: start with README.md. Collect any parking-lot questions and promise follow-up answers.</a:t>
            </a:r>
            <a:endParaRPr lang="en-IN"/>
          </a:p>
        </p:txBody>
      </p:sp>
      <p:sp>
        <p:nvSpPr>
          <p:cNvPr id="4" name="Slide Number Placeholder 3"/>
          <p:cNvSpPr>
            <a:spLocks noGrp="1"/>
          </p:cNvSpPr>
          <p:nvPr>
            <p:ph type="sldNum" sz="quarter" idx="5"/>
          </p:nvPr>
        </p:nvSpPr>
        <p:spPr/>
        <p:txBody>
          <a:bodyPr/>
          <a:lstStyle/>
          <a:p>
            <a:fld id="{29ED9AD6-2AA4-4661-857E-21464E3F76BA}" type="slidenum">
              <a:rPr lang="en-IN" smtClean="0"/>
              <a:t>33</a:t>
            </a:fld>
            <a:endParaRPr lang="en-IN"/>
          </a:p>
        </p:txBody>
      </p:sp>
    </p:spTree>
    <p:extLst>
      <p:ext uri="{BB962C8B-B14F-4D97-AF65-F5344CB8AC3E}">
        <p14:creationId xmlns:p14="http://schemas.microsoft.com/office/powerpoint/2010/main" val="5435082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BCD24-BB91-8D35-1A49-EA51B315C1F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172C8E6-5A48-0705-0821-3B1C648DEC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872BD69-A9FA-348C-CE6A-DF247670740A}"/>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5" name="Footer Placeholder 4">
            <a:extLst>
              <a:ext uri="{FF2B5EF4-FFF2-40B4-BE49-F238E27FC236}">
                <a16:creationId xmlns:a16="http://schemas.microsoft.com/office/drawing/2014/main" id="{FF590673-9B06-FF09-2533-9251926EBF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696868D-1FD3-95EB-1800-A4A500EAE5EC}"/>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30768412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CC533-CEE9-F7D8-68E3-A8998FEC6D8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7BADA53-DD9F-FD6C-30BF-FD69FAF760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01D9B48-A7B0-C47A-717A-5788ABAE3D9C}"/>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5" name="Footer Placeholder 4">
            <a:extLst>
              <a:ext uri="{FF2B5EF4-FFF2-40B4-BE49-F238E27FC236}">
                <a16:creationId xmlns:a16="http://schemas.microsoft.com/office/drawing/2014/main" id="{C00B91CA-A1E6-FA38-F1FC-1EE8540ED1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11F0D6-409D-43E8-5CD4-EAF4518D66C0}"/>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36805257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F20DC-7746-1183-3A9B-DC05604359B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3E15F3F-4E52-9CE2-8585-5127FB7EB4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E6FFF19-5C08-0477-ECA0-742F41993AA0}"/>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5" name="Footer Placeholder 4">
            <a:extLst>
              <a:ext uri="{FF2B5EF4-FFF2-40B4-BE49-F238E27FC236}">
                <a16:creationId xmlns:a16="http://schemas.microsoft.com/office/drawing/2014/main" id="{BEC79B17-6200-70C0-0AD7-9BAE637D44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76BB47B-5F1D-BD3A-045F-704D1BCE5D48}"/>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9876409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ED058-72F2-2D57-E00E-E5315ADCC42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CBA5747-0EF1-8AFB-E119-BF3E92196F0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FB06369-7F80-2478-D18E-495E2A0BA9A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3C8DEDE-B955-6E52-43F0-71ED0937BD6B}"/>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6" name="Footer Placeholder 5">
            <a:extLst>
              <a:ext uri="{FF2B5EF4-FFF2-40B4-BE49-F238E27FC236}">
                <a16:creationId xmlns:a16="http://schemas.microsoft.com/office/drawing/2014/main" id="{DE99F0FB-D160-FF64-BAB5-BCF58CFA9F4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FA7C801-66B9-F832-AD25-898C447445A7}"/>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6466484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C2C6F-AFA9-4DCA-B008-D1E30C20F49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FA1FC69-997D-0253-24E2-FB13C74F9D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2CF0DB-D0E9-94A5-EB77-69A8E41C78D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122C69C-0873-54A3-49EF-0537D99F25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13294AC-2B3D-F7CD-AE63-2E3B09D127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D2D0EF9-BF70-5231-F571-CC22505D228E}"/>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8" name="Footer Placeholder 7">
            <a:extLst>
              <a:ext uri="{FF2B5EF4-FFF2-40B4-BE49-F238E27FC236}">
                <a16:creationId xmlns:a16="http://schemas.microsoft.com/office/drawing/2014/main" id="{FC623A88-D52F-1C2D-811A-28EC85C638A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9880201D-35F5-03BC-D8EE-2CB12C930907}"/>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32320840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3E2E1-1726-2753-1859-F5CA510A021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885C53C-BAB4-861D-5DCC-F22286420292}"/>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4" name="Footer Placeholder 3">
            <a:extLst>
              <a:ext uri="{FF2B5EF4-FFF2-40B4-BE49-F238E27FC236}">
                <a16:creationId xmlns:a16="http://schemas.microsoft.com/office/drawing/2014/main" id="{BD2C9A1A-47B5-2673-AEB3-D9A8B85B544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EEB268B-DDEE-45BA-1497-722B13F59753}"/>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16414957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F33493-66B3-69A7-FF9F-11630FAA8EA8}"/>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3" name="Footer Placeholder 2">
            <a:extLst>
              <a:ext uri="{FF2B5EF4-FFF2-40B4-BE49-F238E27FC236}">
                <a16:creationId xmlns:a16="http://schemas.microsoft.com/office/drawing/2014/main" id="{499B8E07-8632-0F02-BBF8-D92331BDAD6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D4292EB-D544-0EFC-9DF2-6F394E5AFBE6}"/>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1882493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7C6F2-F9A0-6C9F-B202-47E455769E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67E54DF-5C47-E90F-647E-8163949982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B36E135-E658-1B9A-1EF9-B31AA5D0E6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15C550-3AA6-AD2B-D4FF-871F6566CBB5}"/>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6" name="Footer Placeholder 5">
            <a:extLst>
              <a:ext uri="{FF2B5EF4-FFF2-40B4-BE49-F238E27FC236}">
                <a16:creationId xmlns:a16="http://schemas.microsoft.com/office/drawing/2014/main" id="{EAB1FBA4-34C9-1577-147A-963B4243F31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0CE44DB-0167-1B8E-F7A5-3B6FD58413A3}"/>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195041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EDE4F-F209-7E57-BAF1-69626C7CD7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E314852-2E8D-95BD-8174-6DEFAA48DCA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A4BF3C9-9F6E-213D-F483-7D72767BF0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58E5FD2-D38D-0CEF-016A-3B2EE394D699}"/>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6" name="Footer Placeholder 5">
            <a:extLst>
              <a:ext uri="{FF2B5EF4-FFF2-40B4-BE49-F238E27FC236}">
                <a16:creationId xmlns:a16="http://schemas.microsoft.com/office/drawing/2014/main" id="{53F422B9-783D-FD10-B967-60E21319C7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706AD93-F0BB-861A-2105-462039D526D0}"/>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2905173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0695B-FFA3-C527-9539-209416B053D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E579136-05B7-2F31-C1BB-5974539CB8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9795B5E-C349-E513-B15E-6E4B379D31E8}"/>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5" name="Footer Placeholder 4">
            <a:extLst>
              <a:ext uri="{FF2B5EF4-FFF2-40B4-BE49-F238E27FC236}">
                <a16:creationId xmlns:a16="http://schemas.microsoft.com/office/drawing/2014/main" id="{1F202996-5FF9-4F62-2E13-577E4AEE57C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01030C5-0014-D463-A591-5789E89E5928}"/>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35456153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252BC8E-393C-C778-6B1C-C077E17789A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7C23BF5-377B-20E6-2BC4-B307C16205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3FDC5D0-00B7-9A81-5653-2B982797A475}"/>
              </a:ext>
            </a:extLst>
          </p:cNvPr>
          <p:cNvSpPr>
            <a:spLocks noGrp="1"/>
          </p:cNvSpPr>
          <p:nvPr>
            <p:ph type="dt" sz="half" idx="10"/>
          </p:nvPr>
        </p:nvSpPr>
        <p:spPr/>
        <p:txBody>
          <a:bodyPr/>
          <a:lstStyle/>
          <a:p>
            <a:fld id="{19102270-F15E-4C42-B10C-2B1CD670675C}" type="datetimeFigureOut">
              <a:rPr lang="en-IN" smtClean="0"/>
              <a:t>22-10-2026</a:t>
            </a:fld>
            <a:endParaRPr lang="en-IN"/>
          </a:p>
        </p:txBody>
      </p:sp>
      <p:sp>
        <p:nvSpPr>
          <p:cNvPr id="5" name="Footer Placeholder 4">
            <a:extLst>
              <a:ext uri="{FF2B5EF4-FFF2-40B4-BE49-F238E27FC236}">
                <a16:creationId xmlns:a16="http://schemas.microsoft.com/office/drawing/2014/main" id="{13CE7545-B959-C04D-E87A-46218323E66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67A0A42-82C1-B50A-FABD-764D537C80C8}"/>
              </a:ext>
            </a:extLst>
          </p:cNvPr>
          <p:cNvSpPr>
            <a:spLocks noGrp="1"/>
          </p:cNvSpPr>
          <p:nvPr>
            <p:ph type="sldNum" sz="quarter" idx="12"/>
          </p:nvPr>
        </p:nvSpPr>
        <p:spPr/>
        <p:txBody>
          <a:bodyPr/>
          <a:lstStyle/>
          <a:p>
            <a:fld id="{659F24E0-1CD8-47D6-8DD5-5980B6B7D327}" type="slidenum">
              <a:rPr lang="en-IN" smtClean="0"/>
              <a:t>‹#›</a:t>
            </a:fld>
            <a:endParaRPr lang="en-IN"/>
          </a:p>
        </p:txBody>
      </p:sp>
    </p:spTree>
    <p:extLst>
      <p:ext uri="{BB962C8B-B14F-4D97-AF65-F5344CB8AC3E}">
        <p14:creationId xmlns:p14="http://schemas.microsoft.com/office/powerpoint/2010/main" val="1133902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5579FF-4E9C-8371-29BC-0FA83B8E53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85A7044-BC9E-616A-3601-C20F4CDAFE3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D47A605-B452-9A9B-BEB8-A87FF223341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9102270-F15E-4C42-B10C-2B1CD670675C}" type="datetimeFigureOut">
              <a:rPr lang="en-IN" smtClean="0"/>
              <a:t>22-10-2026</a:t>
            </a:fld>
            <a:endParaRPr lang="en-IN"/>
          </a:p>
        </p:txBody>
      </p:sp>
      <p:sp>
        <p:nvSpPr>
          <p:cNvPr id="5" name="Footer Placeholder 4">
            <a:extLst>
              <a:ext uri="{FF2B5EF4-FFF2-40B4-BE49-F238E27FC236}">
                <a16:creationId xmlns:a16="http://schemas.microsoft.com/office/drawing/2014/main" id="{3DDEF265-C6B7-3C12-5603-DC2729C98D4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A160F245-953B-96D1-5071-F10D7B17BCF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9F24E0-1CD8-47D6-8DD5-5980B6B7D327}" type="slidenum">
              <a:rPr lang="en-IN" smtClean="0"/>
              <a:t>‹#›</a:t>
            </a:fld>
            <a:endParaRPr lang="en-IN"/>
          </a:p>
        </p:txBody>
      </p:sp>
    </p:spTree>
    <p:extLst>
      <p:ext uri="{BB962C8B-B14F-4D97-AF65-F5344CB8AC3E}">
        <p14:creationId xmlns:p14="http://schemas.microsoft.com/office/powerpoint/2010/main" val="7500649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5E654D5-EC35-D382-AD6D-502217215A55}"/>
              </a:ext>
            </a:extLst>
          </p:cNvPr>
          <p:cNvSpPr txBox="1"/>
          <p:nvPr/>
        </p:nvSpPr>
        <p:spPr>
          <a:xfrm>
            <a:off x="609600" y="2184400"/>
            <a:ext cx="66040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HANDS-ON WORKSHOP</a:t>
            </a:r>
          </a:p>
        </p:txBody>
      </p:sp>
      <p:sp>
        <p:nvSpPr>
          <p:cNvPr id="3" name="TextBox 2">
            <a:extLst>
              <a:ext uri="{FF2B5EF4-FFF2-40B4-BE49-F238E27FC236}">
                <a16:creationId xmlns:a16="http://schemas.microsoft.com/office/drawing/2014/main" id="{795FE591-40B7-7E1D-590A-2A65CC1C9E98}"/>
              </a:ext>
            </a:extLst>
          </p:cNvPr>
          <p:cNvSpPr txBox="1"/>
          <p:nvPr/>
        </p:nvSpPr>
        <p:spPr>
          <a:xfrm>
            <a:off x="609600" y="2514600"/>
            <a:ext cx="7620000" cy="369332"/>
          </a:xfrm>
          <a:prstGeom prst="rect">
            <a:avLst/>
          </a:prstGeom>
          <a:noFill/>
        </p:spPr>
        <p:txBody>
          <a:bodyPr vert="horz" wrap="square" lIns="0" tIns="0" rIns="0" bIns="0" rtlCol="0" anchor="t">
            <a:noAutofit/>
          </a:bodyPr>
          <a:lstStyle/>
          <a:p>
            <a:r>
              <a:rPr lang="en-US" sz="4400" b="1">
                <a:solidFill>
                  <a:srgbClr val="FFFFFF"/>
                </a:solidFill>
                <a:latin typeface="Calibri" panose="020F0502020204030204" pitchFamily="34" charset="0"/>
              </a:rPr>
              <a:t>Securing the Path to the Cloud</a:t>
            </a:r>
            <a:endParaRPr lang="en-IN" sz="4400" b="1">
              <a:solidFill>
                <a:srgbClr val="FFFFFF"/>
              </a:solidFill>
              <a:latin typeface="Calibri" panose="020F0502020204030204" pitchFamily="34" charset="0"/>
            </a:endParaRPr>
          </a:p>
        </p:txBody>
      </p:sp>
      <p:sp>
        <p:nvSpPr>
          <p:cNvPr id="4" name="TextBox 3">
            <a:extLst>
              <a:ext uri="{FF2B5EF4-FFF2-40B4-BE49-F238E27FC236}">
                <a16:creationId xmlns:a16="http://schemas.microsoft.com/office/drawing/2014/main" id="{52B5FA01-89CA-BD1A-2D7B-4F6879624B31}"/>
              </a:ext>
            </a:extLst>
          </p:cNvPr>
          <p:cNvSpPr txBox="1"/>
          <p:nvPr/>
        </p:nvSpPr>
        <p:spPr>
          <a:xfrm>
            <a:off x="609600" y="3378200"/>
            <a:ext cx="6604000" cy="369332"/>
          </a:xfrm>
          <a:prstGeom prst="rect">
            <a:avLst/>
          </a:prstGeom>
          <a:noFill/>
        </p:spPr>
        <p:txBody>
          <a:bodyPr vert="horz" wrap="square" lIns="0" tIns="0" rIns="0" bIns="0" rtlCol="0" anchor="t">
            <a:noAutofit/>
          </a:bodyPr>
          <a:lstStyle/>
          <a:p>
            <a:r>
              <a:rPr lang="en-US">
                <a:solidFill>
                  <a:srgbClr val="C9D6DF"/>
                </a:solidFill>
                <a:latin typeface="Calibri" panose="020F0502020204030204" pitchFamily="34" charset="0"/>
              </a:rPr>
              <a:t>Cloud fundamentals, and catching security problems before they reach production</a:t>
            </a:r>
            <a:endParaRPr lang="en-IN">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38931C2B-DFB8-CE8B-FA8E-B3B6CCC26642}"/>
              </a:ext>
            </a:extLst>
          </p:cNvPr>
          <p:cNvSpPr txBox="1"/>
          <p:nvPr/>
        </p:nvSpPr>
        <p:spPr>
          <a:xfrm>
            <a:off x="609600" y="4368800"/>
            <a:ext cx="6604000" cy="369332"/>
          </a:xfrm>
          <a:prstGeom prst="rect">
            <a:avLst/>
          </a:prstGeom>
          <a:noFill/>
        </p:spPr>
        <p:txBody>
          <a:bodyPr vert="horz" wrap="square" lIns="0" tIns="0" rIns="0" bIns="0" rtlCol="0" anchor="t">
            <a:noAutofit/>
          </a:bodyPr>
          <a:lstStyle/>
          <a:p>
            <a:r>
              <a:rPr lang="en-IN" sz="1400">
                <a:solidFill>
                  <a:srgbClr val="C9D6DF"/>
                </a:solidFill>
                <a:latin typeface="Calibri" panose="020F0502020204030204" pitchFamily="34" charset="0"/>
              </a:rPr>
              <a:t>Prathmesh  ·  22 October 2026</a:t>
            </a:r>
          </a:p>
        </p:txBody>
      </p:sp>
      <p:cxnSp>
        <p:nvCxnSpPr>
          <p:cNvPr id="6" name="Straight Connector 5">
            <a:extLst>
              <a:ext uri="{FF2B5EF4-FFF2-40B4-BE49-F238E27FC236}">
                <a16:creationId xmlns:a16="http://schemas.microsoft.com/office/drawing/2014/main" id="{BB4555D3-FB83-2F3D-DC16-ABBDA91BA7AD}"/>
              </a:ext>
            </a:extLst>
          </p:cNvPr>
          <p:cNvCxnSpPr/>
          <p:nvPr/>
        </p:nvCxnSpPr>
        <p:spPr>
          <a:xfrm>
            <a:off x="9690100" y="1714500"/>
            <a:ext cx="0" cy="3048000"/>
          </a:xfrm>
          <a:prstGeom prst="line">
            <a:avLst/>
          </a:prstGeom>
          <a:ln w="25400">
            <a:solidFill>
              <a:srgbClr val="1B998B"/>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FF2D3CCB-12E9-2F27-283C-040E2A0D4ED6}"/>
              </a:ext>
            </a:extLst>
          </p:cNvPr>
          <p:cNvSpPr/>
          <p:nvPr/>
        </p:nvSpPr>
        <p:spPr>
          <a:xfrm>
            <a:off x="9398000" y="1422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8" name="TextBox 7">
            <a:extLst>
              <a:ext uri="{FF2B5EF4-FFF2-40B4-BE49-F238E27FC236}">
                <a16:creationId xmlns:a16="http://schemas.microsoft.com/office/drawing/2014/main" id="{79B8A20B-F3D7-13A3-5556-E3BB6B458ACE}"/>
              </a:ext>
            </a:extLst>
          </p:cNvPr>
          <p:cNvSpPr txBox="1"/>
          <p:nvPr/>
        </p:nvSpPr>
        <p:spPr>
          <a:xfrm>
            <a:off x="10210800" y="1574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Secrets</a:t>
            </a:r>
          </a:p>
        </p:txBody>
      </p:sp>
      <p:sp>
        <p:nvSpPr>
          <p:cNvPr id="9" name="Oval 8">
            <a:extLst>
              <a:ext uri="{FF2B5EF4-FFF2-40B4-BE49-F238E27FC236}">
                <a16:creationId xmlns:a16="http://schemas.microsoft.com/office/drawing/2014/main" id="{E105D09A-D13F-596C-088A-03E8304C6DCD}"/>
              </a:ext>
            </a:extLst>
          </p:cNvPr>
          <p:cNvSpPr/>
          <p:nvPr/>
        </p:nvSpPr>
        <p:spPr>
          <a:xfrm>
            <a:off x="9398000" y="2438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CEAC633F-DD3C-597C-DF90-EA8ABA10B390}"/>
              </a:ext>
            </a:extLst>
          </p:cNvPr>
          <p:cNvSpPr txBox="1"/>
          <p:nvPr/>
        </p:nvSpPr>
        <p:spPr>
          <a:xfrm>
            <a:off x="10210800" y="2590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Code</a:t>
            </a:r>
          </a:p>
        </p:txBody>
      </p:sp>
      <p:sp>
        <p:nvSpPr>
          <p:cNvPr id="11" name="Oval 10">
            <a:extLst>
              <a:ext uri="{FF2B5EF4-FFF2-40B4-BE49-F238E27FC236}">
                <a16:creationId xmlns:a16="http://schemas.microsoft.com/office/drawing/2014/main" id="{D0CD7C65-EAF7-ADFF-A1CE-08FAE2778384}"/>
              </a:ext>
            </a:extLst>
          </p:cNvPr>
          <p:cNvSpPr/>
          <p:nvPr/>
        </p:nvSpPr>
        <p:spPr>
          <a:xfrm>
            <a:off x="9398000" y="3454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2" name="TextBox 11">
            <a:extLst>
              <a:ext uri="{FF2B5EF4-FFF2-40B4-BE49-F238E27FC236}">
                <a16:creationId xmlns:a16="http://schemas.microsoft.com/office/drawing/2014/main" id="{A631FB84-2CFF-B615-64BE-64F9150DAD58}"/>
              </a:ext>
            </a:extLst>
          </p:cNvPr>
          <p:cNvSpPr txBox="1"/>
          <p:nvPr/>
        </p:nvSpPr>
        <p:spPr>
          <a:xfrm>
            <a:off x="10210800" y="3606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Pipeline</a:t>
            </a:r>
          </a:p>
        </p:txBody>
      </p:sp>
      <p:sp>
        <p:nvSpPr>
          <p:cNvPr id="13" name="Oval 12">
            <a:extLst>
              <a:ext uri="{FF2B5EF4-FFF2-40B4-BE49-F238E27FC236}">
                <a16:creationId xmlns:a16="http://schemas.microsoft.com/office/drawing/2014/main" id="{ACB87761-7B18-60E9-C806-3FBA5F841B06}"/>
              </a:ext>
            </a:extLst>
          </p:cNvPr>
          <p:cNvSpPr/>
          <p:nvPr/>
        </p:nvSpPr>
        <p:spPr>
          <a:xfrm>
            <a:off x="9398000" y="4470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4" name="TextBox 13">
            <a:extLst>
              <a:ext uri="{FF2B5EF4-FFF2-40B4-BE49-F238E27FC236}">
                <a16:creationId xmlns:a16="http://schemas.microsoft.com/office/drawing/2014/main" id="{1B65218C-F4A7-D93D-FC36-A143EAF4CF6C}"/>
              </a:ext>
            </a:extLst>
          </p:cNvPr>
          <p:cNvSpPr txBox="1"/>
          <p:nvPr/>
        </p:nvSpPr>
        <p:spPr>
          <a:xfrm>
            <a:off x="10210800" y="4622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Cloud</a:t>
            </a:r>
          </a:p>
        </p:txBody>
      </p:sp>
    </p:spTree>
    <p:extLst>
      <p:ext uri="{BB962C8B-B14F-4D97-AF65-F5344CB8AC3E}">
        <p14:creationId xmlns:p14="http://schemas.microsoft.com/office/powerpoint/2010/main" val="697318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47660B8-19E7-AFA6-5970-B6AF4442542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Today's plan</a:t>
            </a:r>
          </a:p>
        </p:txBody>
      </p:sp>
      <p:sp>
        <p:nvSpPr>
          <p:cNvPr id="3" name="Rectangle: Rounded Corners 2">
            <a:extLst>
              <a:ext uri="{FF2B5EF4-FFF2-40B4-BE49-F238E27FC236}">
                <a16:creationId xmlns:a16="http://schemas.microsoft.com/office/drawing/2014/main" id="{8E5680B7-EA7F-8385-9397-F9646A8E04C5}"/>
              </a:ext>
            </a:extLst>
          </p:cNvPr>
          <p:cNvSpPr/>
          <p:nvPr/>
        </p:nvSpPr>
        <p:spPr>
          <a:xfrm>
            <a:off x="609600" y="12700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Intro</a:t>
            </a:r>
          </a:p>
        </p:txBody>
      </p:sp>
      <p:sp>
        <p:nvSpPr>
          <p:cNvPr id="4" name="TextBox 3">
            <a:extLst>
              <a:ext uri="{FF2B5EF4-FFF2-40B4-BE49-F238E27FC236}">
                <a16:creationId xmlns:a16="http://schemas.microsoft.com/office/drawing/2014/main" id="{EC203EE1-019C-520A-FB0B-02B0B1226558}"/>
              </a:ext>
            </a:extLst>
          </p:cNvPr>
          <p:cNvSpPr txBox="1"/>
          <p:nvPr/>
        </p:nvSpPr>
        <p:spPr>
          <a:xfrm>
            <a:off x="2286000" y="13716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Cloud fundamentals and shared responsibility</a:t>
            </a:r>
            <a:endParaRPr lang="en-IN" sz="2000">
              <a:solidFill>
                <a:srgbClr val="1E2A35"/>
              </a:solidFill>
              <a:latin typeface="Calibri" panose="020F0502020204030204" pitchFamily="34" charset="0"/>
            </a:endParaRPr>
          </a:p>
        </p:txBody>
      </p:sp>
      <p:sp>
        <p:nvSpPr>
          <p:cNvPr id="5" name="TextBox 4">
            <a:extLst>
              <a:ext uri="{FF2B5EF4-FFF2-40B4-BE49-F238E27FC236}">
                <a16:creationId xmlns:a16="http://schemas.microsoft.com/office/drawing/2014/main" id="{1FFB202D-7FAE-1CB0-8541-A54A2F39FC00}"/>
              </a:ext>
            </a:extLst>
          </p:cNvPr>
          <p:cNvSpPr txBox="1"/>
          <p:nvPr/>
        </p:nvSpPr>
        <p:spPr>
          <a:xfrm>
            <a:off x="8890000" y="1397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Talk</a:t>
            </a:r>
          </a:p>
        </p:txBody>
      </p:sp>
      <p:sp>
        <p:nvSpPr>
          <p:cNvPr id="6" name="Rectangle: Rounded Corners 5">
            <a:extLst>
              <a:ext uri="{FF2B5EF4-FFF2-40B4-BE49-F238E27FC236}">
                <a16:creationId xmlns:a16="http://schemas.microsoft.com/office/drawing/2014/main" id="{F6009108-CD81-ED92-DC01-16A5C4D35FA0}"/>
              </a:ext>
            </a:extLst>
          </p:cNvPr>
          <p:cNvSpPr/>
          <p:nvPr/>
        </p:nvSpPr>
        <p:spPr>
          <a:xfrm>
            <a:off x="609600" y="1955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Setup</a:t>
            </a:r>
          </a:p>
        </p:txBody>
      </p:sp>
      <p:sp>
        <p:nvSpPr>
          <p:cNvPr id="7" name="TextBox 6">
            <a:extLst>
              <a:ext uri="{FF2B5EF4-FFF2-40B4-BE49-F238E27FC236}">
                <a16:creationId xmlns:a16="http://schemas.microsoft.com/office/drawing/2014/main" id="{CCD99703-96C1-8C03-1A85-4AECAD816725}"/>
              </a:ext>
            </a:extLst>
          </p:cNvPr>
          <p:cNvSpPr txBox="1"/>
          <p:nvPr/>
        </p:nvSpPr>
        <p:spPr>
          <a:xfrm>
            <a:off x="2286000" y="20574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Setup check and your toolbox</a:t>
            </a:r>
            <a:endParaRPr lang="en-IN" sz="20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DB2D8E96-6439-AF2F-D3C0-28411E5C504E}"/>
              </a:ext>
            </a:extLst>
          </p:cNvPr>
          <p:cNvSpPr txBox="1"/>
          <p:nvPr/>
        </p:nvSpPr>
        <p:spPr>
          <a:xfrm>
            <a:off x="8890000" y="2082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Demo</a:t>
            </a:r>
          </a:p>
        </p:txBody>
      </p:sp>
      <p:sp>
        <p:nvSpPr>
          <p:cNvPr id="9" name="Rectangle: Rounded Corners 8">
            <a:extLst>
              <a:ext uri="{FF2B5EF4-FFF2-40B4-BE49-F238E27FC236}">
                <a16:creationId xmlns:a16="http://schemas.microsoft.com/office/drawing/2014/main" id="{E933280A-FF26-3742-AE54-7AFAD2CD7CA7}"/>
              </a:ext>
            </a:extLst>
          </p:cNvPr>
          <p:cNvSpPr/>
          <p:nvPr/>
        </p:nvSpPr>
        <p:spPr>
          <a:xfrm>
            <a:off x="609600" y="26416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1</a:t>
            </a:r>
          </a:p>
        </p:txBody>
      </p:sp>
      <p:sp>
        <p:nvSpPr>
          <p:cNvPr id="10" name="TextBox 9">
            <a:extLst>
              <a:ext uri="{FF2B5EF4-FFF2-40B4-BE49-F238E27FC236}">
                <a16:creationId xmlns:a16="http://schemas.microsoft.com/office/drawing/2014/main" id="{65877417-7F5A-89B4-7CAB-513C1A1D9843}"/>
              </a:ext>
            </a:extLst>
          </p:cNvPr>
          <p:cNvSpPr txBox="1"/>
          <p:nvPr/>
        </p:nvSpPr>
        <p:spPr>
          <a:xfrm>
            <a:off x="2286000" y="27432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Secrets in Git</a:t>
            </a:r>
          </a:p>
        </p:txBody>
      </p:sp>
      <p:sp>
        <p:nvSpPr>
          <p:cNvPr id="11" name="TextBox 10">
            <a:extLst>
              <a:ext uri="{FF2B5EF4-FFF2-40B4-BE49-F238E27FC236}">
                <a16:creationId xmlns:a16="http://schemas.microsoft.com/office/drawing/2014/main" id="{06ECF25E-9B93-6C50-AE89-6FA2880FD480}"/>
              </a:ext>
            </a:extLst>
          </p:cNvPr>
          <p:cNvSpPr txBox="1"/>
          <p:nvPr/>
        </p:nvSpPr>
        <p:spPr>
          <a:xfrm>
            <a:off x="8890000" y="27686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a:t>
            </a:r>
          </a:p>
        </p:txBody>
      </p:sp>
      <p:sp>
        <p:nvSpPr>
          <p:cNvPr id="12" name="Rectangle: Rounded Corners 11">
            <a:extLst>
              <a:ext uri="{FF2B5EF4-FFF2-40B4-BE49-F238E27FC236}">
                <a16:creationId xmlns:a16="http://schemas.microsoft.com/office/drawing/2014/main" id="{A0F8928C-F108-E1D5-201B-3873DE5CC6F2}"/>
              </a:ext>
            </a:extLst>
          </p:cNvPr>
          <p:cNvSpPr/>
          <p:nvPr/>
        </p:nvSpPr>
        <p:spPr>
          <a:xfrm>
            <a:off x="609600" y="33274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2</a:t>
            </a:r>
          </a:p>
        </p:txBody>
      </p:sp>
      <p:sp>
        <p:nvSpPr>
          <p:cNvPr id="13" name="TextBox 12">
            <a:extLst>
              <a:ext uri="{FF2B5EF4-FFF2-40B4-BE49-F238E27FC236}">
                <a16:creationId xmlns:a16="http://schemas.microsoft.com/office/drawing/2014/main" id="{29729D7E-57D9-B353-7ECB-8BAFC1993435}"/>
              </a:ext>
            </a:extLst>
          </p:cNvPr>
          <p:cNvSpPr txBox="1"/>
          <p:nvPr/>
        </p:nvSpPr>
        <p:spPr>
          <a:xfrm>
            <a:off x="2286000" y="34290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7CB4CA0C-73F6-C4F9-3CB7-21A8DE0B1B50}"/>
              </a:ext>
            </a:extLst>
          </p:cNvPr>
          <p:cNvSpPr txBox="1"/>
          <p:nvPr/>
        </p:nvSpPr>
        <p:spPr>
          <a:xfrm>
            <a:off x="8890000" y="34544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SonarQube walkthrough</a:t>
            </a:r>
          </a:p>
        </p:txBody>
      </p:sp>
      <p:sp>
        <p:nvSpPr>
          <p:cNvPr id="15" name="Rectangle: Rounded Corners 14">
            <a:extLst>
              <a:ext uri="{FF2B5EF4-FFF2-40B4-BE49-F238E27FC236}">
                <a16:creationId xmlns:a16="http://schemas.microsoft.com/office/drawing/2014/main" id="{2FE265CA-F87D-5595-EF13-A41D0F93B774}"/>
              </a:ext>
            </a:extLst>
          </p:cNvPr>
          <p:cNvSpPr/>
          <p:nvPr/>
        </p:nvSpPr>
        <p:spPr>
          <a:xfrm>
            <a:off x="609600" y="40132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3</a:t>
            </a:r>
          </a:p>
        </p:txBody>
      </p:sp>
      <p:sp>
        <p:nvSpPr>
          <p:cNvPr id="16" name="TextBox 15">
            <a:extLst>
              <a:ext uri="{FF2B5EF4-FFF2-40B4-BE49-F238E27FC236}">
                <a16:creationId xmlns:a16="http://schemas.microsoft.com/office/drawing/2014/main" id="{4E9BC05A-1CAA-B1BF-3C88-1F1626531987}"/>
              </a:ext>
            </a:extLst>
          </p:cNvPr>
          <p:cNvSpPr txBox="1"/>
          <p:nvPr/>
        </p:nvSpPr>
        <p:spPr>
          <a:xfrm>
            <a:off x="2286000" y="41148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The CI security gate</a:t>
            </a:r>
          </a:p>
        </p:txBody>
      </p:sp>
      <p:sp>
        <p:nvSpPr>
          <p:cNvPr id="17" name="TextBox 16">
            <a:extLst>
              <a:ext uri="{FF2B5EF4-FFF2-40B4-BE49-F238E27FC236}">
                <a16:creationId xmlns:a16="http://schemas.microsoft.com/office/drawing/2014/main" id="{7E3D9B1E-3485-9DB3-8D32-CAA639CF5D1C}"/>
              </a:ext>
            </a:extLst>
          </p:cNvPr>
          <p:cNvSpPr txBox="1"/>
          <p:nvPr/>
        </p:nvSpPr>
        <p:spPr>
          <a:xfrm>
            <a:off x="8890000" y="41402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 + Jenkins demo</a:t>
            </a:r>
          </a:p>
        </p:txBody>
      </p:sp>
      <p:sp>
        <p:nvSpPr>
          <p:cNvPr id="18" name="Rectangle: Rounded Corners 17">
            <a:extLst>
              <a:ext uri="{FF2B5EF4-FFF2-40B4-BE49-F238E27FC236}">
                <a16:creationId xmlns:a16="http://schemas.microsoft.com/office/drawing/2014/main" id="{FE9E83E1-475F-7DDC-F028-F98FE8601DFF}"/>
              </a:ext>
            </a:extLst>
          </p:cNvPr>
          <p:cNvSpPr/>
          <p:nvPr/>
        </p:nvSpPr>
        <p:spPr>
          <a:xfrm>
            <a:off x="609600" y="46990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4</a:t>
            </a:r>
          </a:p>
        </p:txBody>
      </p:sp>
      <p:sp>
        <p:nvSpPr>
          <p:cNvPr id="19" name="TextBox 18">
            <a:extLst>
              <a:ext uri="{FF2B5EF4-FFF2-40B4-BE49-F238E27FC236}">
                <a16:creationId xmlns:a16="http://schemas.microsoft.com/office/drawing/2014/main" id="{4419AA5D-5098-B5CE-6495-400920087DD0}"/>
              </a:ext>
            </a:extLst>
          </p:cNvPr>
          <p:cNvSpPr txBox="1"/>
          <p:nvPr/>
        </p:nvSpPr>
        <p:spPr>
          <a:xfrm>
            <a:off x="2286000" y="48006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Into the cloud</a:t>
            </a:r>
          </a:p>
        </p:txBody>
      </p:sp>
      <p:sp>
        <p:nvSpPr>
          <p:cNvPr id="20" name="TextBox 19">
            <a:extLst>
              <a:ext uri="{FF2B5EF4-FFF2-40B4-BE49-F238E27FC236}">
                <a16:creationId xmlns:a16="http://schemas.microsoft.com/office/drawing/2014/main" id="{CC45034F-7B68-0E93-A01A-4F2A0B15D02D}"/>
              </a:ext>
            </a:extLst>
          </p:cNvPr>
          <p:cNvSpPr txBox="1"/>
          <p:nvPr/>
        </p:nvSpPr>
        <p:spPr>
          <a:xfrm>
            <a:off x="8890000" y="4826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Live AWS demo</a:t>
            </a:r>
          </a:p>
        </p:txBody>
      </p:sp>
      <p:sp>
        <p:nvSpPr>
          <p:cNvPr id="21" name="Rectangle: Rounded Corners 20">
            <a:extLst>
              <a:ext uri="{FF2B5EF4-FFF2-40B4-BE49-F238E27FC236}">
                <a16:creationId xmlns:a16="http://schemas.microsoft.com/office/drawing/2014/main" id="{84D5A7ED-1A8C-9B43-745B-527A0EFB4461}"/>
              </a:ext>
            </a:extLst>
          </p:cNvPr>
          <p:cNvSpPr/>
          <p:nvPr/>
        </p:nvSpPr>
        <p:spPr>
          <a:xfrm>
            <a:off x="609600" y="5384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Close</a:t>
            </a:r>
          </a:p>
        </p:txBody>
      </p:sp>
      <p:sp>
        <p:nvSpPr>
          <p:cNvPr id="22" name="TextBox 21">
            <a:extLst>
              <a:ext uri="{FF2B5EF4-FFF2-40B4-BE49-F238E27FC236}">
                <a16:creationId xmlns:a16="http://schemas.microsoft.com/office/drawing/2014/main" id="{F3AF295C-3178-8F01-3238-61F2DD04BE12}"/>
              </a:ext>
            </a:extLst>
          </p:cNvPr>
          <p:cNvSpPr txBox="1"/>
          <p:nvPr/>
        </p:nvSpPr>
        <p:spPr>
          <a:xfrm>
            <a:off x="2286000" y="5486400"/>
            <a:ext cx="6604000" cy="369332"/>
          </a:xfrm>
          <a:prstGeom prst="rect">
            <a:avLst/>
          </a:prstGeom>
          <a:noFill/>
        </p:spPr>
        <p:txBody>
          <a:bodyPr vert="horz" wrap="square" lIns="0" tIns="0" rIns="0" bIns="0" rtlCol="0" anchor="t">
            <a:noAutofit/>
          </a:bodyPr>
          <a:lstStyle/>
          <a:p>
            <a:r>
              <a:rPr lang="en-IN" sz="2000">
                <a:solidFill>
                  <a:srgbClr val="1E2A35"/>
                </a:solidFill>
                <a:latin typeface="Calibri" panose="020F0502020204030204" pitchFamily="34" charset="0"/>
              </a:rPr>
              <a:t>Wrap-up and questions</a:t>
            </a:r>
          </a:p>
        </p:txBody>
      </p:sp>
      <p:sp>
        <p:nvSpPr>
          <p:cNvPr id="23" name="TextBox 22">
            <a:extLst>
              <a:ext uri="{FF2B5EF4-FFF2-40B4-BE49-F238E27FC236}">
                <a16:creationId xmlns:a16="http://schemas.microsoft.com/office/drawing/2014/main" id="{93D83777-6A8D-8C78-E4EE-069ABAB66199}"/>
              </a:ext>
            </a:extLst>
          </p:cNvPr>
          <p:cNvSpPr txBox="1"/>
          <p:nvPr/>
        </p:nvSpPr>
        <p:spPr>
          <a:xfrm>
            <a:off x="8890000" y="5511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Discussion</a:t>
            </a:r>
          </a:p>
        </p:txBody>
      </p:sp>
      <p:sp>
        <p:nvSpPr>
          <p:cNvPr id="24" name="TextBox 23">
            <a:extLst>
              <a:ext uri="{FF2B5EF4-FFF2-40B4-BE49-F238E27FC236}">
                <a16:creationId xmlns:a16="http://schemas.microsoft.com/office/drawing/2014/main" id="{00CC2E52-BEEC-9706-C67C-0788B4561A8C}"/>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8FB17FE0-4CB2-BD7F-F198-BD33BABB6A23}"/>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a:t>
            </a:r>
          </a:p>
        </p:txBody>
      </p:sp>
    </p:spTree>
    <p:extLst>
      <p:ext uri="{BB962C8B-B14F-4D97-AF65-F5344CB8AC3E}">
        <p14:creationId xmlns:p14="http://schemas.microsoft.com/office/powerpoint/2010/main" val="34365396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559F5A-CBF6-7F33-D061-0647736041E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Assumptions and ground rules</a:t>
            </a:r>
          </a:p>
        </p:txBody>
      </p:sp>
      <p:sp>
        <p:nvSpPr>
          <p:cNvPr id="3" name="Rectangle: Rounded Corners 2">
            <a:extLst>
              <a:ext uri="{FF2B5EF4-FFF2-40B4-BE49-F238E27FC236}">
                <a16:creationId xmlns:a16="http://schemas.microsoft.com/office/drawing/2014/main" id="{0A5813EA-902B-7B08-992E-6A960441BD69}"/>
              </a:ext>
            </a:extLst>
          </p:cNvPr>
          <p:cNvSpPr/>
          <p:nvPr/>
        </p:nvSpPr>
        <p:spPr>
          <a:xfrm>
            <a:off x="609600" y="13208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21CA3F66-F1B7-A06A-F7C7-38A0514A72AB}"/>
              </a:ext>
            </a:extLst>
          </p:cNvPr>
          <p:cNvSpPr/>
          <p:nvPr/>
        </p:nvSpPr>
        <p:spPr>
          <a:xfrm>
            <a:off x="838200" y="1549400"/>
            <a:ext cx="431800" cy="4318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08799550-09A4-5D51-72E0-72CFDB87A23B}"/>
              </a:ext>
            </a:extLst>
          </p:cNvPr>
          <p:cNvSpPr txBox="1"/>
          <p:nvPr/>
        </p:nvSpPr>
        <p:spPr>
          <a:xfrm>
            <a:off x="838200" y="21336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No cloud account needed</a:t>
            </a:r>
          </a:p>
        </p:txBody>
      </p:sp>
      <p:sp>
        <p:nvSpPr>
          <p:cNvPr id="6" name="TextBox 5">
            <a:extLst>
              <a:ext uri="{FF2B5EF4-FFF2-40B4-BE49-F238E27FC236}">
                <a16:creationId xmlns:a16="http://schemas.microsoft.com/office/drawing/2014/main" id="{3D5D6978-6DF9-4FE1-9DAE-E4D53C7EC4FD}"/>
              </a:ext>
            </a:extLst>
          </p:cNvPr>
          <p:cNvSpPr txBox="1"/>
          <p:nvPr/>
        </p:nvSpPr>
        <p:spPr>
          <a:xfrm>
            <a:off x="838200" y="25400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Labs 1 to 3 run on your laptop, in Docker. Lab 4 uses my own AWS sandbox account.</a:t>
            </a:r>
            <a:endParaRPr lang="en-IN" sz="1400">
              <a:solidFill>
                <a:srgbClr val="1E2A35"/>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94A75863-D26A-49D7-B0C3-D732238AC849}"/>
              </a:ext>
            </a:extLst>
          </p:cNvPr>
          <p:cNvSpPr/>
          <p:nvPr/>
        </p:nvSpPr>
        <p:spPr>
          <a:xfrm>
            <a:off x="4318000" y="13208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Oval 7">
            <a:extLst>
              <a:ext uri="{FF2B5EF4-FFF2-40B4-BE49-F238E27FC236}">
                <a16:creationId xmlns:a16="http://schemas.microsoft.com/office/drawing/2014/main" id="{9203D052-DC36-179C-92DD-7F09C0CD6A10}"/>
              </a:ext>
            </a:extLst>
          </p:cNvPr>
          <p:cNvSpPr/>
          <p:nvPr/>
        </p:nvSpPr>
        <p:spPr>
          <a:xfrm>
            <a:off x="4546600" y="1549400"/>
            <a:ext cx="431800" cy="4318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15ABAB72-D455-C7A1-14D0-CF3C48E611BD}"/>
              </a:ext>
            </a:extLst>
          </p:cNvPr>
          <p:cNvSpPr txBox="1"/>
          <p:nvPr/>
        </p:nvSpPr>
        <p:spPr>
          <a:xfrm>
            <a:off x="4546600" y="21336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Made-up practice data</a:t>
            </a:r>
          </a:p>
        </p:txBody>
      </p:sp>
      <p:sp>
        <p:nvSpPr>
          <p:cNvPr id="10" name="TextBox 9">
            <a:extLst>
              <a:ext uri="{FF2B5EF4-FFF2-40B4-BE49-F238E27FC236}">
                <a16:creationId xmlns:a16="http://schemas.microsoft.com/office/drawing/2014/main" id="{9D1349B0-FE0E-EA6B-C886-2BBB17F90278}"/>
              </a:ext>
            </a:extLst>
          </p:cNvPr>
          <p:cNvSpPr txBox="1"/>
          <p:nvPr/>
        </p:nvSpPr>
        <p:spPr>
          <a:xfrm>
            <a:off x="4546600" y="25400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The keys, passwords and customer records in the labs were made up for these exercises. None of them work anywhere.</a:t>
            </a:r>
            <a:endParaRPr lang="en-IN" sz="1400">
              <a:solidFill>
                <a:srgbClr val="1E2A35"/>
              </a:solidFill>
              <a:latin typeface="Calibri" panose="020F0502020204030204" pitchFamily="34" charset="0"/>
            </a:endParaRPr>
          </a:p>
        </p:txBody>
      </p:sp>
      <p:sp>
        <p:nvSpPr>
          <p:cNvPr id="11" name="Rectangle: Rounded Corners 10">
            <a:extLst>
              <a:ext uri="{FF2B5EF4-FFF2-40B4-BE49-F238E27FC236}">
                <a16:creationId xmlns:a16="http://schemas.microsoft.com/office/drawing/2014/main" id="{1743CB38-3DC0-CF58-2CA2-3FCCF7752853}"/>
              </a:ext>
            </a:extLst>
          </p:cNvPr>
          <p:cNvSpPr/>
          <p:nvPr/>
        </p:nvSpPr>
        <p:spPr>
          <a:xfrm>
            <a:off x="8026400" y="13208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ADFFD261-6985-C7F8-15E1-EF5ABF88FAC2}"/>
              </a:ext>
            </a:extLst>
          </p:cNvPr>
          <p:cNvSpPr/>
          <p:nvPr/>
        </p:nvSpPr>
        <p:spPr>
          <a:xfrm>
            <a:off x="8255000" y="1549400"/>
            <a:ext cx="431800" cy="4318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FB2776EA-580E-6F0A-F5E0-4893663B6A08}"/>
              </a:ext>
            </a:extLst>
          </p:cNvPr>
          <p:cNvSpPr txBox="1"/>
          <p:nvPr/>
        </p:nvSpPr>
        <p:spPr>
          <a:xfrm>
            <a:off x="8255000" y="21336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Some parts are demos</a:t>
            </a:r>
          </a:p>
        </p:txBody>
      </p:sp>
      <p:sp>
        <p:nvSpPr>
          <p:cNvPr id="14" name="TextBox 13">
            <a:extLst>
              <a:ext uri="{FF2B5EF4-FFF2-40B4-BE49-F238E27FC236}">
                <a16:creationId xmlns:a16="http://schemas.microsoft.com/office/drawing/2014/main" id="{BD2774AA-0FF4-AF32-585F-E46CC5AF33FD}"/>
              </a:ext>
            </a:extLst>
          </p:cNvPr>
          <p:cNvSpPr txBox="1"/>
          <p:nvPr/>
        </p:nvSpPr>
        <p:spPr>
          <a:xfrm>
            <a:off x="8255000" y="25400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SonarQube (Lab 2), Jenkins (Lab 3) and AWS (Lab 4) run on my screen; follow on the projector.</a:t>
            </a:r>
            <a:endParaRPr lang="en-IN" sz="1400">
              <a:solidFill>
                <a:srgbClr val="1E2A35"/>
              </a:solidFill>
              <a:latin typeface="Calibri" panose="020F0502020204030204" pitchFamily="34" charset="0"/>
            </a:endParaRPr>
          </a:p>
        </p:txBody>
      </p:sp>
      <p:sp>
        <p:nvSpPr>
          <p:cNvPr id="15" name="Rectangle: Rounded Corners 14">
            <a:extLst>
              <a:ext uri="{FF2B5EF4-FFF2-40B4-BE49-F238E27FC236}">
                <a16:creationId xmlns:a16="http://schemas.microsoft.com/office/drawing/2014/main" id="{FF9FA2DC-F66D-512E-1CC8-FC8DA9FC12A6}"/>
              </a:ext>
            </a:extLst>
          </p:cNvPr>
          <p:cNvSpPr/>
          <p:nvPr/>
        </p:nvSpPr>
        <p:spPr>
          <a:xfrm>
            <a:off x="609600" y="36830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Oval 15">
            <a:extLst>
              <a:ext uri="{FF2B5EF4-FFF2-40B4-BE49-F238E27FC236}">
                <a16:creationId xmlns:a16="http://schemas.microsoft.com/office/drawing/2014/main" id="{FB82316C-44DE-370B-1F79-2E82EE2C97DC}"/>
              </a:ext>
            </a:extLst>
          </p:cNvPr>
          <p:cNvSpPr/>
          <p:nvPr/>
        </p:nvSpPr>
        <p:spPr>
          <a:xfrm>
            <a:off x="838200" y="39116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112A001F-4EFF-ADB2-E83E-593EF48148DC}"/>
              </a:ext>
            </a:extLst>
          </p:cNvPr>
          <p:cNvSpPr txBox="1"/>
          <p:nvPr/>
        </p:nvSpPr>
        <p:spPr>
          <a:xfrm>
            <a:off x="838200" y="4495800"/>
            <a:ext cx="3098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All of it is in the repo</a:t>
            </a:r>
            <a:endParaRPr lang="en-IN" b="1">
              <a:solidFill>
                <a:srgbClr val="13293D"/>
              </a:solidFill>
              <a:latin typeface="Calibri" panose="020F0502020204030204" pitchFamily="34" charset="0"/>
            </a:endParaRPr>
          </a:p>
        </p:txBody>
      </p:sp>
      <p:sp>
        <p:nvSpPr>
          <p:cNvPr id="18" name="TextBox 17">
            <a:extLst>
              <a:ext uri="{FF2B5EF4-FFF2-40B4-BE49-F238E27FC236}">
                <a16:creationId xmlns:a16="http://schemas.microsoft.com/office/drawing/2014/main" id="{B5FE7755-5FAC-2FE6-5BC7-43730A59EA78}"/>
              </a:ext>
            </a:extLst>
          </p:cNvPr>
          <p:cNvSpPr txBox="1"/>
          <p:nvPr/>
        </p:nvSpPr>
        <p:spPr>
          <a:xfrm>
            <a:off x="838200" y="49022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github.com/PrathameshChopade/MIT-Cloud-Demo. Start with README.md; each lab has its own README.md.</a:t>
            </a:r>
            <a:endParaRPr lang="en-IN" sz="1400">
              <a:solidFill>
                <a:srgbClr val="1E2A35"/>
              </a:solidFill>
              <a:latin typeface="Calibri" panose="020F0502020204030204" pitchFamily="34" charset="0"/>
            </a:endParaRPr>
          </a:p>
        </p:txBody>
      </p:sp>
      <p:sp>
        <p:nvSpPr>
          <p:cNvPr id="19" name="Rectangle: Rounded Corners 18">
            <a:extLst>
              <a:ext uri="{FF2B5EF4-FFF2-40B4-BE49-F238E27FC236}">
                <a16:creationId xmlns:a16="http://schemas.microsoft.com/office/drawing/2014/main" id="{DEBDD33C-28AF-9272-6C19-BEE33C45F8ED}"/>
              </a:ext>
            </a:extLst>
          </p:cNvPr>
          <p:cNvSpPr/>
          <p:nvPr/>
        </p:nvSpPr>
        <p:spPr>
          <a:xfrm>
            <a:off x="4318000" y="36830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Oval 19">
            <a:extLst>
              <a:ext uri="{FF2B5EF4-FFF2-40B4-BE49-F238E27FC236}">
                <a16:creationId xmlns:a16="http://schemas.microsoft.com/office/drawing/2014/main" id="{AB473AE8-0F4F-A0E5-4F9C-7C4833D86F80}"/>
              </a:ext>
            </a:extLst>
          </p:cNvPr>
          <p:cNvSpPr/>
          <p:nvPr/>
        </p:nvSpPr>
        <p:spPr>
          <a:xfrm>
            <a:off x="4546600" y="39116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5</a:t>
            </a:r>
          </a:p>
        </p:txBody>
      </p:sp>
      <p:sp>
        <p:nvSpPr>
          <p:cNvPr id="21" name="TextBox 20">
            <a:extLst>
              <a:ext uri="{FF2B5EF4-FFF2-40B4-BE49-F238E27FC236}">
                <a16:creationId xmlns:a16="http://schemas.microsoft.com/office/drawing/2014/main" id="{6684C4CD-1898-340D-3196-61F9F4E363F4}"/>
              </a:ext>
            </a:extLst>
          </p:cNvPr>
          <p:cNvSpPr txBox="1"/>
          <p:nvPr/>
        </p:nvSpPr>
        <p:spPr>
          <a:xfrm>
            <a:off x="4546600" y="44958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In scope today</a:t>
            </a:r>
          </a:p>
        </p:txBody>
      </p:sp>
      <p:sp>
        <p:nvSpPr>
          <p:cNvPr id="22" name="TextBox 21">
            <a:extLst>
              <a:ext uri="{FF2B5EF4-FFF2-40B4-BE49-F238E27FC236}">
                <a16:creationId xmlns:a16="http://schemas.microsoft.com/office/drawing/2014/main" id="{53C8F094-A1CF-3A83-7054-C6A96E971890}"/>
              </a:ext>
            </a:extLst>
          </p:cNvPr>
          <p:cNvSpPr txBox="1"/>
          <p:nvPr/>
        </p:nvSpPr>
        <p:spPr>
          <a:xfrm>
            <a:off x="4546600" y="49022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Secrets, code scanning, infrastructure as code, pipeline gates, changes in the live cloud.</a:t>
            </a:r>
            <a:endParaRPr lang="en-IN" sz="1400">
              <a:solidFill>
                <a:srgbClr val="1E2A35"/>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D5A386C2-658B-B561-C7DD-6E02C342DB78}"/>
              </a:ext>
            </a:extLst>
          </p:cNvPr>
          <p:cNvSpPr/>
          <p:nvPr/>
        </p:nvSpPr>
        <p:spPr>
          <a:xfrm>
            <a:off x="8026400" y="3683000"/>
            <a:ext cx="3556000" cy="2184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Oval 23">
            <a:extLst>
              <a:ext uri="{FF2B5EF4-FFF2-40B4-BE49-F238E27FC236}">
                <a16:creationId xmlns:a16="http://schemas.microsoft.com/office/drawing/2014/main" id="{EFFEB546-EC4E-5147-6A46-338A3E14A091}"/>
              </a:ext>
            </a:extLst>
          </p:cNvPr>
          <p:cNvSpPr/>
          <p:nvPr/>
        </p:nvSpPr>
        <p:spPr>
          <a:xfrm>
            <a:off x="8255000" y="39116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6</a:t>
            </a:r>
          </a:p>
        </p:txBody>
      </p:sp>
      <p:sp>
        <p:nvSpPr>
          <p:cNvPr id="25" name="TextBox 24">
            <a:extLst>
              <a:ext uri="{FF2B5EF4-FFF2-40B4-BE49-F238E27FC236}">
                <a16:creationId xmlns:a16="http://schemas.microsoft.com/office/drawing/2014/main" id="{2A35BBE2-06A5-C49E-DE02-0C2BD560F3CD}"/>
              </a:ext>
            </a:extLst>
          </p:cNvPr>
          <p:cNvSpPr txBox="1"/>
          <p:nvPr/>
        </p:nvSpPr>
        <p:spPr>
          <a:xfrm>
            <a:off x="8255000" y="4495800"/>
            <a:ext cx="30988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Pair up if needed</a:t>
            </a:r>
          </a:p>
        </p:txBody>
      </p:sp>
      <p:sp>
        <p:nvSpPr>
          <p:cNvPr id="26" name="TextBox 25">
            <a:extLst>
              <a:ext uri="{FF2B5EF4-FFF2-40B4-BE49-F238E27FC236}">
                <a16:creationId xmlns:a16="http://schemas.microsoft.com/office/drawing/2014/main" id="{AAAA8048-9033-86CB-16C7-64201253E842}"/>
              </a:ext>
            </a:extLst>
          </p:cNvPr>
          <p:cNvSpPr txBox="1"/>
          <p:nvPr/>
        </p:nvSpPr>
        <p:spPr>
          <a:xfrm>
            <a:off x="8255000" y="4902200"/>
            <a:ext cx="30988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Laptop can't run Docker? Work with a neighbour: every lab works with two people at one screen.</a:t>
            </a:r>
            <a:endParaRPr lang="en-IN" sz="1400">
              <a:solidFill>
                <a:srgbClr val="1E2A35"/>
              </a:solidFill>
              <a:latin typeface="Calibri" panose="020F0502020204030204" pitchFamily="34" charset="0"/>
            </a:endParaRPr>
          </a:p>
        </p:txBody>
      </p:sp>
      <p:sp>
        <p:nvSpPr>
          <p:cNvPr id="27" name="TextBox 26">
            <a:extLst>
              <a:ext uri="{FF2B5EF4-FFF2-40B4-BE49-F238E27FC236}">
                <a16:creationId xmlns:a16="http://schemas.microsoft.com/office/drawing/2014/main" id="{B37D29F3-69F7-63C0-C151-13D833CCC2DB}"/>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8" name="TextBox 27">
            <a:extLst>
              <a:ext uri="{FF2B5EF4-FFF2-40B4-BE49-F238E27FC236}">
                <a16:creationId xmlns:a16="http://schemas.microsoft.com/office/drawing/2014/main" id="{F2303934-9FDA-E6FD-79B0-F4D6DE83747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a:t>
            </a:r>
          </a:p>
        </p:txBody>
      </p:sp>
    </p:spTree>
    <p:extLst>
      <p:ext uri="{BB962C8B-B14F-4D97-AF65-F5344CB8AC3E}">
        <p14:creationId xmlns:p14="http://schemas.microsoft.com/office/powerpoint/2010/main" val="30066038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C94164-641E-B265-F8D8-93AEF42B03C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What makes something "cloud"</a:t>
            </a:r>
          </a:p>
        </p:txBody>
      </p:sp>
      <p:sp>
        <p:nvSpPr>
          <p:cNvPr id="3" name="TextBox 2">
            <a:extLst>
              <a:ext uri="{FF2B5EF4-FFF2-40B4-BE49-F238E27FC236}">
                <a16:creationId xmlns:a16="http://schemas.microsoft.com/office/drawing/2014/main" id="{D52AD97F-527D-670D-3DF0-2E1C39818F6D}"/>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five essential characteristics, as defined by NIST</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9225FEB9-EDF3-2B00-E311-A80A03336278}"/>
              </a:ext>
            </a:extLst>
          </p:cNvPr>
          <p:cNvSpPr/>
          <p:nvPr/>
        </p:nvSpPr>
        <p:spPr>
          <a:xfrm>
            <a:off x="6096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302683E1-B154-D3E2-CEB4-E641D7C1D24F}"/>
              </a:ext>
            </a:extLst>
          </p:cNvPr>
          <p:cNvSpPr/>
          <p:nvPr/>
        </p:nvSpPr>
        <p:spPr>
          <a:xfrm>
            <a:off x="8128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A6248406-6C09-91E0-A4C0-98236A092261}"/>
              </a:ext>
            </a:extLst>
          </p:cNvPr>
          <p:cNvSpPr txBox="1"/>
          <p:nvPr/>
        </p:nvSpPr>
        <p:spPr>
          <a:xfrm>
            <a:off x="8128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On-demand self-service</a:t>
            </a:r>
          </a:p>
        </p:txBody>
      </p:sp>
      <p:sp>
        <p:nvSpPr>
          <p:cNvPr id="7" name="TextBox 6">
            <a:extLst>
              <a:ext uri="{FF2B5EF4-FFF2-40B4-BE49-F238E27FC236}">
                <a16:creationId xmlns:a16="http://schemas.microsoft.com/office/drawing/2014/main" id="{ABDCBA50-9EC3-140F-89C6-B9569DDC76F3}"/>
              </a:ext>
            </a:extLst>
          </p:cNvPr>
          <p:cNvSpPr txBox="1"/>
          <p:nvPr/>
        </p:nvSpPr>
        <p:spPr>
          <a:xfrm>
            <a:off x="8128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Create servers or storage yourself, in minutes, without raising a ticket.</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BE8ED889-EE54-DF6E-B363-EAAFD5D81D35}"/>
              </a:ext>
            </a:extLst>
          </p:cNvPr>
          <p:cNvSpPr/>
          <p:nvPr/>
        </p:nvSpPr>
        <p:spPr>
          <a:xfrm>
            <a:off x="28384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17C63618-BA6F-BE32-93D7-BA29B5E2FE96}"/>
              </a:ext>
            </a:extLst>
          </p:cNvPr>
          <p:cNvSpPr/>
          <p:nvPr/>
        </p:nvSpPr>
        <p:spPr>
          <a:xfrm>
            <a:off x="30416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204485D3-F670-BB6A-0973-ADA18E0D0CD6}"/>
              </a:ext>
            </a:extLst>
          </p:cNvPr>
          <p:cNvSpPr txBox="1"/>
          <p:nvPr/>
        </p:nvSpPr>
        <p:spPr>
          <a:xfrm>
            <a:off x="30416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Broad network access</a:t>
            </a:r>
          </a:p>
        </p:txBody>
      </p:sp>
      <p:sp>
        <p:nvSpPr>
          <p:cNvPr id="11" name="TextBox 10">
            <a:extLst>
              <a:ext uri="{FF2B5EF4-FFF2-40B4-BE49-F238E27FC236}">
                <a16:creationId xmlns:a16="http://schemas.microsoft.com/office/drawing/2014/main" id="{3110AAF1-30A3-574A-7684-E1D5BA6F34BD}"/>
              </a:ext>
            </a:extLst>
          </p:cNvPr>
          <p:cNvSpPr txBox="1"/>
          <p:nvPr/>
        </p:nvSpPr>
        <p:spPr>
          <a:xfrm>
            <a:off x="30416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Reach it over the network, from laptops, phones and other services.</a:t>
            </a:r>
            <a:endParaRPr lang="en-IN" sz="1400">
              <a:solidFill>
                <a:srgbClr val="1E2A35"/>
              </a:solidFill>
              <a:latin typeface="Calibri" panose="020F0502020204030204" pitchFamily="34" charset="0"/>
            </a:endParaRPr>
          </a:p>
        </p:txBody>
      </p:sp>
      <p:sp>
        <p:nvSpPr>
          <p:cNvPr id="12" name="Rectangle: Rounded Corners 11">
            <a:extLst>
              <a:ext uri="{FF2B5EF4-FFF2-40B4-BE49-F238E27FC236}">
                <a16:creationId xmlns:a16="http://schemas.microsoft.com/office/drawing/2014/main" id="{B02C52D0-CDFB-8362-A6FA-222E3C07B08C}"/>
              </a:ext>
            </a:extLst>
          </p:cNvPr>
          <p:cNvSpPr/>
          <p:nvPr/>
        </p:nvSpPr>
        <p:spPr>
          <a:xfrm>
            <a:off x="50673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Oval 12">
            <a:extLst>
              <a:ext uri="{FF2B5EF4-FFF2-40B4-BE49-F238E27FC236}">
                <a16:creationId xmlns:a16="http://schemas.microsoft.com/office/drawing/2014/main" id="{1DCAAF3F-705B-9230-2E6B-EECB125312F2}"/>
              </a:ext>
            </a:extLst>
          </p:cNvPr>
          <p:cNvSpPr/>
          <p:nvPr/>
        </p:nvSpPr>
        <p:spPr>
          <a:xfrm>
            <a:off x="52705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4" name="TextBox 13">
            <a:extLst>
              <a:ext uri="{FF2B5EF4-FFF2-40B4-BE49-F238E27FC236}">
                <a16:creationId xmlns:a16="http://schemas.microsoft.com/office/drawing/2014/main" id="{8A14DCD2-3AA3-C4CB-ADEC-C09DB582570E}"/>
              </a:ext>
            </a:extLst>
          </p:cNvPr>
          <p:cNvSpPr txBox="1"/>
          <p:nvPr/>
        </p:nvSpPr>
        <p:spPr>
          <a:xfrm>
            <a:off x="52705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Resource pooling</a:t>
            </a:r>
          </a:p>
        </p:txBody>
      </p:sp>
      <p:sp>
        <p:nvSpPr>
          <p:cNvPr id="15" name="TextBox 14">
            <a:extLst>
              <a:ext uri="{FF2B5EF4-FFF2-40B4-BE49-F238E27FC236}">
                <a16:creationId xmlns:a16="http://schemas.microsoft.com/office/drawing/2014/main" id="{66F1C41D-C5BB-0028-3549-26E1715A7FBC}"/>
              </a:ext>
            </a:extLst>
          </p:cNvPr>
          <p:cNvSpPr txBox="1"/>
          <p:nvPr/>
        </p:nvSpPr>
        <p:spPr>
          <a:xfrm>
            <a:off x="52705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Many customers share the provider's hardware, isolated from each other.</a:t>
            </a:r>
            <a:endParaRPr lang="en-IN" sz="1400">
              <a:solidFill>
                <a:srgbClr val="1E2A35"/>
              </a:solidFill>
              <a:latin typeface="Calibri" panose="020F0502020204030204" pitchFamily="34" charset="0"/>
            </a:endParaRPr>
          </a:p>
        </p:txBody>
      </p:sp>
      <p:sp>
        <p:nvSpPr>
          <p:cNvPr id="16" name="Rectangle: Rounded Corners 15">
            <a:extLst>
              <a:ext uri="{FF2B5EF4-FFF2-40B4-BE49-F238E27FC236}">
                <a16:creationId xmlns:a16="http://schemas.microsoft.com/office/drawing/2014/main" id="{E0EE6A99-2B56-9186-51B3-B5F9E69AC972}"/>
              </a:ext>
            </a:extLst>
          </p:cNvPr>
          <p:cNvSpPr/>
          <p:nvPr/>
        </p:nvSpPr>
        <p:spPr>
          <a:xfrm>
            <a:off x="72961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Oval 16">
            <a:extLst>
              <a:ext uri="{FF2B5EF4-FFF2-40B4-BE49-F238E27FC236}">
                <a16:creationId xmlns:a16="http://schemas.microsoft.com/office/drawing/2014/main" id="{4D4980B6-CBDD-ECCA-C00D-92911E51DF4F}"/>
              </a:ext>
            </a:extLst>
          </p:cNvPr>
          <p:cNvSpPr/>
          <p:nvPr/>
        </p:nvSpPr>
        <p:spPr>
          <a:xfrm>
            <a:off x="74993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8DCA7B91-7DE7-3D83-7575-4F5599F56D7D}"/>
              </a:ext>
            </a:extLst>
          </p:cNvPr>
          <p:cNvSpPr txBox="1"/>
          <p:nvPr/>
        </p:nvSpPr>
        <p:spPr>
          <a:xfrm>
            <a:off x="74993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Rapid elasticity</a:t>
            </a:r>
          </a:p>
        </p:txBody>
      </p:sp>
      <p:sp>
        <p:nvSpPr>
          <p:cNvPr id="19" name="TextBox 18">
            <a:extLst>
              <a:ext uri="{FF2B5EF4-FFF2-40B4-BE49-F238E27FC236}">
                <a16:creationId xmlns:a16="http://schemas.microsoft.com/office/drawing/2014/main" id="{C6DD3B21-AF05-0246-2B83-9A928A62AA3E}"/>
              </a:ext>
            </a:extLst>
          </p:cNvPr>
          <p:cNvSpPr txBox="1"/>
          <p:nvPr/>
        </p:nvSpPr>
        <p:spPr>
          <a:xfrm>
            <a:off x="74993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Scale up for the peak, and back down afterwards.</a:t>
            </a:r>
            <a:endParaRPr lang="en-IN" sz="1400">
              <a:solidFill>
                <a:srgbClr val="1E2A35"/>
              </a:solidFill>
              <a:latin typeface="Calibri" panose="020F0502020204030204" pitchFamily="34" charset="0"/>
            </a:endParaRPr>
          </a:p>
        </p:txBody>
      </p:sp>
      <p:sp>
        <p:nvSpPr>
          <p:cNvPr id="20" name="Rectangle: Rounded Corners 19">
            <a:extLst>
              <a:ext uri="{FF2B5EF4-FFF2-40B4-BE49-F238E27FC236}">
                <a16:creationId xmlns:a16="http://schemas.microsoft.com/office/drawing/2014/main" id="{AAAAB5B6-6217-4FF3-3A79-C0B8EF3F466A}"/>
              </a:ext>
            </a:extLst>
          </p:cNvPr>
          <p:cNvSpPr/>
          <p:nvPr/>
        </p:nvSpPr>
        <p:spPr>
          <a:xfrm>
            <a:off x="95250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Oval 20">
            <a:extLst>
              <a:ext uri="{FF2B5EF4-FFF2-40B4-BE49-F238E27FC236}">
                <a16:creationId xmlns:a16="http://schemas.microsoft.com/office/drawing/2014/main" id="{FAE5E16F-7C11-2C94-B1C9-89C982071778}"/>
              </a:ext>
            </a:extLst>
          </p:cNvPr>
          <p:cNvSpPr/>
          <p:nvPr/>
        </p:nvSpPr>
        <p:spPr>
          <a:xfrm>
            <a:off x="97282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5</a:t>
            </a:r>
          </a:p>
        </p:txBody>
      </p:sp>
      <p:sp>
        <p:nvSpPr>
          <p:cNvPr id="22" name="TextBox 21">
            <a:extLst>
              <a:ext uri="{FF2B5EF4-FFF2-40B4-BE49-F238E27FC236}">
                <a16:creationId xmlns:a16="http://schemas.microsoft.com/office/drawing/2014/main" id="{723D8DA8-97E9-3998-FDAC-92B27B58743C}"/>
              </a:ext>
            </a:extLst>
          </p:cNvPr>
          <p:cNvSpPr txBox="1"/>
          <p:nvPr/>
        </p:nvSpPr>
        <p:spPr>
          <a:xfrm>
            <a:off x="97282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Measured service</a:t>
            </a:r>
          </a:p>
        </p:txBody>
      </p:sp>
      <p:sp>
        <p:nvSpPr>
          <p:cNvPr id="23" name="TextBox 22">
            <a:extLst>
              <a:ext uri="{FF2B5EF4-FFF2-40B4-BE49-F238E27FC236}">
                <a16:creationId xmlns:a16="http://schemas.microsoft.com/office/drawing/2014/main" id="{C2065A5E-64AC-E7B6-62DA-0CDAF86DE34D}"/>
              </a:ext>
            </a:extLst>
          </p:cNvPr>
          <p:cNvSpPr txBox="1"/>
          <p:nvPr/>
        </p:nvSpPr>
        <p:spPr>
          <a:xfrm>
            <a:off x="97282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Pay for what you use, metered by the hour, gigabyte or request.</a:t>
            </a:r>
            <a:endParaRPr lang="en-IN" sz="1400">
              <a:solidFill>
                <a:srgbClr val="1E2A35"/>
              </a:solidFill>
              <a:latin typeface="Calibri" panose="020F0502020204030204" pitchFamily="34" charset="0"/>
            </a:endParaRPr>
          </a:p>
        </p:txBody>
      </p:sp>
      <p:sp>
        <p:nvSpPr>
          <p:cNvPr id="24" name="TextBox 23">
            <a:extLst>
              <a:ext uri="{FF2B5EF4-FFF2-40B4-BE49-F238E27FC236}">
                <a16:creationId xmlns:a16="http://schemas.microsoft.com/office/drawing/2014/main" id="{A74C7022-ED9F-65E9-EFA2-692752ECA628}"/>
              </a:ext>
            </a:extLst>
          </p:cNvPr>
          <p:cNvSpPr txBox="1"/>
          <p:nvPr/>
        </p:nvSpPr>
        <p:spPr>
          <a:xfrm>
            <a:off x="609600" y="50292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Private clouds such as OpenStack (for example Platform9) offer the same model on your own hardware.</a:t>
            </a:r>
            <a:endParaRPr lang="en-IN" sz="16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0DB013F9-5454-5308-854A-063153AB696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95892B01-2233-1E63-B997-6B4731BB99D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4</a:t>
            </a:r>
          </a:p>
        </p:txBody>
      </p:sp>
    </p:spTree>
    <p:extLst>
      <p:ext uri="{BB962C8B-B14F-4D97-AF65-F5344CB8AC3E}">
        <p14:creationId xmlns:p14="http://schemas.microsoft.com/office/powerpoint/2010/main" val="35181182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CDCC0E-FD32-85AC-B6C4-8FC0BABB97C4}"/>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Cloud service models: who manages what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76982731-EBB4-EF2A-2BEA-4349D65143C5}"/>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further right, the more the provider runs for you. Slide 6 turns this into the security view.</a:t>
            </a:r>
            <a:endParaRPr lang="en-IN" sz="1600">
              <a:solidFill>
                <a:srgbClr val="5B6B79"/>
              </a:solidFill>
              <a:latin typeface="Calibri" panose="020F0502020204030204" pitchFamily="34" charset="0"/>
            </a:endParaRPr>
          </a:p>
        </p:txBody>
      </p:sp>
      <p:sp>
        <p:nvSpPr>
          <p:cNvPr id="4" name="TextBox 3">
            <a:extLst>
              <a:ext uri="{FF2B5EF4-FFF2-40B4-BE49-F238E27FC236}">
                <a16:creationId xmlns:a16="http://schemas.microsoft.com/office/drawing/2014/main" id="{8C63E9E8-9341-59B7-A392-9C5F75B947D4}"/>
              </a:ext>
            </a:extLst>
          </p:cNvPr>
          <p:cNvSpPr txBox="1"/>
          <p:nvPr/>
        </p:nvSpPr>
        <p:spPr>
          <a:xfrm>
            <a:off x="8509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On-premises</a:t>
            </a:r>
          </a:p>
        </p:txBody>
      </p:sp>
      <p:sp>
        <p:nvSpPr>
          <p:cNvPr id="5" name="TextBox 4">
            <a:extLst>
              <a:ext uri="{FF2B5EF4-FFF2-40B4-BE49-F238E27FC236}">
                <a16:creationId xmlns:a16="http://schemas.microsoft.com/office/drawing/2014/main" id="{ABA05A65-A9EF-D529-4EB5-573731C602B5}"/>
              </a:ext>
            </a:extLst>
          </p:cNvPr>
          <p:cNvSpPr txBox="1"/>
          <p:nvPr/>
        </p:nvSpPr>
        <p:spPr>
          <a:xfrm>
            <a:off x="8509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Your own data centre: physical servers, VMware</a:t>
            </a:r>
            <a:endParaRPr lang="en-IN" sz="1200" b="1">
              <a:solidFill>
                <a:srgbClr val="1B998B"/>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BB53A57D-6C6E-36B8-A814-FDF43F29A583}"/>
              </a:ext>
            </a:extLst>
          </p:cNvPr>
          <p:cNvSpPr/>
          <p:nvPr/>
        </p:nvSpPr>
        <p:spPr>
          <a:xfrm>
            <a:off x="8509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7" name="Rectangle: Rounded Corners 6">
            <a:extLst>
              <a:ext uri="{FF2B5EF4-FFF2-40B4-BE49-F238E27FC236}">
                <a16:creationId xmlns:a16="http://schemas.microsoft.com/office/drawing/2014/main" id="{2D20FC50-2D59-E858-AB92-02474EF6212A}"/>
              </a:ext>
            </a:extLst>
          </p:cNvPr>
          <p:cNvSpPr/>
          <p:nvPr/>
        </p:nvSpPr>
        <p:spPr>
          <a:xfrm>
            <a:off x="8509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8" name="Rectangle: Rounded Corners 7">
            <a:extLst>
              <a:ext uri="{FF2B5EF4-FFF2-40B4-BE49-F238E27FC236}">
                <a16:creationId xmlns:a16="http://schemas.microsoft.com/office/drawing/2014/main" id="{4EE69AE4-8BD1-83A2-9C2E-9DA7EC58EDC6}"/>
              </a:ext>
            </a:extLst>
          </p:cNvPr>
          <p:cNvSpPr/>
          <p:nvPr/>
        </p:nvSpPr>
        <p:spPr>
          <a:xfrm>
            <a:off x="8509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9" name="Rectangle: Rounded Corners 8">
            <a:extLst>
              <a:ext uri="{FF2B5EF4-FFF2-40B4-BE49-F238E27FC236}">
                <a16:creationId xmlns:a16="http://schemas.microsoft.com/office/drawing/2014/main" id="{BA66FABD-7BBE-4E2F-1DD5-8FCCBD55ABA5}"/>
              </a:ext>
            </a:extLst>
          </p:cNvPr>
          <p:cNvSpPr/>
          <p:nvPr/>
        </p:nvSpPr>
        <p:spPr>
          <a:xfrm>
            <a:off x="8509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0" name="Rectangle: Rounded Corners 9">
            <a:extLst>
              <a:ext uri="{FF2B5EF4-FFF2-40B4-BE49-F238E27FC236}">
                <a16:creationId xmlns:a16="http://schemas.microsoft.com/office/drawing/2014/main" id="{725D5FBB-BF67-7299-6602-AFA3D0610D34}"/>
              </a:ext>
            </a:extLst>
          </p:cNvPr>
          <p:cNvSpPr/>
          <p:nvPr/>
        </p:nvSpPr>
        <p:spPr>
          <a:xfrm>
            <a:off x="850900" y="43942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Virtualization</a:t>
            </a:r>
          </a:p>
        </p:txBody>
      </p:sp>
      <p:sp>
        <p:nvSpPr>
          <p:cNvPr id="11" name="Rectangle: Rounded Corners 10">
            <a:extLst>
              <a:ext uri="{FF2B5EF4-FFF2-40B4-BE49-F238E27FC236}">
                <a16:creationId xmlns:a16="http://schemas.microsoft.com/office/drawing/2014/main" id="{57497D02-4EBC-9A56-FA39-05FEC9F3B530}"/>
              </a:ext>
            </a:extLst>
          </p:cNvPr>
          <p:cNvSpPr/>
          <p:nvPr/>
        </p:nvSpPr>
        <p:spPr>
          <a:xfrm>
            <a:off x="850900" y="49403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Servers, storage, network</a:t>
            </a:r>
          </a:p>
        </p:txBody>
      </p:sp>
      <p:sp>
        <p:nvSpPr>
          <p:cNvPr id="12" name="TextBox 11">
            <a:extLst>
              <a:ext uri="{FF2B5EF4-FFF2-40B4-BE49-F238E27FC236}">
                <a16:creationId xmlns:a16="http://schemas.microsoft.com/office/drawing/2014/main" id="{1440F0FE-220E-625C-195B-68E53E8062BC}"/>
              </a:ext>
            </a:extLst>
          </p:cNvPr>
          <p:cNvSpPr txBox="1"/>
          <p:nvPr/>
        </p:nvSpPr>
        <p:spPr>
          <a:xfrm>
            <a:off x="35433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IaaS</a:t>
            </a:r>
          </a:p>
        </p:txBody>
      </p:sp>
      <p:sp>
        <p:nvSpPr>
          <p:cNvPr id="13" name="TextBox 12">
            <a:extLst>
              <a:ext uri="{FF2B5EF4-FFF2-40B4-BE49-F238E27FC236}">
                <a16:creationId xmlns:a16="http://schemas.microsoft.com/office/drawing/2014/main" id="{84195091-4F30-9F7C-5614-B11795C4D7F2}"/>
              </a:ext>
            </a:extLst>
          </p:cNvPr>
          <p:cNvSpPr txBox="1"/>
          <p:nvPr/>
        </p:nvSpPr>
        <p:spPr>
          <a:xfrm>
            <a:off x="35433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EC2, Azure VMs, OpenStack / Platform9</a:t>
            </a:r>
            <a:endParaRPr lang="en-IN" sz="12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86689ED7-4259-9FEB-682B-A88E0EF3FC63}"/>
              </a:ext>
            </a:extLst>
          </p:cNvPr>
          <p:cNvSpPr/>
          <p:nvPr/>
        </p:nvSpPr>
        <p:spPr>
          <a:xfrm>
            <a:off x="35433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15" name="Rectangle: Rounded Corners 14">
            <a:extLst>
              <a:ext uri="{FF2B5EF4-FFF2-40B4-BE49-F238E27FC236}">
                <a16:creationId xmlns:a16="http://schemas.microsoft.com/office/drawing/2014/main" id="{E0861B60-FBF7-9602-076C-2956488A6D5E}"/>
              </a:ext>
            </a:extLst>
          </p:cNvPr>
          <p:cNvSpPr/>
          <p:nvPr/>
        </p:nvSpPr>
        <p:spPr>
          <a:xfrm>
            <a:off x="35433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16" name="Rectangle: Rounded Corners 15">
            <a:extLst>
              <a:ext uri="{FF2B5EF4-FFF2-40B4-BE49-F238E27FC236}">
                <a16:creationId xmlns:a16="http://schemas.microsoft.com/office/drawing/2014/main" id="{EC6A1842-799A-61A4-144F-504249C13355}"/>
              </a:ext>
            </a:extLst>
          </p:cNvPr>
          <p:cNvSpPr/>
          <p:nvPr/>
        </p:nvSpPr>
        <p:spPr>
          <a:xfrm>
            <a:off x="35433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17" name="Rectangle: Rounded Corners 16">
            <a:extLst>
              <a:ext uri="{FF2B5EF4-FFF2-40B4-BE49-F238E27FC236}">
                <a16:creationId xmlns:a16="http://schemas.microsoft.com/office/drawing/2014/main" id="{D742B768-CF41-189D-967F-2388A54598DC}"/>
              </a:ext>
            </a:extLst>
          </p:cNvPr>
          <p:cNvSpPr/>
          <p:nvPr/>
        </p:nvSpPr>
        <p:spPr>
          <a:xfrm>
            <a:off x="35433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8" name="Rectangle: Rounded Corners 17">
            <a:extLst>
              <a:ext uri="{FF2B5EF4-FFF2-40B4-BE49-F238E27FC236}">
                <a16:creationId xmlns:a16="http://schemas.microsoft.com/office/drawing/2014/main" id="{79033262-AC6F-4D9B-9ADF-08D10440EAC9}"/>
              </a:ext>
            </a:extLst>
          </p:cNvPr>
          <p:cNvSpPr/>
          <p:nvPr/>
        </p:nvSpPr>
        <p:spPr>
          <a:xfrm>
            <a:off x="35433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19" name="Rectangle: Rounded Corners 18">
            <a:extLst>
              <a:ext uri="{FF2B5EF4-FFF2-40B4-BE49-F238E27FC236}">
                <a16:creationId xmlns:a16="http://schemas.microsoft.com/office/drawing/2014/main" id="{B35B0B6C-067D-EF18-C27A-524BF0C7F63B}"/>
              </a:ext>
            </a:extLst>
          </p:cNvPr>
          <p:cNvSpPr/>
          <p:nvPr/>
        </p:nvSpPr>
        <p:spPr>
          <a:xfrm>
            <a:off x="35433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0" name="TextBox 19">
            <a:extLst>
              <a:ext uri="{FF2B5EF4-FFF2-40B4-BE49-F238E27FC236}">
                <a16:creationId xmlns:a16="http://schemas.microsoft.com/office/drawing/2014/main" id="{99747FC7-A504-268B-3E49-31D14C68CF87}"/>
              </a:ext>
            </a:extLst>
          </p:cNvPr>
          <p:cNvSpPr txBox="1"/>
          <p:nvPr/>
        </p:nvSpPr>
        <p:spPr>
          <a:xfrm>
            <a:off x="62357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PaaS</a:t>
            </a:r>
          </a:p>
        </p:txBody>
      </p:sp>
      <p:sp>
        <p:nvSpPr>
          <p:cNvPr id="21" name="TextBox 20">
            <a:extLst>
              <a:ext uri="{FF2B5EF4-FFF2-40B4-BE49-F238E27FC236}">
                <a16:creationId xmlns:a16="http://schemas.microsoft.com/office/drawing/2014/main" id="{AE9E51B5-8E73-0047-C5D2-31DEC09E398F}"/>
              </a:ext>
            </a:extLst>
          </p:cNvPr>
          <p:cNvSpPr txBox="1"/>
          <p:nvPr/>
        </p:nvSpPr>
        <p:spPr>
          <a:xfrm>
            <a:off x="62357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Elastic Beanstalk, Azure App Service, Heroku</a:t>
            </a:r>
            <a:endParaRPr lang="en-IN" sz="1200" b="1">
              <a:solidFill>
                <a:srgbClr val="1B998B"/>
              </a:solidFill>
              <a:latin typeface="Calibri" panose="020F0502020204030204" pitchFamily="34" charset="0"/>
            </a:endParaRPr>
          </a:p>
        </p:txBody>
      </p:sp>
      <p:sp>
        <p:nvSpPr>
          <p:cNvPr id="22" name="Rectangle: Rounded Corners 21">
            <a:extLst>
              <a:ext uri="{FF2B5EF4-FFF2-40B4-BE49-F238E27FC236}">
                <a16:creationId xmlns:a16="http://schemas.microsoft.com/office/drawing/2014/main" id="{0F5C84D5-A513-4AB8-C318-09F9BEC6CD0F}"/>
              </a:ext>
            </a:extLst>
          </p:cNvPr>
          <p:cNvSpPr/>
          <p:nvPr/>
        </p:nvSpPr>
        <p:spPr>
          <a:xfrm>
            <a:off x="62357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23" name="Rectangle: Rounded Corners 22">
            <a:extLst>
              <a:ext uri="{FF2B5EF4-FFF2-40B4-BE49-F238E27FC236}">
                <a16:creationId xmlns:a16="http://schemas.microsoft.com/office/drawing/2014/main" id="{4989C8EE-8E02-1EFB-D819-D86753DA8EAD}"/>
              </a:ext>
            </a:extLst>
          </p:cNvPr>
          <p:cNvSpPr/>
          <p:nvPr/>
        </p:nvSpPr>
        <p:spPr>
          <a:xfrm>
            <a:off x="62357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24" name="Rectangle: Rounded Corners 23">
            <a:extLst>
              <a:ext uri="{FF2B5EF4-FFF2-40B4-BE49-F238E27FC236}">
                <a16:creationId xmlns:a16="http://schemas.microsoft.com/office/drawing/2014/main" id="{42CFDA84-335A-E3AE-CC61-7A6566979350}"/>
              </a:ext>
            </a:extLst>
          </p:cNvPr>
          <p:cNvSpPr/>
          <p:nvPr/>
        </p:nvSpPr>
        <p:spPr>
          <a:xfrm>
            <a:off x="62357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25" name="Rectangle: Rounded Corners 24">
            <a:extLst>
              <a:ext uri="{FF2B5EF4-FFF2-40B4-BE49-F238E27FC236}">
                <a16:creationId xmlns:a16="http://schemas.microsoft.com/office/drawing/2014/main" id="{4770E7F5-EC2C-DC1E-51F6-66BA034D2606}"/>
              </a:ext>
            </a:extLst>
          </p:cNvPr>
          <p:cNvSpPr/>
          <p:nvPr/>
        </p:nvSpPr>
        <p:spPr>
          <a:xfrm>
            <a:off x="62357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26" name="Rectangle: Rounded Corners 25">
            <a:extLst>
              <a:ext uri="{FF2B5EF4-FFF2-40B4-BE49-F238E27FC236}">
                <a16:creationId xmlns:a16="http://schemas.microsoft.com/office/drawing/2014/main" id="{A5FBA911-447A-2DC5-7089-8EE3665DFFEA}"/>
              </a:ext>
            </a:extLst>
          </p:cNvPr>
          <p:cNvSpPr/>
          <p:nvPr/>
        </p:nvSpPr>
        <p:spPr>
          <a:xfrm>
            <a:off x="62357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27" name="Rectangle: Rounded Corners 26">
            <a:extLst>
              <a:ext uri="{FF2B5EF4-FFF2-40B4-BE49-F238E27FC236}">
                <a16:creationId xmlns:a16="http://schemas.microsoft.com/office/drawing/2014/main" id="{97254378-392B-0859-0D26-953F5FCA7E48}"/>
              </a:ext>
            </a:extLst>
          </p:cNvPr>
          <p:cNvSpPr/>
          <p:nvPr/>
        </p:nvSpPr>
        <p:spPr>
          <a:xfrm>
            <a:off x="62357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8" name="TextBox 27">
            <a:extLst>
              <a:ext uri="{FF2B5EF4-FFF2-40B4-BE49-F238E27FC236}">
                <a16:creationId xmlns:a16="http://schemas.microsoft.com/office/drawing/2014/main" id="{002EC31C-21E7-000B-ED66-74040BCD5EF9}"/>
              </a:ext>
            </a:extLst>
          </p:cNvPr>
          <p:cNvSpPr txBox="1"/>
          <p:nvPr/>
        </p:nvSpPr>
        <p:spPr>
          <a:xfrm>
            <a:off x="89281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SaaS</a:t>
            </a:r>
          </a:p>
        </p:txBody>
      </p:sp>
      <p:sp>
        <p:nvSpPr>
          <p:cNvPr id="29" name="TextBox 28">
            <a:extLst>
              <a:ext uri="{FF2B5EF4-FFF2-40B4-BE49-F238E27FC236}">
                <a16:creationId xmlns:a16="http://schemas.microsoft.com/office/drawing/2014/main" id="{7C6924A1-7C44-2989-C2BE-4DC4A729E42E}"/>
              </a:ext>
            </a:extLst>
          </p:cNvPr>
          <p:cNvSpPr txBox="1"/>
          <p:nvPr/>
        </p:nvSpPr>
        <p:spPr>
          <a:xfrm>
            <a:off x="8928100" y="1727200"/>
            <a:ext cx="2413000" cy="369332"/>
          </a:xfrm>
          <a:prstGeom prst="rect">
            <a:avLst/>
          </a:prstGeom>
          <a:noFill/>
        </p:spPr>
        <p:txBody>
          <a:bodyPr vert="horz" wrap="square" lIns="0" tIns="0" rIns="0" bIns="0" rtlCol="0" anchor="t">
            <a:noAutofit/>
          </a:bodyPr>
          <a:lstStyle/>
          <a:p>
            <a:pPr algn="ctr"/>
            <a:r>
              <a:rPr lang="en-IN" sz="1200" b="1">
                <a:solidFill>
                  <a:srgbClr val="1B998B"/>
                </a:solidFill>
                <a:latin typeface="Calibri" panose="020F0502020204030204" pitchFamily="34" charset="0"/>
              </a:rPr>
              <a:t>Microsoft 365, Gmail, Salesforce</a:t>
            </a:r>
          </a:p>
        </p:txBody>
      </p:sp>
      <p:sp>
        <p:nvSpPr>
          <p:cNvPr id="30" name="Rectangle: Rounded Corners 29">
            <a:extLst>
              <a:ext uri="{FF2B5EF4-FFF2-40B4-BE49-F238E27FC236}">
                <a16:creationId xmlns:a16="http://schemas.microsoft.com/office/drawing/2014/main" id="{CDA4C84F-A1B3-A47B-04B9-13E22511D36E}"/>
              </a:ext>
            </a:extLst>
          </p:cNvPr>
          <p:cNvSpPr/>
          <p:nvPr/>
        </p:nvSpPr>
        <p:spPr>
          <a:xfrm>
            <a:off x="8928100" y="22098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Applications</a:t>
            </a:r>
          </a:p>
        </p:txBody>
      </p:sp>
      <p:sp>
        <p:nvSpPr>
          <p:cNvPr id="31" name="Rectangle: Rounded Corners 30">
            <a:extLst>
              <a:ext uri="{FF2B5EF4-FFF2-40B4-BE49-F238E27FC236}">
                <a16:creationId xmlns:a16="http://schemas.microsoft.com/office/drawing/2014/main" id="{428241F5-54D4-0143-14EA-55B2F302A517}"/>
              </a:ext>
            </a:extLst>
          </p:cNvPr>
          <p:cNvSpPr/>
          <p:nvPr/>
        </p:nvSpPr>
        <p:spPr>
          <a:xfrm>
            <a:off x="8928100" y="27559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Data</a:t>
            </a:r>
          </a:p>
        </p:txBody>
      </p:sp>
      <p:sp>
        <p:nvSpPr>
          <p:cNvPr id="32" name="Rectangle: Rounded Corners 31">
            <a:extLst>
              <a:ext uri="{FF2B5EF4-FFF2-40B4-BE49-F238E27FC236}">
                <a16:creationId xmlns:a16="http://schemas.microsoft.com/office/drawing/2014/main" id="{385CA1E4-5B85-3F86-696B-2244A8D35465}"/>
              </a:ext>
            </a:extLst>
          </p:cNvPr>
          <p:cNvSpPr/>
          <p:nvPr/>
        </p:nvSpPr>
        <p:spPr>
          <a:xfrm>
            <a:off x="89281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33" name="Rectangle: Rounded Corners 32">
            <a:extLst>
              <a:ext uri="{FF2B5EF4-FFF2-40B4-BE49-F238E27FC236}">
                <a16:creationId xmlns:a16="http://schemas.microsoft.com/office/drawing/2014/main" id="{CE8022E8-3EA3-A284-7DD4-C7D2E893FCDB}"/>
              </a:ext>
            </a:extLst>
          </p:cNvPr>
          <p:cNvSpPr/>
          <p:nvPr/>
        </p:nvSpPr>
        <p:spPr>
          <a:xfrm>
            <a:off x="89281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34" name="Rectangle: Rounded Corners 33">
            <a:extLst>
              <a:ext uri="{FF2B5EF4-FFF2-40B4-BE49-F238E27FC236}">
                <a16:creationId xmlns:a16="http://schemas.microsoft.com/office/drawing/2014/main" id="{CE8FD519-065D-4E85-8A4E-704EAEBF9D38}"/>
              </a:ext>
            </a:extLst>
          </p:cNvPr>
          <p:cNvSpPr/>
          <p:nvPr/>
        </p:nvSpPr>
        <p:spPr>
          <a:xfrm>
            <a:off x="89281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35" name="Rectangle: Rounded Corners 34">
            <a:extLst>
              <a:ext uri="{FF2B5EF4-FFF2-40B4-BE49-F238E27FC236}">
                <a16:creationId xmlns:a16="http://schemas.microsoft.com/office/drawing/2014/main" id="{94AEA64F-502E-65E4-6385-465093251D8E}"/>
              </a:ext>
            </a:extLst>
          </p:cNvPr>
          <p:cNvSpPr/>
          <p:nvPr/>
        </p:nvSpPr>
        <p:spPr>
          <a:xfrm>
            <a:off x="89281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36" name="Rectangle 35">
            <a:extLst>
              <a:ext uri="{FF2B5EF4-FFF2-40B4-BE49-F238E27FC236}">
                <a16:creationId xmlns:a16="http://schemas.microsoft.com/office/drawing/2014/main" id="{C7352E58-73EB-0DD8-16F7-DECD4AF62899}"/>
              </a:ext>
            </a:extLst>
          </p:cNvPr>
          <p:cNvSpPr/>
          <p:nvPr/>
        </p:nvSpPr>
        <p:spPr>
          <a:xfrm>
            <a:off x="850900" y="5638800"/>
            <a:ext cx="203200" cy="203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TextBox 36">
            <a:extLst>
              <a:ext uri="{FF2B5EF4-FFF2-40B4-BE49-F238E27FC236}">
                <a16:creationId xmlns:a16="http://schemas.microsoft.com/office/drawing/2014/main" id="{DFCB69F1-928F-A2F2-D45B-F9596949768D}"/>
              </a:ext>
            </a:extLst>
          </p:cNvPr>
          <p:cNvSpPr txBox="1"/>
          <p:nvPr/>
        </p:nvSpPr>
        <p:spPr>
          <a:xfrm>
            <a:off x="1143000" y="5626100"/>
            <a:ext cx="2032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You manage</a:t>
            </a:r>
          </a:p>
        </p:txBody>
      </p:sp>
      <p:sp>
        <p:nvSpPr>
          <p:cNvPr id="38" name="Rectangle 37">
            <a:extLst>
              <a:ext uri="{FF2B5EF4-FFF2-40B4-BE49-F238E27FC236}">
                <a16:creationId xmlns:a16="http://schemas.microsoft.com/office/drawing/2014/main" id="{B84626C0-9B85-EBD6-E314-C5EE324B9F77}"/>
              </a:ext>
            </a:extLst>
          </p:cNvPr>
          <p:cNvSpPr/>
          <p:nvPr/>
        </p:nvSpPr>
        <p:spPr>
          <a:xfrm>
            <a:off x="2794000" y="5638800"/>
            <a:ext cx="203200" cy="203200"/>
          </a:xfrm>
          <a:prstGeom prst="rect">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B4801B62-CA27-9770-536E-674269D4B1EF}"/>
              </a:ext>
            </a:extLst>
          </p:cNvPr>
          <p:cNvSpPr txBox="1"/>
          <p:nvPr/>
        </p:nvSpPr>
        <p:spPr>
          <a:xfrm>
            <a:off x="3086100" y="5626100"/>
            <a:ext cx="2540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The provider manages</a:t>
            </a:r>
          </a:p>
        </p:txBody>
      </p:sp>
      <p:sp>
        <p:nvSpPr>
          <p:cNvPr id="40" name="TextBox 39">
            <a:extLst>
              <a:ext uri="{FF2B5EF4-FFF2-40B4-BE49-F238E27FC236}">
                <a16:creationId xmlns:a16="http://schemas.microsoft.com/office/drawing/2014/main" id="{37C0CBDF-3D7C-55A1-98D0-7D6932F193BE}"/>
              </a:ext>
            </a:extLst>
          </p:cNvPr>
          <p:cNvSpPr txBox="1"/>
          <p:nvPr/>
        </p:nvSpPr>
        <p:spPr>
          <a:xfrm>
            <a:off x="850900" y="6019800"/>
            <a:ext cx="107315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Deployment models:  public (AWS, Azure, GCP)  ·  private (OpenStack, Platform9)  ·  hybrid (both)</a:t>
            </a:r>
            <a:endParaRPr lang="en-IN" sz="1400">
              <a:solidFill>
                <a:srgbClr val="5B6B79"/>
              </a:solidFill>
              <a:latin typeface="Calibri" panose="020F0502020204030204" pitchFamily="34" charset="0"/>
            </a:endParaRPr>
          </a:p>
        </p:txBody>
      </p:sp>
      <p:sp>
        <p:nvSpPr>
          <p:cNvPr id="41" name="TextBox 40">
            <a:extLst>
              <a:ext uri="{FF2B5EF4-FFF2-40B4-BE49-F238E27FC236}">
                <a16:creationId xmlns:a16="http://schemas.microsoft.com/office/drawing/2014/main" id="{04EDB477-BF33-D3D1-DC6D-3F350274BF2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42" name="TextBox 41">
            <a:extLst>
              <a:ext uri="{FF2B5EF4-FFF2-40B4-BE49-F238E27FC236}">
                <a16:creationId xmlns:a16="http://schemas.microsoft.com/office/drawing/2014/main" id="{910AADEB-3E80-271B-5339-8FB73C0BE2AE}"/>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5</a:t>
            </a:r>
          </a:p>
        </p:txBody>
      </p:sp>
    </p:spTree>
    <p:extLst>
      <p:ext uri="{BB962C8B-B14F-4D97-AF65-F5344CB8AC3E}">
        <p14:creationId xmlns:p14="http://schemas.microsoft.com/office/powerpoint/2010/main" val="739432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088690-43A1-AFAD-33EF-5F27F3032A28}"/>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Four building blocks of every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7924306F-CF81-6641-CD18-7799D76162EB}"/>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Same ideas, different names in AWS and OpenStack</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66440813-371A-B692-0910-45D6C45464D2}"/>
              </a:ext>
            </a:extLst>
          </p:cNvPr>
          <p:cNvSpPr/>
          <p:nvPr/>
        </p:nvSpPr>
        <p:spPr>
          <a:xfrm>
            <a:off x="6096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AB1E94BD-3631-254B-14AE-3FFA160D31F1}"/>
              </a:ext>
            </a:extLst>
          </p:cNvPr>
          <p:cNvSpPr/>
          <p:nvPr/>
        </p:nvSpPr>
        <p:spPr>
          <a:xfrm>
            <a:off x="8636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C</a:t>
            </a:r>
          </a:p>
        </p:txBody>
      </p:sp>
      <p:sp>
        <p:nvSpPr>
          <p:cNvPr id="6" name="TextBox 5">
            <a:extLst>
              <a:ext uri="{FF2B5EF4-FFF2-40B4-BE49-F238E27FC236}">
                <a16:creationId xmlns:a16="http://schemas.microsoft.com/office/drawing/2014/main" id="{2FE8AEA2-1188-A214-DF14-90760C913B4F}"/>
              </a:ext>
            </a:extLst>
          </p:cNvPr>
          <p:cNvSpPr txBox="1"/>
          <p:nvPr/>
        </p:nvSpPr>
        <p:spPr>
          <a:xfrm>
            <a:off x="16256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Compute</a:t>
            </a:r>
          </a:p>
        </p:txBody>
      </p:sp>
      <p:sp>
        <p:nvSpPr>
          <p:cNvPr id="7" name="TextBox 6">
            <a:extLst>
              <a:ext uri="{FF2B5EF4-FFF2-40B4-BE49-F238E27FC236}">
                <a16:creationId xmlns:a16="http://schemas.microsoft.com/office/drawing/2014/main" id="{6F57120A-95B7-A9FA-3611-E74AD24BCFF4}"/>
              </a:ext>
            </a:extLst>
          </p:cNvPr>
          <p:cNvSpPr txBox="1"/>
          <p:nvPr/>
        </p:nvSpPr>
        <p:spPr>
          <a:xfrm>
            <a:off x="16256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Virtual servers and containers that run your code, booted from images.</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E772CD2E-FD44-971E-BF77-A35662F7EBBB}"/>
              </a:ext>
            </a:extLst>
          </p:cNvPr>
          <p:cNvSpPr txBox="1"/>
          <p:nvPr/>
        </p:nvSpPr>
        <p:spPr>
          <a:xfrm>
            <a:off x="1625600" y="31242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EC2, AMIs   ·   OpenStack: Nova, Glance (images)</a:t>
            </a:r>
          </a:p>
        </p:txBody>
      </p:sp>
      <p:sp>
        <p:nvSpPr>
          <p:cNvPr id="9" name="Rectangle: Rounded Corners 8">
            <a:extLst>
              <a:ext uri="{FF2B5EF4-FFF2-40B4-BE49-F238E27FC236}">
                <a16:creationId xmlns:a16="http://schemas.microsoft.com/office/drawing/2014/main" id="{2CFF28B9-7BAE-F3F7-2EFE-2572782684C9}"/>
              </a:ext>
            </a:extLst>
          </p:cNvPr>
          <p:cNvSpPr/>
          <p:nvPr/>
        </p:nvSpPr>
        <p:spPr>
          <a:xfrm>
            <a:off x="62484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Oval 9">
            <a:extLst>
              <a:ext uri="{FF2B5EF4-FFF2-40B4-BE49-F238E27FC236}">
                <a16:creationId xmlns:a16="http://schemas.microsoft.com/office/drawing/2014/main" id="{6D650655-B730-EB6D-B104-3C83BC2561CD}"/>
              </a:ext>
            </a:extLst>
          </p:cNvPr>
          <p:cNvSpPr/>
          <p:nvPr/>
        </p:nvSpPr>
        <p:spPr>
          <a:xfrm>
            <a:off x="65024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S</a:t>
            </a:r>
          </a:p>
        </p:txBody>
      </p:sp>
      <p:sp>
        <p:nvSpPr>
          <p:cNvPr id="11" name="TextBox 10">
            <a:extLst>
              <a:ext uri="{FF2B5EF4-FFF2-40B4-BE49-F238E27FC236}">
                <a16:creationId xmlns:a16="http://schemas.microsoft.com/office/drawing/2014/main" id="{1A4236D4-7AB1-A8C8-9ADD-31D4FE6231BB}"/>
              </a:ext>
            </a:extLst>
          </p:cNvPr>
          <p:cNvSpPr txBox="1"/>
          <p:nvPr/>
        </p:nvSpPr>
        <p:spPr>
          <a:xfrm>
            <a:off x="72644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Storage</a:t>
            </a:r>
          </a:p>
        </p:txBody>
      </p:sp>
      <p:sp>
        <p:nvSpPr>
          <p:cNvPr id="12" name="TextBox 11">
            <a:extLst>
              <a:ext uri="{FF2B5EF4-FFF2-40B4-BE49-F238E27FC236}">
                <a16:creationId xmlns:a16="http://schemas.microsoft.com/office/drawing/2014/main" id="{6692B414-1981-0B73-0A47-CD93B027DC17}"/>
              </a:ext>
            </a:extLst>
          </p:cNvPr>
          <p:cNvSpPr txBox="1"/>
          <p:nvPr/>
        </p:nvSpPr>
        <p:spPr>
          <a:xfrm>
            <a:off x="72644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Object storage for files and backups, plus disks and shared file systems.</a:t>
            </a:r>
            <a:endParaRPr lang="en-IN" sz="1500">
              <a:solidFill>
                <a:srgbClr val="1E2A35"/>
              </a:solidFill>
              <a:latin typeface="Calibri" panose="020F0502020204030204" pitchFamily="34" charset="0"/>
            </a:endParaRPr>
          </a:p>
        </p:txBody>
      </p:sp>
      <p:sp>
        <p:nvSpPr>
          <p:cNvPr id="13" name="TextBox 12">
            <a:extLst>
              <a:ext uri="{FF2B5EF4-FFF2-40B4-BE49-F238E27FC236}">
                <a16:creationId xmlns:a16="http://schemas.microsoft.com/office/drawing/2014/main" id="{9F20CC13-3363-7217-8DEC-33CD067DCC72}"/>
              </a:ext>
            </a:extLst>
          </p:cNvPr>
          <p:cNvSpPr txBox="1"/>
          <p:nvPr/>
        </p:nvSpPr>
        <p:spPr>
          <a:xfrm>
            <a:off x="7264400" y="31242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S3, EBS, EFS   ·   OpenStack: Swift, Cinder, Manila</a:t>
            </a:r>
            <a:endParaRPr lang="en-IN" sz="13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1CF04D03-00F7-79CF-D2FC-328A1618D9C2}"/>
              </a:ext>
            </a:extLst>
          </p:cNvPr>
          <p:cNvSpPr/>
          <p:nvPr/>
        </p:nvSpPr>
        <p:spPr>
          <a:xfrm>
            <a:off x="6096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Oval 14">
            <a:extLst>
              <a:ext uri="{FF2B5EF4-FFF2-40B4-BE49-F238E27FC236}">
                <a16:creationId xmlns:a16="http://schemas.microsoft.com/office/drawing/2014/main" id="{54D76A1F-356A-FE86-3191-CE80C707923F}"/>
              </a:ext>
            </a:extLst>
          </p:cNvPr>
          <p:cNvSpPr/>
          <p:nvPr/>
        </p:nvSpPr>
        <p:spPr>
          <a:xfrm>
            <a:off x="8636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N</a:t>
            </a:r>
          </a:p>
        </p:txBody>
      </p:sp>
      <p:sp>
        <p:nvSpPr>
          <p:cNvPr id="16" name="TextBox 15">
            <a:extLst>
              <a:ext uri="{FF2B5EF4-FFF2-40B4-BE49-F238E27FC236}">
                <a16:creationId xmlns:a16="http://schemas.microsoft.com/office/drawing/2014/main" id="{3EF02558-F29F-AD05-4A07-39F8680A6EE2}"/>
              </a:ext>
            </a:extLst>
          </p:cNvPr>
          <p:cNvSpPr txBox="1"/>
          <p:nvPr/>
        </p:nvSpPr>
        <p:spPr>
          <a:xfrm>
            <a:off x="16256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Network</a:t>
            </a:r>
          </a:p>
        </p:txBody>
      </p:sp>
      <p:sp>
        <p:nvSpPr>
          <p:cNvPr id="17" name="TextBox 16">
            <a:extLst>
              <a:ext uri="{FF2B5EF4-FFF2-40B4-BE49-F238E27FC236}">
                <a16:creationId xmlns:a16="http://schemas.microsoft.com/office/drawing/2014/main" id="{3517D5C1-D160-0BE9-4AA9-8247BA8867F9}"/>
              </a:ext>
            </a:extLst>
          </p:cNvPr>
          <p:cNvSpPr txBox="1"/>
          <p:nvPr/>
        </p:nvSpPr>
        <p:spPr>
          <a:xfrm>
            <a:off x="16256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Private networks, subnets and firewall rules that decide who can reach what.</a:t>
            </a:r>
            <a:endParaRPr lang="en-IN" sz="1500">
              <a:solidFill>
                <a:srgbClr val="1E2A35"/>
              </a:solidFill>
              <a:latin typeface="Calibri" panose="020F0502020204030204" pitchFamily="34" charset="0"/>
            </a:endParaRPr>
          </a:p>
        </p:txBody>
      </p:sp>
      <p:sp>
        <p:nvSpPr>
          <p:cNvPr id="18" name="TextBox 17">
            <a:extLst>
              <a:ext uri="{FF2B5EF4-FFF2-40B4-BE49-F238E27FC236}">
                <a16:creationId xmlns:a16="http://schemas.microsoft.com/office/drawing/2014/main" id="{8439D1E7-9E41-6416-A882-582C7D46F54F}"/>
              </a:ext>
            </a:extLst>
          </p:cNvPr>
          <p:cNvSpPr txBox="1"/>
          <p:nvPr/>
        </p:nvSpPr>
        <p:spPr>
          <a:xfrm>
            <a:off x="1625600" y="54356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VPC, security groups   ·   OpenStack: Neutron</a:t>
            </a:r>
            <a:endParaRPr lang="en-IN" sz="1300" b="1">
              <a:solidFill>
                <a:srgbClr val="1B998B"/>
              </a:solidFill>
              <a:latin typeface="Calibri" panose="020F0502020204030204" pitchFamily="34" charset="0"/>
            </a:endParaRPr>
          </a:p>
        </p:txBody>
      </p:sp>
      <p:sp>
        <p:nvSpPr>
          <p:cNvPr id="19" name="Rectangle: Rounded Corners 18">
            <a:extLst>
              <a:ext uri="{FF2B5EF4-FFF2-40B4-BE49-F238E27FC236}">
                <a16:creationId xmlns:a16="http://schemas.microsoft.com/office/drawing/2014/main" id="{CA382C45-7501-B1C7-E6C3-03E664ED1580}"/>
              </a:ext>
            </a:extLst>
          </p:cNvPr>
          <p:cNvSpPr/>
          <p:nvPr/>
        </p:nvSpPr>
        <p:spPr>
          <a:xfrm>
            <a:off x="62484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Oval 19">
            <a:extLst>
              <a:ext uri="{FF2B5EF4-FFF2-40B4-BE49-F238E27FC236}">
                <a16:creationId xmlns:a16="http://schemas.microsoft.com/office/drawing/2014/main" id="{912E2426-BD62-8495-2AD4-6A3975DD56AA}"/>
              </a:ext>
            </a:extLst>
          </p:cNvPr>
          <p:cNvSpPr/>
          <p:nvPr/>
        </p:nvSpPr>
        <p:spPr>
          <a:xfrm>
            <a:off x="65024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I</a:t>
            </a:r>
          </a:p>
        </p:txBody>
      </p:sp>
      <p:sp>
        <p:nvSpPr>
          <p:cNvPr id="21" name="TextBox 20">
            <a:extLst>
              <a:ext uri="{FF2B5EF4-FFF2-40B4-BE49-F238E27FC236}">
                <a16:creationId xmlns:a16="http://schemas.microsoft.com/office/drawing/2014/main" id="{A8B4C186-CAA7-5D71-B3DD-F8C515514FF6}"/>
              </a:ext>
            </a:extLst>
          </p:cNvPr>
          <p:cNvSpPr txBox="1"/>
          <p:nvPr/>
        </p:nvSpPr>
        <p:spPr>
          <a:xfrm>
            <a:off x="72644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Identity</a:t>
            </a:r>
          </a:p>
        </p:txBody>
      </p:sp>
      <p:sp>
        <p:nvSpPr>
          <p:cNvPr id="22" name="TextBox 21">
            <a:extLst>
              <a:ext uri="{FF2B5EF4-FFF2-40B4-BE49-F238E27FC236}">
                <a16:creationId xmlns:a16="http://schemas.microsoft.com/office/drawing/2014/main" id="{9E0E5E08-DD77-E705-8C50-D441C97B47E7}"/>
              </a:ext>
            </a:extLst>
          </p:cNvPr>
          <p:cNvSpPr txBox="1"/>
          <p:nvPr/>
        </p:nvSpPr>
        <p:spPr>
          <a:xfrm>
            <a:off x="72644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Who can do what: users, roles and permissions.</a:t>
            </a:r>
            <a:endParaRPr lang="en-IN" sz="1500">
              <a:solidFill>
                <a:srgbClr val="1E2A35"/>
              </a:solidFill>
              <a:latin typeface="Calibri" panose="020F0502020204030204" pitchFamily="34" charset="0"/>
            </a:endParaRPr>
          </a:p>
        </p:txBody>
      </p:sp>
      <p:sp>
        <p:nvSpPr>
          <p:cNvPr id="23" name="TextBox 22">
            <a:extLst>
              <a:ext uri="{FF2B5EF4-FFF2-40B4-BE49-F238E27FC236}">
                <a16:creationId xmlns:a16="http://schemas.microsoft.com/office/drawing/2014/main" id="{A2F42E06-1667-38C9-9C5D-119E81EE7AAC}"/>
              </a:ext>
            </a:extLst>
          </p:cNvPr>
          <p:cNvSpPr txBox="1"/>
          <p:nvPr/>
        </p:nvSpPr>
        <p:spPr>
          <a:xfrm>
            <a:off x="7264400" y="54356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IAM   ·   OpenStack: Keystone</a:t>
            </a:r>
          </a:p>
        </p:txBody>
      </p:sp>
      <p:sp>
        <p:nvSpPr>
          <p:cNvPr id="24" name="TextBox 23">
            <a:extLst>
              <a:ext uri="{FF2B5EF4-FFF2-40B4-BE49-F238E27FC236}">
                <a16:creationId xmlns:a16="http://schemas.microsoft.com/office/drawing/2014/main" id="{0F728A4B-58AC-0522-784A-8E5ACEEFB4A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38C56454-E08C-670D-3CE4-BE73419862E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6</a:t>
            </a:r>
          </a:p>
        </p:txBody>
      </p:sp>
    </p:spTree>
    <p:extLst>
      <p:ext uri="{BB962C8B-B14F-4D97-AF65-F5344CB8AC3E}">
        <p14:creationId xmlns:p14="http://schemas.microsoft.com/office/powerpoint/2010/main" val="1208685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C87EA-F351-A8A1-10A5-755201ED3F6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Shared responsibility: whose job is it?</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BDEDDB1E-8C3E-641C-D21E-0AA8244F1D2D}"/>
              </a:ext>
            </a:extLst>
          </p:cNvPr>
          <p:cNvSpPr/>
          <p:nvPr/>
        </p:nvSpPr>
        <p:spPr>
          <a:xfrm>
            <a:off x="609600" y="1346200"/>
            <a:ext cx="5334000" cy="2946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AD3EB140-22CB-52CA-6AAA-E4D157BB6CEC}"/>
              </a:ext>
            </a:extLst>
          </p:cNvPr>
          <p:cNvSpPr txBox="1"/>
          <p:nvPr/>
        </p:nvSpPr>
        <p:spPr>
          <a:xfrm>
            <a:off x="914400" y="1625600"/>
            <a:ext cx="47244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The provider secures the cloud</a:t>
            </a:r>
            <a:endParaRPr lang="en-IN" sz="2000" b="1">
              <a:solidFill>
                <a:srgbClr val="13293D"/>
              </a:solidFill>
              <a:latin typeface="Calibri" panose="020F0502020204030204" pitchFamily="34" charset="0"/>
            </a:endParaRPr>
          </a:p>
        </p:txBody>
      </p:sp>
      <p:sp>
        <p:nvSpPr>
          <p:cNvPr id="5" name="TextBox 4">
            <a:extLst>
              <a:ext uri="{FF2B5EF4-FFF2-40B4-BE49-F238E27FC236}">
                <a16:creationId xmlns:a16="http://schemas.microsoft.com/office/drawing/2014/main" id="{DEF0ECB9-6A07-9652-11F1-992BEE046297}"/>
              </a:ext>
            </a:extLst>
          </p:cNvPr>
          <p:cNvSpPr txBox="1"/>
          <p:nvPr/>
        </p:nvSpPr>
        <p:spPr>
          <a:xfrm>
            <a:off x="9144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1E2A35"/>
                </a:solidFill>
                <a:latin typeface="Calibri" panose="020F0502020204030204" pitchFamily="34" charset="0"/>
              </a:rPr>
              <a:t>Data centres and physical security</a:t>
            </a:r>
          </a:p>
          <a:p>
            <a:pPr marL="228600" indent="-228600">
              <a:spcAft>
                <a:spcPts val="1000"/>
              </a:spcAft>
              <a:buFont typeface="+mj-lt"/>
              <a:buChar char="•"/>
            </a:pPr>
            <a:r>
              <a:rPr lang="en-US" sz="1600">
                <a:solidFill>
                  <a:srgbClr val="1E2A35"/>
                </a:solidFill>
                <a:latin typeface="Calibri" panose="020F0502020204030204" pitchFamily="34" charset="0"/>
              </a:rPr>
              <a:t>Hardware, hypervisor and global network</a:t>
            </a:r>
          </a:p>
          <a:p>
            <a:pPr marL="228600" indent="-228600">
              <a:spcAft>
                <a:spcPts val="1000"/>
              </a:spcAft>
              <a:buFont typeface="+mj-lt"/>
              <a:buChar char="•"/>
            </a:pPr>
            <a:r>
              <a:rPr lang="en-US" sz="1600">
                <a:solidFill>
                  <a:srgbClr val="1E2A35"/>
                </a:solidFill>
                <a:latin typeface="Calibri" panose="020F0502020204030204" pitchFamily="34" charset="0"/>
              </a:rPr>
              <a:t>The managed services themselves: S3, IAM, VPC</a:t>
            </a:r>
            <a:endParaRPr lang="en-IN" sz="1600">
              <a:solidFill>
                <a:srgbClr val="1E2A35"/>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4BCEAD99-0067-E667-803F-D23EAB5AF9FE}"/>
              </a:ext>
            </a:extLst>
          </p:cNvPr>
          <p:cNvSpPr/>
          <p:nvPr/>
        </p:nvSpPr>
        <p:spPr>
          <a:xfrm>
            <a:off x="6248400" y="1346200"/>
            <a:ext cx="5334000" cy="29464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EC70C2F9-0184-7E9A-2835-20E59185D554}"/>
              </a:ext>
            </a:extLst>
          </p:cNvPr>
          <p:cNvSpPr txBox="1"/>
          <p:nvPr/>
        </p:nvSpPr>
        <p:spPr>
          <a:xfrm>
            <a:off x="6553200" y="1625600"/>
            <a:ext cx="4724400" cy="369332"/>
          </a:xfrm>
          <a:prstGeom prst="rect">
            <a:avLst/>
          </a:prstGeom>
          <a:noFill/>
        </p:spPr>
        <p:txBody>
          <a:bodyPr vert="horz" wrap="square" lIns="0" tIns="0" rIns="0" bIns="0" rtlCol="0" anchor="t">
            <a:noAutofit/>
          </a:bodyPr>
          <a:lstStyle/>
          <a:p>
            <a:r>
              <a:rPr lang="en-US" sz="2000" b="1">
                <a:solidFill>
                  <a:srgbClr val="FFFFFF"/>
                </a:solidFill>
                <a:latin typeface="Calibri" panose="020F0502020204030204" pitchFamily="34" charset="0"/>
              </a:rPr>
              <a:t>You secure what you put in it</a:t>
            </a:r>
            <a:endParaRPr lang="en-IN" sz="2000" b="1">
              <a:solidFill>
                <a:srgbClr val="FFFFFF"/>
              </a:solidFill>
              <a:latin typeface="Calibri" panose="020F0502020204030204" pitchFamily="34" charset="0"/>
            </a:endParaRPr>
          </a:p>
        </p:txBody>
      </p:sp>
      <p:sp>
        <p:nvSpPr>
          <p:cNvPr id="8" name="TextBox 7">
            <a:extLst>
              <a:ext uri="{FF2B5EF4-FFF2-40B4-BE49-F238E27FC236}">
                <a16:creationId xmlns:a16="http://schemas.microsoft.com/office/drawing/2014/main" id="{F2F1F2A8-A6A9-D291-ACC3-1533A9772598}"/>
              </a:ext>
            </a:extLst>
          </p:cNvPr>
          <p:cNvSpPr txBox="1"/>
          <p:nvPr/>
        </p:nvSpPr>
        <p:spPr>
          <a:xfrm>
            <a:off x="65532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FFFFFF"/>
                </a:solidFill>
                <a:latin typeface="Calibri" panose="020F0502020204030204" pitchFamily="34" charset="0"/>
              </a:rPr>
              <a:t>Identities, keys and permissions</a:t>
            </a:r>
          </a:p>
          <a:p>
            <a:pPr marL="228600" indent="-228600">
              <a:spcAft>
                <a:spcPts val="1000"/>
              </a:spcAft>
              <a:buFont typeface="+mj-lt"/>
              <a:buChar char="•"/>
            </a:pPr>
            <a:r>
              <a:rPr lang="en-US" sz="1600">
                <a:solidFill>
                  <a:srgbClr val="FFFFFF"/>
                </a:solidFill>
                <a:latin typeface="Calibri" panose="020F0502020204030204" pitchFamily="34" charset="0"/>
              </a:rPr>
              <a:t>Configuration: storage access, firewall rules</a:t>
            </a:r>
          </a:p>
          <a:p>
            <a:pPr marL="228600" indent="-228600">
              <a:spcAft>
                <a:spcPts val="1000"/>
              </a:spcAft>
              <a:buFont typeface="+mj-lt"/>
              <a:buChar char="•"/>
            </a:pPr>
            <a:r>
              <a:rPr lang="en-US" sz="1600">
                <a:solidFill>
                  <a:srgbClr val="FFFFFF"/>
                </a:solidFill>
                <a:latin typeface="Calibri" panose="020F0502020204030204" pitchFamily="34" charset="0"/>
              </a:rPr>
              <a:t>Your code, images and data</a:t>
            </a:r>
          </a:p>
          <a:p>
            <a:pPr marL="228600" indent="-228600">
              <a:spcAft>
                <a:spcPts val="1000"/>
              </a:spcAft>
              <a:buFont typeface="+mj-lt"/>
              <a:buChar char="•"/>
            </a:pPr>
            <a:r>
              <a:rPr lang="en-US" sz="1600">
                <a:solidFill>
                  <a:srgbClr val="FFFFFF"/>
                </a:solidFill>
                <a:latin typeface="Calibri" panose="020F0502020204030204" pitchFamily="34" charset="0"/>
              </a:rPr>
              <a:t>What changes after deployment</a:t>
            </a:r>
            <a:endParaRPr lang="en-IN" sz="1600">
              <a:solidFill>
                <a:srgbClr val="FFFFFF"/>
              </a:solidFill>
              <a:latin typeface="Calibri" panose="020F0502020204030204" pitchFamily="34" charset="0"/>
            </a:endParaRPr>
          </a:p>
        </p:txBody>
      </p:sp>
      <p:sp>
        <p:nvSpPr>
          <p:cNvPr id="9" name="TextBox 8">
            <a:extLst>
              <a:ext uri="{FF2B5EF4-FFF2-40B4-BE49-F238E27FC236}">
                <a16:creationId xmlns:a16="http://schemas.microsoft.com/office/drawing/2014/main" id="{CE9C773D-CD84-EB95-3AC2-FEEA1D533E35}"/>
              </a:ext>
            </a:extLst>
          </p:cNvPr>
          <p:cNvSpPr txBox="1"/>
          <p:nvPr/>
        </p:nvSpPr>
        <p:spPr>
          <a:xfrm>
            <a:off x="609600" y="4699000"/>
            <a:ext cx="10972800" cy="381000"/>
          </a:xfrm>
          <a:prstGeom prst="rect">
            <a:avLst/>
          </a:prstGeom>
          <a:noFill/>
        </p:spPr>
        <p:txBody>
          <a:bodyPr vert="horz" wrap="square" lIns="0" tIns="0" rIns="0" bIns="0" rtlCol="0" anchor="t">
            <a:noAutofit/>
          </a:bodyPr>
          <a:lstStyle/>
          <a:p>
            <a:pPr algn="ctr"/>
            <a:r>
              <a:rPr lang="en-US" sz="2200" b="1">
                <a:solidFill>
                  <a:srgbClr val="E4572E"/>
                </a:solidFill>
                <a:latin typeface="Calibri" panose="020F0502020204030204" pitchFamily="34" charset="0"/>
              </a:rPr>
              <a:t>Every lab today sits in the right-hand column.</a:t>
            </a:r>
            <a:endParaRPr lang="en-IN" sz="2200" b="1">
              <a:solidFill>
                <a:srgbClr val="E4572E"/>
              </a:solidFill>
              <a:latin typeface="Calibri" panose="020F0502020204030204" pitchFamily="34" charset="0"/>
            </a:endParaRPr>
          </a:p>
        </p:txBody>
      </p:sp>
      <p:sp>
        <p:nvSpPr>
          <p:cNvPr id="10" name="TextBox 9">
            <a:extLst>
              <a:ext uri="{FF2B5EF4-FFF2-40B4-BE49-F238E27FC236}">
                <a16:creationId xmlns:a16="http://schemas.microsoft.com/office/drawing/2014/main" id="{ABB12063-C18B-686A-B5EA-0A6AC256F7C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1" name="TextBox 10">
            <a:extLst>
              <a:ext uri="{FF2B5EF4-FFF2-40B4-BE49-F238E27FC236}">
                <a16:creationId xmlns:a16="http://schemas.microsoft.com/office/drawing/2014/main" id="{3578506A-E915-7671-F76E-D5E120A1583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7</a:t>
            </a:r>
          </a:p>
        </p:txBody>
      </p:sp>
    </p:spTree>
    <p:extLst>
      <p:ext uri="{BB962C8B-B14F-4D97-AF65-F5344CB8AC3E}">
        <p14:creationId xmlns:p14="http://schemas.microsoft.com/office/powerpoint/2010/main" val="2785723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6ABFA4-C71F-C044-379E-D634B2B7DC4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Breaches start with everyday mistakes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98BD0C7B-5C4C-9014-C8E0-09E722BDE6A6}"/>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Stolen credentials and misconfiguration are consistently among the top causes in industry breach reports</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B5E0C3BD-A969-4792-BA44-28B05BC07B26}"/>
              </a:ext>
            </a:extLst>
          </p:cNvPr>
          <p:cNvSpPr/>
          <p:nvPr/>
        </p:nvSpPr>
        <p:spPr>
          <a:xfrm>
            <a:off x="609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D226C2-3D7B-B291-BB3F-2EE4615DB777}"/>
              </a:ext>
            </a:extLst>
          </p:cNvPr>
          <p:cNvSpPr txBox="1"/>
          <p:nvPr/>
        </p:nvSpPr>
        <p:spPr>
          <a:xfrm>
            <a:off x="838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2016</a:t>
            </a:r>
          </a:p>
        </p:txBody>
      </p:sp>
      <p:sp>
        <p:nvSpPr>
          <p:cNvPr id="6" name="TextBox 5">
            <a:extLst>
              <a:ext uri="{FF2B5EF4-FFF2-40B4-BE49-F238E27FC236}">
                <a16:creationId xmlns:a16="http://schemas.microsoft.com/office/drawing/2014/main" id="{85692B90-57D5-05F8-D369-EDEE454C65CE}"/>
              </a:ext>
            </a:extLst>
          </p:cNvPr>
          <p:cNvSpPr txBox="1"/>
          <p:nvPr/>
        </p:nvSpPr>
        <p:spPr>
          <a:xfrm>
            <a:off x="838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Uber</a:t>
            </a:r>
          </a:p>
        </p:txBody>
      </p:sp>
      <p:sp>
        <p:nvSpPr>
          <p:cNvPr id="7" name="TextBox 6">
            <a:extLst>
              <a:ext uri="{FF2B5EF4-FFF2-40B4-BE49-F238E27FC236}">
                <a16:creationId xmlns:a16="http://schemas.microsoft.com/office/drawing/2014/main" id="{D4B8FBC5-505E-7043-1B3F-A3F8025E2C96}"/>
              </a:ext>
            </a:extLst>
          </p:cNvPr>
          <p:cNvSpPr txBox="1"/>
          <p:nvPr/>
        </p:nvSpPr>
        <p:spPr>
          <a:xfrm>
            <a:off x="838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AWS keys found in a private GitHub repository exposed data on 57 million users.</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AF419EE9-9749-82DB-2DFB-79EAB069F02C}"/>
              </a:ext>
            </a:extLst>
          </p:cNvPr>
          <p:cNvSpPr/>
          <p:nvPr/>
        </p:nvSpPr>
        <p:spPr>
          <a:xfrm>
            <a:off x="838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Secrets in code</a:t>
            </a:r>
          </a:p>
        </p:txBody>
      </p:sp>
      <p:sp>
        <p:nvSpPr>
          <p:cNvPr id="9" name="Rectangle: Rounded Corners 8">
            <a:extLst>
              <a:ext uri="{FF2B5EF4-FFF2-40B4-BE49-F238E27FC236}">
                <a16:creationId xmlns:a16="http://schemas.microsoft.com/office/drawing/2014/main" id="{0163F67B-5FB5-A995-2021-051136F3A01F}"/>
              </a:ext>
            </a:extLst>
          </p:cNvPr>
          <p:cNvSpPr/>
          <p:nvPr/>
        </p:nvSpPr>
        <p:spPr>
          <a:xfrm>
            <a:off x="3403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7EE6E83A-A976-A8C2-CA4F-8165D73D1EE2}"/>
              </a:ext>
            </a:extLst>
          </p:cNvPr>
          <p:cNvSpPr txBox="1"/>
          <p:nvPr/>
        </p:nvSpPr>
        <p:spPr>
          <a:xfrm>
            <a:off x="3632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2019</a:t>
            </a:r>
          </a:p>
        </p:txBody>
      </p:sp>
      <p:sp>
        <p:nvSpPr>
          <p:cNvPr id="11" name="TextBox 10">
            <a:extLst>
              <a:ext uri="{FF2B5EF4-FFF2-40B4-BE49-F238E27FC236}">
                <a16:creationId xmlns:a16="http://schemas.microsoft.com/office/drawing/2014/main" id="{8CC4F5DA-2C65-1FD5-48EC-39FBB7DCA03E}"/>
              </a:ext>
            </a:extLst>
          </p:cNvPr>
          <p:cNvSpPr txBox="1"/>
          <p:nvPr/>
        </p:nvSpPr>
        <p:spPr>
          <a:xfrm>
            <a:off x="3632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Capital One</a:t>
            </a:r>
          </a:p>
        </p:txBody>
      </p:sp>
      <p:sp>
        <p:nvSpPr>
          <p:cNvPr id="12" name="TextBox 11">
            <a:extLst>
              <a:ext uri="{FF2B5EF4-FFF2-40B4-BE49-F238E27FC236}">
                <a16:creationId xmlns:a16="http://schemas.microsoft.com/office/drawing/2014/main" id="{2506651C-4A2B-8F74-544F-27F258BFE0B0}"/>
              </a:ext>
            </a:extLst>
          </p:cNvPr>
          <p:cNvSpPr txBox="1"/>
          <p:nvPr/>
        </p:nvSpPr>
        <p:spPr>
          <a:xfrm>
            <a:off x="3632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web app was tricked into fetching cloud credentials from the metadata service, then reading data on 100M+ customers.</a:t>
            </a:r>
            <a:endParaRPr lang="en-IN" sz="14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71A3F405-2CC3-5B08-F856-4BE35BA63AA2}"/>
              </a:ext>
            </a:extLst>
          </p:cNvPr>
          <p:cNvSpPr/>
          <p:nvPr/>
        </p:nvSpPr>
        <p:spPr>
          <a:xfrm>
            <a:off x="3632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Misconfiguration</a:t>
            </a:r>
          </a:p>
        </p:txBody>
      </p:sp>
      <p:sp>
        <p:nvSpPr>
          <p:cNvPr id="14" name="Rectangle: Rounded Corners 13">
            <a:extLst>
              <a:ext uri="{FF2B5EF4-FFF2-40B4-BE49-F238E27FC236}">
                <a16:creationId xmlns:a16="http://schemas.microsoft.com/office/drawing/2014/main" id="{B69385F9-6753-2380-23C2-D69F0EB71BBD}"/>
              </a:ext>
            </a:extLst>
          </p:cNvPr>
          <p:cNvSpPr/>
          <p:nvPr/>
        </p:nvSpPr>
        <p:spPr>
          <a:xfrm>
            <a:off x="6197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27C7D490-77AF-2DC3-DE9A-E97479B8D146}"/>
              </a:ext>
            </a:extLst>
          </p:cNvPr>
          <p:cNvSpPr txBox="1"/>
          <p:nvPr/>
        </p:nvSpPr>
        <p:spPr>
          <a:xfrm>
            <a:off x="6426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2021</a:t>
            </a:r>
          </a:p>
        </p:txBody>
      </p:sp>
      <p:sp>
        <p:nvSpPr>
          <p:cNvPr id="16" name="TextBox 15">
            <a:extLst>
              <a:ext uri="{FF2B5EF4-FFF2-40B4-BE49-F238E27FC236}">
                <a16:creationId xmlns:a16="http://schemas.microsoft.com/office/drawing/2014/main" id="{94F75535-C730-282D-E201-D4CFF4AE4562}"/>
              </a:ext>
            </a:extLst>
          </p:cNvPr>
          <p:cNvSpPr txBox="1"/>
          <p:nvPr/>
        </p:nvSpPr>
        <p:spPr>
          <a:xfrm>
            <a:off x="6426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Codecov</a:t>
            </a:r>
          </a:p>
        </p:txBody>
      </p:sp>
      <p:sp>
        <p:nvSpPr>
          <p:cNvPr id="17" name="TextBox 16">
            <a:extLst>
              <a:ext uri="{FF2B5EF4-FFF2-40B4-BE49-F238E27FC236}">
                <a16:creationId xmlns:a16="http://schemas.microsoft.com/office/drawing/2014/main" id="{511D5781-3476-8BBA-D871-87C265939DF5}"/>
              </a:ext>
            </a:extLst>
          </p:cNvPr>
          <p:cNvSpPr txBox="1"/>
          <p:nvPr/>
        </p:nvSpPr>
        <p:spPr>
          <a:xfrm>
            <a:off x="6426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credential taken from a Docker image let attackers alter a widely used CI upload script.</a:t>
            </a:r>
            <a:endParaRPr lang="en-IN" sz="1400">
              <a:solidFill>
                <a:srgbClr val="1E2A35"/>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2DAD8643-EEF3-0020-0052-74B94849B05F}"/>
              </a:ext>
            </a:extLst>
          </p:cNvPr>
          <p:cNvSpPr/>
          <p:nvPr/>
        </p:nvSpPr>
        <p:spPr>
          <a:xfrm>
            <a:off x="6426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Leaked credential</a:t>
            </a:r>
          </a:p>
        </p:txBody>
      </p:sp>
      <p:sp>
        <p:nvSpPr>
          <p:cNvPr id="19" name="Rectangle: Rounded Corners 18">
            <a:extLst>
              <a:ext uri="{FF2B5EF4-FFF2-40B4-BE49-F238E27FC236}">
                <a16:creationId xmlns:a16="http://schemas.microsoft.com/office/drawing/2014/main" id="{FF798C3C-785D-D58C-08D2-BF3D4A493E26}"/>
              </a:ext>
            </a:extLst>
          </p:cNvPr>
          <p:cNvSpPr/>
          <p:nvPr/>
        </p:nvSpPr>
        <p:spPr>
          <a:xfrm>
            <a:off x="8991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B84F90BD-8040-66C7-D369-01220B522A30}"/>
              </a:ext>
            </a:extLst>
          </p:cNvPr>
          <p:cNvSpPr txBox="1"/>
          <p:nvPr/>
        </p:nvSpPr>
        <p:spPr>
          <a:xfrm>
            <a:off x="9220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2023</a:t>
            </a:r>
          </a:p>
        </p:txBody>
      </p:sp>
      <p:sp>
        <p:nvSpPr>
          <p:cNvPr id="21" name="TextBox 20">
            <a:extLst>
              <a:ext uri="{FF2B5EF4-FFF2-40B4-BE49-F238E27FC236}">
                <a16:creationId xmlns:a16="http://schemas.microsoft.com/office/drawing/2014/main" id="{5D90ACCD-A85A-13FA-8A93-8732C6A6C767}"/>
              </a:ext>
            </a:extLst>
          </p:cNvPr>
          <p:cNvSpPr txBox="1"/>
          <p:nvPr/>
        </p:nvSpPr>
        <p:spPr>
          <a:xfrm>
            <a:off x="9220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Microsoft AI research</a:t>
            </a:r>
          </a:p>
        </p:txBody>
      </p:sp>
      <p:sp>
        <p:nvSpPr>
          <p:cNvPr id="22" name="TextBox 21">
            <a:extLst>
              <a:ext uri="{FF2B5EF4-FFF2-40B4-BE49-F238E27FC236}">
                <a16:creationId xmlns:a16="http://schemas.microsoft.com/office/drawing/2014/main" id="{FF613B7E-6AD0-22B1-10F3-DC724B9DEB5D}"/>
              </a:ext>
            </a:extLst>
          </p:cNvPr>
          <p:cNvSpPr txBox="1"/>
          <p:nvPr/>
        </p:nvSpPr>
        <p:spPr>
          <a:xfrm>
            <a:off x="9220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An over-permissive storage access link shared on GitHub exposed 38 TB of internal data.</a:t>
            </a:r>
            <a:endParaRPr lang="en-IN" sz="1400">
              <a:solidFill>
                <a:srgbClr val="1E2A35"/>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534B3CA6-874B-BD5D-F3E8-79526DB93FDC}"/>
              </a:ext>
            </a:extLst>
          </p:cNvPr>
          <p:cNvSpPr/>
          <p:nvPr/>
        </p:nvSpPr>
        <p:spPr>
          <a:xfrm>
            <a:off x="9220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Too much access</a:t>
            </a:r>
          </a:p>
        </p:txBody>
      </p:sp>
      <p:sp>
        <p:nvSpPr>
          <p:cNvPr id="24" name="TextBox 23">
            <a:extLst>
              <a:ext uri="{FF2B5EF4-FFF2-40B4-BE49-F238E27FC236}">
                <a16:creationId xmlns:a16="http://schemas.microsoft.com/office/drawing/2014/main" id="{486B1EE5-22D1-5D45-5D67-C70DFAD23DFE}"/>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DA57A02C-5DF8-B2A9-3C30-C5AD14E4DE52}"/>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8</a:t>
            </a:r>
          </a:p>
        </p:txBody>
      </p:sp>
    </p:spTree>
    <p:extLst>
      <p:ext uri="{BB962C8B-B14F-4D97-AF65-F5344CB8AC3E}">
        <p14:creationId xmlns:p14="http://schemas.microsoft.com/office/powerpoint/2010/main" val="596789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58D13A-4D82-4ED3-A9FA-A3FD8B1CE1B7}"/>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The path to the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FC163144-28E0-F493-DEA7-95DF156967D8}"/>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Each lab is one checkpoint a change passes on its way to production</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A997A931-D1F8-1371-EC1A-DEC40D84FE69}"/>
              </a:ext>
            </a:extLst>
          </p:cNvPr>
          <p:cNvSpPr/>
          <p:nvPr/>
        </p:nvSpPr>
        <p:spPr>
          <a:xfrm>
            <a:off x="609600" y="2921000"/>
            <a:ext cx="1143000" cy="1016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Developer</a:t>
            </a:r>
          </a:p>
          <a:p>
            <a:pPr algn="ctr"/>
            <a:r>
              <a:rPr lang="en-IN" sz="1400" b="1">
                <a:solidFill>
                  <a:srgbClr val="13293D"/>
                </a:solidFill>
                <a:latin typeface="Calibri" panose="020F0502020204030204" pitchFamily="34" charset="0"/>
              </a:rPr>
              <a:t>laptop</a:t>
            </a:r>
          </a:p>
        </p:txBody>
      </p:sp>
      <p:sp>
        <p:nvSpPr>
          <p:cNvPr id="5" name="Rectangle: Rounded Corners 4">
            <a:extLst>
              <a:ext uri="{FF2B5EF4-FFF2-40B4-BE49-F238E27FC236}">
                <a16:creationId xmlns:a16="http://schemas.microsoft.com/office/drawing/2014/main" id="{0B2553C9-20FE-A73A-5494-A0EC91D0E32E}"/>
              </a:ext>
            </a:extLst>
          </p:cNvPr>
          <p:cNvSpPr/>
          <p:nvPr/>
        </p:nvSpPr>
        <p:spPr>
          <a:xfrm>
            <a:off x="19812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Oval 5">
            <a:extLst>
              <a:ext uri="{FF2B5EF4-FFF2-40B4-BE49-F238E27FC236}">
                <a16:creationId xmlns:a16="http://schemas.microsoft.com/office/drawing/2014/main" id="{D9691BFD-81B0-A266-D1B7-491A467FFDAA}"/>
              </a:ext>
            </a:extLst>
          </p:cNvPr>
          <p:cNvSpPr/>
          <p:nvPr/>
        </p:nvSpPr>
        <p:spPr>
          <a:xfrm>
            <a:off x="21590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7" name="TextBox 6">
            <a:extLst>
              <a:ext uri="{FF2B5EF4-FFF2-40B4-BE49-F238E27FC236}">
                <a16:creationId xmlns:a16="http://schemas.microsoft.com/office/drawing/2014/main" id="{F10BC384-2883-87E5-1269-E88E814E61B1}"/>
              </a:ext>
            </a:extLst>
          </p:cNvPr>
          <p:cNvSpPr txBox="1"/>
          <p:nvPr/>
        </p:nvSpPr>
        <p:spPr>
          <a:xfrm>
            <a:off x="21590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Secrets in Git</a:t>
            </a:r>
          </a:p>
        </p:txBody>
      </p:sp>
      <p:sp>
        <p:nvSpPr>
          <p:cNvPr id="8" name="TextBox 7">
            <a:extLst>
              <a:ext uri="{FF2B5EF4-FFF2-40B4-BE49-F238E27FC236}">
                <a16:creationId xmlns:a16="http://schemas.microsoft.com/office/drawing/2014/main" id="{A57E94C6-5B87-C1C9-9819-C77E6773D0CD}"/>
              </a:ext>
            </a:extLst>
          </p:cNvPr>
          <p:cNvSpPr txBox="1"/>
          <p:nvPr/>
        </p:nvSpPr>
        <p:spPr>
          <a:xfrm>
            <a:off x="21590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gitleaks</a:t>
            </a:r>
          </a:p>
        </p:txBody>
      </p:sp>
      <p:sp>
        <p:nvSpPr>
          <p:cNvPr id="9" name="TextBox 8">
            <a:extLst>
              <a:ext uri="{FF2B5EF4-FFF2-40B4-BE49-F238E27FC236}">
                <a16:creationId xmlns:a16="http://schemas.microsoft.com/office/drawing/2014/main" id="{9DB0D6C1-97F9-1D5D-9F88-75A8DB1837E4}"/>
              </a:ext>
            </a:extLst>
          </p:cNvPr>
          <p:cNvSpPr txBox="1"/>
          <p:nvPr/>
        </p:nvSpPr>
        <p:spPr>
          <a:xfrm>
            <a:off x="21590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Keys and passwords committed to code</a:t>
            </a:r>
            <a:endParaRPr lang="en-IN" sz="1300">
              <a:solidFill>
                <a:srgbClr val="FFFFFF"/>
              </a:solidFill>
              <a:latin typeface="Calibri" panose="020F0502020204030204" pitchFamily="34" charset="0"/>
            </a:endParaRPr>
          </a:p>
        </p:txBody>
      </p:sp>
      <p:cxnSp>
        <p:nvCxnSpPr>
          <p:cNvPr id="10" name="Straight Connector 9">
            <a:extLst>
              <a:ext uri="{FF2B5EF4-FFF2-40B4-BE49-F238E27FC236}">
                <a16:creationId xmlns:a16="http://schemas.microsoft.com/office/drawing/2014/main" id="{9CD2B62B-9CB5-786F-15EF-0B8908DA5E38}"/>
              </a:ext>
            </a:extLst>
          </p:cNvPr>
          <p:cNvCxnSpPr/>
          <p:nvPr/>
        </p:nvCxnSpPr>
        <p:spPr>
          <a:xfrm>
            <a:off x="17780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EEEA723E-80D1-28BD-5F1F-4DF769707DC8}"/>
              </a:ext>
            </a:extLst>
          </p:cNvPr>
          <p:cNvSpPr/>
          <p:nvPr/>
        </p:nvSpPr>
        <p:spPr>
          <a:xfrm>
            <a:off x="40513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56238018-10D9-7E1C-D92B-C532CC59C6B1}"/>
              </a:ext>
            </a:extLst>
          </p:cNvPr>
          <p:cNvSpPr/>
          <p:nvPr/>
        </p:nvSpPr>
        <p:spPr>
          <a:xfrm>
            <a:off x="42291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C72E6495-3024-6ABA-631A-4ABDBD28C4D2}"/>
              </a:ext>
            </a:extLst>
          </p:cNvPr>
          <p:cNvSpPr txBox="1"/>
          <p:nvPr/>
        </p:nvSpPr>
        <p:spPr>
          <a:xfrm>
            <a:off x="42291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3340D8D3-E22E-5DCF-BD9D-501889269F17}"/>
              </a:ext>
            </a:extLst>
          </p:cNvPr>
          <p:cNvSpPr txBox="1"/>
          <p:nvPr/>
        </p:nvSpPr>
        <p:spPr>
          <a:xfrm>
            <a:off x="42291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SonarQube</a:t>
            </a:r>
          </a:p>
        </p:txBody>
      </p:sp>
      <p:sp>
        <p:nvSpPr>
          <p:cNvPr id="15" name="TextBox 14">
            <a:extLst>
              <a:ext uri="{FF2B5EF4-FFF2-40B4-BE49-F238E27FC236}">
                <a16:creationId xmlns:a16="http://schemas.microsoft.com/office/drawing/2014/main" id="{29200799-B290-DF1E-F2C6-773DC391EF7D}"/>
              </a:ext>
            </a:extLst>
          </p:cNvPr>
          <p:cNvSpPr txBox="1"/>
          <p:nvPr/>
        </p:nvSpPr>
        <p:spPr>
          <a:xfrm>
            <a:off x="4229100" y="3835400"/>
            <a:ext cx="1524000" cy="369332"/>
          </a:xfrm>
          <a:prstGeom prst="rect">
            <a:avLst/>
          </a:prstGeom>
          <a:noFill/>
        </p:spPr>
        <p:txBody>
          <a:bodyPr vert="horz" wrap="square" lIns="0" tIns="0" rIns="0" bIns="0" rtlCol="0" anchor="t">
            <a:noAutofit/>
          </a:bodyPr>
          <a:lstStyle/>
          <a:p>
            <a:r>
              <a:rPr lang="en-IN" sz="1300">
                <a:solidFill>
                  <a:srgbClr val="FFFFFF"/>
                </a:solidFill>
                <a:latin typeface="Calibri" panose="020F0502020204030204" pitchFamily="34" charset="0"/>
              </a:rPr>
              <a:t>Bugs attackers can exploit</a:t>
            </a:r>
          </a:p>
        </p:txBody>
      </p:sp>
      <p:cxnSp>
        <p:nvCxnSpPr>
          <p:cNvPr id="16" name="Straight Connector 15">
            <a:extLst>
              <a:ext uri="{FF2B5EF4-FFF2-40B4-BE49-F238E27FC236}">
                <a16:creationId xmlns:a16="http://schemas.microsoft.com/office/drawing/2014/main" id="{48CE0984-DF0F-B44D-9BDC-115DDA29530E}"/>
              </a:ext>
            </a:extLst>
          </p:cNvPr>
          <p:cNvCxnSpPr/>
          <p:nvPr/>
        </p:nvCxnSpPr>
        <p:spPr>
          <a:xfrm>
            <a:off x="38481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Rounded Corners 16">
            <a:extLst>
              <a:ext uri="{FF2B5EF4-FFF2-40B4-BE49-F238E27FC236}">
                <a16:creationId xmlns:a16="http://schemas.microsoft.com/office/drawing/2014/main" id="{91BFE621-73D7-27A0-4994-481B93A8E8D0}"/>
              </a:ext>
            </a:extLst>
          </p:cNvPr>
          <p:cNvSpPr/>
          <p:nvPr/>
        </p:nvSpPr>
        <p:spPr>
          <a:xfrm>
            <a:off x="61214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Oval 17">
            <a:extLst>
              <a:ext uri="{FF2B5EF4-FFF2-40B4-BE49-F238E27FC236}">
                <a16:creationId xmlns:a16="http://schemas.microsoft.com/office/drawing/2014/main" id="{E8650867-927B-AB36-A477-C44E0E1FAFC1}"/>
              </a:ext>
            </a:extLst>
          </p:cNvPr>
          <p:cNvSpPr/>
          <p:nvPr/>
        </p:nvSpPr>
        <p:spPr>
          <a:xfrm>
            <a:off x="62992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9" name="TextBox 18">
            <a:extLst>
              <a:ext uri="{FF2B5EF4-FFF2-40B4-BE49-F238E27FC236}">
                <a16:creationId xmlns:a16="http://schemas.microsoft.com/office/drawing/2014/main" id="{8F684916-1F92-6037-FBC2-6712DC33009E}"/>
              </a:ext>
            </a:extLst>
          </p:cNvPr>
          <p:cNvSpPr txBox="1"/>
          <p:nvPr/>
        </p:nvSpPr>
        <p:spPr>
          <a:xfrm>
            <a:off x="62992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CI security gate</a:t>
            </a:r>
          </a:p>
        </p:txBody>
      </p:sp>
      <p:sp>
        <p:nvSpPr>
          <p:cNvPr id="20" name="TextBox 19">
            <a:extLst>
              <a:ext uri="{FF2B5EF4-FFF2-40B4-BE49-F238E27FC236}">
                <a16:creationId xmlns:a16="http://schemas.microsoft.com/office/drawing/2014/main" id="{C14CF07F-3FCD-3BEA-A070-6CF85A2F0A8C}"/>
              </a:ext>
            </a:extLst>
          </p:cNvPr>
          <p:cNvSpPr txBox="1"/>
          <p:nvPr/>
        </p:nvSpPr>
        <p:spPr>
          <a:xfrm>
            <a:off x="62992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Checkov · Jenkins</a:t>
            </a:r>
          </a:p>
        </p:txBody>
      </p:sp>
      <p:sp>
        <p:nvSpPr>
          <p:cNvPr id="21" name="TextBox 20">
            <a:extLst>
              <a:ext uri="{FF2B5EF4-FFF2-40B4-BE49-F238E27FC236}">
                <a16:creationId xmlns:a16="http://schemas.microsoft.com/office/drawing/2014/main" id="{043255EA-B553-1C4F-5E05-D491920E7A99}"/>
              </a:ext>
            </a:extLst>
          </p:cNvPr>
          <p:cNvSpPr txBox="1"/>
          <p:nvPr/>
        </p:nvSpPr>
        <p:spPr>
          <a:xfrm>
            <a:off x="62992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Cloud misconfiguration, blocked before deploy</a:t>
            </a:r>
            <a:endParaRPr lang="en-IN" sz="1300">
              <a:solidFill>
                <a:srgbClr val="FFFFFF"/>
              </a:solidFill>
              <a:latin typeface="Calibri" panose="020F0502020204030204" pitchFamily="34" charset="0"/>
            </a:endParaRPr>
          </a:p>
        </p:txBody>
      </p:sp>
      <p:cxnSp>
        <p:nvCxnSpPr>
          <p:cNvPr id="22" name="Straight Connector 21">
            <a:extLst>
              <a:ext uri="{FF2B5EF4-FFF2-40B4-BE49-F238E27FC236}">
                <a16:creationId xmlns:a16="http://schemas.microsoft.com/office/drawing/2014/main" id="{44F462C7-97AA-361E-7816-71524878B02D}"/>
              </a:ext>
            </a:extLst>
          </p:cNvPr>
          <p:cNvCxnSpPr/>
          <p:nvPr/>
        </p:nvCxnSpPr>
        <p:spPr>
          <a:xfrm>
            <a:off x="59182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Rounded Corners 22">
            <a:extLst>
              <a:ext uri="{FF2B5EF4-FFF2-40B4-BE49-F238E27FC236}">
                <a16:creationId xmlns:a16="http://schemas.microsoft.com/office/drawing/2014/main" id="{B9C882EE-3A66-A911-224C-7E08B76FDF94}"/>
              </a:ext>
            </a:extLst>
          </p:cNvPr>
          <p:cNvSpPr/>
          <p:nvPr/>
        </p:nvSpPr>
        <p:spPr>
          <a:xfrm>
            <a:off x="81915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Oval 23">
            <a:extLst>
              <a:ext uri="{FF2B5EF4-FFF2-40B4-BE49-F238E27FC236}">
                <a16:creationId xmlns:a16="http://schemas.microsoft.com/office/drawing/2014/main" id="{ABEDDF0A-5AF1-5CFB-E610-D8FC43CEB1CA}"/>
              </a:ext>
            </a:extLst>
          </p:cNvPr>
          <p:cNvSpPr/>
          <p:nvPr/>
        </p:nvSpPr>
        <p:spPr>
          <a:xfrm>
            <a:off x="83693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3A97A7A4-A2D3-BDE2-DEAF-757F8D66E34D}"/>
              </a:ext>
            </a:extLst>
          </p:cNvPr>
          <p:cNvSpPr txBox="1"/>
          <p:nvPr/>
        </p:nvSpPr>
        <p:spPr>
          <a:xfrm>
            <a:off x="83693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Into the cloud</a:t>
            </a:r>
          </a:p>
        </p:txBody>
      </p:sp>
      <p:sp>
        <p:nvSpPr>
          <p:cNvPr id="26" name="TextBox 25">
            <a:extLst>
              <a:ext uri="{FF2B5EF4-FFF2-40B4-BE49-F238E27FC236}">
                <a16:creationId xmlns:a16="http://schemas.microsoft.com/office/drawing/2014/main" id="{96C0F9EE-A0E2-A1B1-69D0-0EA3E3D0239D}"/>
              </a:ext>
            </a:extLst>
          </p:cNvPr>
          <p:cNvSpPr txBox="1"/>
          <p:nvPr/>
        </p:nvSpPr>
        <p:spPr>
          <a:xfrm>
            <a:off x="83693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Terraform · AWS</a:t>
            </a:r>
          </a:p>
        </p:txBody>
      </p:sp>
      <p:sp>
        <p:nvSpPr>
          <p:cNvPr id="27" name="TextBox 26">
            <a:extLst>
              <a:ext uri="{FF2B5EF4-FFF2-40B4-BE49-F238E27FC236}">
                <a16:creationId xmlns:a16="http://schemas.microsoft.com/office/drawing/2014/main" id="{065963FC-DC21-48EA-1F08-FB4B09FAB910}"/>
              </a:ext>
            </a:extLst>
          </p:cNvPr>
          <p:cNvSpPr txBox="1"/>
          <p:nvPr/>
        </p:nvSpPr>
        <p:spPr>
          <a:xfrm>
            <a:off x="8369300" y="3835400"/>
            <a:ext cx="1524000" cy="369332"/>
          </a:xfrm>
          <a:prstGeom prst="rect">
            <a:avLst/>
          </a:prstGeom>
          <a:noFill/>
        </p:spPr>
        <p:txBody>
          <a:bodyPr vert="horz" wrap="square" lIns="0" tIns="0" rIns="0" bIns="0" rtlCol="0" anchor="t">
            <a:noAutofit/>
          </a:bodyPr>
          <a:lstStyle/>
          <a:p>
            <a:r>
              <a:rPr lang="en-IN" sz="1300">
                <a:solidFill>
                  <a:srgbClr val="FFFFFF"/>
                </a:solidFill>
                <a:latin typeface="Calibri" panose="020F0502020204030204" pitchFamily="34" charset="0"/>
              </a:rPr>
              <a:t>What happens after deploy</a:t>
            </a:r>
          </a:p>
        </p:txBody>
      </p:sp>
      <p:cxnSp>
        <p:nvCxnSpPr>
          <p:cNvPr id="28" name="Straight Connector 27">
            <a:extLst>
              <a:ext uri="{FF2B5EF4-FFF2-40B4-BE49-F238E27FC236}">
                <a16:creationId xmlns:a16="http://schemas.microsoft.com/office/drawing/2014/main" id="{D7699D34-8D5D-567E-8BF8-4C205D69C514}"/>
              </a:ext>
            </a:extLst>
          </p:cNvPr>
          <p:cNvCxnSpPr/>
          <p:nvPr/>
        </p:nvCxnSpPr>
        <p:spPr>
          <a:xfrm>
            <a:off x="79883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57475A00-AAF0-EFE6-2128-C26D9CB7074A}"/>
              </a:ext>
            </a:extLst>
          </p:cNvPr>
          <p:cNvSpPr/>
          <p:nvPr/>
        </p:nvSpPr>
        <p:spPr>
          <a:xfrm>
            <a:off x="10261600" y="2921000"/>
            <a:ext cx="1320800" cy="1016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Production</a:t>
            </a:r>
          </a:p>
          <a:p>
            <a:pPr algn="ctr"/>
            <a:r>
              <a:rPr lang="en-IN" sz="1400" b="1">
                <a:solidFill>
                  <a:srgbClr val="FFFFFF"/>
                </a:solidFill>
                <a:latin typeface="Calibri" panose="020F0502020204030204" pitchFamily="34" charset="0"/>
              </a:rPr>
              <a:t>cloud</a:t>
            </a:r>
          </a:p>
        </p:txBody>
      </p:sp>
      <p:cxnSp>
        <p:nvCxnSpPr>
          <p:cNvPr id="30" name="Straight Connector 29">
            <a:extLst>
              <a:ext uri="{FF2B5EF4-FFF2-40B4-BE49-F238E27FC236}">
                <a16:creationId xmlns:a16="http://schemas.microsoft.com/office/drawing/2014/main" id="{5D5D7560-77A7-0151-7CB3-4A853DD534D0}"/>
              </a:ext>
            </a:extLst>
          </p:cNvPr>
          <p:cNvCxnSpPr/>
          <p:nvPr/>
        </p:nvCxnSpPr>
        <p:spPr>
          <a:xfrm>
            <a:off x="100584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4A18BEDC-4FD1-ACB2-124E-BA692EA6DEF9}"/>
              </a:ext>
            </a:extLst>
          </p:cNvPr>
          <p:cNvSpPr txBox="1"/>
          <p:nvPr/>
        </p:nvSpPr>
        <p:spPr>
          <a:xfrm>
            <a:off x="609600" y="5232400"/>
            <a:ext cx="109728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Shift left: the earlier a problem is caught, the cheaper it is to fix.</a:t>
            </a:r>
            <a:endParaRPr lang="en-IN" sz="2000" b="1">
              <a:solidFill>
                <a:srgbClr val="13293D"/>
              </a:solidFill>
              <a:latin typeface="Calibri" panose="020F0502020204030204" pitchFamily="34" charset="0"/>
            </a:endParaRPr>
          </a:p>
        </p:txBody>
      </p:sp>
      <p:sp>
        <p:nvSpPr>
          <p:cNvPr id="32" name="TextBox 31">
            <a:extLst>
              <a:ext uri="{FF2B5EF4-FFF2-40B4-BE49-F238E27FC236}">
                <a16:creationId xmlns:a16="http://schemas.microsoft.com/office/drawing/2014/main" id="{4B8556A5-64C0-F991-E127-5EEA899B2238}"/>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3" name="TextBox 32">
            <a:extLst>
              <a:ext uri="{FF2B5EF4-FFF2-40B4-BE49-F238E27FC236}">
                <a16:creationId xmlns:a16="http://schemas.microsoft.com/office/drawing/2014/main" id="{6D85EE0C-0115-CBE3-C6A2-B62BD0719B84}"/>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9</a:t>
            </a:r>
          </a:p>
        </p:txBody>
      </p:sp>
    </p:spTree>
    <p:extLst>
      <p:ext uri="{BB962C8B-B14F-4D97-AF65-F5344CB8AC3E}">
        <p14:creationId xmlns:p14="http://schemas.microsoft.com/office/powerpoint/2010/main" val="1604658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F033E3F-312F-4624-A2D8-62816041949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Before you start: what you need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0921D70E-27D4-8C79-6DB0-8C7002D2EFD6}"/>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Docker and Git on your laptop, set up before the session. No cloud account needed.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C45093D3-3D29-34C9-8A91-48257BD2CB6A}"/>
              </a:ext>
            </a:extLst>
          </p:cNvPr>
          <p:cNvSpPr/>
          <p:nvPr/>
        </p:nvSpPr>
        <p:spPr>
          <a:xfrm>
            <a:off x="6096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7B84303-11E9-5A63-0645-60691679BFCC}"/>
              </a:ext>
            </a:extLst>
          </p:cNvPr>
          <p:cNvSpPr txBox="1"/>
          <p:nvPr/>
        </p:nvSpPr>
        <p:spPr>
          <a:xfrm>
            <a:off x="8636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Windows</a:t>
            </a:r>
          </a:p>
        </p:txBody>
      </p:sp>
      <p:sp>
        <p:nvSpPr>
          <p:cNvPr id="6" name="TextBox 5">
            <a:extLst>
              <a:ext uri="{FF2B5EF4-FFF2-40B4-BE49-F238E27FC236}">
                <a16:creationId xmlns:a16="http://schemas.microsoft.com/office/drawing/2014/main" id="{5F9274E3-D880-E93D-5272-B18B0EB4DC24}"/>
              </a:ext>
            </a:extLst>
          </p:cNvPr>
          <p:cNvSpPr txBox="1"/>
          <p:nvPr/>
        </p:nvSpPr>
        <p:spPr>
          <a:xfrm>
            <a:off x="8636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IN" sz="1500">
                <a:solidFill>
                  <a:srgbClr val="1E2A35"/>
                </a:solidFill>
                <a:latin typeface="Calibri" panose="020F0502020204030204" pitchFamily="34" charset="0"/>
              </a:rPr>
              <a:t>Docker Desktop</a:t>
            </a:r>
          </a:p>
          <a:p>
            <a:pPr marL="228600" indent="-228600">
              <a:spcAft>
                <a:spcPts val="1000"/>
              </a:spcAft>
              <a:buFont typeface="+mj-lt"/>
              <a:buChar char="•"/>
            </a:pPr>
            <a:r>
              <a:rPr lang="en-IN" sz="1500">
                <a:solidFill>
                  <a:srgbClr val="1E2A35"/>
                </a:solidFill>
                <a:latin typeface="Calibri" panose="020F0502020204030204" pitchFamily="34" charset="0"/>
              </a:rPr>
              <a:t>or Rancher Desktop / Podman Desktop</a:t>
            </a:r>
          </a:p>
          <a:p>
            <a:pPr marL="228600" indent="-228600">
              <a:spcAft>
                <a:spcPts val="1000"/>
              </a:spcAft>
              <a:buFont typeface="+mj-lt"/>
              <a:buChar char="•"/>
            </a:pPr>
            <a:r>
              <a:rPr lang="en-IN" sz="1500">
                <a:solidFill>
                  <a:srgbClr val="1E2A35"/>
                </a:solidFill>
                <a:latin typeface="Calibri" panose="020F0502020204030204" pitchFamily="34" charset="0"/>
              </a:rPr>
              <a:t>or WSL2 + Ubuntu + Docker Engine (my setup, no Docker Desktop licence needed)</a:t>
            </a:r>
          </a:p>
        </p:txBody>
      </p:sp>
      <p:sp>
        <p:nvSpPr>
          <p:cNvPr id="7" name="Rectangle: Rounded Corners 6">
            <a:extLst>
              <a:ext uri="{FF2B5EF4-FFF2-40B4-BE49-F238E27FC236}">
                <a16:creationId xmlns:a16="http://schemas.microsoft.com/office/drawing/2014/main" id="{0E12656B-492D-72F2-91CF-6C7193AC55BD}"/>
              </a:ext>
            </a:extLst>
          </p:cNvPr>
          <p:cNvSpPr/>
          <p:nvPr/>
        </p:nvSpPr>
        <p:spPr>
          <a:xfrm>
            <a:off x="43180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A532226-003D-E362-97A5-CB242960F91E}"/>
              </a:ext>
            </a:extLst>
          </p:cNvPr>
          <p:cNvSpPr txBox="1"/>
          <p:nvPr/>
        </p:nvSpPr>
        <p:spPr>
          <a:xfrm>
            <a:off x="45720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macOS</a:t>
            </a:r>
          </a:p>
        </p:txBody>
      </p:sp>
      <p:sp>
        <p:nvSpPr>
          <p:cNvPr id="9" name="TextBox 8">
            <a:extLst>
              <a:ext uri="{FF2B5EF4-FFF2-40B4-BE49-F238E27FC236}">
                <a16:creationId xmlns:a16="http://schemas.microsoft.com/office/drawing/2014/main" id="{7E8FD79D-AD45-8AF5-BC01-A9F8D3AB303B}"/>
              </a:ext>
            </a:extLst>
          </p:cNvPr>
          <p:cNvSpPr txBox="1"/>
          <p:nvPr/>
        </p:nvSpPr>
        <p:spPr>
          <a:xfrm>
            <a:off x="45720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Desktop</a:t>
            </a:r>
          </a:p>
          <a:p>
            <a:pPr marL="228600" indent="-228600">
              <a:spcAft>
                <a:spcPts val="1000"/>
              </a:spcAft>
              <a:buFont typeface="+mj-lt"/>
              <a:buChar char="•"/>
            </a:pPr>
            <a:r>
              <a:rPr lang="en-US" sz="1500">
                <a:solidFill>
                  <a:srgbClr val="1E2A35"/>
                </a:solidFill>
                <a:latin typeface="Calibri" panose="020F0502020204030204" pitchFamily="34" charset="0"/>
              </a:rPr>
              <a:t>or Rancher Desktop</a:t>
            </a:r>
          </a:p>
          <a:p>
            <a:pPr marL="228600" indent="-228600">
              <a:spcAft>
                <a:spcPts val="1000"/>
              </a:spcAft>
              <a:buFont typeface="+mj-lt"/>
              <a:buChar char="•"/>
            </a:pPr>
            <a:r>
              <a:rPr lang="en-US" sz="1500">
                <a:solidFill>
                  <a:srgbClr val="1E2A35"/>
                </a:solidFill>
                <a:latin typeface="Calibri" panose="020F0502020204030204" pitchFamily="34" charset="0"/>
              </a:rPr>
              <a:t>or Colima</a:t>
            </a:r>
            <a:endParaRPr lang="en-IN" sz="1500">
              <a:solidFill>
                <a:srgbClr val="1E2A35"/>
              </a:solidFill>
              <a:latin typeface="Calibri" panose="020F0502020204030204" pitchFamily="34" charset="0"/>
            </a:endParaRPr>
          </a:p>
        </p:txBody>
      </p:sp>
      <p:sp>
        <p:nvSpPr>
          <p:cNvPr id="10" name="Rectangle: Rounded Corners 9">
            <a:extLst>
              <a:ext uri="{FF2B5EF4-FFF2-40B4-BE49-F238E27FC236}">
                <a16:creationId xmlns:a16="http://schemas.microsoft.com/office/drawing/2014/main" id="{41AA73CE-BAC5-2081-5B8E-FD7C30B8A01E}"/>
              </a:ext>
            </a:extLst>
          </p:cNvPr>
          <p:cNvSpPr/>
          <p:nvPr/>
        </p:nvSpPr>
        <p:spPr>
          <a:xfrm>
            <a:off x="80264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C718499-0481-FD3F-E283-2A76128D9139}"/>
              </a:ext>
            </a:extLst>
          </p:cNvPr>
          <p:cNvSpPr txBox="1"/>
          <p:nvPr/>
        </p:nvSpPr>
        <p:spPr>
          <a:xfrm>
            <a:off x="82804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Linux</a:t>
            </a:r>
          </a:p>
        </p:txBody>
      </p:sp>
      <p:sp>
        <p:nvSpPr>
          <p:cNvPr id="12" name="TextBox 11">
            <a:extLst>
              <a:ext uri="{FF2B5EF4-FFF2-40B4-BE49-F238E27FC236}">
                <a16:creationId xmlns:a16="http://schemas.microsoft.com/office/drawing/2014/main" id="{618F42AC-A951-0BA5-44FF-FA48C422CC9E}"/>
              </a:ext>
            </a:extLst>
          </p:cNvPr>
          <p:cNvSpPr txBox="1"/>
          <p:nvPr/>
        </p:nvSpPr>
        <p:spPr>
          <a:xfrm>
            <a:off x="82804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Engine</a:t>
            </a:r>
          </a:p>
          <a:p>
            <a:pPr marL="228600" indent="-228600">
              <a:spcAft>
                <a:spcPts val="1000"/>
              </a:spcAft>
              <a:buFont typeface="+mj-lt"/>
              <a:buChar char="•"/>
            </a:pPr>
            <a:r>
              <a:rPr lang="en-US" sz="1500">
                <a:solidFill>
                  <a:srgbClr val="1E2A35"/>
                </a:solidFill>
                <a:latin typeface="Calibri" panose="020F0502020204030204" pitchFamily="34" charset="0"/>
              </a:rPr>
              <a:t>plus the Docker Compose plugin</a:t>
            </a:r>
            <a:endParaRPr lang="en-IN" sz="15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87785CC6-9314-6CFD-B8A7-E986786E3B81}"/>
              </a:ext>
            </a:extLst>
          </p:cNvPr>
          <p:cNvSpPr/>
          <p:nvPr/>
        </p:nvSpPr>
        <p:spPr>
          <a:xfrm>
            <a:off x="609600" y="4521200"/>
            <a:ext cx="10972800" cy="660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13293D"/>
                </a:solidFill>
                <a:latin typeface="Calibri" panose="020F0502020204030204" pitchFamily="34" charset="0"/>
              </a:rPr>
              <a:t>Everyone:  Git   ·   Docker   ·   about 400 MB download   ·   VS Code (optional)   ·   run verify, expect READY</a:t>
            </a:r>
            <a:endParaRPr lang="en-IN" sz="1500" b="1">
              <a:solidFill>
                <a:srgbClr val="13293D"/>
              </a:solidFill>
              <a:latin typeface="Calibri" panose="020F0502020204030204" pitchFamily="34" charset="0"/>
            </a:endParaRPr>
          </a:p>
        </p:txBody>
      </p:sp>
      <p:sp>
        <p:nvSpPr>
          <p:cNvPr id="14" name="TextBox 13">
            <a:extLst>
              <a:ext uri="{FF2B5EF4-FFF2-40B4-BE49-F238E27FC236}">
                <a16:creationId xmlns:a16="http://schemas.microsoft.com/office/drawing/2014/main" id="{FD979209-E7BF-4BE1-9C51-669D10D12C2D}"/>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Laptop can't run Docker, for example because of company restrictions? Pair with a neighbour: every lab works with two people at one screen.</a:t>
            </a:r>
            <a:endParaRPr lang="en-IN" sz="1500">
              <a:solidFill>
                <a:srgbClr val="5B6B79"/>
              </a:solidFill>
              <a:latin typeface="Calibri" panose="020F0502020204030204" pitchFamily="34" charset="0"/>
            </a:endParaRPr>
          </a:p>
        </p:txBody>
      </p:sp>
      <p:sp>
        <p:nvSpPr>
          <p:cNvPr id="15" name="TextBox 14">
            <a:extLst>
              <a:ext uri="{FF2B5EF4-FFF2-40B4-BE49-F238E27FC236}">
                <a16:creationId xmlns:a16="http://schemas.microsoft.com/office/drawing/2014/main" id="{5BF0303F-913F-7DB9-1CF4-96F8CEAB7C69}"/>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5CA5538E-80F6-BB78-F504-3EB550D2405E}"/>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10</a:t>
            </a:r>
          </a:p>
        </p:txBody>
      </p:sp>
    </p:spTree>
    <p:extLst>
      <p:ext uri="{BB962C8B-B14F-4D97-AF65-F5344CB8AC3E}">
        <p14:creationId xmlns:p14="http://schemas.microsoft.com/office/powerpoint/2010/main" val="12025143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FA07CA-E740-EEE4-DF15-64D29D291BE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Get the lab kit</a:t>
            </a:r>
          </a:p>
        </p:txBody>
      </p:sp>
      <p:sp>
        <p:nvSpPr>
          <p:cNvPr id="3" name="TextBox 2">
            <a:extLst>
              <a:ext uri="{FF2B5EF4-FFF2-40B4-BE49-F238E27FC236}">
                <a16:creationId xmlns:a16="http://schemas.microsoft.com/office/drawing/2014/main" id="{60D4F011-CA52-CC13-3561-A67077408542}"/>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Clone the repo and build the toolbox once, before the session (about 400 MB to download)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13C447AE-DFBB-54A8-6C0C-8A4DC850C3E4}"/>
              </a:ext>
            </a:extLst>
          </p:cNvPr>
          <p:cNvSpPr/>
          <p:nvPr/>
        </p:nvSpPr>
        <p:spPr>
          <a:xfrm>
            <a:off x="609600" y="1524000"/>
            <a:ext cx="7112000" cy="146685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5BD0D72-2745-0D66-2378-A9631AC8670F}"/>
              </a:ext>
            </a:extLst>
          </p:cNvPr>
          <p:cNvSpPr txBox="1"/>
          <p:nvPr/>
        </p:nvSpPr>
        <p:spPr>
          <a:xfrm>
            <a:off x="863600" y="1701800"/>
            <a:ext cx="6604000" cy="369332"/>
          </a:xfrm>
          <a:prstGeom prst="rect">
            <a:avLst/>
          </a:prstGeom>
          <a:noFill/>
        </p:spPr>
        <p:txBody>
          <a:bodyPr vert="horz" wrap="square" lIns="0" tIns="0" rIns="0" bIns="0" rtlCol="0" anchor="t">
            <a:noAutofit/>
          </a:bodyPr>
          <a:lstStyle/>
          <a:p>
            <a:r>
              <a:rPr lang="en-US" sz="1400">
                <a:solidFill>
                  <a:srgbClr val="FFFFFF"/>
                </a:solidFill>
                <a:latin typeface="Consolas" panose="020B0609020204030204" pitchFamily="49" charset="0"/>
              </a:rPr>
              <a:t>git clone https://github.com/PrathameshChopade/MIT-Cloud-Demo.git</a:t>
            </a:r>
          </a:p>
          <a:p>
            <a:r>
              <a:rPr lang="en-US" sz="1400">
                <a:solidFill>
                  <a:srgbClr val="FFFFFF"/>
                </a:solidFill>
                <a:latin typeface="Consolas" panose="020B0609020204030204" pitchFamily="49" charset="0"/>
              </a:rPr>
              <a:t>cd MIT-Cloud-Demo</a:t>
            </a:r>
          </a:p>
          <a:p>
            <a:r>
              <a:rPr lang="en-US" sz="1400">
                <a:solidFill>
                  <a:srgbClr val="FFFFFF"/>
                </a:solidFill>
                <a:latin typeface="Consolas" panose="020B0609020204030204" pitchFamily="49" charset="0"/>
              </a:rPr>
              <a:t>docker compose build       </a:t>
            </a:r>
            <a:r>
              <a:rPr lang="en-US" sz="1400">
                <a:solidFill>
                  <a:srgbClr val="8FD3C9"/>
                </a:solidFill>
                <a:latin typeface="Consolas" panose="020B0609020204030204" pitchFamily="49" charset="0"/>
              </a:rPr>
              <a:t>   # once, about 400 MB</a:t>
            </a:r>
          </a:p>
          <a:p>
            <a:r>
              <a:rPr lang="en-US" sz="1400">
                <a:solidFill>
                  <a:srgbClr val="FFFFFF"/>
                </a:solidFill>
                <a:latin typeface="Consolas" panose="020B0609020204030204" pitchFamily="49" charset="0"/>
              </a:rPr>
              <a:t>bash verify.sh             </a:t>
            </a:r>
            <a:r>
              <a:rPr lang="en-US" sz="1400">
                <a:solidFill>
                  <a:srgbClr val="8FD3C9"/>
                </a:solidFill>
                <a:latin typeface="Consolas" panose="020B0609020204030204" pitchFamily="49" charset="0"/>
              </a:rPr>
              <a:t>   # expect: READY</a:t>
            </a:r>
          </a:p>
          <a:p>
            <a:r>
              <a:rPr lang="en-US" sz="1400">
                <a:solidFill>
                  <a:srgbClr val="8FD3C9"/>
                </a:solidFill>
                <a:latin typeface="Consolas" panose="020B0609020204030204" pitchFamily="49" charset="0"/>
              </a:rPr>
              <a:t># Windows PowerShell: .\verify.ps1</a:t>
            </a:r>
            <a:endParaRPr lang="en-IN" sz="1400">
              <a:solidFill>
                <a:srgbClr val="8FD3C9"/>
              </a:solidFill>
              <a:latin typeface="Consolas" panose="020B0609020204030204" pitchFamily="49" charset="0"/>
            </a:endParaRPr>
          </a:p>
        </p:txBody>
      </p:sp>
      <p:sp>
        <p:nvSpPr>
          <p:cNvPr id="6" name="TextBox 5">
            <a:extLst>
              <a:ext uri="{FF2B5EF4-FFF2-40B4-BE49-F238E27FC236}">
                <a16:creationId xmlns:a16="http://schemas.microsoft.com/office/drawing/2014/main" id="{B38D0F2C-23D7-C32B-2175-16808DB25AD6}"/>
              </a:ext>
            </a:extLst>
          </p:cNvPr>
          <p:cNvSpPr txBox="1"/>
          <p:nvPr/>
        </p:nvSpPr>
        <p:spPr>
          <a:xfrm>
            <a:off x="609600" y="3244850"/>
            <a:ext cx="71120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Start with README.md in the repo. Each lab has its own README.md with every step, the command to run and the result to expect.</a:t>
            </a:r>
            <a:endParaRPr lang="en-IN" sz="1600">
              <a:solidFill>
                <a:srgbClr val="1E2A35"/>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05EE6315-93DF-0506-12A0-BD7CCD97368F}"/>
              </a:ext>
            </a:extLst>
          </p:cNvPr>
          <p:cNvSpPr/>
          <p:nvPr/>
        </p:nvSpPr>
        <p:spPr>
          <a:xfrm>
            <a:off x="8128000" y="1422400"/>
            <a:ext cx="3454400" cy="3810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9" name="Picture 8">
            <a:extLst>
              <a:ext uri="{FF2B5EF4-FFF2-40B4-BE49-F238E27FC236}">
                <a16:creationId xmlns:a16="http://schemas.microsoft.com/office/drawing/2014/main" id="{A4ECB018-67F2-7265-D2FE-B7A40B7377A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458200" y="1625600"/>
            <a:ext cx="2794000" cy="2794000"/>
          </a:xfrm>
          <a:prstGeom prst="rect">
            <a:avLst/>
          </a:prstGeom>
        </p:spPr>
      </p:pic>
      <p:sp>
        <p:nvSpPr>
          <p:cNvPr id="10" name="TextBox 9">
            <a:extLst>
              <a:ext uri="{FF2B5EF4-FFF2-40B4-BE49-F238E27FC236}">
                <a16:creationId xmlns:a16="http://schemas.microsoft.com/office/drawing/2014/main" id="{52403B64-F636-1E7E-6D8B-667C387488FE}"/>
              </a:ext>
            </a:extLst>
          </p:cNvPr>
          <p:cNvSpPr txBox="1"/>
          <p:nvPr/>
        </p:nvSpPr>
        <p:spPr>
          <a:xfrm>
            <a:off x="8128000" y="4572000"/>
            <a:ext cx="3454400" cy="369332"/>
          </a:xfrm>
          <a:prstGeom prst="rect">
            <a:avLst/>
          </a:prstGeom>
          <a:noFill/>
        </p:spPr>
        <p:txBody>
          <a:bodyPr vert="horz" wrap="square" lIns="0" tIns="0" rIns="0" bIns="0" rtlCol="0" anchor="t">
            <a:noAutofit/>
          </a:bodyPr>
          <a:lstStyle/>
          <a:p>
            <a:pPr algn="ctr"/>
            <a:r>
              <a:rPr lang="en-US" sz="1400" b="1">
                <a:solidFill>
                  <a:srgbClr val="13293D"/>
                </a:solidFill>
                <a:latin typeface="Calibri" panose="020F0502020204030204" pitchFamily="34" charset="0"/>
              </a:rPr>
              <a:t>Scan to open the repo</a:t>
            </a:r>
            <a:endParaRPr lang="en-IN" sz="1400" b="1">
              <a:solidFill>
                <a:srgbClr val="13293D"/>
              </a:solidFill>
              <a:latin typeface="Calibri" panose="020F0502020204030204" pitchFamily="34" charset="0"/>
            </a:endParaRPr>
          </a:p>
        </p:txBody>
      </p:sp>
      <p:sp>
        <p:nvSpPr>
          <p:cNvPr id="11" name="TextBox 10">
            <a:extLst>
              <a:ext uri="{FF2B5EF4-FFF2-40B4-BE49-F238E27FC236}">
                <a16:creationId xmlns:a16="http://schemas.microsoft.com/office/drawing/2014/main" id="{DBDB9AA8-17D9-2316-4C4B-B032F6714615}"/>
              </a:ext>
            </a:extLst>
          </p:cNvPr>
          <p:cNvSpPr txBox="1"/>
          <p:nvPr/>
        </p:nvSpPr>
        <p:spPr>
          <a:xfrm>
            <a:off x="8128000" y="4851400"/>
            <a:ext cx="3454400" cy="369332"/>
          </a:xfrm>
          <a:prstGeom prst="rect">
            <a:avLst/>
          </a:prstGeom>
          <a:noFill/>
        </p:spPr>
        <p:txBody>
          <a:bodyPr vert="horz" wrap="square" lIns="0" tIns="0" rIns="0" bIns="0" rtlCol="0" anchor="t">
            <a:noAutofit/>
          </a:bodyPr>
          <a:lstStyle/>
          <a:p>
            <a:pPr algn="ctr"/>
            <a:r>
              <a:rPr lang="en-IN" sz="1100" b="1">
                <a:solidFill>
                  <a:srgbClr val="1B998B"/>
                </a:solidFill>
                <a:latin typeface="Calibri" panose="020F0502020204030204" pitchFamily="34" charset="0"/>
              </a:rPr>
              <a:t>github.com/PrathameshChopade/MIT-Cloud-Demo</a:t>
            </a:r>
          </a:p>
        </p:txBody>
      </p:sp>
      <p:sp>
        <p:nvSpPr>
          <p:cNvPr id="12" name="TextBox 11">
            <a:extLst>
              <a:ext uri="{FF2B5EF4-FFF2-40B4-BE49-F238E27FC236}">
                <a16:creationId xmlns:a16="http://schemas.microsoft.com/office/drawing/2014/main" id="{706F1721-FDA0-CAD5-D669-DBE792DDDC5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3" name="TextBox 12">
            <a:extLst>
              <a:ext uri="{FF2B5EF4-FFF2-40B4-BE49-F238E27FC236}">
                <a16:creationId xmlns:a16="http://schemas.microsoft.com/office/drawing/2014/main" id="{DC72668D-4798-1747-B57D-57AA4A2E6C1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11</a:t>
            </a:r>
          </a:p>
        </p:txBody>
      </p:sp>
    </p:spTree>
    <p:extLst>
      <p:ext uri="{BB962C8B-B14F-4D97-AF65-F5344CB8AC3E}">
        <p14:creationId xmlns:p14="http://schemas.microsoft.com/office/powerpoint/2010/main" val="4065032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9FD9C2-EC0E-0C5D-9020-28967742E3B4}"/>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My setup: Windows + WSL2 + Docker</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DE4D6F4E-A700-CE54-62D6-3680822B4CA9}"/>
              </a:ext>
            </a:extLst>
          </p:cNvPr>
          <p:cNvSpPr/>
          <p:nvPr/>
        </p:nvSpPr>
        <p:spPr>
          <a:xfrm>
            <a:off x="609600" y="1320800"/>
            <a:ext cx="4826000" cy="685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Windows 11: VS Code, browser, PowerPoint</a:t>
            </a:r>
            <a:endParaRPr lang="en-IN" sz="1500" b="1">
              <a:solidFill>
                <a:srgbClr val="13293D"/>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516447D2-2C01-1C48-9F3D-98708F4463ED}"/>
              </a:ext>
            </a:extLst>
          </p:cNvPr>
          <p:cNvSpPr/>
          <p:nvPr/>
        </p:nvSpPr>
        <p:spPr>
          <a:xfrm>
            <a:off x="609600" y="21082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WSL2: a lightweight Linux virtual machine</a:t>
            </a:r>
            <a:endParaRPr lang="en-IN" sz="1500" b="1">
              <a:solidFill>
                <a:srgbClr val="13293D"/>
              </a:solidFill>
              <a:latin typeface="Calibri" panose="020F0502020204030204" pitchFamily="34" charset="0"/>
            </a:endParaRPr>
          </a:p>
        </p:txBody>
      </p:sp>
      <p:sp>
        <p:nvSpPr>
          <p:cNvPr id="5" name="Rectangle: Rounded Corners 4">
            <a:extLst>
              <a:ext uri="{FF2B5EF4-FFF2-40B4-BE49-F238E27FC236}">
                <a16:creationId xmlns:a16="http://schemas.microsoft.com/office/drawing/2014/main" id="{74946D9F-8571-9CDC-6AC7-AC7AE020C90E}"/>
              </a:ext>
            </a:extLst>
          </p:cNvPr>
          <p:cNvSpPr/>
          <p:nvPr/>
        </p:nvSpPr>
        <p:spPr>
          <a:xfrm>
            <a:off x="609600" y="28956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3293D"/>
                </a:solidFill>
                <a:latin typeface="Calibri" panose="020F0502020204030204" pitchFamily="34" charset="0"/>
              </a:rPr>
              <a:t>Ubuntu 24.04</a:t>
            </a:r>
          </a:p>
        </p:txBody>
      </p:sp>
      <p:sp>
        <p:nvSpPr>
          <p:cNvPr id="6" name="Rectangle: Rounded Corners 5">
            <a:extLst>
              <a:ext uri="{FF2B5EF4-FFF2-40B4-BE49-F238E27FC236}">
                <a16:creationId xmlns:a16="http://schemas.microsoft.com/office/drawing/2014/main" id="{0E574659-C6B9-AAFA-1350-BF43678B8398}"/>
              </a:ext>
            </a:extLst>
          </p:cNvPr>
          <p:cNvSpPr/>
          <p:nvPr/>
        </p:nvSpPr>
        <p:spPr>
          <a:xfrm>
            <a:off x="609600" y="3683000"/>
            <a:ext cx="4826000" cy="6858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Docker Engine + Compose plugin</a:t>
            </a:r>
          </a:p>
        </p:txBody>
      </p:sp>
      <p:sp>
        <p:nvSpPr>
          <p:cNvPr id="7" name="Rectangle: Rounded Corners 6">
            <a:extLst>
              <a:ext uri="{FF2B5EF4-FFF2-40B4-BE49-F238E27FC236}">
                <a16:creationId xmlns:a16="http://schemas.microsoft.com/office/drawing/2014/main" id="{D45DF03D-1CDF-9EC2-3C26-808E63AA3DEB}"/>
              </a:ext>
            </a:extLst>
          </p:cNvPr>
          <p:cNvSpPr/>
          <p:nvPr/>
        </p:nvSpPr>
        <p:spPr>
          <a:xfrm>
            <a:off x="609600" y="4470400"/>
            <a:ext cx="4826000" cy="6858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Containers: toolbox, SonarQube, Jenkins</a:t>
            </a:r>
          </a:p>
        </p:txBody>
      </p:sp>
      <p:sp>
        <p:nvSpPr>
          <p:cNvPr id="8" name="Rectangle: Rounded Corners 7">
            <a:extLst>
              <a:ext uri="{FF2B5EF4-FFF2-40B4-BE49-F238E27FC236}">
                <a16:creationId xmlns:a16="http://schemas.microsoft.com/office/drawing/2014/main" id="{F8230C4C-4E47-5A46-1996-0226705EA38F}"/>
              </a:ext>
            </a:extLst>
          </p:cNvPr>
          <p:cNvSpPr/>
          <p:nvPr/>
        </p:nvSpPr>
        <p:spPr>
          <a:xfrm>
            <a:off x="5740400" y="1320800"/>
            <a:ext cx="5842000" cy="2260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5D70C4EA-BF1F-BDC0-E719-2DCA60B9732D}"/>
              </a:ext>
            </a:extLst>
          </p:cNvPr>
          <p:cNvSpPr txBox="1"/>
          <p:nvPr/>
        </p:nvSpPr>
        <p:spPr>
          <a:xfrm>
            <a:off x="5994400" y="1498600"/>
            <a:ext cx="5334000" cy="369332"/>
          </a:xfrm>
          <a:prstGeom prst="rect">
            <a:avLst/>
          </a:prstGeom>
          <a:noFill/>
        </p:spPr>
        <p:txBody>
          <a:bodyPr vert="horz" wrap="square" lIns="0" tIns="0" rIns="0" bIns="0" rtlCol="0" anchor="t">
            <a:noAutofit/>
          </a:bodyPr>
          <a:lstStyle/>
          <a:p>
            <a:r>
              <a:rPr lang="en-IN" sz="1200">
                <a:solidFill>
                  <a:srgbClr val="8FD3C9"/>
                </a:solidFill>
                <a:latin typeface="Consolas" panose="020B0609020204030204" pitchFamily="49" charset="0"/>
              </a:rPr>
              <a:t># PowerShell, once</a:t>
            </a:r>
          </a:p>
          <a:p>
            <a:r>
              <a:rPr lang="en-IN" sz="1200">
                <a:solidFill>
                  <a:srgbClr val="FFFFFF"/>
                </a:solidFill>
                <a:latin typeface="Consolas" panose="020B0609020204030204" pitchFamily="49" charset="0"/>
              </a:rPr>
              <a:t>wsl --install -d Ubuntu-24.04</a:t>
            </a:r>
          </a:p>
          <a:p>
            <a:r>
              <a:rPr lang="en-IN" sz="1200">
                <a:solidFill>
                  <a:srgbClr val="8FD3C9"/>
                </a:solidFill>
                <a:latin typeface="Consolas" panose="020B0609020204030204" pitchFamily="49" charset="0"/>
              </a:rPr>
              <a:t># Ubuntu: install Docker Engine (docs.docker.com/engine/install)</a:t>
            </a:r>
          </a:p>
          <a:p>
            <a:r>
              <a:rPr lang="en-IN" sz="1200">
                <a:solidFill>
                  <a:srgbClr val="FFFFFF"/>
                </a:solidFill>
                <a:latin typeface="Consolas" panose="020B0609020204030204" pitchFamily="49" charset="0"/>
              </a:rPr>
              <a:t>sudo usermod -aG docker $USER</a:t>
            </a:r>
          </a:p>
          <a:p>
            <a:r>
              <a:rPr lang="en-IN" sz="1200">
                <a:solidFill>
                  <a:srgbClr val="8FD3C9"/>
                </a:solidFill>
                <a:latin typeface="Consolas" panose="020B0609020204030204" pitchFamily="49" charset="0"/>
              </a:rPr>
              <a:t># Ubuntu: get the repo, build, check</a:t>
            </a:r>
          </a:p>
          <a:p>
            <a:r>
              <a:rPr lang="en-IN" sz="1200">
                <a:solidFill>
                  <a:srgbClr val="FFFFFF"/>
                </a:solidFill>
                <a:latin typeface="Consolas" panose="020B0609020204030204" pitchFamily="49" charset="0"/>
              </a:rPr>
              <a:t>cd /mnt/c/Users/&lt;you&gt;/Desktop</a:t>
            </a:r>
          </a:p>
          <a:p>
            <a:r>
              <a:rPr lang="en-IN" sz="1200">
                <a:solidFill>
                  <a:srgbClr val="FFFFFF"/>
                </a:solidFill>
                <a:latin typeface="Consolas" panose="020B0609020204030204" pitchFamily="49" charset="0"/>
              </a:rPr>
              <a:t>git clone https://github.com/PrathameshChopade/MIT-Cloud-Demo.git</a:t>
            </a:r>
          </a:p>
          <a:p>
            <a:r>
              <a:rPr lang="en-IN" sz="1200">
                <a:solidFill>
                  <a:srgbClr val="FFFFFF"/>
                </a:solidFill>
                <a:latin typeface="Consolas" panose="020B0609020204030204" pitchFamily="49" charset="0"/>
              </a:rPr>
              <a:t>cd MIT-Cloud-Demo</a:t>
            </a:r>
          </a:p>
          <a:p>
            <a:r>
              <a:rPr lang="en-IN" sz="1200">
                <a:solidFill>
                  <a:srgbClr val="FFFFFF"/>
                </a:solidFill>
                <a:latin typeface="Consolas" panose="020B0609020204030204" pitchFamily="49" charset="0"/>
              </a:rPr>
              <a:t>docker compose build</a:t>
            </a:r>
          </a:p>
          <a:p>
            <a:r>
              <a:rPr lang="en-IN" sz="1200">
                <a:solidFill>
                  <a:srgbClr val="FFFFFF"/>
                </a:solidFill>
                <a:latin typeface="Consolas" panose="020B0609020204030204" pitchFamily="49" charset="0"/>
              </a:rPr>
              <a:t>bash verify.sh</a:t>
            </a:r>
            <a:r>
              <a:rPr lang="en-IN" sz="1200">
                <a:solidFill>
                  <a:srgbClr val="8FD3C9"/>
                </a:solidFill>
                <a:latin typeface="Consolas" panose="020B0609020204030204" pitchFamily="49" charset="0"/>
              </a:rPr>
              <a:t>   # expect: READY</a:t>
            </a:r>
          </a:p>
        </p:txBody>
      </p:sp>
      <p:sp>
        <p:nvSpPr>
          <p:cNvPr id="10" name="TextBox 9">
            <a:extLst>
              <a:ext uri="{FF2B5EF4-FFF2-40B4-BE49-F238E27FC236}">
                <a16:creationId xmlns:a16="http://schemas.microsoft.com/office/drawing/2014/main" id="{3606BC54-0B29-0493-7E71-56CDE26BFD48}"/>
              </a:ext>
            </a:extLst>
          </p:cNvPr>
          <p:cNvSpPr txBox="1"/>
          <p:nvPr/>
        </p:nvSpPr>
        <p:spPr>
          <a:xfrm>
            <a:off x="5740400" y="3835400"/>
            <a:ext cx="5842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Cloning onto the Windows drive (/mnt/c) lets VS Code on Windows show the lab files while the tools run in Ubuntu.</a:t>
            </a:r>
            <a:endParaRPr lang="en-IN" sz="1500">
              <a:solidFill>
                <a:srgbClr val="1E2A35"/>
              </a:solidFill>
              <a:latin typeface="Calibri" panose="020F0502020204030204" pitchFamily="34" charset="0"/>
            </a:endParaRPr>
          </a:p>
        </p:txBody>
      </p:sp>
      <p:sp>
        <p:nvSpPr>
          <p:cNvPr id="11" name="TextBox 10">
            <a:extLst>
              <a:ext uri="{FF2B5EF4-FFF2-40B4-BE49-F238E27FC236}">
                <a16:creationId xmlns:a16="http://schemas.microsoft.com/office/drawing/2014/main" id="{6C0E12FF-A3E6-7517-DDE5-16908E3B0CC6}"/>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2" name="TextBox 11">
            <a:extLst>
              <a:ext uri="{FF2B5EF4-FFF2-40B4-BE49-F238E27FC236}">
                <a16:creationId xmlns:a16="http://schemas.microsoft.com/office/drawing/2014/main" id="{927F9F75-4908-3511-73EB-5C25F55F027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12</a:t>
            </a:r>
          </a:p>
        </p:txBody>
      </p:sp>
    </p:spTree>
    <p:extLst>
      <p:ext uri="{BB962C8B-B14F-4D97-AF65-F5344CB8AC3E}">
        <p14:creationId xmlns:p14="http://schemas.microsoft.com/office/powerpoint/2010/main" val="32505970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05B408E-F5FA-7A15-743D-B55A80E53ED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How the labs work</a:t>
            </a:r>
          </a:p>
        </p:txBody>
      </p:sp>
      <p:sp>
        <p:nvSpPr>
          <p:cNvPr id="3" name="Rectangle: Rounded Corners 2">
            <a:extLst>
              <a:ext uri="{FF2B5EF4-FFF2-40B4-BE49-F238E27FC236}">
                <a16:creationId xmlns:a16="http://schemas.microsoft.com/office/drawing/2014/main" id="{39039B07-87BB-126D-0BFF-203C17F3F69B}"/>
              </a:ext>
            </a:extLst>
          </p:cNvPr>
          <p:cNvSpPr/>
          <p:nvPr/>
        </p:nvSpPr>
        <p:spPr>
          <a:xfrm>
            <a:off x="609600" y="1473200"/>
            <a:ext cx="5207000" cy="1397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14A69E65-DB87-12FC-4E44-14C08211BC1A}"/>
              </a:ext>
            </a:extLst>
          </p:cNvPr>
          <p:cNvSpPr txBox="1"/>
          <p:nvPr/>
        </p:nvSpPr>
        <p:spPr>
          <a:xfrm>
            <a:off x="914400" y="1676400"/>
            <a:ext cx="4572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START THE TOOLBOX</a:t>
            </a:r>
          </a:p>
        </p:txBody>
      </p:sp>
      <p:sp>
        <p:nvSpPr>
          <p:cNvPr id="5" name="TextBox 4">
            <a:extLst>
              <a:ext uri="{FF2B5EF4-FFF2-40B4-BE49-F238E27FC236}">
                <a16:creationId xmlns:a16="http://schemas.microsoft.com/office/drawing/2014/main" id="{5C5816F0-55C7-6811-0A9D-D897D446E554}"/>
              </a:ext>
            </a:extLst>
          </p:cNvPr>
          <p:cNvSpPr txBox="1"/>
          <p:nvPr/>
        </p:nvSpPr>
        <p:spPr>
          <a:xfrm>
            <a:off x="914400" y="2006600"/>
            <a:ext cx="4699000" cy="369332"/>
          </a:xfrm>
          <a:prstGeom prst="rect">
            <a:avLst/>
          </a:prstGeom>
          <a:noFill/>
        </p:spPr>
        <p:txBody>
          <a:bodyPr vert="horz" wrap="square" lIns="0" tIns="0" rIns="0" bIns="0" rtlCol="0" anchor="t">
            <a:noAutofit/>
          </a:bodyPr>
          <a:lstStyle/>
          <a:p>
            <a:r>
              <a:rPr lang="en-US" sz="1600">
                <a:solidFill>
                  <a:srgbClr val="FFFFFF"/>
                </a:solidFill>
                <a:latin typeface="Consolas" panose="020B0609020204030204" pitchFamily="49" charset="0"/>
              </a:rPr>
              <a:t>cd MIT-Cloud-Demo</a:t>
            </a:r>
          </a:p>
          <a:p>
            <a:r>
              <a:rPr lang="en-US" sz="1600">
                <a:solidFill>
                  <a:srgbClr val="FFFFFF"/>
                </a:solidFill>
                <a:latin typeface="Consolas" panose="020B0609020204030204" pitchFamily="49" charset="0"/>
              </a:rPr>
              <a:t>docker compose run --rm toolbox</a:t>
            </a:r>
            <a:endParaRPr lang="en-IN" sz="1600">
              <a:solidFill>
                <a:srgbClr val="FFFFFF"/>
              </a:solidFill>
              <a:latin typeface="Consolas" panose="020B0609020204030204" pitchFamily="49" charset="0"/>
            </a:endParaRPr>
          </a:p>
        </p:txBody>
      </p:sp>
      <p:sp>
        <p:nvSpPr>
          <p:cNvPr id="6" name="TextBox 5">
            <a:extLst>
              <a:ext uri="{FF2B5EF4-FFF2-40B4-BE49-F238E27FC236}">
                <a16:creationId xmlns:a16="http://schemas.microsoft.com/office/drawing/2014/main" id="{AF9AB882-581F-11EF-C2E9-17963E285065}"/>
              </a:ext>
            </a:extLst>
          </p:cNvPr>
          <p:cNvSpPr txBox="1"/>
          <p:nvPr/>
        </p:nvSpPr>
        <p:spPr>
          <a:xfrm>
            <a:off x="609600" y="30988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One container with every tool you need: git, gitleaks and Checkov. Nothing else to install.</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BF7E6F8F-FC9E-86BF-E6C5-8298E31C9E50}"/>
              </a:ext>
            </a:extLst>
          </p:cNvPr>
          <p:cNvSpPr txBox="1"/>
          <p:nvPr/>
        </p:nvSpPr>
        <p:spPr>
          <a:xfrm>
            <a:off x="609600" y="38100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It opens in the repo folder, so every path matches the repo. Follow along in VS Code; one git command resets it all.</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383142CF-9422-2799-5508-0B317245F177}"/>
              </a:ext>
            </a:extLst>
          </p:cNvPr>
          <p:cNvSpPr txBox="1"/>
          <p:nvPr/>
        </p:nvSpPr>
        <p:spPr>
          <a:xfrm>
            <a:off x="609600" y="4521200"/>
            <a:ext cx="52070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Each lab's README.md has every step: open it in VS Code and follow along.</a:t>
            </a:r>
            <a:endParaRPr lang="en-IN" sz="1500" b="1">
              <a:solidFill>
                <a:srgbClr val="E4572E"/>
              </a:solidFill>
              <a:latin typeface="Calibri" panose="020F0502020204030204" pitchFamily="34" charset="0"/>
            </a:endParaRPr>
          </a:p>
        </p:txBody>
      </p:sp>
      <p:sp>
        <p:nvSpPr>
          <p:cNvPr id="9" name="Oval 8">
            <a:extLst>
              <a:ext uri="{FF2B5EF4-FFF2-40B4-BE49-F238E27FC236}">
                <a16:creationId xmlns:a16="http://schemas.microsoft.com/office/drawing/2014/main" id="{C7448A54-087E-7188-481D-719D293B4715}"/>
              </a:ext>
            </a:extLst>
          </p:cNvPr>
          <p:cNvSpPr/>
          <p:nvPr/>
        </p:nvSpPr>
        <p:spPr>
          <a:xfrm>
            <a:off x="6502400" y="14732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10" name="TextBox 9">
            <a:extLst>
              <a:ext uri="{FF2B5EF4-FFF2-40B4-BE49-F238E27FC236}">
                <a16:creationId xmlns:a16="http://schemas.microsoft.com/office/drawing/2014/main" id="{BF3C1493-ACE5-9E95-FE52-6CA7B05DA208}"/>
              </a:ext>
            </a:extLst>
          </p:cNvPr>
          <p:cNvSpPr txBox="1"/>
          <p:nvPr/>
        </p:nvSpPr>
        <p:spPr>
          <a:xfrm>
            <a:off x="7340600" y="14986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See</a:t>
            </a:r>
          </a:p>
        </p:txBody>
      </p:sp>
      <p:sp>
        <p:nvSpPr>
          <p:cNvPr id="11" name="TextBox 10">
            <a:extLst>
              <a:ext uri="{FF2B5EF4-FFF2-40B4-BE49-F238E27FC236}">
                <a16:creationId xmlns:a16="http://schemas.microsoft.com/office/drawing/2014/main" id="{505D44B2-3ACC-9030-C074-31683B54001B}"/>
              </a:ext>
            </a:extLst>
          </p:cNvPr>
          <p:cNvSpPr txBox="1"/>
          <p:nvPr/>
        </p:nvSpPr>
        <p:spPr>
          <a:xfrm>
            <a:off x="7340600" y="18288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Each lab starts from deliberately insecure files.</a:t>
            </a:r>
            <a:endParaRPr lang="en-IN" sz="15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A8170322-E918-E68B-7F46-B2E382FEA4AA}"/>
              </a:ext>
            </a:extLst>
          </p:cNvPr>
          <p:cNvSpPr/>
          <p:nvPr/>
        </p:nvSpPr>
        <p:spPr>
          <a:xfrm>
            <a:off x="6502400" y="24638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5376EE95-3BFD-8F4A-96DF-B4C6E17C15ED}"/>
              </a:ext>
            </a:extLst>
          </p:cNvPr>
          <p:cNvSpPr txBox="1"/>
          <p:nvPr/>
        </p:nvSpPr>
        <p:spPr>
          <a:xfrm>
            <a:off x="7340600" y="24892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Catch</a:t>
            </a:r>
          </a:p>
        </p:txBody>
      </p:sp>
      <p:sp>
        <p:nvSpPr>
          <p:cNvPr id="14" name="TextBox 13">
            <a:extLst>
              <a:ext uri="{FF2B5EF4-FFF2-40B4-BE49-F238E27FC236}">
                <a16:creationId xmlns:a16="http://schemas.microsoft.com/office/drawing/2014/main" id="{6573ABA6-D944-1AB7-05EA-419A3BDEBC3E}"/>
              </a:ext>
            </a:extLst>
          </p:cNvPr>
          <p:cNvSpPr txBox="1"/>
          <p:nvPr/>
        </p:nvSpPr>
        <p:spPr>
          <a:xfrm>
            <a:off x="7340600" y="28194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Run a free, open-source scanner.</a:t>
            </a:r>
            <a:endParaRPr lang="en-IN" sz="1500">
              <a:solidFill>
                <a:srgbClr val="1E2A35"/>
              </a:solidFill>
              <a:latin typeface="Calibri" panose="020F0502020204030204" pitchFamily="34" charset="0"/>
            </a:endParaRPr>
          </a:p>
        </p:txBody>
      </p:sp>
      <p:sp>
        <p:nvSpPr>
          <p:cNvPr id="15" name="Oval 14">
            <a:extLst>
              <a:ext uri="{FF2B5EF4-FFF2-40B4-BE49-F238E27FC236}">
                <a16:creationId xmlns:a16="http://schemas.microsoft.com/office/drawing/2014/main" id="{0DB7BAB8-CEEA-30DD-FBFD-A64C668E2FBD}"/>
              </a:ext>
            </a:extLst>
          </p:cNvPr>
          <p:cNvSpPr/>
          <p:nvPr/>
        </p:nvSpPr>
        <p:spPr>
          <a:xfrm>
            <a:off x="6502400" y="34544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E40CCC12-0C43-2C69-D916-F66584CA15D0}"/>
              </a:ext>
            </a:extLst>
          </p:cNvPr>
          <p:cNvSpPr txBox="1"/>
          <p:nvPr/>
        </p:nvSpPr>
        <p:spPr>
          <a:xfrm>
            <a:off x="7340600" y="34798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Fix</a:t>
            </a:r>
          </a:p>
        </p:txBody>
      </p:sp>
      <p:sp>
        <p:nvSpPr>
          <p:cNvPr id="17" name="TextBox 16">
            <a:extLst>
              <a:ext uri="{FF2B5EF4-FFF2-40B4-BE49-F238E27FC236}">
                <a16:creationId xmlns:a16="http://schemas.microsoft.com/office/drawing/2014/main" id="{0634BDFD-495F-32C1-28D9-9B85F3EAA0E4}"/>
              </a:ext>
            </a:extLst>
          </p:cNvPr>
          <p:cNvSpPr txBox="1"/>
          <p:nvPr/>
        </p:nvSpPr>
        <p:spPr>
          <a:xfrm>
            <a:off x="7340600" y="38100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Apply the fix, or compare with the solution.</a:t>
            </a:r>
            <a:endParaRPr lang="en-IN" sz="1500">
              <a:solidFill>
                <a:srgbClr val="1E2A35"/>
              </a:solidFill>
              <a:latin typeface="Calibri" panose="020F0502020204030204" pitchFamily="34" charset="0"/>
            </a:endParaRPr>
          </a:p>
        </p:txBody>
      </p:sp>
      <p:sp>
        <p:nvSpPr>
          <p:cNvPr id="18" name="Oval 17">
            <a:extLst>
              <a:ext uri="{FF2B5EF4-FFF2-40B4-BE49-F238E27FC236}">
                <a16:creationId xmlns:a16="http://schemas.microsoft.com/office/drawing/2014/main" id="{BA055477-EE58-00B9-93A8-80DEC1E16BA3}"/>
              </a:ext>
            </a:extLst>
          </p:cNvPr>
          <p:cNvSpPr/>
          <p:nvPr/>
        </p:nvSpPr>
        <p:spPr>
          <a:xfrm>
            <a:off x="6502400" y="44450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9" name="TextBox 18">
            <a:extLst>
              <a:ext uri="{FF2B5EF4-FFF2-40B4-BE49-F238E27FC236}">
                <a16:creationId xmlns:a16="http://schemas.microsoft.com/office/drawing/2014/main" id="{17A33407-5AB8-6887-CEBD-C695D56144E9}"/>
              </a:ext>
            </a:extLst>
          </p:cNvPr>
          <p:cNvSpPr txBox="1"/>
          <p:nvPr/>
        </p:nvSpPr>
        <p:spPr>
          <a:xfrm>
            <a:off x="7340600" y="44704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Verify</a:t>
            </a:r>
          </a:p>
        </p:txBody>
      </p:sp>
      <p:sp>
        <p:nvSpPr>
          <p:cNvPr id="20" name="TextBox 19">
            <a:extLst>
              <a:ext uri="{FF2B5EF4-FFF2-40B4-BE49-F238E27FC236}">
                <a16:creationId xmlns:a16="http://schemas.microsoft.com/office/drawing/2014/main" id="{50186A98-A24B-579B-CF7B-26BC7BE0F238}"/>
              </a:ext>
            </a:extLst>
          </p:cNvPr>
          <p:cNvSpPr txBox="1"/>
          <p:nvPr/>
        </p:nvSpPr>
        <p:spPr>
          <a:xfrm>
            <a:off x="7340600" y="48006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Scan again: now it comes back clean.</a:t>
            </a:r>
            <a:endParaRPr lang="en-IN" sz="1500">
              <a:solidFill>
                <a:srgbClr val="1E2A35"/>
              </a:solidFill>
              <a:latin typeface="Calibri" panose="020F0502020204030204" pitchFamily="34" charset="0"/>
            </a:endParaRPr>
          </a:p>
        </p:txBody>
      </p:sp>
      <p:sp>
        <p:nvSpPr>
          <p:cNvPr id="21" name="TextBox 20">
            <a:extLst>
              <a:ext uri="{FF2B5EF4-FFF2-40B4-BE49-F238E27FC236}">
                <a16:creationId xmlns:a16="http://schemas.microsoft.com/office/drawing/2014/main" id="{DA261B67-75DC-B539-9878-4ACB2D27E0B5}"/>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2" name="TextBox 21">
            <a:extLst>
              <a:ext uri="{FF2B5EF4-FFF2-40B4-BE49-F238E27FC236}">
                <a16:creationId xmlns:a16="http://schemas.microsoft.com/office/drawing/2014/main" id="{A7BDFCB3-33C4-55D6-FDC5-661EDDFA74F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13</a:t>
            </a:r>
          </a:p>
        </p:txBody>
      </p:sp>
    </p:spTree>
    <p:extLst>
      <p:ext uri="{BB962C8B-B14F-4D97-AF65-F5344CB8AC3E}">
        <p14:creationId xmlns:p14="http://schemas.microsoft.com/office/powerpoint/2010/main" val="2572357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07BE93-34B0-36A4-C2B8-F7AC9D38B6F1}"/>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01</a:t>
            </a:r>
          </a:p>
        </p:txBody>
      </p:sp>
      <p:sp>
        <p:nvSpPr>
          <p:cNvPr id="3" name="TextBox 2">
            <a:extLst>
              <a:ext uri="{FF2B5EF4-FFF2-40B4-BE49-F238E27FC236}">
                <a16:creationId xmlns:a16="http://schemas.microsoft.com/office/drawing/2014/main" id="{22A1A532-F0AE-C69D-0EAC-F7E101E097D0}"/>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Secrets in Git</a:t>
            </a:r>
          </a:p>
        </p:txBody>
      </p:sp>
      <p:sp>
        <p:nvSpPr>
          <p:cNvPr id="4" name="TextBox 3">
            <a:extLst>
              <a:ext uri="{FF2B5EF4-FFF2-40B4-BE49-F238E27FC236}">
                <a16:creationId xmlns:a16="http://schemas.microsoft.com/office/drawing/2014/main" id="{3B214B40-AF99-4698-C817-58EC8C86B6B1}"/>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Passwords and keys committed to a repository, and why deleting them isn't enough</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12E4DDB7-EF5F-13E4-7EA1-38E51C9AA5DA}"/>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gitleaks   ·   15 minutes hands-on</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10575626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6C2E62-EC2F-327C-2EEB-3D1ACCCFBCBC}"/>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1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E5743B9F-C2FD-B60C-3A22-99773B0DE6D5}"/>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98BBA4BA-69C3-0B16-54B3-6F437F59ECD2}"/>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30C8AB7F-5A61-CEDD-E4F6-93DDB21DB681}"/>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 developer in a hurry hard-codes an AWS access key and a database password into a small service, and commits it to Git. A week later, they 'fix' it by deleting the lines and committing again.</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180D95F5-82C2-D4F2-26DC-AD05C1D0789D}"/>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Once the lines are deleted, is the key safe?</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283AEF6F-97CC-C05C-0AEF-B6997EA89CAE}"/>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375334FC-06F8-C64B-4185-487823B08A86}"/>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994B7B81-8769-84B7-387D-1D8C3038339A}"/>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Find secrets in code and in Git history with gitleaks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A6793163-C9E5-31C0-AD2D-A7D2E436992A}"/>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F9726023-B2F1-EF23-D553-803CA9A15D90}"/>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Understand why deleting a secret is not enough, and what to do instead</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5824E88F-409C-A1CD-0E53-680658A03D55}"/>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709FDCC6-9480-1EDC-D34C-A233BFA0A9A7}"/>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Block secrets before they are committed, with a pre-commit hook</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2CB108D4-D3E6-748D-D6F0-F8969E186376}"/>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Uber, 2016: AWS keys in a private repository led to a breach affecting 57 million users.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52EFF522-7449-3371-9FA6-015B2A9B515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0ECF21D1-D052-A1A6-5194-B31D0E78AFD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15</a:t>
            </a:r>
          </a:p>
        </p:txBody>
      </p:sp>
    </p:spTree>
    <p:extLst>
      <p:ext uri="{BB962C8B-B14F-4D97-AF65-F5344CB8AC3E}">
        <p14:creationId xmlns:p14="http://schemas.microsoft.com/office/powerpoint/2010/main" val="3423417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DAEF0-706E-9EAA-C122-289AD298B6B3}"/>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Deleting a secret doesn't remove it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A87224F1-1C94-E22A-2559-AD23CF198B15}"/>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5B6B79"/>
                </a:solidFill>
                <a:latin typeface="Calibri" panose="020F0502020204030204" pitchFamily="34" charset="0"/>
              </a:rPr>
              <a:t>GIT HISTORY</a:t>
            </a:r>
          </a:p>
        </p:txBody>
      </p:sp>
      <p:cxnSp>
        <p:nvCxnSpPr>
          <p:cNvPr id="4" name="Straight Connector 3">
            <a:extLst>
              <a:ext uri="{FF2B5EF4-FFF2-40B4-BE49-F238E27FC236}">
                <a16:creationId xmlns:a16="http://schemas.microsoft.com/office/drawing/2014/main" id="{D2994AF1-A16E-57BF-635B-2F537606D4E0}"/>
              </a:ext>
            </a:extLst>
          </p:cNvPr>
          <p:cNvCxnSpPr/>
          <p:nvPr/>
        </p:nvCxnSpPr>
        <p:spPr>
          <a:xfrm>
            <a:off x="825500" y="1778000"/>
            <a:ext cx="0" cy="1168400"/>
          </a:xfrm>
          <a:prstGeom prst="line">
            <a:avLst/>
          </a:prstGeom>
          <a:ln w="38100">
            <a:solidFill>
              <a:srgbClr val="D5DBE0"/>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9A500411-08DA-FCC1-3C98-521387D0071E}"/>
              </a:ext>
            </a:extLst>
          </p:cNvPr>
          <p:cNvSpPr/>
          <p:nvPr/>
        </p:nvSpPr>
        <p:spPr>
          <a:xfrm>
            <a:off x="647700" y="1625600"/>
            <a:ext cx="355600" cy="3556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9B91BF2D-D2EA-B58A-AAA7-DD4173BD05D3}"/>
              </a:ext>
            </a:extLst>
          </p:cNvPr>
          <p:cNvSpPr txBox="1"/>
          <p:nvPr/>
        </p:nvSpPr>
        <p:spPr>
          <a:xfrm>
            <a:off x="1219200" y="1625600"/>
            <a:ext cx="4572000" cy="369332"/>
          </a:xfrm>
          <a:prstGeom prst="rect">
            <a:avLst/>
          </a:prstGeom>
          <a:noFill/>
        </p:spPr>
        <p:txBody>
          <a:bodyPr vert="horz" wrap="square" lIns="0" tIns="0" rIns="0" bIns="0" rtlCol="0" anchor="t">
            <a:noAutofit/>
          </a:bodyPr>
          <a:lstStyle/>
          <a:p>
            <a:r>
              <a:rPr lang="en-IN" sz="1600" b="1">
                <a:solidFill>
                  <a:srgbClr val="13293D"/>
                </a:solidFill>
                <a:latin typeface="Calibri" panose="020F0502020204030204" pitchFamily="34" charset="0"/>
              </a:rPr>
              <a:t>Add order export service</a:t>
            </a:r>
          </a:p>
        </p:txBody>
      </p:sp>
      <p:sp>
        <p:nvSpPr>
          <p:cNvPr id="7" name="TextBox 6">
            <a:extLst>
              <a:ext uri="{FF2B5EF4-FFF2-40B4-BE49-F238E27FC236}">
                <a16:creationId xmlns:a16="http://schemas.microsoft.com/office/drawing/2014/main" id="{B81A94CB-80E4-791E-773C-4C935F8E367C}"/>
              </a:ext>
            </a:extLst>
          </p:cNvPr>
          <p:cNvSpPr txBox="1"/>
          <p:nvPr/>
        </p:nvSpPr>
        <p:spPr>
          <a:xfrm>
            <a:off x="1219200" y="1930400"/>
            <a:ext cx="4572000" cy="369332"/>
          </a:xfrm>
          <a:prstGeom prst="rect">
            <a:avLst/>
          </a:prstGeom>
          <a:noFill/>
        </p:spPr>
        <p:txBody>
          <a:bodyPr vert="horz" wrap="square" lIns="0" tIns="0" rIns="0" bIns="0" rtlCol="0" anchor="t">
            <a:noAutofit/>
          </a:bodyPr>
          <a:lstStyle/>
          <a:p>
            <a:r>
              <a:rPr lang="en-US" sz="1400">
                <a:solidFill>
                  <a:srgbClr val="E4572E"/>
                </a:solidFill>
                <a:latin typeface="Calibri" panose="020F0502020204030204" pitchFamily="34" charset="0"/>
              </a:rPr>
              <a:t>config.py contains an AWS key and a password</a:t>
            </a:r>
            <a:endParaRPr lang="en-IN" sz="1400">
              <a:solidFill>
                <a:srgbClr val="E4572E"/>
              </a:solidFill>
              <a:latin typeface="Calibri" panose="020F0502020204030204" pitchFamily="34" charset="0"/>
            </a:endParaRPr>
          </a:p>
        </p:txBody>
      </p:sp>
      <p:sp>
        <p:nvSpPr>
          <p:cNvPr id="8" name="Oval 7">
            <a:extLst>
              <a:ext uri="{FF2B5EF4-FFF2-40B4-BE49-F238E27FC236}">
                <a16:creationId xmlns:a16="http://schemas.microsoft.com/office/drawing/2014/main" id="{51247560-E2E1-B626-5F0F-605D277E30FA}"/>
              </a:ext>
            </a:extLst>
          </p:cNvPr>
          <p:cNvSpPr/>
          <p:nvPr/>
        </p:nvSpPr>
        <p:spPr>
          <a:xfrm>
            <a:off x="647700" y="2717800"/>
            <a:ext cx="355600" cy="355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A6BF14B4-5EB3-B715-0C39-EF6784EF11FA}"/>
              </a:ext>
            </a:extLst>
          </p:cNvPr>
          <p:cNvSpPr txBox="1"/>
          <p:nvPr/>
        </p:nvSpPr>
        <p:spPr>
          <a:xfrm>
            <a:off x="1219200" y="2717800"/>
            <a:ext cx="4572000" cy="369332"/>
          </a:xfrm>
          <a:prstGeom prst="rect">
            <a:avLst/>
          </a:prstGeom>
          <a:noFill/>
        </p:spPr>
        <p:txBody>
          <a:bodyPr vert="horz" wrap="square" lIns="0" tIns="0" rIns="0" bIns="0" rtlCol="0" anchor="t">
            <a:noAutofit/>
          </a:bodyPr>
          <a:lstStyle/>
          <a:p>
            <a:r>
              <a:rPr lang="en-US" sz="1600" b="1">
                <a:solidFill>
                  <a:srgbClr val="13293D"/>
                </a:solidFill>
                <a:latin typeface="Calibri" panose="020F0502020204030204" pitchFamily="34" charset="0"/>
              </a:rPr>
              <a:t>Move secrets to environment variables</a:t>
            </a:r>
            <a:endParaRPr lang="en-IN" sz="1600" b="1">
              <a:solidFill>
                <a:srgbClr val="13293D"/>
              </a:solidFill>
              <a:latin typeface="Calibri" panose="020F0502020204030204" pitchFamily="34" charset="0"/>
            </a:endParaRPr>
          </a:p>
        </p:txBody>
      </p:sp>
      <p:sp>
        <p:nvSpPr>
          <p:cNvPr id="10" name="TextBox 9">
            <a:extLst>
              <a:ext uri="{FF2B5EF4-FFF2-40B4-BE49-F238E27FC236}">
                <a16:creationId xmlns:a16="http://schemas.microsoft.com/office/drawing/2014/main" id="{2D695683-A86B-350F-9DF3-6FBEA60445E4}"/>
              </a:ext>
            </a:extLst>
          </p:cNvPr>
          <p:cNvSpPr txBox="1"/>
          <p:nvPr/>
        </p:nvSpPr>
        <p:spPr>
          <a:xfrm>
            <a:off x="1219200" y="3022600"/>
            <a:ext cx="4572000" cy="369332"/>
          </a:xfrm>
          <a:prstGeom prst="rect">
            <a:avLst/>
          </a:prstGeom>
          <a:noFill/>
        </p:spPr>
        <p:txBody>
          <a:bodyPr vert="horz" wrap="square" lIns="0" tIns="0" rIns="0" bIns="0" rtlCol="0" anchor="t">
            <a:noAutofit/>
          </a:bodyPr>
          <a:lstStyle/>
          <a:p>
            <a:r>
              <a:rPr lang="en-US" sz="1400">
                <a:solidFill>
                  <a:srgbClr val="1B998B"/>
                </a:solidFill>
                <a:latin typeface="Calibri" panose="020F0502020204030204" pitchFamily="34" charset="0"/>
              </a:rPr>
              <a:t>The current files are now clean</a:t>
            </a:r>
            <a:endParaRPr lang="en-IN" sz="1400">
              <a:solidFill>
                <a:srgbClr val="1B998B"/>
              </a:solidFill>
              <a:latin typeface="Calibri" panose="020F0502020204030204" pitchFamily="34" charset="0"/>
            </a:endParaRPr>
          </a:p>
        </p:txBody>
      </p:sp>
      <p:sp>
        <p:nvSpPr>
          <p:cNvPr id="11" name="Rectangle: Rounded Corners 10">
            <a:extLst>
              <a:ext uri="{FF2B5EF4-FFF2-40B4-BE49-F238E27FC236}">
                <a16:creationId xmlns:a16="http://schemas.microsoft.com/office/drawing/2014/main" id="{1276273E-6B18-F185-CEE8-0832C61587F9}"/>
              </a:ext>
            </a:extLst>
          </p:cNvPr>
          <p:cNvSpPr/>
          <p:nvPr/>
        </p:nvSpPr>
        <p:spPr>
          <a:xfrm>
            <a:off x="609600" y="3683000"/>
            <a:ext cx="5207000" cy="15240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A98FE8E8-C7BF-C588-776A-5FFE545736D0}"/>
              </a:ext>
            </a:extLst>
          </p:cNvPr>
          <p:cNvSpPr txBox="1"/>
          <p:nvPr/>
        </p:nvSpPr>
        <p:spPr>
          <a:xfrm>
            <a:off x="914400" y="3911600"/>
            <a:ext cx="4572000" cy="369332"/>
          </a:xfrm>
          <a:prstGeom prst="rect">
            <a:avLst/>
          </a:prstGeom>
          <a:noFill/>
        </p:spPr>
        <p:txBody>
          <a:bodyPr vert="horz" wrap="square" lIns="0" tIns="0" rIns="0" bIns="0" rtlCol="0" anchor="t">
            <a:noAutofit/>
          </a:bodyPr>
          <a:lstStyle/>
          <a:p>
            <a:r>
              <a:rPr lang="en-IN" sz="1600">
                <a:solidFill>
                  <a:srgbClr val="1E2A35"/>
                </a:solidFill>
                <a:latin typeface="Consolas" panose="020B0609020204030204" pitchFamily="49" charset="0"/>
              </a:rPr>
              <a:t>gitleaks git -v</a:t>
            </a:r>
          </a:p>
        </p:txBody>
      </p:sp>
      <p:sp>
        <p:nvSpPr>
          <p:cNvPr id="13" name="TextBox 12">
            <a:extLst>
              <a:ext uri="{FF2B5EF4-FFF2-40B4-BE49-F238E27FC236}">
                <a16:creationId xmlns:a16="http://schemas.microsoft.com/office/drawing/2014/main" id="{289352F2-D315-3AEB-2719-2EF327A5CFB4}"/>
              </a:ext>
            </a:extLst>
          </p:cNvPr>
          <p:cNvSpPr txBox="1"/>
          <p:nvPr/>
        </p:nvSpPr>
        <p:spPr>
          <a:xfrm>
            <a:off x="914400" y="4318000"/>
            <a:ext cx="45974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Leak still found in commit 1. Anyone with a clone, a fork or a backup still has the key.</a:t>
            </a:r>
            <a:endParaRPr lang="en-IN" sz="1500" b="1">
              <a:solidFill>
                <a:srgbClr val="E4572E"/>
              </a:solidFill>
              <a:latin typeface="Calibri" panose="020F0502020204030204" pitchFamily="34" charset="0"/>
            </a:endParaRPr>
          </a:p>
        </p:txBody>
      </p:sp>
      <p:sp>
        <p:nvSpPr>
          <p:cNvPr id="14" name="TextBox 13">
            <a:extLst>
              <a:ext uri="{FF2B5EF4-FFF2-40B4-BE49-F238E27FC236}">
                <a16:creationId xmlns:a16="http://schemas.microsoft.com/office/drawing/2014/main" id="{CB6A353D-E749-D2F1-B004-086D8A2C4348}"/>
              </a:ext>
            </a:extLst>
          </p:cNvPr>
          <p:cNvSpPr txBox="1"/>
          <p:nvPr/>
        </p:nvSpPr>
        <p:spPr>
          <a:xfrm>
            <a:off x="6502400" y="1320800"/>
            <a:ext cx="50800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If a secret was pushed</a:t>
            </a:r>
            <a:endParaRPr lang="en-IN" sz="2000" b="1">
              <a:solidFill>
                <a:srgbClr val="13293D"/>
              </a:solidFill>
              <a:latin typeface="Calibri" panose="020F0502020204030204" pitchFamily="34" charset="0"/>
            </a:endParaRPr>
          </a:p>
        </p:txBody>
      </p:sp>
      <p:sp>
        <p:nvSpPr>
          <p:cNvPr id="15" name="Oval 14">
            <a:extLst>
              <a:ext uri="{FF2B5EF4-FFF2-40B4-BE49-F238E27FC236}">
                <a16:creationId xmlns:a16="http://schemas.microsoft.com/office/drawing/2014/main" id="{04D59D95-1DAF-4A0B-D21A-ED74297A173D}"/>
              </a:ext>
            </a:extLst>
          </p:cNvPr>
          <p:cNvSpPr/>
          <p:nvPr/>
        </p:nvSpPr>
        <p:spPr>
          <a:xfrm>
            <a:off x="6502400" y="18796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1</a:t>
            </a:r>
          </a:p>
        </p:txBody>
      </p:sp>
      <p:sp>
        <p:nvSpPr>
          <p:cNvPr id="16" name="TextBox 15">
            <a:extLst>
              <a:ext uri="{FF2B5EF4-FFF2-40B4-BE49-F238E27FC236}">
                <a16:creationId xmlns:a16="http://schemas.microsoft.com/office/drawing/2014/main" id="{EAA231E7-7088-F9FD-F2A7-C84824262EFA}"/>
              </a:ext>
            </a:extLst>
          </p:cNvPr>
          <p:cNvSpPr txBox="1"/>
          <p:nvPr/>
        </p:nvSpPr>
        <p:spPr>
          <a:xfrm>
            <a:off x="7137400" y="18923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Revoke and rotate it first</a:t>
            </a:r>
            <a:endParaRPr lang="en-IN" sz="1700" b="1">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46F788B4-96FB-7BD1-BB58-18C799853C4E}"/>
              </a:ext>
            </a:extLst>
          </p:cNvPr>
          <p:cNvSpPr txBox="1"/>
          <p:nvPr/>
        </p:nvSpPr>
        <p:spPr>
          <a:xfrm>
            <a:off x="7137400" y="21971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Nothing else makes the key safe</a:t>
            </a:r>
            <a:endParaRPr lang="en-IN" sz="1400">
              <a:solidFill>
                <a:srgbClr val="5B6B79"/>
              </a:solidFill>
              <a:latin typeface="Calibri" panose="020F0502020204030204" pitchFamily="34" charset="0"/>
            </a:endParaRPr>
          </a:p>
        </p:txBody>
      </p:sp>
      <p:sp>
        <p:nvSpPr>
          <p:cNvPr id="18" name="Oval 17">
            <a:extLst>
              <a:ext uri="{FF2B5EF4-FFF2-40B4-BE49-F238E27FC236}">
                <a16:creationId xmlns:a16="http://schemas.microsoft.com/office/drawing/2014/main" id="{71E8F498-47F2-4FFA-EEF0-511D750DE68E}"/>
              </a:ext>
            </a:extLst>
          </p:cNvPr>
          <p:cNvSpPr/>
          <p:nvPr/>
        </p:nvSpPr>
        <p:spPr>
          <a:xfrm>
            <a:off x="6502400" y="27178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2</a:t>
            </a:r>
          </a:p>
        </p:txBody>
      </p:sp>
      <p:sp>
        <p:nvSpPr>
          <p:cNvPr id="19" name="TextBox 18">
            <a:extLst>
              <a:ext uri="{FF2B5EF4-FFF2-40B4-BE49-F238E27FC236}">
                <a16:creationId xmlns:a16="http://schemas.microsoft.com/office/drawing/2014/main" id="{56F22FE1-A425-2BB1-090D-D57FAFC012F4}"/>
              </a:ext>
            </a:extLst>
          </p:cNvPr>
          <p:cNvSpPr txBox="1"/>
          <p:nvPr/>
        </p:nvSpPr>
        <p:spPr>
          <a:xfrm>
            <a:off x="7137400" y="27305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Check whether it was used</a:t>
            </a:r>
            <a:endParaRPr lang="en-IN" sz="1700" b="1">
              <a:solidFill>
                <a:srgbClr val="1E2A35"/>
              </a:solidFill>
              <a:latin typeface="Calibri" panose="020F0502020204030204" pitchFamily="34" charset="0"/>
            </a:endParaRPr>
          </a:p>
        </p:txBody>
      </p:sp>
      <p:sp>
        <p:nvSpPr>
          <p:cNvPr id="20" name="TextBox 19">
            <a:extLst>
              <a:ext uri="{FF2B5EF4-FFF2-40B4-BE49-F238E27FC236}">
                <a16:creationId xmlns:a16="http://schemas.microsoft.com/office/drawing/2014/main" id="{E3BAC6E5-E4CD-F016-68EF-10DED9E86412}"/>
              </a:ext>
            </a:extLst>
          </p:cNvPr>
          <p:cNvSpPr txBox="1"/>
          <p:nvPr/>
        </p:nvSpPr>
        <p:spPr>
          <a:xfrm>
            <a:off x="7137400" y="30353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For AWS: look it up in CloudTrail</a:t>
            </a:r>
            <a:endParaRPr lang="en-IN" sz="1400">
              <a:solidFill>
                <a:srgbClr val="5B6B79"/>
              </a:solidFill>
              <a:latin typeface="Calibri" panose="020F0502020204030204" pitchFamily="34" charset="0"/>
            </a:endParaRPr>
          </a:p>
        </p:txBody>
      </p:sp>
      <p:sp>
        <p:nvSpPr>
          <p:cNvPr id="21" name="Oval 20">
            <a:extLst>
              <a:ext uri="{FF2B5EF4-FFF2-40B4-BE49-F238E27FC236}">
                <a16:creationId xmlns:a16="http://schemas.microsoft.com/office/drawing/2014/main" id="{B05BB48F-24E8-9F9B-D61E-D899379F856F}"/>
              </a:ext>
            </a:extLst>
          </p:cNvPr>
          <p:cNvSpPr/>
          <p:nvPr/>
        </p:nvSpPr>
        <p:spPr>
          <a:xfrm>
            <a:off x="6502400" y="35560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3</a:t>
            </a:r>
          </a:p>
        </p:txBody>
      </p:sp>
      <p:sp>
        <p:nvSpPr>
          <p:cNvPr id="22" name="TextBox 21">
            <a:extLst>
              <a:ext uri="{FF2B5EF4-FFF2-40B4-BE49-F238E27FC236}">
                <a16:creationId xmlns:a16="http://schemas.microsoft.com/office/drawing/2014/main" id="{91956C83-6CF1-DF01-8CCA-F3C61102B84B}"/>
              </a:ext>
            </a:extLst>
          </p:cNvPr>
          <p:cNvSpPr txBox="1"/>
          <p:nvPr/>
        </p:nvSpPr>
        <p:spPr>
          <a:xfrm>
            <a:off x="7137400" y="35687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Clean up the history</a:t>
            </a:r>
          </a:p>
        </p:txBody>
      </p:sp>
      <p:sp>
        <p:nvSpPr>
          <p:cNvPr id="23" name="TextBox 22">
            <a:extLst>
              <a:ext uri="{FF2B5EF4-FFF2-40B4-BE49-F238E27FC236}">
                <a16:creationId xmlns:a16="http://schemas.microsoft.com/office/drawing/2014/main" id="{E0E0109D-044B-1EF8-279A-A8CC7B798717}"/>
              </a:ext>
            </a:extLst>
          </p:cNvPr>
          <p:cNvSpPr txBox="1"/>
          <p:nvPr/>
        </p:nvSpPr>
        <p:spPr>
          <a:xfrm>
            <a:off x="7137400" y="3873500"/>
            <a:ext cx="4445000" cy="369332"/>
          </a:xfrm>
          <a:prstGeom prst="rect">
            <a:avLst/>
          </a:prstGeom>
          <a:noFill/>
        </p:spPr>
        <p:txBody>
          <a:bodyPr vert="horz" wrap="square" lIns="0" tIns="0" rIns="0" bIns="0" rtlCol="0" anchor="t">
            <a:noAutofit/>
          </a:bodyPr>
          <a:lstStyle/>
          <a:p>
            <a:r>
              <a:rPr lang="en-IN" sz="1400">
                <a:solidFill>
                  <a:srgbClr val="5B6B79"/>
                </a:solidFill>
                <a:latin typeface="Calibri" panose="020F0502020204030204" pitchFamily="34" charset="0"/>
              </a:rPr>
              <a:t>git filter-repo, then force-push</a:t>
            </a:r>
          </a:p>
        </p:txBody>
      </p:sp>
      <p:sp>
        <p:nvSpPr>
          <p:cNvPr id="24" name="Oval 23">
            <a:extLst>
              <a:ext uri="{FF2B5EF4-FFF2-40B4-BE49-F238E27FC236}">
                <a16:creationId xmlns:a16="http://schemas.microsoft.com/office/drawing/2014/main" id="{D1A6EE48-7B8B-8119-9C81-A38647ED0D30}"/>
              </a:ext>
            </a:extLst>
          </p:cNvPr>
          <p:cNvSpPr/>
          <p:nvPr/>
        </p:nvSpPr>
        <p:spPr>
          <a:xfrm>
            <a:off x="6502400" y="43942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3B67BA29-325E-5395-5DF0-8FD01880740A}"/>
              </a:ext>
            </a:extLst>
          </p:cNvPr>
          <p:cNvSpPr txBox="1"/>
          <p:nvPr/>
        </p:nvSpPr>
        <p:spPr>
          <a:xfrm>
            <a:off x="7137400" y="44069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Prevent the next one</a:t>
            </a:r>
          </a:p>
        </p:txBody>
      </p:sp>
      <p:sp>
        <p:nvSpPr>
          <p:cNvPr id="26" name="TextBox 25">
            <a:extLst>
              <a:ext uri="{FF2B5EF4-FFF2-40B4-BE49-F238E27FC236}">
                <a16:creationId xmlns:a16="http://schemas.microsoft.com/office/drawing/2014/main" id="{556D6B12-0EC1-1337-3A04-9AA10A3EA226}"/>
              </a:ext>
            </a:extLst>
          </p:cNvPr>
          <p:cNvSpPr txBox="1"/>
          <p:nvPr/>
        </p:nvSpPr>
        <p:spPr>
          <a:xfrm>
            <a:off x="7137400" y="47117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Pre-commit hook, plus the same scan in CI</a:t>
            </a:r>
            <a:endParaRPr lang="en-IN" sz="1400">
              <a:solidFill>
                <a:srgbClr val="5B6B79"/>
              </a:solidFill>
              <a:latin typeface="Calibri" panose="020F0502020204030204" pitchFamily="34" charset="0"/>
            </a:endParaRPr>
          </a:p>
        </p:txBody>
      </p:sp>
      <p:sp>
        <p:nvSpPr>
          <p:cNvPr id="27" name="TextBox 26">
            <a:extLst>
              <a:ext uri="{FF2B5EF4-FFF2-40B4-BE49-F238E27FC236}">
                <a16:creationId xmlns:a16="http://schemas.microsoft.com/office/drawing/2014/main" id="{306D1F14-30AA-DE74-5ED8-A6A0D4178D72}"/>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8" name="TextBox 27">
            <a:extLst>
              <a:ext uri="{FF2B5EF4-FFF2-40B4-BE49-F238E27FC236}">
                <a16:creationId xmlns:a16="http://schemas.microsoft.com/office/drawing/2014/main" id="{AFA2D517-B87B-B033-8BE6-785807EBAA08}"/>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16</a:t>
            </a:r>
          </a:p>
        </p:txBody>
      </p:sp>
    </p:spTree>
    <p:extLst>
      <p:ext uri="{BB962C8B-B14F-4D97-AF65-F5344CB8AC3E}">
        <p14:creationId xmlns:p14="http://schemas.microsoft.com/office/powerpoint/2010/main" val="3195800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56D11F-DC0F-124B-E035-8DE422E9B3DC}"/>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1 · Open the lab guide</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8ABB73FF-29E3-36B3-AC7D-A1FEBCCA6A34}"/>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OPEN IN VS CODE</a:t>
            </a:r>
          </a:p>
        </p:txBody>
      </p:sp>
      <p:sp>
        <p:nvSpPr>
          <p:cNvPr id="4" name="Rectangle: Rounded Corners 3">
            <a:extLst>
              <a:ext uri="{FF2B5EF4-FFF2-40B4-BE49-F238E27FC236}">
                <a16:creationId xmlns:a16="http://schemas.microsoft.com/office/drawing/2014/main" id="{F0C5FB7D-B537-D4A8-9CE3-E072E07E6490}"/>
              </a:ext>
            </a:extLst>
          </p:cNvPr>
          <p:cNvSpPr/>
          <p:nvPr/>
        </p:nvSpPr>
        <p:spPr>
          <a:xfrm>
            <a:off x="609600" y="1600200"/>
            <a:ext cx="5080000" cy="609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F7C861D-454D-0664-1183-FEC411BDB90E}"/>
              </a:ext>
            </a:extLst>
          </p:cNvPr>
          <p:cNvSpPr txBox="1"/>
          <p:nvPr/>
        </p:nvSpPr>
        <p:spPr>
          <a:xfrm>
            <a:off x="863600" y="1778000"/>
            <a:ext cx="45720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labs/lab1-secrets/README.md</a:t>
            </a:r>
          </a:p>
        </p:txBody>
      </p:sp>
      <p:sp>
        <p:nvSpPr>
          <p:cNvPr id="6" name="TextBox 5">
            <a:extLst>
              <a:ext uri="{FF2B5EF4-FFF2-40B4-BE49-F238E27FC236}">
                <a16:creationId xmlns:a16="http://schemas.microsoft.com/office/drawing/2014/main" id="{39414CCF-FDB3-A71E-732A-7C984D2052A7}"/>
              </a:ext>
            </a:extLst>
          </p:cNvPr>
          <p:cNvSpPr txBox="1"/>
          <p:nvPr/>
        </p:nvSpPr>
        <p:spPr>
          <a:xfrm>
            <a:off x="609600" y="25146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WHERE</a:t>
            </a:r>
          </a:p>
        </p:txBody>
      </p:sp>
      <p:sp>
        <p:nvSpPr>
          <p:cNvPr id="7" name="TextBox 6">
            <a:extLst>
              <a:ext uri="{FF2B5EF4-FFF2-40B4-BE49-F238E27FC236}">
                <a16:creationId xmlns:a16="http://schemas.microsoft.com/office/drawing/2014/main" id="{B13F2811-7B43-93C1-90AD-B80F6634916A}"/>
              </a:ext>
            </a:extLst>
          </p:cNvPr>
          <p:cNvSpPr txBox="1"/>
          <p:nvPr/>
        </p:nvSpPr>
        <p:spPr>
          <a:xfrm>
            <a:off x="609600" y="2794000"/>
            <a:ext cx="50800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In the toolbox: docker compose run --rm toolbox. It opens in the repo folder.</a:t>
            </a:r>
            <a:endParaRPr lang="en-IN" sz="16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62BB71D8-746F-0AD6-F6AA-7B6B1178F473}"/>
              </a:ext>
            </a:extLst>
          </p:cNvPr>
          <p:cNvSpPr txBox="1"/>
          <p:nvPr/>
        </p:nvSpPr>
        <p:spPr>
          <a:xfrm>
            <a:off x="609600" y="3860800"/>
            <a:ext cx="50800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Every step in the guide shows the command to run and the result to expect.</a:t>
            </a:r>
            <a:endParaRPr lang="en-IN" sz="1500">
              <a:solidFill>
                <a:srgbClr val="5B6B79"/>
              </a:solidFill>
              <a:latin typeface="Calibri" panose="020F0502020204030204" pitchFamily="34" charset="0"/>
            </a:endParaRPr>
          </a:p>
        </p:txBody>
      </p:sp>
      <p:sp>
        <p:nvSpPr>
          <p:cNvPr id="9" name="TextBox 8">
            <a:extLst>
              <a:ext uri="{FF2B5EF4-FFF2-40B4-BE49-F238E27FC236}">
                <a16:creationId xmlns:a16="http://schemas.microsoft.com/office/drawing/2014/main" id="{17E633F2-B54A-D4C3-3E2B-71E2DEE69D79}"/>
              </a:ext>
            </a:extLst>
          </p:cNvPr>
          <p:cNvSpPr txBox="1"/>
          <p:nvPr/>
        </p:nvSpPr>
        <p:spPr>
          <a:xfrm>
            <a:off x="6248400" y="1320800"/>
            <a:ext cx="5334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WHAT YOU'LL DO</a:t>
            </a:r>
          </a:p>
        </p:txBody>
      </p:sp>
      <p:sp>
        <p:nvSpPr>
          <p:cNvPr id="10" name="Oval 9">
            <a:extLst>
              <a:ext uri="{FF2B5EF4-FFF2-40B4-BE49-F238E27FC236}">
                <a16:creationId xmlns:a16="http://schemas.microsoft.com/office/drawing/2014/main" id="{9865AE15-C37A-34F4-EDCC-C4F732486710}"/>
              </a:ext>
            </a:extLst>
          </p:cNvPr>
          <p:cNvSpPr/>
          <p:nvPr/>
        </p:nvSpPr>
        <p:spPr>
          <a:xfrm>
            <a:off x="6248400" y="1701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1</a:t>
            </a:r>
          </a:p>
        </p:txBody>
      </p:sp>
      <p:sp>
        <p:nvSpPr>
          <p:cNvPr id="11" name="TextBox 10">
            <a:extLst>
              <a:ext uri="{FF2B5EF4-FFF2-40B4-BE49-F238E27FC236}">
                <a16:creationId xmlns:a16="http://schemas.microsoft.com/office/drawing/2014/main" id="{75A6BB37-ECFD-EAB5-32F1-03CA5E4CDBC6}"/>
              </a:ext>
            </a:extLst>
          </p:cNvPr>
          <p:cNvSpPr txBox="1"/>
          <p:nvPr/>
        </p:nvSpPr>
        <p:spPr>
          <a:xfrm>
            <a:off x="6858000" y="1778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Commit a small service with hard-coded keys</a:t>
            </a:r>
            <a:endParaRPr lang="en-IN" sz="16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951629F4-1F13-1698-70D2-70D2191017B9}"/>
              </a:ext>
            </a:extLst>
          </p:cNvPr>
          <p:cNvSpPr/>
          <p:nvPr/>
        </p:nvSpPr>
        <p:spPr>
          <a:xfrm>
            <a:off x="6248400" y="2463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D7906F28-9B20-0141-88E1-96622C03C00F}"/>
              </a:ext>
            </a:extLst>
          </p:cNvPr>
          <p:cNvSpPr txBox="1"/>
          <p:nvPr/>
        </p:nvSpPr>
        <p:spPr>
          <a:xfrm>
            <a:off x="6858000" y="2540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Scan the Git history with gitleaks</a:t>
            </a:r>
            <a:endParaRPr lang="en-IN" sz="1600">
              <a:solidFill>
                <a:srgbClr val="1E2A35"/>
              </a:solidFill>
              <a:latin typeface="Calibri" panose="020F0502020204030204" pitchFamily="34" charset="0"/>
            </a:endParaRPr>
          </a:p>
        </p:txBody>
      </p:sp>
      <p:sp>
        <p:nvSpPr>
          <p:cNvPr id="14" name="Oval 13">
            <a:extLst>
              <a:ext uri="{FF2B5EF4-FFF2-40B4-BE49-F238E27FC236}">
                <a16:creationId xmlns:a16="http://schemas.microsoft.com/office/drawing/2014/main" id="{72426683-26F9-126F-2C58-29BA467303CC}"/>
              </a:ext>
            </a:extLst>
          </p:cNvPr>
          <p:cNvSpPr/>
          <p:nvPr/>
        </p:nvSpPr>
        <p:spPr>
          <a:xfrm>
            <a:off x="6248400" y="3225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6AE99DFB-5ABF-3B9C-8DF0-C37E2C7F6B2B}"/>
              </a:ext>
            </a:extLst>
          </p:cNvPr>
          <p:cNvSpPr txBox="1"/>
          <p:nvPr/>
        </p:nvSpPr>
        <p:spPr>
          <a:xfrm>
            <a:off x="6858000" y="3302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Delete the keys, commit, and scan again</a:t>
            </a:r>
            <a:endParaRPr lang="en-IN" sz="1600">
              <a:solidFill>
                <a:srgbClr val="1E2A35"/>
              </a:solidFill>
              <a:latin typeface="Calibri" panose="020F0502020204030204" pitchFamily="34" charset="0"/>
            </a:endParaRPr>
          </a:p>
        </p:txBody>
      </p:sp>
      <p:sp>
        <p:nvSpPr>
          <p:cNvPr id="16" name="Oval 15">
            <a:extLst>
              <a:ext uri="{FF2B5EF4-FFF2-40B4-BE49-F238E27FC236}">
                <a16:creationId xmlns:a16="http://schemas.microsoft.com/office/drawing/2014/main" id="{B06AEF43-C407-FD26-7096-40EC4DB6815E}"/>
              </a:ext>
            </a:extLst>
          </p:cNvPr>
          <p:cNvSpPr/>
          <p:nvPr/>
        </p:nvSpPr>
        <p:spPr>
          <a:xfrm>
            <a:off x="6248400" y="3987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A1168361-BD7C-D74A-B808-C474A05193FC}"/>
              </a:ext>
            </a:extLst>
          </p:cNvPr>
          <p:cNvSpPr txBox="1"/>
          <p:nvPr/>
        </p:nvSpPr>
        <p:spPr>
          <a:xfrm>
            <a:off x="6858000" y="4064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Add a pre-commit hook that blocks secrets</a:t>
            </a:r>
            <a:endParaRPr lang="en-IN" sz="1600">
              <a:solidFill>
                <a:srgbClr val="1E2A35"/>
              </a:solidFill>
              <a:latin typeface="Calibri" panose="020F0502020204030204" pitchFamily="34" charset="0"/>
            </a:endParaRPr>
          </a:p>
        </p:txBody>
      </p:sp>
      <p:sp>
        <p:nvSpPr>
          <p:cNvPr id="18" name="Oval 17">
            <a:extLst>
              <a:ext uri="{FF2B5EF4-FFF2-40B4-BE49-F238E27FC236}">
                <a16:creationId xmlns:a16="http://schemas.microsoft.com/office/drawing/2014/main" id="{A7E49783-820D-1829-E76F-8D43AE8F7785}"/>
              </a:ext>
            </a:extLst>
          </p:cNvPr>
          <p:cNvSpPr/>
          <p:nvPr/>
        </p:nvSpPr>
        <p:spPr>
          <a:xfrm>
            <a:off x="6248400" y="4749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5</a:t>
            </a:r>
          </a:p>
        </p:txBody>
      </p:sp>
      <p:sp>
        <p:nvSpPr>
          <p:cNvPr id="19" name="TextBox 18">
            <a:extLst>
              <a:ext uri="{FF2B5EF4-FFF2-40B4-BE49-F238E27FC236}">
                <a16:creationId xmlns:a16="http://schemas.microsoft.com/office/drawing/2014/main" id="{F1D22E12-DC0A-EC8E-636F-437CBD186D92}"/>
              </a:ext>
            </a:extLst>
          </p:cNvPr>
          <p:cNvSpPr txBox="1"/>
          <p:nvPr/>
        </p:nvSpPr>
        <p:spPr>
          <a:xfrm>
            <a:off x="6858000" y="4826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Reset the lab files with git</a:t>
            </a:r>
            <a:endParaRPr lang="en-IN" sz="1600">
              <a:solidFill>
                <a:srgbClr val="1E2A35"/>
              </a:solidFill>
              <a:latin typeface="Calibri" panose="020F0502020204030204" pitchFamily="34" charset="0"/>
            </a:endParaRPr>
          </a:p>
        </p:txBody>
      </p:sp>
      <p:sp>
        <p:nvSpPr>
          <p:cNvPr id="20" name="TextBox 19">
            <a:extLst>
              <a:ext uri="{FF2B5EF4-FFF2-40B4-BE49-F238E27FC236}">
                <a16:creationId xmlns:a16="http://schemas.microsoft.com/office/drawing/2014/main" id="{D098499A-E9B9-ACCD-F26C-AD2812ECDFC2}"/>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1" name="TextBox 20">
            <a:extLst>
              <a:ext uri="{FF2B5EF4-FFF2-40B4-BE49-F238E27FC236}">
                <a16:creationId xmlns:a16="http://schemas.microsoft.com/office/drawing/2014/main" id="{B55086F0-5976-81F9-279A-F0EB2423DA1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17</a:t>
            </a:r>
          </a:p>
        </p:txBody>
      </p:sp>
    </p:spTree>
    <p:extLst>
      <p:ext uri="{BB962C8B-B14F-4D97-AF65-F5344CB8AC3E}">
        <p14:creationId xmlns:p14="http://schemas.microsoft.com/office/powerpoint/2010/main" val="33979728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3B3126D-ADCC-E2C8-6611-88CD71F4ECDD}"/>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02</a:t>
            </a:r>
          </a:p>
        </p:txBody>
      </p:sp>
      <p:sp>
        <p:nvSpPr>
          <p:cNvPr id="3" name="TextBox 2">
            <a:extLst>
              <a:ext uri="{FF2B5EF4-FFF2-40B4-BE49-F238E27FC236}">
                <a16:creationId xmlns:a16="http://schemas.microsoft.com/office/drawing/2014/main" id="{91C242C7-34FA-3DF5-1D30-6A6B41B879D8}"/>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Insecure code</a:t>
            </a:r>
          </a:p>
        </p:txBody>
      </p:sp>
      <p:sp>
        <p:nvSpPr>
          <p:cNvPr id="4" name="TextBox 3">
            <a:extLst>
              <a:ext uri="{FF2B5EF4-FFF2-40B4-BE49-F238E27FC236}">
                <a16:creationId xmlns:a16="http://schemas.microsoft.com/office/drawing/2014/main" id="{9D481CA1-3998-D89F-0B35-7E23FD4ADC1C}"/>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Ordinary-looking Python with serious security bugs, and how SonarQube finds them</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20A9A6C0-03C9-5376-D956-950A17912F9D}"/>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SonarQube   ·   20 minutes walkthrough</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150182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C82E04-37BC-8D3A-5AA9-CFB77C2C9C6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2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F9814313-2786-3152-E8A9-4C8ACEBF2A51}"/>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D1A58346-8C10-0646-0929-63992DB1ABDB}"/>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7DEF2F9F-CDD0-18A4-626C-C7214D9521C3}"/>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An internal Python service builds, archives and shares customer reports. It works, it passed code review, and it contains about twenty security bugs, each one a pattern attackers look for.</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EF35C9C2-D0BC-FF51-8BC7-2E0C0AA7FC0C}"/>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How many would your code review catch?</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DCE2E0F6-6710-7A65-1FD9-C0494148C23A}"/>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D70A37ED-36A8-773C-3C98-493A65F047F8}"/>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47BBEC07-E76C-BE17-BC10-29B01BDD8DE5}"/>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Recognise the most common code vulnerabilities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254F91D8-7C0F-08A6-D161-719CD78E2260}"/>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83B751F9-9802-6F88-C0BC-30B1BABEB974}"/>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Read a SonarQube report: issues and security hotspots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F7F94984-1D84-00AA-9088-B2706BD7C0EB}"/>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38A90FEE-E2D8-EC2B-1409-7065516A952F}"/>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how each bug is fixed, by comparing the insecure and fixed versions</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BFC67AB7-FFC7-032B-4CC3-94F7654D1725}"/>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Injection flaws have appeared in every OWASP Top 10 list since it began in 2003.</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544DC588-9529-1881-F64B-5BEA0EFD4BD9}"/>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30782F40-2693-62F1-7003-BF8D78E5A228}"/>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19</a:t>
            </a:r>
          </a:p>
        </p:txBody>
      </p:sp>
    </p:spTree>
    <p:extLst>
      <p:ext uri="{BB962C8B-B14F-4D97-AF65-F5344CB8AC3E}">
        <p14:creationId xmlns:p14="http://schemas.microsoft.com/office/powerpoint/2010/main" val="2952588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067BC2-ABF1-891F-3AF7-B3B90FA9BFF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Ordinary-looking code, serious risks</a:t>
            </a:r>
          </a:p>
        </p:txBody>
      </p:sp>
      <p:sp>
        <p:nvSpPr>
          <p:cNvPr id="3" name="Rectangle: Rounded Corners 2">
            <a:extLst>
              <a:ext uri="{FF2B5EF4-FFF2-40B4-BE49-F238E27FC236}">
                <a16:creationId xmlns:a16="http://schemas.microsoft.com/office/drawing/2014/main" id="{69B7677C-E878-52BC-3C9C-F168DF2BD13D}"/>
              </a:ext>
            </a:extLst>
          </p:cNvPr>
          <p:cNvSpPr/>
          <p:nvPr/>
        </p:nvSpPr>
        <p:spPr>
          <a:xfrm>
            <a:off x="6096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E267A1A0-3F8A-5629-1268-C29C64AE21EE}"/>
              </a:ext>
            </a:extLst>
          </p:cNvPr>
          <p:cNvSpPr txBox="1"/>
          <p:nvPr/>
        </p:nvSpPr>
        <p:spPr>
          <a:xfrm>
            <a:off x="8128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SQL injection</a:t>
            </a:r>
          </a:p>
        </p:txBody>
      </p:sp>
      <p:sp>
        <p:nvSpPr>
          <p:cNvPr id="5" name="TextBox 4">
            <a:extLst>
              <a:ext uri="{FF2B5EF4-FFF2-40B4-BE49-F238E27FC236}">
                <a16:creationId xmlns:a16="http://schemas.microsoft.com/office/drawing/2014/main" id="{8A75E0A0-4F8C-FFBF-CD60-64035BA94CF5}"/>
              </a:ext>
            </a:extLst>
          </p:cNvPr>
          <p:cNvSpPr txBox="1"/>
          <p:nvPr/>
        </p:nvSpPr>
        <p:spPr>
          <a:xfrm>
            <a:off x="812800" y="18288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f"... WHERE id = '{customer_id}'"</a:t>
            </a:r>
            <a:endParaRPr lang="en-IN" sz="1200">
              <a:solidFill>
                <a:srgbClr val="E4572E"/>
              </a:solidFill>
              <a:latin typeface="Consolas" panose="020B0609020204030204" pitchFamily="49" charset="0"/>
            </a:endParaRPr>
          </a:p>
        </p:txBody>
      </p:sp>
      <p:sp>
        <p:nvSpPr>
          <p:cNvPr id="6" name="TextBox 5">
            <a:extLst>
              <a:ext uri="{FF2B5EF4-FFF2-40B4-BE49-F238E27FC236}">
                <a16:creationId xmlns:a16="http://schemas.microsoft.com/office/drawing/2014/main" id="{A12D68AF-25F8-7299-C370-BB928C05BE1E}"/>
              </a:ext>
            </a:extLst>
          </p:cNvPr>
          <p:cNvSpPr txBox="1"/>
          <p:nvPr/>
        </p:nvSpPr>
        <p:spPr>
          <a:xfrm>
            <a:off x="8128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every customer with one crafted ID</a:t>
            </a:r>
            <a:endParaRPr lang="en-IN" sz="14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C7B71229-6204-AF0F-BBF8-79A987118540}"/>
              </a:ext>
            </a:extLst>
          </p:cNvPr>
          <p:cNvSpPr txBox="1"/>
          <p:nvPr/>
        </p:nvSpPr>
        <p:spPr>
          <a:xfrm>
            <a:off x="812800" y="30480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Parameterised query</a:t>
            </a:r>
          </a:p>
        </p:txBody>
      </p:sp>
      <p:sp>
        <p:nvSpPr>
          <p:cNvPr id="8" name="Rectangle: Rounded Corners 7">
            <a:extLst>
              <a:ext uri="{FF2B5EF4-FFF2-40B4-BE49-F238E27FC236}">
                <a16:creationId xmlns:a16="http://schemas.microsoft.com/office/drawing/2014/main" id="{168A312D-EFBA-7E0C-35C7-D2E73B8875AC}"/>
              </a:ext>
            </a:extLst>
          </p:cNvPr>
          <p:cNvSpPr/>
          <p:nvPr/>
        </p:nvSpPr>
        <p:spPr>
          <a:xfrm>
            <a:off x="43180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1515370D-0DFF-B888-9CBC-647988F673B4}"/>
              </a:ext>
            </a:extLst>
          </p:cNvPr>
          <p:cNvSpPr txBox="1"/>
          <p:nvPr/>
        </p:nvSpPr>
        <p:spPr>
          <a:xfrm>
            <a:off x="45212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Command injection</a:t>
            </a:r>
          </a:p>
        </p:txBody>
      </p:sp>
      <p:sp>
        <p:nvSpPr>
          <p:cNvPr id="10" name="TextBox 9">
            <a:extLst>
              <a:ext uri="{FF2B5EF4-FFF2-40B4-BE49-F238E27FC236}">
                <a16:creationId xmlns:a16="http://schemas.microsoft.com/office/drawing/2014/main" id="{581A3837-824F-19BC-FB09-5087C8D82F4D}"/>
              </a:ext>
            </a:extLst>
          </p:cNvPr>
          <p:cNvSpPr txBox="1"/>
          <p:nvPr/>
        </p:nvSpPr>
        <p:spPr>
          <a:xfrm>
            <a:off x="45212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subprocess.run(..., shell=True)</a:t>
            </a:r>
          </a:p>
        </p:txBody>
      </p:sp>
      <p:sp>
        <p:nvSpPr>
          <p:cNvPr id="11" name="TextBox 10">
            <a:extLst>
              <a:ext uri="{FF2B5EF4-FFF2-40B4-BE49-F238E27FC236}">
                <a16:creationId xmlns:a16="http://schemas.microsoft.com/office/drawing/2014/main" id="{30CA6087-3417-0C17-D84C-37FC5DA0693B}"/>
              </a:ext>
            </a:extLst>
          </p:cNvPr>
          <p:cNvSpPr txBox="1"/>
          <p:nvPr/>
        </p:nvSpPr>
        <p:spPr>
          <a:xfrm>
            <a:off x="45212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their own commands on the server</a:t>
            </a:r>
            <a:endParaRPr lang="en-IN" sz="14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88E0209F-5FB2-9790-B3F0-E09D714A45B8}"/>
              </a:ext>
            </a:extLst>
          </p:cNvPr>
          <p:cNvSpPr txBox="1"/>
          <p:nvPr/>
        </p:nvSpPr>
        <p:spPr>
          <a:xfrm>
            <a:off x="45212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Argument list, no shell</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8EA5FC2C-F192-CF08-57B8-C1FFBA4D8ABD}"/>
              </a:ext>
            </a:extLst>
          </p:cNvPr>
          <p:cNvSpPr/>
          <p:nvPr/>
        </p:nvSpPr>
        <p:spPr>
          <a:xfrm>
            <a:off x="80264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7347BCB-5E46-47A3-D7AB-177B8F62EA87}"/>
              </a:ext>
            </a:extLst>
          </p:cNvPr>
          <p:cNvSpPr txBox="1"/>
          <p:nvPr/>
        </p:nvSpPr>
        <p:spPr>
          <a:xfrm>
            <a:off x="82296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 execution</a:t>
            </a:r>
          </a:p>
        </p:txBody>
      </p:sp>
      <p:sp>
        <p:nvSpPr>
          <p:cNvPr id="15" name="TextBox 14">
            <a:extLst>
              <a:ext uri="{FF2B5EF4-FFF2-40B4-BE49-F238E27FC236}">
                <a16:creationId xmlns:a16="http://schemas.microsoft.com/office/drawing/2014/main" id="{F96D0221-8225-ECD3-BD9A-F49065088B59}"/>
              </a:ext>
            </a:extLst>
          </p:cNvPr>
          <p:cNvSpPr txBox="1"/>
          <p:nvPr/>
        </p:nvSpPr>
        <p:spPr>
          <a:xfrm>
            <a:off x="82296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eval(), pickle, yaml.load()</a:t>
            </a:r>
          </a:p>
        </p:txBody>
      </p:sp>
      <p:sp>
        <p:nvSpPr>
          <p:cNvPr id="16" name="TextBox 15">
            <a:extLst>
              <a:ext uri="{FF2B5EF4-FFF2-40B4-BE49-F238E27FC236}">
                <a16:creationId xmlns:a16="http://schemas.microsoft.com/office/drawing/2014/main" id="{9EBC5A5C-FA22-7BC3-7910-2695C8DFB502}"/>
              </a:ext>
            </a:extLst>
          </p:cNvPr>
          <p:cNvSpPr txBox="1"/>
          <p:nvPr/>
        </p:nvSpPr>
        <p:spPr>
          <a:xfrm>
            <a:off x="82296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any Python code they send</a:t>
            </a:r>
            <a:endParaRPr lang="en-IN" sz="14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DBF72216-3330-9E16-5274-4829111A42C5}"/>
              </a:ext>
            </a:extLst>
          </p:cNvPr>
          <p:cNvSpPr txBox="1"/>
          <p:nvPr/>
        </p:nvSpPr>
        <p:spPr>
          <a:xfrm>
            <a:off x="82296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Safe parsers and JSON</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349FE074-EC4D-7E60-C77F-48980D143F4E}"/>
              </a:ext>
            </a:extLst>
          </p:cNvPr>
          <p:cNvSpPr/>
          <p:nvPr/>
        </p:nvSpPr>
        <p:spPr>
          <a:xfrm>
            <a:off x="6096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id="{56C27B0C-9F50-3819-CE6D-CB16B0FC7D66}"/>
              </a:ext>
            </a:extLst>
          </p:cNvPr>
          <p:cNvSpPr txBox="1"/>
          <p:nvPr/>
        </p:nvSpPr>
        <p:spPr>
          <a:xfrm>
            <a:off x="8128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Broken TLS</a:t>
            </a:r>
          </a:p>
        </p:txBody>
      </p:sp>
      <p:sp>
        <p:nvSpPr>
          <p:cNvPr id="20" name="TextBox 19">
            <a:extLst>
              <a:ext uri="{FF2B5EF4-FFF2-40B4-BE49-F238E27FC236}">
                <a16:creationId xmlns:a16="http://schemas.microsoft.com/office/drawing/2014/main" id="{D8E59C3A-7B47-30B9-BD3E-3E463D2E6D20}"/>
              </a:ext>
            </a:extLst>
          </p:cNvPr>
          <p:cNvSpPr txBox="1"/>
          <p:nvPr/>
        </p:nvSpPr>
        <p:spPr>
          <a:xfrm>
            <a:off x="812800" y="43180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requests.get(url, verify=False)</a:t>
            </a:r>
            <a:endParaRPr lang="en-IN" sz="1200">
              <a:solidFill>
                <a:srgbClr val="E4572E"/>
              </a:solidFill>
              <a:latin typeface="Consolas" panose="020B0609020204030204" pitchFamily="49" charset="0"/>
            </a:endParaRPr>
          </a:p>
        </p:txBody>
      </p:sp>
      <p:sp>
        <p:nvSpPr>
          <p:cNvPr id="21" name="TextBox 20">
            <a:extLst>
              <a:ext uri="{FF2B5EF4-FFF2-40B4-BE49-F238E27FC236}">
                <a16:creationId xmlns:a16="http://schemas.microsoft.com/office/drawing/2014/main" id="{BFA7EDC3-18FE-6364-3F25-7F8556429863}"/>
              </a:ext>
            </a:extLst>
          </p:cNvPr>
          <p:cNvSpPr txBox="1"/>
          <p:nvPr/>
        </p:nvSpPr>
        <p:spPr>
          <a:xfrm>
            <a:off x="8128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or change traffic in transit</a:t>
            </a:r>
            <a:endParaRPr lang="en-IN" sz="14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495DFD57-E20C-48B0-4D4E-3E3F31FC3627}"/>
              </a:ext>
            </a:extLst>
          </p:cNvPr>
          <p:cNvSpPr txBox="1"/>
          <p:nvPr/>
        </p:nvSpPr>
        <p:spPr>
          <a:xfrm>
            <a:off x="812800" y="55372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Keep certificate checks on</a:t>
            </a:r>
            <a:endParaRPr lang="en-IN" sz="1400" b="1">
              <a:solidFill>
                <a:srgbClr val="1B998B"/>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54F51B63-EDC6-35F0-DD79-2C54703FE714}"/>
              </a:ext>
            </a:extLst>
          </p:cNvPr>
          <p:cNvSpPr/>
          <p:nvPr/>
        </p:nvSpPr>
        <p:spPr>
          <a:xfrm>
            <a:off x="43180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27491EAA-E534-AA23-25BE-122C9939D179}"/>
              </a:ext>
            </a:extLst>
          </p:cNvPr>
          <p:cNvSpPr txBox="1"/>
          <p:nvPr/>
        </p:nvSpPr>
        <p:spPr>
          <a:xfrm>
            <a:off x="45212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Weak cryptography</a:t>
            </a:r>
          </a:p>
        </p:txBody>
      </p:sp>
      <p:sp>
        <p:nvSpPr>
          <p:cNvPr id="25" name="TextBox 24">
            <a:extLst>
              <a:ext uri="{FF2B5EF4-FFF2-40B4-BE49-F238E27FC236}">
                <a16:creationId xmlns:a16="http://schemas.microsoft.com/office/drawing/2014/main" id="{95403267-E708-8572-E12C-6661FCBFCA7A}"/>
              </a:ext>
            </a:extLst>
          </p:cNvPr>
          <p:cNvSpPr txBox="1"/>
          <p:nvPr/>
        </p:nvSpPr>
        <p:spPr>
          <a:xfrm>
            <a:off x="45212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md5, AES-ECB, RSA-1024</a:t>
            </a:r>
          </a:p>
        </p:txBody>
      </p:sp>
      <p:sp>
        <p:nvSpPr>
          <p:cNvPr id="26" name="TextBox 25">
            <a:extLst>
              <a:ext uri="{FF2B5EF4-FFF2-40B4-BE49-F238E27FC236}">
                <a16:creationId xmlns:a16="http://schemas.microsoft.com/office/drawing/2014/main" id="{1943BF3A-09E3-5FD4-D87E-386A1674AA53}"/>
              </a:ext>
            </a:extLst>
          </p:cNvPr>
          <p:cNvSpPr txBox="1"/>
          <p:nvPr/>
        </p:nvSpPr>
        <p:spPr>
          <a:xfrm>
            <a:off x="45212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crack hashes, see patterns, break keys</a:t>
            </a:r>
            <a:endParaRPr lang="en-IN" sz="1400">
              <a:solidFill>
                <a:srgbClr val="1E2A35"/>
              </a:solidFill>
              <a:latin typeface="Calibri" panose="020F0502020204030204" pitchFamily="34" charset="0"/>
            </a:endParaRPr>
          </a:p>
        </p:txBody>
      </p:sp>
      <p:sp>
        <p:nvSpPr>
          <p:cNvPr id="27" name="TextBox 26">
            <a:extLst>
              <a:ext uri="{FF2B5EF4-FFF2-40B4-BE49-F238E27FC236}">
                <a16:creationId xmlns:a16="http://schemas.microsoft.com/office/drawing/2014/main" id="{ABAF2C8D-3844-3989-FD68-AF05AF312CF7}"/>
              </a:ext>
            </a:extLst>
          </p:cNvPr>
          <p:cNvSpPr txBox="1"/>
          <p:nvPr/>
        </p:nvSpPr>
        <p:spPr>
          <a:xfrm>
            <a:off x="45212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PBKDF2, AES-GCM, RSA-3072</a:t>
            </a:r>
          </a:p>
        </p:txBody>
      </p:sp>
      <p:sp>
        <p:nvSpPr>
          <p:cNvPr id="28" name="Rectangle: Rounded Corners 27">
            <a:extLst>
              <a:ext uri="{FF2B5EF4-FFF2-40B4-BE49-F238E27FC236}">
                <a16:creationId xmlns:a16="http://schemas.microsoft.com/office/drawing/2014/main" id="{93631FC0-6210-7B05-21E9-57FC9A4FE564}"/>
              </a:ext>
            </a:extLst>
          </p:cNvPr>
          <p:cNvSpPr/>
          <p:nvPr/>
        </p:nvSpPr>
        <p:spPr>
          <a:xfrm>
            <a:off x="80264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DAC252E9-1782-1FD3-FF72-7B8CADEA41D8}"/>
              </a:ext>
            </a:extLst>
          </p:cNvPr>
          <p:cNvSpPr txBox="1"/>
          <p:nvPr/>
        </p:nvSpPr>
        <p:spPr>
          <a:xfrm>
            <a:off x="82296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Guessable tokens</a:t>
            </a:r>
          </a:p>
        </p:txBody>
      </p:sp>
      <p:sp>
        <p:nvSpPr>
          <p:cNvPr id="30" name="TextBox 29">
            <a:extLst>
              <a:ext uri="{FF2B5EF4-FFF2-40B4-BE49-F238E27FC236}">
                <a16:creationId xmlns:a16="http://schemas.microsoft.com/office/drawing/2014/main" id="{38977E0A-5F21-98D1-6DB1-0ACA7D78413A}"/>
              </a:ext>
            </a:extLst>
          </p:cNvPr>
          <p:cNvSpPr txBox="1"/>
          <p:nvPr/>
        </p:nvSpPr>
        <p:spPr>
          <a:xfrm>
            <a:off x="82296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random.randint(100000, 999999)</a:t>
            </a:r>
          </a:p>
        </p:txBody>
      </p:sp>
      <p:sp>
        <p:nvSpPr>
          <p:cNvPr id="31" name="TextBox 30">
            <a:extLst>
              <a:ext uri="{FF2B5EF4-FFF2-40B4-BE49-F238E27FC236}">
                <a16:creationId xmlns:a16="http://schemas.microsoft.com/office/drawing/2014/main" id="{11F0C38C-35B7-944F-6454-CBAC9B8238BD}"/>
              </a:ext>
            </a:extLst>
          </p:cNvPr>
          <p:cNvSpPr txBox="1"/>
          <p:nvPr/>
        </p:nvSpPr>
        <p:spPr>
          <a:xfrm>
            <a:off x="82296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guess someone's session token</a:t>
            </a:r>
            <a:endParaRPr lang="en-IN" sz="1400">
              <a:solidFill>
                <a:srgbClr val="1E2A35"/>
              </a:solidFill>
              <a:latin typeface="Calibri" panose="020F0502020204030204" pitchFamily="34" charset="0"/>
            </a:endParaRPr>
          </a:p>
        </p:txBody>
      </p:sp>
      <p:sp>
        <p:nvSpPr>
          <p:cNvPr id="32" name="TextBox 31">
            <a:extLst>
              <a:ext uri="{FF2B5EF4-FFF2-40B4-BE49-F238E27FC236}">
                <a16:creationId xmlns:a16="http://schemas.microsoft.com/office/drawing/2014/main" id="{66C2BCFE-2F4C-BAB1-6C25-EB1D57203227}"/>
              </a:ext>
            </a:extLst>
          </p:cNvPr>
          <p:cNvSpPr txBox="1"/>
          <p:nvPr/>
        </p:nvSpPr>
        <p:spPr>
          <a:xfrm>
            <a:off x="82296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secrets.token_urlsafe()</a:t>
            </a:r>
          </a:p>
        </p:txBody>
      </p:sp>
      <p:sp>
        <p:nvSpPr>
          <p:cNvPr id="33" name="TextBox 32">
            <a:extLst>
              <a:ext uri="{FF2B5EF4-FFF2-40B4-BE49-F238E27FC236}">
                <a16:creationId xmlns:a16="http://schemas.microsoft.com/office/drawing/2014/main" id="{D3A507CC-9BE8-477A-12C4-03DF3AC1079E}"/>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4" name="TextBox 33">
            <a:extLst>
              <a:ext uri="{FF2B5EF4-FFF2-40B4-BE49-F238E27FC236}">
                <a16:creationId xmlns:a16="http://schemas.microsoft.com/office/drawing/2014/main" id="{00AEB1F1-DD7B-D5C4-BCBA-CDA2B70302A4}"/>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20</a:t>
            </a:r>
          </a:p>
        </p:txBody>
      </p:sp>
    </p:spTree>
    <p:extLst>
      <p:ext uri="{BB962C8B-B14F-4D97-AF65-F5344CB8AC3E}">
        <p14:creationId xmlns:p14="http://schemas.microsoft.com/office/powerpoint/2010/main" val="26100976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DD6BB2-8D13-4369-86FB-620E7DC63B2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Reading a SonarQube report</a:t>
            </a:r>
          </a:p>
        </p:txBody>
      </p:sp>
      <p:sp>
        <p:nvSpPr>
          <p:cNvPr id="3" name="Rectangle: Rounded Corners 2">
            <a:extLst>
              <a:ext uri="{FF2B5EF4-FFF2-40B4-BE49-F238E27FC236}">
                <a16:creationId xmlns:a16="http://schemas.microsoft.com/office/drawing/2014/main" id="{09775D7C-DB94-576C-2B2D-7D9EE5AF9A92}"/>
              </a:ext>
            </a:extLst>
          </p:cNvPr>
          <p:cNvSpPr/>
          <p:nvPr/>
        </p:nvSpPr>
        <p:spPr>
          <a:xfrm>
            <a:off x="6096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CD96C31B-B32C-41CF-6F06-8B3F59B809F8}"/>
              </a:ext>
            </a:extLst>
          </p:cNvPr>
          <p:cNvSpPr/>
          <p:nvPr/>
        </p:nvSpPr>
        <p:spPr>
          <a:xfrm>
            <a:off x="8636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19D62336-DC05-8ED9-687A-261C5FCB7FAE}"/>
              </a:ext>
            </a:extLst>
          </p:cNvPr>
          <p:cNvSpPr txBox="1"/>
          <p:nvPr/>
        </p:nvSpPr>
        <p:spPr>
          <a:xfrm>
            <a:off x="15748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Scan</a:t>
            </a:r>
          </a:p>
        </p:txBody>
      </p:sp>
      <p:sp>
        <p:nvSpPr>
          <p:cNvPr id="6" name="TextBox 5">
            <a:extLst>
              <a:ext uri="{FF2B5EF4-FFF2-40B4-BE49-F238E27FC236}">
                <a16:creationId xmlns:a16="http://schemas.microsoft.com/office/drawing/2014/main" id="{2CEF0D8C-75C5-38F5-C7E2-C64809E79781}"/>
              </a:ext>
            </a:extLst>
          </p:cNvPr>
          <p:cNvSpPr txBox="1"/>
          <p:nvPr/>
        </p:nvSpPr>
        <p:spPr>
          <a:xfrm>
            <a:off x="15748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The scanner reads the code and sends its findings to the SonarQube server.</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55723789-D29E-90F1-9778-AD9C41927897}"/>
              </a:ext>
            </a:extLst>
          </p:cNvPr>
          <p:cNvSpPr txBox="1"/>
          <p:nvPr/>
        </p:nvSpPr>
        <p:spPr>
          <a:xfrm>
            <a:off x="1574800" y="2819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Two projects: insecure and fixed</a:t>
            </a:r>
            <a:endParaRPr lang="en-IN" sz="1400" b="1">
              <a:solidFill>
                <a:srgbClr val="1B998B"/>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E06BCC87-7CCD-6805-5D91-559E99574819}"/>
              </a:ext>
            </a:extLst>
          </p:cNvPr>
          <p:cNvSpPr/>
          <p:nvPr/>
        </p:nvSpPr>
        <p:spPr>
          <a:xfrm>
            <a:off x="62484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DE138F6A-E5D4-35A3-320D-6512F78D8B7E}"/>
              </a:ext>
            </a:extLst>
          </p:cNvPr>
          <p:cNvSpPr/>
          <p:nvPr/>
        </p:nvSpPr>
        <p:spPr>
          <a:xfrm>
            <a:off x="65024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A92981F4-EB6D-2B75-B53D-F96F3637ECDD}"/>
              </a:ext>
            </a:extLst>
          </p:cNvPr>
          <p:cNvSpPr txBox="1"/>
          <p:nvPr/>
        </p:nvSpPr>
        <p:spPr>
          <a:xfrm>
            <a:off x="72136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Issues</a:t>
            </a:r>
          </a:p>
        </p:txBody>
      </p:sp>
      <p:sp>
        <p:nvSpPr>
          <p:cNvPr id="11" name="TextBox 10">
            <a:extLst>
              <a:ext uri="{FF2B5EF4-FFF2-40B4-BE49-F238E27FC236}">
                <a16:creationId xmlns:a16="http://schemas.microsoft.com/office/drawing/2014/main" id="{2BD21839-EA84-E69B-BBF6-6CAD4E1796AC}"/>
              </a:ext>
            </a:extLst>
          </p:cNvPr>
          <p:cNvSpPr txBox="1"/>
          <p:nvPr/>
        </p:nvSpPr>
        <p:spPr>
          <a:xfrm>
            <a:off x="72136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Confirmed bugs and vulnerabilities, each pointing at the exact line, with an explanation.</a:t>
            </a:r>
            <a:endParaRPr lang="en-IN" sz="15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10D60AFC-CDCE-B142-7801-4E9B695CA996}"/>
              </a:ext>
            </a:extLst>
          </p:cNvPr>
          <p:cNvSpPr txBox="1"/>
          <p:nvPr/>
        </p:nvSpPr>
        <p:spPr>
          <a:xfrm>
            <a:off x="7213600" y="2819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certificate checks turned off</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ABBB51E9-CACD-051F-C8F4-3B95E762F4F8}"/>
              </a:ext>
            </a:extLst>
          </p:cNvPr>
          <p:cNvSpPr/>
          <p:nvPr/>
        </p:nvSpPr>
        <p:spPr>
          <a:xfrm>
            <a:off x="6096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Oval 13">
            <a:extLst>
              <a:ext uri="{FF2B5EF4-FFF2-40B4-BE49-F238E27FC236}">
                <a16:creationId xmlns:a16="http://schemas.microsoft.com/office/drawing/2014/main" id="{462C554B-B2B4-7C05-555A-85C836882137}"/>
              </a:ext>
            </a:extLst>
          </p:cNvPr>
          <p:cNvSpPr/>
          <p:nvPr/>
        </p:nvSpPr>
        <p:spPr>
          <a:xfrm>
            <a:off x="8636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822DFEC5-732F-C129-D057-8319DFF75C6D}"/>
              </a:ext>
            </a:extLst>
          </p:cNvPr>
          <p:cNvSpPr txBox="1"/>
          <p:nvPr/>
        </p:nvSpPr>
        <p:spPr>
          <a:xfrm>
            <a:off x="15748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Security hotspots</a:t>
            </a:r>
          </a:p>
        </p:txBody>
      </p:sp>
      <p:sp>
        <p:nvSpPr>
          <p:cNvPr id="16" name="TextBox 15">
            <a:extLst>
              <a:ext uri="{FF2B5EF4-FFF2-40B4-BE49-F238E27FC236}">
                <a16:creationId xmlns:a16="http://schemas.microsoft.com/office/drawing/2014/main" id="{EE19F5E6-DDF9-651F-8911-F7A2C12AAA5C}"/>
              </a:ext>
            </a:extLst>
          </p:cNvPr>
          <p:cNvSpPr txBox="1"/>
          <p:nvPr/>
        </p:nvSpPr>
        <p:spPr>
          <a:xfrm>
            <a:off x="15748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Risky code that a person must review: it may be safe in context, or it may not.</a:t>
            </a:r>
            <a:endParaRPr lang="en-IN" sz="15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41D0A33C-3BA5-B88B-1FC3-DAB8D86D748C}"/>
              </a:ext>
            </a:extLst>
          </p:cNvPr>
          <p:cNvSpPr txBox="1"/>
          <p:nvPr/>
        </p:nvSpPr>
        <p:spPr>
          <a:xfrm>
            <a:off x="15748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eval, shell=True, MD5</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5E5868E3-DEFA-5240-3EDB-5B5FB6408E8E}"/>
              </a:ext>
            </a:extLst>
          </p:cNvPr>
          <p:cNvSpPr/>
          <p:nvPr/>
        </p:nvSpPr>
        <p:spPr>
          <a:xfrm>
            <a:off x="62484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Oval 18">
            <a:extLst>
              <a:ext uri="{FF2B5EF4-FFF2-40B4-BE49-F238E27FC236}">
                <a16:creationId xmlns:a16="http://schemas.microsoft.com/office/drawing/2014/main" id="{D44BF2EA-E199-2333-9F2C-6CCAE5A022C6}"/>
              </a:ext>
            </a:extLst>
          </p:cNvPr>
          <p:cNvSpPr/>
          <p:nvPr/>
        </p:nvSpPr>
        <p:spPr>
          <a:xfrm>
            <a:off x="65024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0" name="TextBox 19">
            <a:extLst>
              <a:ext uri="{FF2B5EF4-FFF2-40B4-BE49-F238E27FC236}">
                <a16:creationId xmlns:a16="http://schemas.microsoft.com/office/drawing/2014/main" id="{5B11A1CB-C81D-6572-A248-BFCEE3961E96}"/>
              </a:ext>
            </a:extLst>
          </p:cNvPr>
          <p:cNvSpPr txBox="1"/>
          <p:nvPr/>
        </p:nvSpPr>
        <p:spPr>
          <a:xfrm>
            <a:off x="72136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Review</a:t>
            </a:r>
          </a:p>
        </p:txBody>
      </p:sp>
      <p:sp>
        <p:nvSpPr>
          <p:cNvPr id="21" name="TextBox 20">
            <a:extLst>
              <a:ext uri="{FF2B5EF4-FFF2-40B4-BE49-F238E27FC236}">
                <a16:creationId xmlns:a16="http://schemas.microsoft.com/office/drawing/2014/main" id="{FB9DC606-C07F-0567-D632-E73E4E2DAECD}"/>
              </a:ext>
            </a:extLst>
          </p:cNvPr>
          <p:cNvSpPr txBox="1"/>
          <p:nvPr/>
        </p:nvSpPr>
        <p:spPr>
          <a:xfrm>
            <a:off x="72136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Mark each hotspot Safe or Fixed, with a reason. The decision is recorded for audit.</a:t>
            </a:r>
            <a:endParaRPr lang="en-IN" sz="15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E295115F-81A2-32A9-D4C2-D77CC65203AB}"/>
              </a:ext>
            </a:extLst>
          </p:cNvPr>
          <p:cNvSpPr txBox="1"/>
          <p:nvPr/>
        </p:nvSpPr>
        <p:spPr>
          <a:xfrm>
            <a:off x="72136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Fixed version: every hotspot reviewed</a:t>
            </a:r>
            <a:endParaRPr lang="en-IN" sz="1400" b="1">
              <a:solidFill>
                <a:srgbClr val="1B998B"/>
              </a:solidFill>
              <a:latin typeface="Calibri" panose="020F0502020204030204" pitchFamily="34" charset="0"/>
            </a:endParaRPr>
          </a:p>
        </p:txBody>
      </p:sp>
      <p:sp>
        <p:nvSpPr>
          <p:cNvPr id="23" name="TextBox 22">
            <a:extLst>
              <a:ext uri="{FF2B5EF4-FFF2-40B4-BE49-F238E27FC236}">
                <a16:creationId xmlns:a16="http://schemas.microsoft.com/office/drawing/2014/main" id="{4A16B502-4AE8-BA07-8817-053E12714AEC}"/>
              </a:ext>
            </a:extLst>
          </p:cNvPr>
          <p:cNvSpPr txBox="1"/>
          <p:nvPr/>
        </p:nvSpPr>
        <p:spPr>
          <a:xfrm>
            <a:off x="609600" y="56896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Teams run SonarQube on every pull request, so problems are found before the code is merged.</a:t>
            </a:r>
            <a:endParaRPr lang="en-IN" sz="1500">
              <a:solidFill>
                <a:srgbClr val="5B6B79"/>
              </a:solidFill>
              <a:latin typeface="Calibri" panose="020F0502020204030204" pitchFamily="34" charset="0"/>
            </a:endParaRPr>
          </a:p>
        </p:txBody>
      </p:sp>
      <p:sp>
        <p:nvSpPr>
          <p:cNvPr id="24" name="TextBox 23">
            <a:extLst>
              <a:ext uri="{FF2B5EF4-FFF2-40B4-BE49-F238E27FC236}">
                <a16:creationId xmlns:a16="http://schemas.microsoft.com/office/drawing/2014/main" id="{66C77DC3-4A09-B404-2402-0F57ACEB5E08}"/>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B06D4BF5-8404-FB1B-9648-A834B7E7FA3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21</a:t>
            </a:r>
          </a:p>
        </p:txBody>
      </p:sp>
    </p:spTree>
    <p:extLst>
      <p:ext uri="{BB962C8B-B14F-4D97-AF65-F5344CB8AC3E}">
        <p14:creationId xmlns:p14="http://schemas.microsoft.com/office/powerpoint/2010/main" val="7904005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3B4DDA-3DBD-4F60-FB23-6337170703AB}"/>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2 · Open the lab guide</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D2AE66AB-0360-074A-A33B-6E34769DC8E7}"/>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OPEN IN VS CODE</a:t>
            </a:r>
          </a:p>
        </p:txBody>
      </p:sp>
      <p:sp>
        <p:nvSpPr>
          <p:cNvPr id="4" name="Rectangle: Rounded Corners 3">
            <a:extLst>
              <a:ext uri="{FF2B5EF4-FFF2-40B4-BE49-F238E27FC236}">
                <a16:creationId xmlns:a16="http://schemas.microsoft.com/office/drawing/2014/main" id="{A45C5DEC-1E9F-D587-7198-3A6D719B2E40}"/>
              </a:ext>
            </a:extLst>
          </p:cNvPr>
          <p:cNvSpPr/>
          <p:nvPr/>
        </p:nvSpPr>
        <p:spPr>
          <a:xfrm>
            <a:off x="609600" y="1600200"/>
            <a:ext cx="5080000" cy="609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5E8A2AD-4415-6446-0C52-E35FCAAF9837}"/>
              </a:ext>
            </a:extLst>
          </p:cNvPr>
          <p:cNvSpPr txBox="1"/>
          <p:nvPr/>
        </p:nvSpPr>
        <p:spPr>
          <a:xfrm>
            <a:off x="863600" y="1778000"/>
            <a:ext cx="45720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labs/lab2-insecure-code/README.md</a:t>
            </a:r>
          </a:p>
        </p:txBody>
      </p:sp>
      <p:sp>
        <p:nvSpPr>
          <p:cNvPr id="6" name="TextBox 5">
            <a:extLst>
              <a:ext uri="{FF2B5EF4-FFF2-40B4-BE49-F238E27FC236}">
                <a16:creationId xmlns:a16="http://schemas.microsoft.com/office/drawing/2014/main" id="{C84CC899-C3C1-B356-19A0-E43D2908C19E}"/>
              </a:ext>
            </a:extLst>
          </p:cNvPr>
          <p:cNvSpPr txBox="1"/>
          <p:nvPr/>
        </p:nvSpPr>
        <p:spPr>
          <a:xfrm>
            <a:off x="609600" y="25146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WHERE</a:t>
            </a:r>
          </a:p>
        </p:txBody>
      </p:sp>
      <p:sp>
        <p:nvSpPr>
          <p:cNvPr id="7" name="TextBox 6">
            <a:extLst>
              <a:ext uri="{FF2B5EF4-FFF2-40B4-BE49-F238E27FC236}">
                <a16:creationId xmlns:a16="http://schemas.microsoft.com/office/drawing/2014/main" id="{49BFEE61-6B85-E55D-A7EE-AED3ED2C1172}"/>
              </a:ext>
            </a:extLst>
          </p:cNvPr>
          <p:cNvSpPr txBox="1"/>
          <p:nvPr/>
        </p:nvSpPr>
        <p:spPr>
          <a:xfrm>
            <a:off x="609600" y="2794000"/>
            <a:ext cx="50800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Read the code in VS Code. SonarQube runs on my screen, from a host terminal (not the toolbox).</a:t>
            </a:r>
            <a:endParaRPr lang="en-IN" sz="16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1165FF36-CC2A-B21E-7E4B-C70D203E78EC}"/>
              </a:ext>
            </a:extLst>
          </p:cNvPr>
          <p:cNvSpPr txBox="1"/>
          <p:nvPr/>
        </p:nvSpPr>
        <p:spPr>
          <a:xfrm>
            <a:off x="609600" y="3860800"/>
            <a:ext cx="50800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Every step in the guide shows the command to run and the result to expect.</a:t>
            </a:r>
            <a:endParaRPr lang="en-IN" sz="1500">
              <a:solidFill>
                <a:srgbClr val="5B6B79"/>
              </a:solidFill>
              <a:latin typeface="Calibri" panose="020F0502020204030204" pitchFamily="34" charset="0"/>
            </a:endParaRPr>
          </a:p>
        </p:txBody>
      </p:sp>
      <p:sp>
        <p:nvSpPr>
          <p:cNvPr id="9" name="TextBox 8">
            <a:extLst>
              <a:ext uri="{FF2B5EF4-FFF2-40B4-BE49-F238E27FC236}">
                <a16:creationId xmlns:a16="http://schemas.microsoft.com/office/drawing/2014/main" id="{0D6C63BE-6E4D-42B2-757E-B472A9C38DED}"/>
              </a:ext>
            </a:extLst>
          </p:cNvPr>
          <p:cNvSpPr txBox="1"/>
          <p:nvPr/>
        </p:nvSpPr>
        <p:spPr>
          <a:xfrm>
            <a:off x="6248400" y="1320800"/>
            <a:ext cx="5334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WHAT YOU'LL DO</a:t>
            </a:r>
          </a:p>
        </p:txBody>
      </p:sp>
      <p:sp>
        <p:nvSpPr>
          <p:cNvPr id="10" name="Oval 9">
            <a:extLst>
              <a:ext uri="{FF2B5EF4-FFF2-40B4-BE49-F238E27FC236}">
                <a16:creationId xmlns:a16="http://schemas.microsoft.com/office/drawing/2014/main" id="{9F72B6D5-0645-8F5B-2736-DD41F3C88273}"/>
              </a:ext>
            </a:extLst>
          </p:cNvPr>
          <p:cNvSpPr/>
          <p:nvPr/>
        </p:nvSpPr>
        <p:spPr>
          <a:xfrm>
            <a:off x="6248400" y="1701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1</a:t>
            </a:r>
          </a:p>
        </p:txBody>
      </p:sp>
      <p:sp>
        <p:nvSpPr>
          <p:cNvPr id="11" name="TextBox 10">
            <a:extLst>
              <a:ext uri="{FF2B5EF4-FFF2-40B4-BE49-F238E27FC236}">
                <a16:creationId xmlns:a16="http://schemas.microsoft.com/office/drawing/2014/main" id="{74FAE339-9B40-022D-2F0E-CB9F910982C5}"/>
              </a:ext>
            </a:extLst>
          </p:cNvPr>
          <p:cNvSpPr txBox="1"/>
          <p:nvPr/>
        </p:nvSpPr>
        <p:spPr>
          <a:xfrm>
            <a:off x="6858000" y="1778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Start SonarQube and log in</a:t>
            </a:r>
            <a:endParaRPr lang="en-IN" sz="16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0796B954-F9A3-8C24-B403-C75D974072A5}"/>
              </a:ext>
            </a:extLst>
          </p:cNvPr>
          <p:cNvSpPr/>
          <p:nvPr/>
        </p:nvSpPr>
        <p:spPr>
          <a:xfrm>
            <a:off x="6248400" y="2463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50DC5914-43C1-E17E-E2E4-174894CD4215}"/>
              </a:ext>
            </a:extLst>
          </p:cNvPr>
          <p:cNvSpPr txBox="1"/>
          <p:nvPr/>
        </p:nvSpPr>
        <p:spPr>
          <a:xfrm>
            <a:off x="6858000" y="2540000"/>
            <a:ext cx="4724400" cy="369332"/>
          </a:xfrm>
          <a:prstGeom prst="rect">
            <a:avLst/>
          </a:prstGeom>
          <a:noFill/>
        </p:spPr>
        <p:txBody>
          <a:bodyPr vert="horz" wrap="square" lIns="0" tIns="0" rIns="0" bIns="0" rtlCol="0" anchor="t">
            <a:noAutofit/>
          </a:bodyPr>
          <a:lstStyle/>
          <a:p>
            <a:r>
              <a:rPr lang="en-IN" sz="1600">
                <a:solidFill>
                  <a:srgbClr val="1E2A35"/>
                </a:solidFill>
                <a:latin typeface="Calibri" panose="020F0502020204030204" pitchFamily="34" charset="0"/>
              </a:rPr>
              <a:t>Scan the insecure code</a:t>
            </a:r>
          </a:p>
        </p:txBody>
      </p:sp>
      <p:sp>
        <p:nvSpPr>
          <p:cNvPr id="14" name="Oval 13">
            <a:extLst>
              <a:ext uri="{FF2B5EF4-FFF2-40B4-BE49-F238E27FC236}">
                <a16:creationId xmlns:a16="http://schemas.microsoft.com/office/drawing/2014/main" id="{E61CFA25-C566-50BF-4B2D-B592D43180FD}"/>
              </a:ext>
            </a:extLst>
          </p:cNvPr>
          <p:cNvSpPr/>
          <p:nvPr/>
        </p:nvSpPr>
        <p:spPr>
          <a:xfrm>
            <a:off x="6248400" y="3225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8E715B22-9FC5-BD82-AB92-DE48590B623B}"/>
              </a:ext>
            </a:extLst>
          </p:cNvPr>
          <p:cNvSpPr txBox="1"/>
          <p:nvPr/>
        </p:nvSpPr>
        <p:spPr>
          <a:xfrm>
            <a:off x="6858000" y="3302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Read the issues and security hotspots</a:t>
            </a:r>
            <a:endParaRPr lang="en-IN" sz="1600">
              <a:solidFill>
                <a:srgbClr val="1E2A35"/>
              </a:solidFill>
              <a:latin typeface="Calibri" panose="020F0502020204030204" pitchFamily="34" charset="0"/>
            </a:endParaRPr>
          </a:p>
        </p:txBody>
      </p:sp>
      <p:sp>
        <p:nvSpPr>
          <p:cNvPr id="16" name="Oval 15">
            <a:extLst>
              <a:ext uri="{FF2B5EF4-FFF2-40B4-BE49-F238E27FC236}">
                <a16:creationId xmlns:a16="http://schemas.microsoft.com/office/drawing/2014/main" id="{07000FC4-5F57-637B-50B5-2BE570BF1E7A}"/>
              </a:ext>
            </a:extLst>
          </p:cNvPr>
          <p:cNvSpPr/>
          <p:nvPr/>
        </p:nvSpPr>
        <p:spPr>
          <a:xfrm>
            <a:off x="6248400" y="3987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6AB51934-3DF9-88D8-9B59-09D0A902828C}"/>
              </a:ext>
            </a:extLst>
          </p:cNvPr>
          <p:cNvSpPr txBox="1"/>
          <p:nvPr/>
        </p:nvSpPr>
        <p:spPr>
          <a:xfrm>
            <a:off x="6858000" y="4064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Scan the fixed code and review its hotspots</a:t>
            </a:r>
            <a:endParaRPr lang="en-IN" sz="1600">
              <a:solidFill>
                <a:srgbClr val="1E2A35"/>
              </a:solidFill>
              <a:latin typeface="Calibri" panose="020F0502020204030204" pitchFamily="34" charset="0"/>
            </a:endParaRPr>
          </a:p>
        </p:txBody>
      </p:sp>
      <p:sp>
        <p:nvSpPr>
          <p:cNvPr id="18" name="Oval 17">
            <a:extLst>
              <a:ext uri="{FF2B5EF4-FFF2-40B4-BE49-F238E27FC236}">
                <a16:creationId xmlns:a16="http://schemas.microsoft.com/office/drawing/2014/main" id="{974E8312-A22E-96C3-D3C8-61366CC615FB}"/>
              </a:ext>
            </a:extLst>
          </p:cNvPr>
          <p:cNvSpPr/>
          <p:nvPr/>
        </p:nvSpPr>
        <p:spPr>
          <a:xfrm>
            <a:off x="6248400" y="4749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5</a:t>
            </a:r>
          </a:p>
        </p:txBody>
      </p:sp>
      <p:sp>
        <p:nvSpPr>
          <p:cNvPr id="19" name="TextBox 18">
            <a:extLst>
              <a:ext uri="{FF2B5EF4-FFF2-40B4-BE49-F238E27FC236}">
                <a16:creationId xmlns:a16="http://schemas.microsoft.com/office/drawing/2014/main" id="{A2A95C12-8DD2-9480-7AA6-BA9B0366B888}"/>
              </a:ext>
            </a:extLst>
          </p:cNvPr>
          <p:cNvSpPr txBox="1"/>
          <p:nvPr/>
        </p:nvSpPr>
        <p:spPr>
          <a:xfrm>
            <a:off x="6858000" y="4826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Compare the two versions in VS Code</a:t>
            </a:r>
            <a:endParaRPr lang="en-IN" sz="1600">
              <a:solidFill>
                <a:srgbClr val="1E2A35"/>
              </a:solidFill>
              <a:latin typeface="Calibri" panose="020F0502020204030204" pitchFamily="34" charset="0"/>
            </a:endParaRPr>
          </a:p>
        </p:txBody>
      </p:sp>
      <p:sp>
        <p:nvSpPr>
          <p:cNvPr id="20" name="TextBox 19">
            <a:extLst>
              <a:ext uri="{FF2B5EF4-FFF2-40B4-BE49-F238E27FC236}">
                <a16:creationId xmlns:a16="http://schemas.microsoft.com/office/drawing/2014/main" id="{021C1412-7BDF-56B8-FE2D-E2C196D5BA9C}"/>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1" name="TextBox 20">
            <a:extLst>
              <a:ext uri="{FF2B5EF4-FFF2-40B4-BE49-F238E27FC236}">
                <a16:creationId xmlns:a16="http://schemas.microsoft.com/office/drawing/2014/main" id="{FC336E1B-CBB7-E7BF-E699-A018ACB8199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22</a:t>
            </a:r>
          </a:p>
        </p:txBody>
      </p:sp>
    </p:spTree>
    <p:extLst>
      <p:ext uri="{BB962C8B-B14F-4D97-AF65-F5344CB8AC3E}">
        <p14:creationId xmlns:p14="http://schemas.microsoft.com/office/powerpoint/2010/main" val="14466596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9A5ACC-4762-A7B5-8938-C180512F4E95}"/>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03</a:t>
            </a:r>
          </a:p>
        </p:txBody>
      </p:sp>
      <p:sp>
        <p:nvSpPr>
          <p:cNvPr id="3" name="TextBox 2">
            <a:extLst>
              <a:ext uri="{FF2B5EF4-FFF2-40B4-BE49-F238E27FC236}">
                <a16:creationId xmlns:a16="http://schemas.microsoft.com/office/drawing/2014/main" id="{129267D1-DB01-B77B-1208-026540978ADB}"/>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The CI security gate</a:t>
            </a:r>
          </a:p>
        </p:txBody>
      </p:sp>
      <p:sp>
        <p:nvSpPr>
          <p:cNvPr id="4" name="TextBox 3">
            <a:extLst>
              <a:ext uri="{FF2B5EF4-FFF2-40B4-BE49-F238E27FC236}">
                <a16:creationId xmlns:a16="http://schemas.microsoft.com/office/drawing/2014/main" id="{56CE24EE-C04D-3C45-E451-5C2659B21B9D}"/>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Cloud misconfigurations in Terraform, caught by Checkov and blocked by a Jenkins pipeline</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012495AD-E4C4-4937-5C0E-E7BA67628E8C}"/>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IN" sz="1600" b="1">
                <a:solidFill>
                  <a:srgbClr val="1B998B"/>
                </a:solidFill>
                <a:latin typeface="Calibri" panose="020F0502020204030204" pitchFamily="34" charset="0"/>
              </a:rPr>
              <a:t>Tools: Terraform, Checkov, Jenkins   ·   15 minutes</a:t>
            </a:r>
          </a:p>
        </p:txBody>
      </p:sp>
    </p:spTree>
    <p:extLst>
      <p:ext uri="{BB962C8B-B14F-4D97-AF65-F5344CB8AC3E}">
        <p14:creationId xmlns:p14="http://schemas.microsoft.com/office/powerpoint/2010/main" val="2423708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2269C3-2B05-5EF1-BD61-439998BAFC81}"/>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3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61F2C8D9-DF3B-53E6-A3C8-239326896E85}"/>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ACF9069E-0EC7-F52A-96B7-2AC634830E99}"/>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59718D1E-C0F5-7F4B-E9B2-E1DE681DCB6F}"/>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The team describes its AWS setup in Terraform: a storage bucket, a firewall rule, a server and a permission policy. Someone took shortcuts to 'just make it work', and the pipeline is about to deploy it.</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D629FB8F-D68A-AD02-ACD6-905699698483}"/>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Would you let this deploy?</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6732F6AA-C1C2-4ABA-5291-798C816A44D6}"/>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6F18238A-5149-4D1A-689B-123A3E9BE562}"/>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DCF473AB-DDC0-A422-0BD5-8FF121BB69DD}"/>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IN" sz="1700">
                <a:solidFill>
                  <a:srgbClr val="1E2A35"/>
                </a:solidFill>
                <a:latin typeface="Calibri" panose="020F0502020204030204" pitchFamily="34" charset="0"/>
              </a:rPr>
              <a:t>Spot common cloud misconfigurations in infrastructure code</a:t>
            </a:r>
          </a:p>
        </p:txBody>
      </p:sp>
      <p:sp>
        <p:nvSpPr>
          <p:cNvPr id="10" name="Oval 9">
            <a:extLst>
              <a:ext uri="{FF2B5EF4-FFF2-40B4-BE49-F238E27FC236}">
                <a16:creationId xmlns:a16="http://schemas.microsoft.com/office/drawing/2014/main" id="{417F77DE-3286-8279-2692-1A094C9D4D9B}"/>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6FCA09CE-C310-1A8C-5A29-758E5AF81D1E}"/>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Scan Terraform with Checkov, without touching AWS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184C3D47-6C40-B91A-CD8F-E956011DF7CB}"/>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BB0CC9B0-F3CE-3823-628B-6A2838D3AAD3}"/>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a pipeline block an unsafe deployment, then let the fixed one through</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3A08CA52-181B-6E90-0A85-CEAB0B66B260}"/>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Capital One, 2019: a misconfigured app and the old metadata service exposed data on 100M+ customers.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F1D95BA5-256A-6E0F-D38B-48455A42B61E}"/>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ACFE40F5-8E4B-E894-9529-87A0A491E52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24</a:t>
            </a:r>
          </a:p>
        </p:txBody>
      </p:sp>
    </p:spTree>
    <p:extLst>
      <p:ext uri="{BB962C8B-B14F-4D97-AF65-F5344CB8AC3E}">
        <p14:creationId xmlns:p14="http://schemas.microsoft.com/office/powerpoint/2010/main" val="1397842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9701CC-81CA-170E-080D-02540A9383C7}"/>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Six misconfigurations in one Terraform file</a:t>
            </a:r>
            <a:endParaRPr lang="en-IN" sz="3400" b="1">
              <a:solidFill>
                <a:srgbClr val="13293D"/>
              </a:solidFill>
              <a:latin typeface="Calibri" panose="020F0502020204030204" pitchFamily="34" charset="0"/>
            </a:endParaRPr>
          </a:p>
        </p:txBody>
      </p:sp>
      <p:sp>
        <p:nvSpPr>
          <p:cNvPr id="3" name="Rectangle 2">
            <a:extLst>
              <a:ext uri="{FF2B5EF4-FFF2-40B4-BE49-F238E27FC236}">
                <a16:creationId xmlns:a16="http://schemas.microsoft.com/office/drawing/2014/main" id="{DEE1992B-3F9C-EEF0-B22B-B5AA21244DAB}"/>
              </a:ext>
            </a:extLst>
          </p:cNvPr>
          <p:cNvSpPr/>
          <p:nvPr/>
        </p:nvSpPr>
        <p:spPr>
          <a:xfrm>
            <a:off x="609600" y="1270000"/>
            <a:ext cx="21844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Component</a:t>
            </a:r>
          </a:p>
        </p:txBody>
      </p:sp>
      <p:sp>
        <p:nvSpPr>
          <p:cNvPr id="4" name="Rectangle 3">
            <a:extLst>
              <a:ext uri="{FF2B5EF4-FFF2-40B4-BE49-F238E27FC236}">
                <a16:creationId xmlns:a16="http://schemas.microsoft.com/office/drawing/2014/main" id="{5F88FB7F-76FC-2BB2-D98E-D36D2FDA731E}"/>
              </a:ext>
            </a:extLst>
          </p:cNvPr>
          <p:cNvSpPr/>
          <p:nvPr/>
        </p:nvSpPr>
        <p:spPr>
          <a:xfrm>
            <a:off x="2946400" y="1270000"/>
            <a:ext cx="41910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Risk</a:t>
            </a:r>
          </a:p>
        </p:txBody>
      </p:sp>
      <p:sp>
        <p:nvSpPr>
          <p:cNvPr id="5" name="Rectangle 4">
            <a:extLst>
              <a:ext uri="{FF2B5EF4-FFF2-40B4-BE49-F238E27FC236}">
                <a16:creationId xmlns:a16="http://schemas.microsoft.com/office/drawing/2014/main" id="{39AD2F9D-E99B-2BCC-5295-704F99C0E103}"/>
              </a:ext>
            </a:extLst>
          </p:cNvPr>
          <p:cNvSpPr/>
          <p:nvPr/>
        </p:nvSpPr>
        <p:spPr>
          <a:xfrm>
            <a:off x="7289800" y="1270000"/>
            <a:ext cx="42926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Fix</a:t>
            </a:r>
          </a:p>
        </p:txBody>
      </p:sp>
      <p:sp>
        <p:nvSpPr>
          <p:cNvPr id="6" name="Rectangle 5">
            <a:extLst>
              <a:ext uri="{FF2B5EF4-FFF2-40B4-BE49-F238E27FC236}">
                <a16:creationId xmlns:a16="http://schemas.microsoft.com/office/drawing/2014/main" id="{5D022225-5378-EF1B-1BF5-CCE4E8B197FD}"/>
              </a:ext>
            </a:extLst>
          </p:cNvPr>
          <p:cNvSpPr/>
          <p:nvPr/>
        </p:nvSpPr>
        <p:spPr>
          <a:xfrm>
            <a:off x="609600" y="18034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S3 bucket</a:t>
            </a:r>
          </a:p>
        </p:txBody>
      </p:sp>
      <p:sp>
        <p:nvSpPr>
          <p:cNvPr id="7" name="Rectangle 6">
            <a:extLst>
              <a:ext uri="{FF2B5EF4-FFF2-40B4-BE49-F238E27FC236}">
                <a16:creationId xmlns:a16="http://schemas.microsoft.com/office/drawing/2014/main" id="{CBBF230E-CB54-DF61-6387-05AAEEB01985}"/>
              </a:ext>
            </a:extLst>
          </p:cNvPr>
          <p:cNvSpPr/>
          <p:nvPr/>
        </p:nvSpPr>
        <p:spPr>
          <a:xfrm>
            <a:off x="2946400" y="18034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access allowed</a:t>
            </a:r>
          </a:p>
        </p:txBody>
      </p:sp>
      <p:sp>
        <p:nvSpPr>
          <p:cNvPr id="8" name="Rectangle 7">
            <a:extLst>
              <a:ext uri="{FF2B5EF4-FFF2-40B4-BE49-F238E27FC236}">
                <a16:creationId xmlns:a16="http://schemas.microsoft.com/office/drawing/2014/main" id="{4CCD8612-646D-3E18-F2B3-79945850D8B0}"/>
              </a:ext>
            </a:extLst>
          </p:cNvPr>
          <p:cNvSpPr/>
          <p:nvPr/>
        </p:nvSpPr>
        <p:spPr>
          <a:xfrm>
            <a:off x="7289800" y="18034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All public access blocked</a:t>
            </a:r>
          </a:p>
        </p:txBody>
      </p:sp>
      <p:sp>
        <p:nvSpPr>
          <p:cNvPr id="9" name="Rectangle 8">
            <a:extLst>
              <a:ext uri="{FF2B5EF4-FFF2-40B4-BE49-F238E27FC236}">
                <a16:creationId xmlns:a16="http://schemas.microsoft.com/office/drawing/2014/main" id="{DEF8CEFA-07D5-8CF3-BC43-1CDCFAF378A8}"/>
              </a:ext>
            </a:extLst>
          </p:cNvPr>
          <p:cNvSpPr/>
          <p:nvPr/>
        </p:nvSpPr>
        <p:spPr>
          <a:xfrm>
            <a:off x="609600" y="23876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Security group</a:t>
            </a:r>
          </a:p>
        </p:txBody>
      </p:sp>
      <p:sp>
        <p:nvSpPr>
          <p:cNvPr id="10" name="Rectangle 9">
            <a:extLst>
              <a:ext uri="{FF2B5EF4-FFF2-40B4-BE49-F238E27FC236}">
                <a16:creationId xmlns:a16="http://schemas.microsoft.com/office/drawing/2014/main" id="{220D7F6A-B611-C4DF-9933-29A909FABCD6}"/>
              </a:ext>
            </a:extLst>
          </p:cNvPr>
          <p:cNvSpPr/>
          <p:nvPr/>
        </p:nvSpPr>
        <p:spPr>
          <a:xfrm>
            <a:off x="2946400" y="23876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SSH open to the whole internet (0.0.0.0/0)</a:t>
            </a:r>
            <a:endParaRPr lang="en-IN" sz="1500">
              <a:solidFill>
                <a:srgbClr val="E4572E"/>
              </a:solidFill>
              <a:latin typeface="Calibri" panose="020F0502020204030204" pitchFamily="34" charset="0"/>
            </a:endParaRPr>
          </a:p>
        </p:txBody>
      </p:sp>
      <p:sp>
        <p:nvSpPr>
          <p:cNvPr id="11" name="Rectangle 10">
            <a:extLst>
              <a:ext uri="{FF2B5EF4-FFF2-40B4-BE49-F238E27FC236}">
                <a16:creationId xmlns:a16="http://schemas.microsoft.com/office/drawing/2014/main" id="{820402E9-4E79-ADAC-0439-E1B9EBB7811E}"/>
              </a:ext>
            </a:extLst>
          </p:cNvPr>
          <p:cNvSpPr/>
          <p:nvPr/>
        </p:nvSpPr>
        <p:spPr>
          <a:xfrm>
            <a:off x="7289800" y="23876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SSH from the internal network only</a:t>
            </a:r>
            <a:endParaRPr lang="en-IN" sz="1500" b="1">
              <a:solidFill>
                <a:srgbClr val="1B998B"/>
              </a:solidFill>
              <a:latin typeface="Calibri" panose="020F0502020204030204" pitchFamily="34" charset="0"/>
            </a:endParaRPr>
          </a:p>
        </p:txBody>
      </p:sp>
      <p:sp>
        <p:nvSpPr>
          <p:cNvPr id="12" name="Rectangle 11">
            <a:extLst>
              <a:ext uri="{FF2B5EF4-FFF2-40B4-BE49-F238E27FC236}">
                <a16:creationId xmlns:a16="http://schemas.microsoft.com/office/drawing/2014/main" id="{24B65025-E2E9-9EF0-ED16-A38CCA9E100F}"/>
              </a:ext>
            </a:extLst>
          </p:cNvPr>
          <p:cNvSpPr/>
          <p:nvPr/>
        </p:nvSpPr>
        <p:spPr>
          <a:xfrm>
            <a:off x="609600" y="29718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3" name="Rectangle 12">
            <a:extLst>
              <a:ext uri="{FF2B5EF4-FFF2-40B4-BE49-F238E27FC236}">
                <a16:creationId xmlns:a16="http://schemas.microsoft.com/office/drawing/2014/main" id="{36693490-C4AA-13A8-C4C0-20C3316E0AB8}"/>
              </a:ext>
            </a:extLst>
          </p:cNvPr>
          <p:cNvSpPr/>
          <p:nvPr/>
        </p:nvSpPr>
        <p:spPr>
          <a:xfrm>
            <a:off x="2946400" y="29718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IP address</a:t>
            </a:r>
          </a:p>
        </p:txBody>
      </p:sp>
      <p:sp>
        <p:nvSpPr>
          <p:cNvPr id="14" name="Rectangle 13">
            <a:extLst>
              <a:ext uri="{FF2B5EF4-FFF2-40B4-BE49-F238E27FC236}">
                <a16:creationId xmlns:a16="http://schemas.microsoft.com/office/drawing/2014/main" id="{063998AB-A171-CDBC-30AA-B2D78BFDDC6A}"/>
              </a:ext>
            </a:extLst>
          </p:cNvPr>
          <p:cNvSpPr/>
          <p:nvPr/>
        </p:nvSpPr>
        <p:spPr>
          <a:xfrm>
            <a:off x="7289800" y="29718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Private, behind a load balancer</a:t>
            </a:r>
            <a:endParaRPr lang="en-IN" sz="1500" b="1">
              <a:solidFill>
                <a:srgbClr val="1B998B"/>
              </a:solidFill>
              <a:latin typeface="Calibri" panose="020F0502020204030204" pitchFamily="34" charset="0"/>
            </a:endParaRPr>
          </a:p>
        </p:txBody>
      </p:sp>
      <p:sp>
        <p:nvSpPr>
          <p:cNvPr id="15" name="Rectangle 14">
            <a:extLst>
              <a:ext uri="{FF2B5EF4-FFF2-40B4-BE49-F238E27FC236}">
                <a16:creationId xmlns:a16="http://schemas.microsoft.com/office/drawing/2014/main" id="{2DD8C700-A9FF-834A-D332-EF387F142237}"/>
              </a:ext>
            </a:extLst>
          </p:cNvPr>
          <p:cNvSpPr/>
          <p:nvPr/>
        </p:nvSpPr>
        <p:spPr>
          <a:xfrm>
            <a:off x="609600" y="35560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6" name="Rectangle 15">
            <a:extLst>
              <a:ext uri="{FF2B5EF4-FFF2-40B4-BE49-F238E27FC236}">
                <a16:creationId xmlns:a16="http://schemas.microsoft.com/office/drawing/2014/main" id="{C2F5E98D-6997-AEA7-3922-610DB91B242B}"/>
              </a:ext>
            </a:extLst>
          </p:cNvPr>
          <p:cNvSpPr/>
          <p:nvPr/>
        </p:nvSpPr>
        <p:spPr>
          <a:xfrm>
            <a:off x="2946400" y="35560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Old metadata service (IMDSv1)</a:t>
            </a:r>
          </a:p>
        </p:txBody>
      </p:sp>
      <p:sp>
        <p:nvSpPr>
          <p:cNvPr id="17" name="Rectangle 16">
            <a:extLst>
              <a:ext uri="{FF2B5EF4-FFF2-40B4-BE49-F238E27FC236}">
                <a16:creationId xmlns:a16="http://schemas.microsoft.com/office/drawing/2014/main" id="{DE08A60B-DCCE-AD10-AF16-4F8724376A52}"/>
              </a:ext>
            </a:extLst>
          </p:cNvPr>
          <p:cNvSpPr/>
          <p:nvPr/>
        </p:nvSpPr>
        <p:spPr>
          <a:xfrm>
            <a:off x="7289800" y="35560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IMDSv2 session tokens required</a:t>
            </a:r>
          </a:p>
        </p:txBody>
      </p:sp>
      <p:sp>
        <p:nvSpPr>
          <p:cNvPr id="18" name="Rectangle 17">
            <a:extLst>
              <a:ext uri="{FF2B5EF4-FFF2-40B4-BE49-F238E27FC236}">
                <a16:creationId xmlns:a16="http://schemas.microsoft.com/office/drawing/2014/main" id="{3BF83A5B-14BA-9042-2070-D74E991DC5CA}"/>
              </a:ext>
            </a:extLst>
          </p:cNvPr>
          <p:cNvSpPr/>
          <p:nvPr/>
        </p:nvSpPr>
        <p:spPr>
          <a:xfrm>
            <a:off x="609600" y="41402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9" name="Rectangle 18">
            <a:extLst>
              <a:ext uri="{FF2B5EF4-FFF2-40B4-BE49-F238E27FC236}">
                <a16:creationId xmlns:a16="http://schemas.microsoft.com/office/drawing/2014/main" id="{C65B9F98-4848-6CA5-B579-96278DC9CDE6}"/>
              </a:ext>
            </a:extLst>
          </p:cNvPr>
          <p:cNvSpPr/>
          <p:nvPr/>
        </p:nvSpPr>
        <p:spPr>
          <a:xfrm>
            <a:off x="2946400" y="41402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Disk not encrypted</a:t>
            </a:r>
          </a:p>
        </p:txBody>
      </p:sp>
      <p:sp>
        <p:nvSpPr>
          <p:cNvPr id="20" name="Rectangle 19">
            <a:extLst>
              <a:ext uri="{FF2B5EF4-FFF2-40B4-BE49-F238E27FC236}">
                <a16:creationId xmlns:a16="http://schemas.microsoft.com/office/drawing/2014/main" id="{8FA30C15-87D4-42D3-02A4-712D421EBD36}"/>
              </a:ext>
            </a:extLst>
          </p:cNvPr>
          <p:cNvSpPr/>
          <p:nvPr/>
        </p:nvSpPr>
        <p:spPr>
          <a:xfrm>
            <a:off x="7289800" y="41402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Disk encrypted</a:t>
            </a:r>
          </a:p>
        </p:txBody>
      </p:sp>
      <p:sp>
        <p:nvSpPr>
          <p:cNvPr id="21" name="Rectangle 20">
            <a:extLst>
              <a:ext uri="{FF2B5EF4-FFF2-40B4-BE49-F238E27FC236}">
                <a16:creationId xmlns:a16="http://schemas.microsoft.com/office/drawing/2014/main" id="{F66BFE9F-DE3D-EA26-9603-A1D15AA622B6}"/>
              </a:ext>
            </a:extLst>
          </p:cNvPr>
          <p:cNvSpPr/>
          <p:nvPr/>
        </p:nvSpPr>
        <p:spPr>
          <a:xfrm>
            <a:off x="609600" y="47244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IAM policy</a:t>
            </a:r>
          </a:p>
        </p:txBody>
      </p:sp>
      <p:sp>
        <p:nvSpPr>
          <p:cNvPr id="22" name="Rectangle 21">
            <a:extLst>
              <a:ext uri="{FF2B5EF4-FFF2-40B4-BE49-F238E27FC236}">
                <a16:creationId xmlns:a16="http://schemas.microsoft.com/office/drawing/2014/main" id="{4002E5A7-2B17-D0C6-A5EB-2AECC1C25444}"/>
              </a:ext>
            </a:extLst>
          </p:cNvPr>
          <p:cNvSpPr/>
          <p:nvPr/>
        </p:nvSpPr>
        <p:spPr>
          <a:xfrm>
            <a:off x="2946400" y="47244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Every action on every resource</a:t>
            </a:r>
            <a:endParaRPr lang="en-IN" sz="1500">
              <a:solidFill>
                <a:srgbClr val="E4572E"/>
              </a:solidFill>
              <a:latin typeface="Calibri" panose="020F0502020204030204" pitchFamily="34" charset="0"/>
            </a:endParaRPr>
          </a:p>
        </p:txBody>
      </p:sp>
      <p:sp>
        <p:nvSpPr>
          <p:cNvPr id="23" name="Rectangle 22">
            <a:extLst>
              <a:ext uri="{FF2B5EF4-FFF2-40B4-BE49-F238E27FC236}">
                <a16:creationId xmlns:a16="http://schemas.microsoft.com/office/drawing/2014/main" id="{CC9FCE8C-22B7-4A26-17A9-2FD073F37983}"/>
              </a:ext>
            </a:extLst>
          </p:cNvPr>
          <p:cNvSpPr/>
          <p:nvPr/>
        </p:nvSpPr>
        <p:spPr>
          <a:xfrm>
            <a:off x="7289800" y="47244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Two actions on one bucket</a:t>
            </a:r>
            <a:endParaRPr lang="en-IN" sz="1500" b="1">
              <a:solidFill>
                <a:srgbClr val="1B998B"/>
              </a:solidFill>
              <a:latin typeface="Calibri" panose="020F0502020204030204" pitchFamily="34" charset="0"/>
            </a:endParaRPr>
          </a:p>
        </p:txBody>
      </p:sp>
      <p:sp>
        <p:nvSpPr>
          <p:cNvPr id="24" name="TextBox 23">
            <a:extLst>
              <a:ext uri="{FF2B5EF4-FFF2-40B4-BE49-F238E27FC236}">
                <a16:creationId xmlns:a16="http://schemas.microsoft.com/office/drawing/2014/main" id="{93E95CB6-7F89-B549-B0D6-62FD0AAE3159}"/>
              </a:ext>
            </a:extLst>
          </p:cNvPr>
          <p:cNvSpPr txBox="1"/>
          <p:nvPr/>
        </p:nvSpPr>
        <p:spPr>
          <a:xfrm>
            <a:off x="609600" y="5486400"/>
            <a:ext cx="10972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Checkov finds all six without touching AWS: it only reads the file.</a:t>
            </a:r>
            <a:endParaRPr lang="en-IN" b="1">
              <a:solidFill>
                <a:srgbClr val="13293D"/>
              </a:solidFill>
              <a:latin typeface="Calibri" panose="020F0502020204030204" pitchFamily="34" charset="0"/>
            </a:endParaRPr>
          </a:p>
        </p:txBody>
      </p:sp>
      <p:sp>
        <p:nvSpPr>
          <p:cNvPr id="25" name="TextBox 24">
            <a:extLst>
              <a:ext uri="{FF2B5EF4-FFF2-40B4-BE49-F238E27FC236}">
                <a16:creationId xmlns:a16="http://schemas.microsoft.com/office/drawing/2014/main" id="{9DB11AEF-55A7-A562-2168-AA3DAC19ACF5}"/>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36430299-0EFD-100B-39EC-6B8A37C75773}"/>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25</a:t>
            </a:r>
          </a:p>
        </p:txBody>
      </p:sp>
    </p:spTree>
    <p:extLst>
      <p:ext uri="{BB962C8B-B14F-4D97-AF65-F5344CB8AC3E}">
        <p14:creationId xmlns:p14="http://schemas.microsoft.com/office/powerpoint/2010/main" val="20426853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289811-F33B-CE59-D55A-0D0848D4BF0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A gate that blocks unsafe deploys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2DFD52E3-9D69-D4C0-A874-6D4E9413CEA4}"/>
              </a:ext>
            </a:extLst>
          </p:cNvPr>
          <p:cNvSpPr txBox="1"/>
          <p:nvPr/>
        </p:nvSpPr>
        <p:spPr>
          <a:xfrm>
            <a:off x="609600" y="19050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Insecure main.tf</a:t>
            </a:r>
          </a:p>
        </p:txBody>
      </p:sp>
      <p:sp>
        <p:nvSpPr>
          <p:cNvPr id="4" name="Rectangle: Rounded Corners 3">
            <a:extLst>
              <a:ext uri="{FF2B5EF4-FFF2-40B4-BE49-F238E27FC236}">
                <a16:creationId xmlns:a16="http://schemas.microsoft.com/office/drawing/2014/main" id="{9A0F8230-E41E-FBB3-7C40-ECC4CFCE6FED}"/>
              </a:ext>
            </a:extLst>
          </p:cNvPr>
          <p:cNvSpPr/>
          <p:nvPr/>
        </p:nvSpPr>
        <p:spPr>
          <a:xfrm>
            <a:off x="3048000" y="1625600"/>
            <a:ext cx="3429000" cy="889000"/>
          </a:xfrm>
          <a:prstGeom prst="roundRect">
            <a:avLst>
              <a:gd name="adj" fmla="val 10000"/>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FAILED</a:t>
            </a:r>
          </a:p>
        </p:txBody>
      </p:sp>
      <p:cxnSp>
        <p:nvCxnSpPr>
          <p:cNvPr id="5" name="Straight Connector 4">
            <a:extLst>
              <a:ext uri="{FF2B5EF4-FFF2-40B4-BE49-F238E27FC236}">
                <a16:creationId xmlns:a16="http://schemas.microsoft.com/office/drawing/2014/main" id="{AC5013B6-7787-72FA-364B-D4DEE62807DD}"/>
              </a:ext>
            </a:extLst>
          </p:cNvPr>
          <p:cNvCxnSpPr/>
          <p:nvPr/>
        </p:nvCxnSpPr>
        <p:spPr>
          <a:xfrm>
            <a:off x="6553200" y="20701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7F2C5FD0-2046-5966-55A2-87049AC4C94C}"/>
              </a:ext>
            </a:extLst>
          </p:cNvPr>
          <p:cNvSpPr/>
          <p:nvPr/>
        </p:nvSpPr>
        <p:spPr>
          <a:xfrm>
            <a:off x="7137400" y="1625600"/>
            <a:ext cx="2540000" cy="889000"/>
          </a:xfrm>
          <a:prstGeom prst="roundRect">
            <a:avLst>
              <a:gd name="adj" fmla="val 10000"/>
            </a:avLst>
          </a:prstGeom>
          <a:solidFill>
            <a:srgbClr val="D5DB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5B6B79"/>
                </a:solidFill>
                <a:latin typeface="Calibri" panose="020F0502020204030204" pitchFamily="34" charset="0"/>
              </a:rPr>
              <a:t>Deploy</a:t>
            </a:r>
          </a:p>
          <a:p>
            <a:pPr algn="ctr"/>
            <a:r>
              <a:rPr lang="en-IN" sz="1600" b="1">
                <a:solidFill>
                  <a:srgbClr val="5B6B79"/>
                </a:solidFill>
                <a:latin typeface="Calibri" panose="020F0502020204030204" pitchFamily="34" charset="0"/>
              </a:rPr>
              <a:t>Skipped</a:t>
            </a:r>
          </a:p>
        </p:txBody>
      </p:sp>
      <p:sp>
        <p:nvSpPr>
          <p:cNvPr id="7" name="Rectangle: Rounded Corners 6">
            <a:extLst>
              <a:ext uri="{FF2B5EF4-FFF2-40B4-BE49-F238E27FC236}">
                <a16:creationId xmlns:a16="http://schemas.microsoft.com/office/drawing/2014/main" id="{1AF812F2-FAD1-8014-1FE1-0521C3CCB733}"/>
              </a:ext>
            </a:extLst>
          </p:cNvPr>
          <p:cNvSpPr/>
          <p:nvPr/>
        </p:nvSpPr>
        <p:spPr>
          <a:xfrm>
            <a:off x="9931400" y="1841500"/>
            <a:ext cx="1651000" cy="457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E4572E"/>
                </a:solidFill>
                <a:latin typeface="Calibri" panose="020F0502020204030204" pitchFamily="34" charset="0"/>
              </a:rPr>
              <a:t>Red build</a:t>
            </a:r>
          </a:p>
        </p:txBody>
      </p:sp>
      <p:sp>
        <p:nvSpPr>
          <p:cNvPr id="8" name="TextBox 7">
            <a:extLst>
              <a:ext uri="{FF2B5EF4-FFF2-40B4-BE49-F238E27FC236}">
                <a16:creationId xmlns:a16="http://schemas.microsoft.com/office/drawing/2014/main" id="{E029CD1A-0320-C861-BD14-FF9D80736C86}"/>
              </a:ext>
            </a:extLst>
          </p:cNvPr>
          <p:cNvSpPr txBox="1"/>
          <p:nvPr/>
        </p:nvSpPr>
        <p:spPr>
          <a:xfrm>
            <a:off x="609600" y="33274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Fixed main.tf</a:t>
            </a:r>
          </a:p>
        </p:txBody>
      </p:sp>
      <p:sp>
        <p:nvSpPr>
          <p:cNvPr id="9" name="Rectangle: Rounded Corners 8">
            <a:extLst>
              <a:ext uri="{FF2B5EF4-FFF2-40B4-BE49-F238E27FC236}">
                <a16:creationId xmlns:a16="http://schemas.microsoft.com/office/drawing/2014/main" id="{5957F0EF-F96E-CF99-516C-A2BD8D002DF7}"/>
              </a:ext>
            </a:extLst>
          </p:cNvPr>
          <p:cNvSpPr/>
          <p:nvPr/>
        </p:nvSpPr>
        <p:spPr>
          <a:xfrm>
            <a:off x="3048000" y="3048000"/>
            <a:ext cx="3429000" cy="889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PASSED</a:t>
            </a:r>
          </a:p>
        </p:txBody>
      </p:sp>
      <p:cxnSp>
        <p:nvCxnSpPr>
          <p:cNvPr id="10" name="Straight Connector 9">
            <a:extLst>
              <a:ext uri="{FF2B5EF4-FFF2-40B4-BE49-F238E27FC236}">
                <a16:creationId xmlns:a16="http://schemas.microsoft.com/office/drawing/2014/main" id="{81ED8C19-8FA3-BA2E-5210-10F6779F861B}"/>
              </a:ext>
            </a:extLst>
          </p:cNvPr>
          <p:cNvCxnSpPr/>
          <p:nvPr/>
        </p:nvCxnSpPr>
        <p:spPr>
          <a:xfrm>
            <a:off x="6553200" y="34925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10AA110A-814B-4FF8-5C0C-8A43598A5E05}"/>
              </a:ext>
            </a:extLst>
          </p:cNvPr>
          <p:cNvSpPr/>
          <p:nvPr/>
        </p:nvSpPr>
        <p:spPr>
          <a:xfrm>
            <a:off x="7137400" y="3048000"/>
            <a:ext cx="2540000" cy="889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Deploy</a:t>
            </a:r>
          </a:p>
          <a:p>
            <a:pPr algn="ctr"/>
            <a:r>
              <a:rPr lang="en-IN" sz="1600" b="1">
                <a:solidFill>
                  <a:srgbClr val="FFFFFF"/>
                </a:solidFill>
                <a:latin typeface="Calibri" panose="020F0502020204030204" pitchFamily="34" charset="0"/>
              </a:rPr>
              <a:t>Runs</a:t>
            </a:r>
          </a:p>
        </p:txBody>
      </p:sp>
      <p:sp>
        <p:nvSpPr>
          <p:cNvPr id="12" name="Rectangle: Rounded Corners 11">
            <a:extLst>
              <a:ext uri="{FF2B5EF4-FFF2-40B4-BE49-F238E27FC236}">
                <a16:creationId xmlns:a16="http://schemas.microsoft.com/office/drawing/2014/main" id="{9D20B729-0933-CF9F-8864-9D7C5DC4CD15}"/>
              </a:ext>
            </a:extLst>
          </p:cNvPr>
          <p:cNvSpPr/>
          <p:nvPr/>
        </p:nvSpPr>
        <p:spPr>
          <a:xfrm>
            <a:off x="9931400" y="3263900"/>
            <a:ext cx="1651000" cy="457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B998B"/>
                </a:solidFill>
                <a:latin typeface="Calibri" panose="020F0502020204030204" pitchFamily="34" charset="0"/>
              </a:rPr>
              <a:t>Green build</a:t>
            </a:r>
          </a:p>
        </p:txBody>
      </p:sp>
      <p:sp>
        <p:nvSpPr>
          <p:cNvPr id="13" name="Rectangle: Rounded Corners 12">
            <a:extLst>
              <a:ext uri="{FF2B5EF4-FFF2-40B4-BE49-F238E27FC236}">
                <a16:creationId xmlns:a16="http://schemas.microsoft.com/office/drawing/2014/main" id="{29C2104B-3EB4-F381-27E6-BB223A83A23E}"/>
              </a:ext>
            </a:extLst>
          </p:cNvPr>
          <p:cNvSpPr/>
          <p:nvPr/>
        </p:nvSpPr>
        <p:spPr>
          <a:xfrm>
            <a:off x="609600" y="4445000"/>
            <a:ext cx="10972800" cy="7112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DC9CD5A-6759-E604-7E89-401E03A232B4}"/>
              </a:ext>
            </a:extLst>
          </p:cNvPr>
          <p:cNvSpPr txBox="1"/>
          <p:nvPr/>
        </p:nvSpPr>
        <p:spPr>
          <a:xfrm>
            <a:off x="914400" y="4648200"/>
            <a:ext cx="103632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checkov -d . --config-file checkov-baseline.yaml</a:t>
            </a:r>
          </a:p>
        </p:txBody>
      </p:sp>
      <p:sp>
        <p:nvSpPr>
          <p:cNvPr id="15" name="TextBox 14">
            <a:extLst>
              <a:ext uri="{FF2B5EF4-FFF2-40B4-BE49-F238E27FC236}">
                <a16:creationId xmlns:a16="http://schemas.microsoft.com/office/drawing/2014/main" id="{82A0F717-059E-8EAC-01E2-CF62E8771FDB}"/>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The same check runs on a laptop and in Jenkins. A failed check stops the pipeline before anything reaches the cloud.</a:t>
            </a:r>
            <a:endParaRPr lang="en-IN" sz="1600">
              <a:solidFill>
                <a:srgbClr val="1E2A35"/>
              </a:solidFill>
              <a:latin typeface="Calibri" panose="020F0502020204030204" pitchFamily="34" charset="0"/>
            </a:endParaRPr>
          </a:p>
        </p:txBody>
      </p:sp>
      <p:sp>
        <p:nvSpPr>
          <p:cNvPr id="16" name="TextBox 15">
            <a:extLst>
              <a:ext uri="{FF2B5EF4-FFF2-40B4-BE49-F238E27FC236}">
                <a16:creationId xmlns:a16="http://schemas.microsoft.com/office/drawing/2014/main" id="{815540EF-4C01-6803-05DD-34E0743BB82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7" name="TextBox 16">
            <a:extLst>
              <a:ext uri="{FF2B5EF4-FFF2-40B4-BE49-F238E27FC236}">
                <a16:creationId xmlns:a16="http://schemas.microsoft.com/office/drawing/2014/main" id="{D5115A38-527C-C3A1-CCE0-26B96D87AD3C}"/>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26</a:t>
            </a:r>
          </a:p>
        </p:txBody>
      </p:sp>
    </p:spTree>
    <p:extLst>
      <p:ext uri="{BB962C8B-B14F-4D97-AF65-F5344CB8AC3E}">
        <p14:creationId xmlns:p14="http://schemas.microsoft.com/office/powerpoint/2010/main" val="24434795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3F02554-5344-700F-3E55-33A06F2D74F9}"/>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3 · Open the lab guide</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692FA3E5-B396-71EA-DBDE-7C2102DD8F10}"/>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OPEN IN VS CODE</a:t>
            </a:r>
          </a:p>
        </p:txBody>
      </p:sp>
      <p:sp>
        <p:nvSpPr>
          <p:cNvPr id="4" name="Rectangle: Rounded Corners 3">
            <a:extLst>
              <a:ext uri="{FF2B5EF4-FFF2-40B4-BE49-F238E27FC236}">
                <a16:creationId xmlns:a16="http://schemas.microsoft.com/office/drawing/2014/main" id="{DCC93708-E297-85C4-E125-A89BC8A2AF02}"/>
              </a:ext>
            </a:extLst>
          </p:cNvPr>
          <p:cNvSpPr/>
          <p:nvPr/>
        </p:nvSpPr>
        <p:spPr>
          <a:xfrm>
            <a:off x="609600" y="1600200"/>
            <a:ext cx="5080000" cy="609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B2F5A7-F027-E9A3-2F1F-1DA4F5A8410E}"/>
              </a:ext>
            </a:extLst>
          </p:cNvPr>
          <p:cNvSpPr txBox="1"/>
          <p:nvPr/>
        </p:nvSpPr>
        <p:spPr>
          <a:xfrm>
            <a:off x="863600" y="1778000"/>
            <a:ext cx="45720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labs/lab3-ci-gate/README.md</a:t>
            </a:r>
          </a:p>
        </p:txBody>
      </p:sp>
      <p:sp>
        <p:nvSpPr>
          <p:cNvPr id="6" name="TextBox 5">
            <a:extLst>
              <a:ext uri="{FF2B5EF4-FFF2-40B4-BE49-F238E27FC236}">
                <a16:creationId xmlns:a16="http://schemas.microsoft.com/office/drawing/2014/main" id="{C79ECC4E-A395-C39B-26B7-71778D934875}"/>
              </a:ext>
            </a:extLst>
          </p:cNvPr>
          <p:cNvSpPr txBox="1"/>
          <p:nvPr/>
        </p:nvSpPr>
        <p:spPr>
          <a:xfrm>
            <a:off x="609600" y="25146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WHERE</a:t>
            </a:r>
          </a:p>
        </p:txBody>
      </p:sp>
      <p:sp>
        <p:nvSpPr>
          <p:cNvPr id="7" name="TextBox 6">
            <a:extLst>
              <a:ext uri="{FF2B5EF4-FFF2-40B4-BE49-F238E27FC236}">
                <a16:creationId xmlns:a16="http://schemas.microsoft.com/office/drawing/2014/main" id="{6688F6C0-FEBE-FC96-B4AA-03CBB261A94A}"/>
              </a:ext>
            </a:extLst>
          </p:cNvPr>
          <p:cNvSpPr txBox="1"/>
          <p:nvPr/>
        </p:nvSpPr>
        <p:spPr>
          <a:xfrm>
            <a:off x="609600" y="2794000"/>
            <a:ext cx="50800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In the toolbox, from the repo folder. The Jenkins part is a demo on my screen.</a:t>
            </a:r>
            <a:endParaRPr lang="en-IN" sz="16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6F6E9613-FB21-A005-BF9B-AA2AA6282E87}"/>
              </a:ext>
            </a:extLst>
          </p:cNvPr>
          <p:cNvSpPr txBox="1"/>
          <p:nvPr/>
        </p:nvSpPr>
        <p:spPr>
          <a:xfrm>
            <a:off x="609600" y="3860800"/>
            <a:ext cx="50800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Every step in the guide shows the command to run and the result to expect.</a:t>
            </a:r>
            <a:endParaRPr lang="en-IN" sz="1500">
              <a:solidFill>
                <a:srgbClr val="5B6B79"/>
              </a:solidFill>
              <a:latin typeface="Calibri" panose="020F0502020204030204" pitchFamily="34" charset="0"/>
            </a:endParaRPr>
          </a:p>
        </p:txBody>
      </p:sp>
      <p:sp>
        <p:nvSpPr>
          <p:cNvPr id="9" name="TextBox 8">
            <a:extLst>
              <a:ext uri="{FF2B5EF4-FFF2-40B4-BE49-F238E27FC236}">
                <a16:creationId xmlns:a16="http://schemas.microsoft.com/office/drawing/2014/main" id="{891C9887-A0AE-D4DA-FD8F-2B4035A31AB9}"/>
              </a:ext>
            </a:extLst>
          </p:cNvPr>
          <p:cNvSpPr txBox="1"/>
          <p:nvPr/>
        </p:nvSpPr>
        <p:spPr>
          <a:xfrm>
            <a:off x="6248400" y="1320800"/>
            <a:ext cx="5334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WHAT YOU'LL DO</a:t>
            </a:r>
          </a:p>
        </p:txBody>
      </p:sp>
      <p:sp>
        <p:nvSpPr>
          <p:cNvPr id="10" name="Oval 9">
            <a:extLst>
              <a:ext uri="{FF2B5EF4-FFF2-40B4-BE49-F238E27FC236}">
                <a16:creationId xmlns:a16="http://schemas.microsoft.com/office/drawing/2014/main" id="{2C387F90-A8AD-E560-9904-B3C558845C2D}"/>
              </a:ext>
            </a:extLst>
          </p:cNvPr>
          <p:cNvSpPr/>
          <p:nvPr/>
        </p:nvSpPr>
        <p:spPr>
          <a:xfrm>
            <a:off x="6248400" y="1701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1</a:t>
            </a:r>
          </a:p>
        </p:txBody>
      </p:sp>
      <p:sp>
        <p:nvSpPr>
          <p:cNvPr id="11" name="TextBox 10">
            <a:extLst>
              <a:ext uri="{FF2B5EF4-FFF2-40B4-BE49-F238E27FC236}">
                <a16:creationId xmlns:a16="http://schemas.microsoft.com/office/drawing/2014/main" id="{5C430E8C-3764-E6EB-68E5-2849EF774E48}"/>
              </a:ext>
            </a:extLst>
          </p:cNvPr>
          <p:cNvSpPr txBox="1"/>
          <p:nvPr/>
        </p:nvSpPr>
        <p:spPr>
          <a:xfrm>
            <a:off x="6858000" y="1778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Read the RISK lines in start/main.tf</a:t>
            </a:r>
            <a:endParaRPr lang="en-IN" sz="16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03BB415D-457E-0DEA-2FF9-6354A3CF1920}"/>
              </a:ext>
            </a:extLst>
          </p:cNvPr>
          <p:cNvSpPr/>
          <p:nvPr/>
        </p:nvSpPr>
        <p:spPr>
          <a:xfrm>
            <a:off x="6248400" y="2463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D2F15017-5D1C-AF18-D292-33F6C43225D4}"/>
              </a:ext>
            </a:extLst>
          </p:cNvPr>
          <p:cNvSpPr txBox="1"/>
          <p:nvPr/>
        </p:nvSpPr>
        <p:spPr>
          <a:xfrm>
            <a:off x="6858000" y="2540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Scan it with Checkov: the must-fix checks fail</a:t>
            </a:r>
            <a:endParaRPr lang="en-IN" sz="1600">
              <a:solidFill>
                <a:srgbClr val="1E2A35"/>
              </a:solidFill>
              <a:latin typeface="Calibri" panose="020F0502020204030204" pitchFamily="34" charset="0"/>
            </a:endParaRPr>
          </a:p>
        </p:txBody>
      </p:sp>
      <p:sp>
        <p:nvSpPr>
          <p:cNvPr id="14" name="Oval 13">
            <a:extLst>
              <a:ext uri="{FF2B5EF4-FFF2-40B4-BE49-F238E27FC236}">
                <a16:creationId xmlns:a16="http://schemas.microsoft.com/office/drawing/2014/main" id="{59B88EF4-7CD0-5628-EFBB-049F0D28D7D2}"/>
              </a:ext>
            </a:extLst>
          </p:cNvPr>
          <p:cNvSpPr/>
          <p:nvPr/>
        </p:nvSpPr>
        <p:spPr>
          <a:xfrm>
            <a:off x="6248400" y="3225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A015D479-5797-00F5-AA65-54CBC27FE959}"/>
              </a:ext>
            </a:extLst>
          </p:cNvPr>
          <p:cNvSpPr txBox="1"/>
          <p:nvPr/>
        </p:nvSpPr>
        <p:spPr>
          <a:xfrm>
            <a:off x="6858000" y="3302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Scan the fixed version: every check passes</a:t>
            </a:r>
            <a:endParaRPr lang="en-IN" sz="1600">
              <a:solidFill>
                <a:srgbClr val="1E2A35"/>
              </a:solidFill>
              <a:latin typeface="Calibri" panose="020F0502020204030204" pitchFamily="34" charset="0"/>
            </a:endParaRPr>
          </a:p>
        </p:txBody>
      </p:sp>
      <p:sp>
        <p:nvSpPr>
          <p:cNvPr id="16" name="Oval 15">
            <a:extLst>
              <a:ext uri="{FF2B5EF4-FFF2-40B4-BE49-F238E27FC236}">
                <a16:creationId xmlns:a16="http://schemas.microsoft.com/office/drawing/2014/main" id="{4AB5EB27-D4F0-BAEC-5479-39C4BF7CAB38}"/>
              </a:ext>
            </a:extLst>
          </p:cNvPr>
          <p:cNvSpPr/>
          <p:nvPr/>
        </p:nvSpPr>
        <p:spPr>
          <a:xfrm>
            <a:off x="6248400" y="3987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0E46386E-1E5B-4FE3-92EA-4CBCDA5E393E}"/>
              </a:ext>
            </a:extLst>
          </p:cNvPr>
          <p:cNvSpPr txBox="1"/>
          <p:nvPr/>
        </p:nvSpPr>
        <p:spPr>
          <a:xfrm>
            <a:off x="6858000" y="4064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Watch Jenkins block the deploy, then allow it</a:t>
            </a:r>
            <a:endParaRPr lang="en-IN" sz="1600">
              <a:solidFill>
                <a:srgbClr val="1E2A35"/>
              </a:solidFill>
              <a:latin typeface="Calibri" panose="020F0502020204030204" pitchFamily="34" charset="0"/>
            </a:endParaRPr>
          </a:p>
        </p:txBody>
      </p:sp>
      <p:sp>
        <p:nvSpPr>
          <p:cNvPr id="18" name="TextBox 17">
            <a:extLst>
              <a:ext uri="{FF2B5EF4-FFF2-40B4-BE49-F238E27FC236}">
                <a16:creationId xmlns:a16="http://schemas.microsoft.com/office/drawing/2014/main" id="{5DBD8C31-077A-9BD5-2B9E-76A8D44EDA3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9" name="TextBox 18">
            <a:extLst>
              <a:ext uri="{FF2B5EF4-FFF2-40B4-BE49-F238E27FC236}">
                <a16:creationId xmlns:a16="http://schemas.microsoft.com/office/drawing/2014/main" id="{797A8634-8552-D8C8-1059-353C9D1A5669}"/>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27</a:t>
            </a:r>
          </a:p>
        </p:txBody>
      </p:sp>
    </p:spTree>
    <p:extLst>
      <p:ext uri="{BB962C8B-B14F-4D97-AF65-F5344CB8AC3E}">
        <p14:creationId xmlns:p14="http://schemas.microsoft.com/office/powerpoint/2010/main" val="41152193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A79378-7A56-014D-65C6-F0DECFA3318D}"/>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04</a:t>
            </a:r>
          </a:p>
        </p:txBody>
      </p:sp>
      <p:sp>
        <p:nvSpPr>
          <p:cNvPr id="3" name="TextBox 2">
            <a:extLst>
              <a:ext uri="{FF2B5EF4-FFF2-40B4-BE49-F238E27FC236}">
                <a16:creationId xmlns:a16="http://schemas.microsoft.com/office/drawing/2014/main" id="{C959D59C-FB84-3336-2490-F954471BC5E7}"/>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Into the cloud</a:t>
            </a:r>
          </a:p>
        </p:txBody>
      </p:sp>
      <p:sp>
        <p:nvSpPr>
          <p:cNvPr id="4" name="TextBox 3">
            <a:extLst>
              <a:ext uri="{FF2B5EF4-FFF2-40B4-BE49-F238E27FC236}">
                <a16:creationId xmlns:a16="http://schemas.microsoft.com/office/drawing/2014/main" id="{C2DF4D9F-7386-9C13-6C9F-2AA7F5AD0491}"/>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Deploy to a real AWS account, then watch a manual change leak data that every scanner missed</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CD2B7DA2-690B-9A38-33F2-F7D9517F834B}"/>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Tools: Terraform, AWS CLI   ·   15 minutes live demo</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411191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AFF834-9A05-4461-B4C8-98BD2FD89FB8}"/>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4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396D47C4-201E-9BB4-C45C-3825CDBFFA46}"/>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AFAB1A2E-0DDA-A662-0E23-4A52A218662B}"/>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098C107C-F32B-4C33-233F-C50BAB1DB568}"/>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The code passed every check and is deployed to AWS: a private bucket of customer records, a locked-down firewall and a least-privilege role. Then a colleague 'just fixes something' directly in the AWS console.</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5F05F20E-0705-B3AE-E44A-6235E75041EB}"/>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IN" sz="2000" b="1">
                <a:solidFill>
                  <a:srgbClr val="E4572E"/>
                </a:solidFill>
                <a:latin typeface="Calibri" panose="020F0502020204030204" pitchFamily="34" charset="0"/>
              </a:rPr>
              <a:t>Will the pipeline notice?</a:t>
            </a:r>
          </a:p>
        </p:txBody>
      </p:sp>
      <p:sp>
        <p:nvSpPr>
          <p:cNvPr id="7" name="TextBox 6">
            <a:extLst>
              <a:ext uri="{FF2B5EF4-FFF2-40B4-BE49-F238E27FC236}">
                <a16:creationId xmlns:a16="http://schemas.microsoft.com/office/drawing/2014/main" id="{6DD65856-F6AF-688E-BC21-110C434C1E3B}"/>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6C02ADC9-6ABE-4876-37E6-58610545EAD5}"/>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D5680605-4B5D-040D-34AF-9790168F6839}"/>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real cloud resources created from code, secure by default</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78086CA2-49BD-820A-8D36-92688FEE99C2}"/>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2B30A1B8-137A-8658-FB01-93718DC37EC8}"/>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Watch a manual change leak data, live, on your own phone</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825D201D-DE55-03B9-3D7A-915612B701D3}"/>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0F120132-1671-D106-7354-CF037DDD9EF9}"/>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Detect the drift and put the cloud back the way the code says</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BC71489C-82A5-29C8-F248-DF68BD66BD31}"/>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Misconfigured storage exposed so much data that AWS added Block Public Access in 2018.</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44BDFBEF-B1C6-3046-4901-953BF699ABDF}"/>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FDE3D3D1-F197-C806-AF9D-0D46BFC05ABF}"/>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29</a:t>
            </a:r>
          </a:p>
        </p:txBody>
      </p:sp>
    </p:spTree>
    <p:extLst>
      <p:ext uri="{BB962C8B-B14F-4D97-AF65-F5344CB8AC3E}">
        <p14:creationId xmlns:p14="http://schemas.microsoft.com/office/powerpoint/2010/main" val="3982256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5AAFEA-E330-77F5-5952-704925D2CC46}"/>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Deploy, drift, detect, fix</a:t>
            </a:r>
          </a:p>
        </p:txBody>
      </p:sp>
      <p:sp>
        <p:nvSpPr>
          <p:cNvPr id="3" name="TextBox 2">
            <a:extLst>
              <a:ext uri="{FF2B5EF4-FFF2-40B4-BE49-F238E27FC236}">
                <a16:creationId xmlns:a16="http://schemas.microsoft.com/office/drawing/2014/main" id="{E764CB73-AA19-2F90-C8A8-984F12C6ADE8}"/>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Everything below happens on a real AWS account, in about ten minutes</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B2BF23E7-D060-93CC-796B-A837E15E83B1}"/>
              </a:ext>
            </a:extLst>
          </p:cNvPr>
          <p:cNvSpPr/>
          <p:nvPr/>
        </p:nvSpPr>
        <p:spPr>
          <a:xfrm>
            <a:off x="6096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7FA53017-8C8C-8ECA-0364-089E53586A12}"/>
              </a:ext>
            </a:extLst>
          </p:cNvPr>
          <p:cNvSpPr/>
          <p:nvPr/>
        </p:nvSpPr>
        <p:spPr>
          <a:xfrm>
            <a:off x="812800" y="1701800"/>
            <a:ext cx="457200" cy="457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0B526334-C851-46C7-46D0-797F53F5C6EB}"/>
              </a:ext>
            </a:extLst>
          </p:cNvPr>
          <p:cNvSpPr txBox="1"/>
          <p:nvPr/>
        </p:nvSpPr>
        <p:spPr>
          <a:xfrm>
            <a:off x="8128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Deploy</a:t>
            </a:r>
          </a:p>
        </p:txBody>
      </p:sp>
      <p:sp>
        <p:nvSpPr>
          <p:cNvPr id="7" name="TextBox 6">
            <a:extLst>
              <a:ext uri="{FF2B5EF4-FFF2-40B4-BE49-F238E27FC236}">
                <a16:creationId xmlns:a16="http://schemas.microsoft.com/office/drawing/2014/main" id="{4F393373-3A3E-AA7E-606C-13AED3E025D3}"/>
              </a:ext>
            </a:extLst>
          </p:cNvPr>
          <p:cNvSpPr txBox="1"/>
          <p:nvPr/>
        </p:nvSpPr>
        <p:spPr>
          <a:xfrm>
            <a:off x="8128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Terraform creates a private bucket, an HTTPS-only firewall and a least-privilege role.</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700FAC3D-C448-B109-C420-93DC80A03166}"/>
              </a:ext>
            </a:extLst>
          </p:cNvPr>
          <p:cNvSpPr/>
          <p:nvPr/>
        </p:nvSpPr>
        <p:spPr>
          <a:xfrm>
            <a:off x="812800" y="3987800"/>
            <a:ext cx="1625600" cy="330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1B998B"/>
                </a:solidFill>
                <a:latin typeface="Calibri" panose="020F0502020204030204" pitchFamily="34" charset="0"/>
              </a:rPr>
              <a:t>check: PASS</a:t>
            </a:r>
          </a:p>
        </p:txBody>
      </p:sp>
      <p:sp>
        <p:nvSpPr>
          <p:cNvPr id="9" name="Rectangle: Rounded Corners 8">
            <a:extLst>
              <a:ext uri="{FF2B5EF4-FFF2-40B4-BE49-F238E27FC236}">
                <a16:creationId xmlns:a16="http://schemas.microsoft.com/office/drawing/2014/main" id="{53F3EAD7-B803-AE68-DC5C-41590A8CC6A5}"/>
              </a:ext>
            </a:extLst>
          </p:cNvPr>
          <p:cNvSpPr/>
          <p:nvPr/>
        </p:nvSpPr>
        <p:spPr>
          <a:xfrm>
            <a:off x="28448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Oval 9">
            <a:extLst>
              <a:ext uri="{FF2B5EF4-FFF2-40B4-BE49-F238E27FC236}">
                <a16:creationId xmlns:a16="http://schemas.microsoft.com/office/drawing/2014/main" id="{E86576C1-D091-2B74-162A-27355DD87DD3}"/>
              </a:ext>
            </a:extLst>
          </p:cNvPr>
          <p:cNvSpPr/>
          <p:nvPr/>
        </p:nvSpPr>
        <p:spPr>
          <a:xfrm>
            <a:off x="3048000" y="1701800"/>
            <a:ext cx="457200" cy="4572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20986739-688A-D900-211D-970C43B4B475}"/>
              </a:ext>
            </a:extLst>
          </p:cNvPr>
          <p:cNvSpPr txBox="1"/>
          <p:nvPr/>
        </p:nvSpPr>
        <p:spPr>
          <a:xfrm>
            <a:off x="30480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Drift</a:t>
            </a:r>
          </a:p>
        </p:txBody>
      </p:sp>
      <p:sp>
        <p:nvSpPr>
          <p:cNvPr id="12" name="TextBox 11">
            <a:extLst>
              <a:ext uri="{FF2B5EF4-FFF2-40B4-BE49-F238E27FC236}">
                <a16:creationId xmlns:a16="http://schemas.microsoft.com/office/drawing/2014/main" id="{96743044-68EA-8B46-90ED-53D8B229238B}"/>
              </a:ext>
            </a:extLst>
          </p:cNvPr>
          <p:cNvSpPr txBox="1"/>
          <p:nvPr/>
        </p:nvSpPr>
        <p:spPr>
          <a:xfrm>
            <a:off x="30480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colleague opens SSH to the world and makes the bucket public, by hand.</a:t>
            </a:r>
            <a:endParaRPr lang="en-IN" sz="14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373D077B-2B5D-999F-3DD9-8F119CE94E20}"/>
              </a:ext>
            </a:extLst>
          </p:cNvPr>
          <p:cNvSpPr/>
          <p:nvPr/>
        </p:nvSpPr>
        <p:spPr>
          <a:xfrm>
            <a:off x="3048000" y="3987800"/>
            <a:ext cx="1625600" cy="330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check: FAIL</a:t>
            </a:r>
          </a:p>
        </p:txBody>
      </p:sp>
      <p:cxnSp>
        <p:nvCxnSpPr>
          <p:cNvPr id="14" name="Straight Connector 13">
            <a:extLst>
              <a:ext uri="{FF2B5EF4-FFF2-40B4-BE49-F238E27FC236}">
                <a16:creationId xmlns:a16="http://schemas.microsoft.com/office/drawing/2014/main" id="{4948F488-8DEA-5FCF-8EF2-415BFED05E69}"/>
              </a:ext>
            </a:extLst>
          </p:cNvPr>
          <p:cNvCxnSpPr/>
          <p:nvPr/>
        </p:nvCxnSpPr>
        <p:spPr>
          <a:xfrm>
            <a:off x="26670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2CCDA875-A002-AA4D-21C1-0460296E5FB2}"/>
              </a:ext>
            </a:extLst>
          </p:cNvPr>
          <p:cNvSpPr/>
          <p:nvPr/>
        </p:nvSpPr>
        <p:spPr>
          <a:xfrm>
            <a:off x="50800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Oval 15">
            <a:extLst>
              <a:ext uri="{FF2B5EF4-FFF2-40B4-BE49-F238E27FC236}">
                <a16:creationId xmlns:a16="http://schemas.microsoft.com/office/drawing/2014/main" id="{3C4B8A9D-6112-6178-5C1A-2966A4212031}"/>
              </a:ext>
            </a:extLst>
          </p:cNvPr>
          <p:cNvSpPr/>
          <p:nvPr/>
        </p:nvSpPr>
        <p:spPr>
          <a:xfrm>
            <a:off x="5283200" y="1701800"/>
            <a:ext cx="457200" cy="4572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3</a:t>
            </a:r>
          </a:p>
        </p:txBody>
      </p:sp>
      <p:sp>
        <p:nvSpPr>
          <p:cNvPr id="17" name="TextBox 16">
            <a:extLst>
              <a:ext uri="{FF2B5EF4-FFF2-40B4-BE49-F238E27FC236}">
                <a16:creationId xmlns:a16="http://schemas.microsoft.com/office/drawing/2014/main" id="{22321004-D773-E26D-34E4-3210DFEB59B8}"/>
              </a:ext>
            </a:extLst>
          </p:cNvPr>
          <p:cNvSpPr txBox="1"/>
          <p:nvPr/>
        </p:nvSpPr>
        <p:spPr>
          <a:xfrm>
            <a:off x="52832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Leak</a:t>
            </a:r>
          </a:p>
        </p:txBody>
      </p:sp>
      <p:sp>
        <p:nvSpPr>
          <p:cNvPr id="18" name="TextBox 17">
            <a:extLst>
              <a:ext uri="{FF2B5EF4-FFF2-40B4-BE49-F238E27FC236}">
                <a16:creationId xmlns:a16="http://schemas.microsoft.com/office/drawing/2014/main" id="{0C6B88EB-8F3E-D677-E401-9A04BA622152}"/>
              </a:ext>
            </a:extLst>
          </p:cNvPr>
          <p:cNvSpPr txBox="1"/>
          <p:nvPr/>
        </p:nvSpPr>
        <p:spPr>
          <a:xfrm>
            <a:off x="52832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Scan the QR code: the confidential customer page opens on your phone.</a:t>
            </a:r>
            <a:endParaRPr lang="en-IN" sz="1400">
              <a:solidFill>
                <a:srgbClr val="1E2A35"/>
              </a:solidFill>
              <a:latin typeface="Calibri" panose="020F0502020204030204" pitchFamily="34" charset="0"/>
            </a:endParaRPr>
          </a:p>
        </p:txBody>
      </p:sp>
      <p:sp>
        <p:nvSpPr>
          <p:cNvPr id="19" name="Rectangle: Rounded Corners 18">
            <a:extLst>
              <a:ext uri="{FF2B5EF4-FFF2-40B4-BE49-F238E27FC236}">
                <a16:creationId xmlns:a16="http://schemas.microsoft.com/office/drawing/2014/main" id="{34845A37-F48E-241F-0D0D-130166D84E48}"/>
              </a:ext>
            </a:extLst>
          </p:cNvPr>
          <p:cNvSpPr/>
          <p:nvPr/>
        </p:nvSpPr>
        <p:spPr>
          <a:xfrm>
            <a:off x="5283200" y="3987800"/>
            <a:ext cx="1625600" cy="330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no login needed</a:t>
            </a:r>
          </a:p>
        </p:txBody>
      </p:sp>
      <p:cxnSp>
        <p:nvCxnSpPr>
          <p:cNvPr id="20" name="Straight Connector 19">
            <a:extLst>
              <a:ext uri="{FF2B5EF4-FFF2-40B4-BE49-F238E27FC236}">
                <a16:creationId xmlns:a16="http://schemas.microsoft.com/office/drawing/2014/main" id="{5245531B-7F6F-3238-7F3B-C4BE3E15EE55}"/>
              </a:ext>
            </a:extLst>
          </p:cNvPr>
          <p:cNvCxnSpPr/>
          <p:nvPr/>
        </p:nvCxnSpPr>
        <p:spPr>
          <a:xfrm>
            <a:off x="49022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61F59C55-E66C-B128-F1A0-A9B4740593E7}"/>
              </a:ext>
            </a:extLst>
          </p:cNvPr>
          <p:cNvSpPr/>
          <p:nvPr/>
        </p:nvSpPr>
        <p:spPr>
          <a:xfrm>
            <a:off x="73152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Oval 21">
            <a:extLst>
              <a:ext uri="{FF2B5EF4-FFF2-40B4-BE49-F238E27FC236}">
                <a16:creationId xmlns:a16="http://schemas.microsoft.com/office/drawing/2014/main" id="{DCC1A8DC-C2BE-AD39-0716-905155F58A9A}"/>
              </a:ext>
            </a:extLst>
          </p:cNvPr>
          <p:cNvSpPr/>
          <p:nvPr/>
        </p:nvSpPr>
        <p:spPr>
          <a:xfrm>
            <a:off x="7518400" y="17018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4</a:t>
            </a:r>
          </a:p>
        </p:txBody>
      </p:sp>
      <p:sp>
        <p:nvSpPr>
          <p:cNvPr id="23" name="TextBox 22">
            <a:extLst>
              <a:ext uri="{FF2B5EF4-FFF2-40B4-BE49-F238E27FC236}">
                <a16:creationId xmlns:a16="http://schemas.microsoft.com/office/drawing/2014/main" id="{D5F25D72-7710-F1E7-1104-E032BF0A077A}"/>
              </a:ext>
            </a:extLst>
          </p:cNvPr>
          <p:cNvSpPr txBox="1"/>
          <p:nvPr/>
        </p:nvSpPr>
        <p:spPr>
          <a:xfrm>
            <a:off x="75184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Detect</a:t>
            </a:r>
          </a:p>
        </p:txBody>
      </p:sp>
      <p:sp>
        <p:nvSpPr>
          <p:cNvPr id="24" name="TextBox 23">
            <a:extLst>
              <a:ext uri="{FF2B5EF4-FFF2-40B4-BE49-F238E27FC236}">
                <a16:creationId xmlns:a16="http://schemas.microsoft.com/office/drawing/2014/main" id="{71C3F654-7CE7-33D5-0AC7-49C500B51F6F}"/>
              </a:ext>
            </a:extLst>
          </p:cNvPr>
          <p:cNvSpPr txBox="1"/>
          <p:nvPr/>
        </p:nvSpPr>
        <p:spPr>
          <a:xfrm>
            <a:off x="75184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terraform plan compares the live cloud with the code and lists every change.</a:t>
            </a:r>
            <a:endParaRPr lang="en-IN" sz="1400">
              <a:solidFill>
                <a:srgbClr val="1E2A35"/>
              </a:solidFill>
              <a:latin typeface="Calibri" panose="020F0502020204030204" pitchFamily="34" charset="0"/>
            </a:endParaRPr>
          </a:p>
        </p:txBody>
      </p:sp>
      <p:sp>
        <p:nvSpPr>
          <p:cNvPr id="25" name="Rectangle: Rounded Corners 24">
            <a:extLst>
              <a:ext uri="{FF2B5EF4-FFF2-40B4-BE49-F238E27FC236}">
                <a16:creationId xmlns:a16="http://schemas.microsoft.com/office/drawing/2014/main" id="{0150F10F-0873-7F7A-8881-E73BE10915C3}"/>
              </a:ext>
            </a:extLst>
          </p:cNvPr>
          <p:cNvSpPr/>
          <p:nvPr/>
        </p:nvSpPr>
        <p:spPr>
          <a:xfrm>
            <a:off x="7518400" y="3987800"/>
            <a:ext cx="1625600" cy="330200"/>
          </a:xfrm>
          <a:prstGeom prst="roundRect">
            <a:avLst>
              <a:gd name="adj" fmla="val 10000"/>
            </a:avLst>
          </a:prstGeom>
          <a:solidFill>
            <a:srgbClr val="D5DB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13293D"/>
                </a:solidFill>
                <a:latin typeface="Calibri" panose="020F0502020204030204" pitchFamily="34" charset="0"/>
              </a:rPr>
              <a:t>3 changes found</a:t>
            </a:r>
          </a:p>
        </p:txBody>
      </p:sp>
      <p:cxnSp>
        <p:nvCxnSpPr>
          <p:cNvPr id="26" name="Straight Connector 25">
            <a:extLst>
              <a:ext uri="{FF2B5EF4-FFF2-40B4-BE49-F238E27FC236}">
                <a16:creationId xmlns:a16="http://schemas.microsoft.com/office/drawing/2014/main" id="{790C1FE5-A7C7-DFA8-286F-ABFA02EFB4DB}"/>
              </a:ext>
            </a:extLst>
          </p:cNvPr>
          <p:cNvCxnSpPr/>
          <p:nvPr/>
        </p:nvCxnSpPr>
        <p:spPr>
          <a:xfrm>
            <a:off x="71374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8B010A55-C819-8008-30C5-1D7C61834569}"/>
              </a:ext>
            </a:extLst>
          </p:cNvPr>
          <p:cNvSpPr/>
          <p:nvPr/>
        </p:nvSpPr>
        <p:spPr>
          <a:xfrm>
            <a:off x="9550400" y="1498600"/>
            <a:ext cx="2032000" cy="2997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Oval 27">
            <a:extLst>
              <a:ext uri="{FF2B5EF4-FFF2-40B4-BE49-F238E27FC236}">
                <a16:creationId xmlns:a16="http://schemas.microsoft.com/office/drawing/2014/main" id="{001FD381-84C0-1328-F896-20E4B9B345F6}"/>
              </a:ext>
            </a:extLst>
          </p:cNvPr>
          <p:cNvSpPr/>
          <p:nvPr/>
        </p:nvSpPr>
        <p:spPr>
          <a:xfrm>
            <a:off x="9753600" y="1701800"/>
            <a:ext cx="457200" cy="457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5</a:t>
            </a:r>
          </a:p>
        </p:txBody>
      </p:sp>
      <p:sp>
        <p:nvSpPr>
          <p:cNvPr id="29" name="TextBox 28">
            <a:extLst>
              <a:ext uri="{FF2B5EF4-FFF2-40B4-BE49-F238E27FC236}">
                <a16:creationId xmlns:a16="http://schemas.microsoft.com/office/drawing/2014/main" id="{04546FF3-BDD9-E1C8-F830-083AE6CB8BDE}"/>
              </a:ext>
            </a:extLst>
          </p:cNvPr>
          <p:cNvSpPr txBox="1"/>
          <p:nvPr/>
        </p:nvSpPr>
        <p:spPr>
          <a:xfrm>
            <a:off x="9753600" y="2311400"/>
            <a:ext cx="16256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Fix</a:t>
            </a:r>
          </a:p>
        </p:txBody>
      </p:sp>
      <p:sp>
        <p:nvSpPr>
          <p:cNvPr id="30" name="TextBox 29">
            <a:extLst>
              <a:ext uri="{FF2B5EF4-FFF2-40B4-BE49-F238E27FC236}">
                <a16:creationId xmlns:a16="http://schemas.microsoft.com/office/drawing/2014/main" id="{96B4448F-3174-B8B3-9FF3-37538616EE81}"/>
              </a:ext>
            </a:extLst>
          </p:cNvPr>
          <p:cNvSpPr txBox="1"/>
          <p:nvPr/>
        </p:nvSpPr>
        <p:spPr>
          <a:xfrm>
            <a:off x="9753600" y="2717800"/>
            <a:ext cx="1625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terraform apply puts it back. Refresh your phone: Access Denied.</a:t>
            </a:r>
            <a:endParaRPr lang="en-IN" sz="1400">
              <a:solidFill>
                <a:srgbClr val="1E2A35"/>
              </a:solidFill>
              <a:latin typeface="Calibri" panose="020F0502020204030204" pitchFamily="34" charset="0"/>
            </a:endParaRPr>
          </a:p>
        </p:txBody>
      </p:sp>
      <p:sp>
        <p:nvSpPr>
          <p:cNvPr id="31" name="Rectangle: Rounded Corners 30">
            <a:extLst>
              <a:ext uri="{FF2B5EF4-FFF2-40B4-BE49-F238E27FC236}">
                <a16:creationId xmlns:a16="http://schemas.microsoft.com/office/drawing/2014/main" id="{5D664221-FD42-60C9-482B-30899ABC563F}"/>
              </a:ext>
            </a:extLst>
          </p:cNvPr>
          <p:cNvSpPr/>
          <p:nvPr/>
        </p:nvSpPr>
        <p:spPr>
          <a:xfrm>
            <a:off x="9753600" y="3987800"/>
            <a:ext cx="1625600" cy="330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1B998B"/>
                </a:solidFill>
                <a:latin typeface="Calibri" panose="020F0502020204030204" pitchFamily="34" charset="0"/>
              </a:rPr>
              <a:t>check: PASS</a:t>
            </a:r>
          </a:p>
        </p:txBody>
      </p:sp>
      <p:cxnSp>
        <p:nvCxnSpPr>
          <p:cNvPr id="32" name="Straight Connector 31">
            <a:extLst>
              <a:ext uri="{FF2B5EF4-FFF2-40B4-BE49-F238E27FC236}">
                <a16:creationId xmlns:a16="http://schemas.microsoft.com/office/drawing/2014/main" id="{98150FF0-755C-26A9-9A9C-B3E9264202E6}"/>
              </a:ext>
            </a:extLst>
          </p:cNvPr>
          <p:cNvCxnSpPr/>
          <p:nvPr/>
        </p:nvCxnSpPr>
        <p:spPr>
          <a:xfrm>
            <a:off x="9372600" y="2997200"/>
            <a:ext cx="1524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EFA1ED97-95D8-C336-2D0C-9D38CEBF06F1}"/>
              </a:ext>
            </a:extLst>
          </p:cNvPr>
          <p:cNvSpPr txBox="1"/>
          <p:nvPr/>
        </p:nvSpPr>
        <p:spPr>
          <a:xfrm>
            <a:off x="609600" y="4775200"/>
            <a:ext cx="109728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The code never changed, so gitleaks, SonarQube and Checkov would all still pass. Only watching the live account catches drift: AWS Config, Security Hub, Prowler.</a:t>
            </a:r>
            <a:endParaRPr lang="en-IN" sz="1600">
              <a:solidFill>
                <a:srgbClr val="1E2A35"/>
              </a:solidFill>
              <a:latin typeface="Calibri" panose="020F0502020204030204" pitchFamily="34" charset="0"/>
            </a:endParaRPr>
          </a:p>
        </p:txBody>
      </p:sp>
      <p:sp>
        <p:nvSpPr>
          <p:cNvPr id="34" name="TextBox 33">
            <a:extLst>
              <a:ext uri="{FF2B5EF4-FFF2-40B4-BE49-F238E27FC236}">
                <a16:creationId xmlns:a16="http://schemas.microsoft.com/office/drawing/2014/main" id="{7B4DA9B8-49AB-908A-42A1-29CC9D057748}"/>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5" name="TextBox 34">
            <a:extLst>
              <a:ext uri="{FF2B5EF4-FFF2-40B4-BE49-F238E27FC236}">
                <a16:creationId xmlns:a16="http://schemas.microsoft.com/office/drawing/2014/main" id="{2C362616-2AF8-A040-9F3E-4794A5EDBE32}"/>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30</a:t>
            </a:r>
          </a:p>
        </p:txBody>
      </p:sp>
    </p:spTree>
    <p:extLst>
      <p:ext uri="{BB962C8B-B14F-4D97-AF65-F5344CB8AC3E}">
        <p14:creationId xmlns:p14="http://schemas.microsoft.com/office/powerpoint/2010/main" val="600388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A288C7-5192-16AD-DAF2-DF1F6D1061B7}"/>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Shared responsibility, on what we just built</a:t>
            </a:r>
            <a:endParaRPr lang="en-IN" sz="3400" b="1">
              <a:solidFill>
                <a:srgbClr val="13293D"/>
              </a:solidFill>
              <a:latin typeface="Calibri" panose="020F0502020204030204" pitchFamily="34" charset="0"/>
            </a:endParaRPr>
          </a:p>
        </p:txBody>
      </p:sp>
      <p:sp>
        <p:nvSpPr>
          <p:cNvPr id="3" name="Rectangle 2">
            <a:extLst>
              <a:ext uri="{FF2B5EF4-FFF2-40B4-BE49-F238E27FC236}">
                <a16:creationId xmlns:a16="http://schemas.microsoft.com/office/drawing/2014/main" id="{E5BEFEC6-8F3B-98BE-C2DF-38EC0864562F}"/>
              </a:ext>
            </a:extLst>
          </p:cNvPr>
          <p:cNvSpPr/>
          <p:nvPr/>
        </p:nvSpPr>
        <p:spPr>
          <a:xfrm>
            <a:off x="609600" y="1270000"/>
            <a:ext cx="5334000" cy="508000"/>
          </a:xfrm>
          <a:prstGeom prst="rect">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700" b="1">
                <a:solidFill>
                  <a:srgbClr val="13293D"/>
                </a:solidFill>
                <a:latin typeface="Calibri" panose="020F0502020204030204" pitchFamily="34" charset="0"/>
              </a:rPr>
              <a:t>AWS secured</a:t>
            </a:r>
          </a:p>
        </p:txBody>
      </p:sp>
      <p:sp>
        <p:nvSpPr>
          <p:cNvPr id="4" name="Rectangle 3">
            <a:extLst>
              <a:ext uri="{FF2B5EF4-FFF2-40B4-BE49-F238E27FC236}">
                <a16:creationId xmlns:a16="http://schemas.microsoft.com/office/drawing/2014/main" id="{393CF39E-C943-613B-E3FB-2E1628B0C186}"/>
              </a:ext>
            </a:extLst>
          </p:cNvPr>
          <p:cNvSpPr/>
          <p:nvPr/>
        </p:nvSpPr>
        <p:spPr>
          <a:xfrm>
            <a:off x="6248400" y="1270000"/>
            <a:ext cx="5334000" cy="5080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700" b="1">
                <a:solidFill>
                  <a:srgbClr val="FFFFFF"/>
                </a:solidFill>
                <a:latin typeface="Calibri" panose="020F0502020204030204" pitchFamily="34" charset="0"/>
              </a:rPr>
              <a:t>We decided</a:t>
            </a:r>
          </a:p>
        </p:txBody>
      </p:sp>
      <p:sp>
        <p:nvSpPr>
          <p:cNvPr id="5" name="Rectangle 4">
            <a:extLst>
              <a:ext uri="{FF2B5EF4-FFF2-40B4-BE49-F238E27FC236}">
                <a16:creationId xmlns:a16="http://schemas.microsoft.com/office/drawing/2014/main" id="{ECE448C5-9F42-464E-51D0-E47DE939A76B}"/>
              </a:ext>
            </a:extLst>
          </p:cNvPr>
          <p:cNvSpPr/>
          <p:nvPr/>
        </p:nvSpPr>
        <p:spPr>
          <a:xfrm>
            <a:off x="609600" y="18796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Data centres, hardware, the S3 and VPC services</a:t>
            </a:r>
            <a:endParaRPr lang="en-IN" sz="1500">
              <a:solidFill>
                <a:srgbClr val="1E2A35"/>
              </a:solidFill>
              <a:latin typeface="Calibri" panose="020F0502020204030204" pitchFamily="34" charset="0"/>
            </a:endParaRPr>
          </a:p>
        </p:txBody>
      </p:sp>
      <p:sp>
        <p:nvSpPr>
          <p:cNvPr id="6" name="Rectangle 5">
            <a:extLst>
              <a:ext uri="{FF2B5EF4-FFF2-40B4-BE49-F238E27FC236}">
                <a16:creationId xmlns:a16="http://schemas.microsoft.com/office/drawing/2014/main" id="{1C254E99-E77A-FE32-26F2-3D7C1A8E3F0D}"/>
              </a:ext>
            </a:extLst>
          </p:cNvPr>
          <p:cNvSpPr/>
          <p:nvPr/>
        </p:nvSpPr>
        <p:spPr>
          <a:xfrm>
            <a:off x="6248400" y="18796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Who can read the bucket</a:t>
            </a:r>
            <a:endParaRPr lang="en-IN" sz="1500" b="1">
              <a:solidFill>
                <a:srgbClr val="E4572E"/>
              </a:solidFill>
              <a:latin typeface="Calibri" panose="020F0502020204030204" pitchFamily="34" charset="0"/>
            </a:endParaRPr>
          </a:p>
        </p:txBody>
      </p:sp>
      <p:sp>
        <p:nvSpPr>
          <p:cNvPr id="7" name="Rectangle 6">
            <a:extLst>
              <a:ext uri="{FF2B5EF4-FFF2-40B4-BE49-F238E27FC236}">
                <a16:creationId xmlns:a16="http://schemas.microsoft.com/office/drawing/2014/main" id="{731E8990-AD83-95AF-D9D0-E584E8912100}"/>
              </a:ext>
            </a:extLst>
          </p:cNvPr>
          <p:cNvSpPr/>
          <p:nvPr/>
        </p:nvSpPr>
        <p:spPr>
          <a:xfrm>
            <a:off x="609600" y="25908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That Block Public Access works when switched on</a:t>
            </a:r>
            <a:endParaRPr lang="en-IN" sz="1500">
              <a:solidFill>
                <a:srgbClr val="1E2A35"/>
              </a:solidFill>
              <a:latin typeface="Calibri" panose="020F0502020204030204" pitchFamily="34" charset="0"/>
            </a:endParaRPr>
          </a:p>
        </p:txBody>
      </p:sp>
      <p:sp>
        <p:nvSpPr>
          <p:cNvPr id="8" name="Rectangle 7">
            <a:extLst>
              <a:ext uri="{FF2B5EF4-FFF2-40B4-BE49-F238E27FC236}">
                <a16:creationId xmlns:a16="http://schemas.microsoft.com/office/drawing/2014/main" id="{13491ACD-2604-7E8C-A632-96B5454A2232}"/>
              </a:ext>
            </a:extLst>
          </p:cNvPr>
          <p:cNvSpPr/>
          <p:nvPr/>
        </p:nvSpPr>
        <p:spPr>
          <a:xfrm>
            <a:off x="6248400" y="25908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Whether it is switched on</a:t>
            </a:r>
            <a:endParaRPr lang="en-IN" sz="1500" b="1">
              <a:solidFill>
                <a:srgbClr val="E4572E"/>
              </a:solidFill>
              <a:latin typeface="Calibri" panose="020F0502020204030204" pitchFamily="34" charset="0"/>
            </a:endParaRPr>
          </a:p>
        </p:txBody>
      </p:sp>
      <p:sp>
        <p:nvSpPr>
          <p:cNvPr id="9" name="Rectangle 8">
            <a:extLst>
              <a:ext uri="{FF2B5EF4-FFF2-40B4-BE49-F238E27FC236}">
                <a16:creationId xmlns:a16="http://schemas.microsoft.com/office/drawing/2014/main" id="{8DF3ADE9-8D52-9218-1EA3-76DBC1F2A73C}"/>
              </a:ext>
            </a:extLst>
          </p:cNvPr>
          <p:cNvSpPr/>
          <p:nvPr/>
        </p:nvSpPr>
        <p:spPr>
          <a:xfrm>
            <a:off x="609600" y="33020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That security groups filter traffic</a:t>
            </a:r>
            <a:endParaRPr lang="en-IN" sz="1500">
              <a:solidFill>
                <a:srgbClr val="1E2A35"/>
              </a:solidFill>
              <a:latin typeface="Calibri" panose="020F0502020204030204" pitchFamily="34" charset="0"/>
            </a:endParaRPr>
          </a:p>
        </p:txBody>
      </p:sp>
      <p:sp>
        <p:nvSpPr>
          <p:cNvPr id="10" name="Rectangle 9">
            <a:extLst>
              <a:ext uri="{FF2B5EF4-FFF2-40B4-BE49-F238E27FC236}">
                <a16:creationId xmlns:a16="http://schemas.microsoft.com/office/drawing/2014/main" id="{F8C1F122-8DA8-EE4F-8685-8AD8A2D5A19A}"/>
              </a:ext>
            </a:extLst>
          </p:cNvPr>
          <p:cNvSpPr/>
          <p:nvPr/>
        </p:nvSpPr>
        <p:spPr>
          <a:xfrm>
            <a:off x="6248400" y="3302000"/>
            <a:ext cx="5334000" cy="6350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Which ports are open, and to whom</a:t>
            </a:r>
            <a:endParaRPr lang="en-IN" sz="1500" b="1">
              <a:solidFill>
                <a:srgbClr val="E4572E"/>
              </a:solidFill>
              <a:latin typeface="Calibri" panose="020F0502020204030204" pitchFamily="34" charset="0"/>
            </a:endParaRPr>
          </a:p>
        </p:txBody>
      </p:sp>
      <p:sp>
        <p:nvSpPr>
          <p:cNvPr id="11" name="Rectangle 10">
            <a:extLst>
              <a:ext uri="{FF2B5EF4-FFF2-40B4-BE49-F238E27FC236}">
                <a16:creationId xmlns:a16="http://schemas.microsoft.com/office/drawing/2014/main" id="{22031BAC-E094-3AC9-0C61-7C066690765B}"/>
              </a:ext>
            </a:extLst>
          </p:cNvPr>
          <p:cNvSpPr/>
          <p:nvPr/>
        </p:nvSpPr>
        <p:spPr>
          <a:xfrm>
            <a:off x="609600" y="40132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1E2A35"/>
                </a:solidFill>
                <a:latin typeface="Calibri" panose="020F0502020204030204" pitchFamily="34" charset="0"/>
              </a:rPr>
              <a:t>That IAM enforces every policy</a:t>
            </a:r>
            <a:endParaRPr lang="en-IN" sz="1500">
              <a:solidFill>
                <a:srgbClr val="1E2A35"/>
              </a:solidFill>
              <a:latin typeface="Calibri" panose="020F0502020204030204" pitchFamily="34" charset="0"/>
            </a:endParaRPr>
          </a:p>
        </p:txBody>
      </p:sp>
      <p:sp>
        <p:nvSpPr>
          <p:cNvPr id="12" name="Rectangle 11">
            <a:extLst>
              <a:ext uri="{FF2B5EF4-FFF2-40B4-BE49-F238E27FC236}">
                <a16:creationId xmlns:a16="http://schemas.microsoft.com/office/drawing/2014/main" id="{FAEDCCD4-497E-C1D1-454C-BA85335FECEF}"/>
              </a:ext>
            </a:extLst>
          </p:cNvPr>
          <p:cNvSpPr/>
          <p:nvPr/>
        </p:nvSpPr>
        <p:spPr>
          <a:xfrm>
            <a:off x="6248400" y="4013200"/>
            <a:ext cx="5334000" cy="635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E4572E"/>
                </a:solidFill>
                <a:latin typeface="Calibri" panose="020F0502020204030204" pitchFamily="34" charset="0"/>
              </a:rPr>
              <a:t>What each role is allowed to do</a:t>
            </a:r>
            <a:endParaRPr lang="en-IN" sz="1500" b="1">
              <a:solidFill>
                <a:srgbClr val="E4572E"/>
              </a:solidFill>
              <a:latin typeface="Calibri" panose="020F0502020204030204" pitchFamily="34" charset="0"/>
            </a:endParaRPr>
          </a:p>
        </p:txBody>
      </p:sp>
      <p:sp>
        <p:nvSpPr>
          <p:cNvPr id="13" name="TextBox 12">
            <a:extLst>
              <a:ext uri="{FF2B5EF4-FFF2-40B4-BE49-F238E27FC236}">
                <a16:creationId xmlns:a16="http://schemas.microsoft.com/office/drawing/2014/main" id="{6A6AAB45-40F5-C100-C09C-2B288788B9D3}"/>
              </a:ext>
            </a:extLst>
          </p:cNvPr>
          <p:cNvSpPr txBox="1"/>
          <p:nvPr/>
        </p:nvSpPr>
        <p:spPr>
          <a:xfrm>
            <a:off x="609600" y="4953000"/>
            <a:ext cx="10972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Every mistake today, including the leak you just saw, was in the right-hand column.</a:t>
            </a:r>
            <a:endParaRPr lang="en-IN" b="1">
              <a:solidFill>
                <a:srgbClr val="13293D"/>
              </a:solidFill>
              <a:latin typeface="Calibri" panose="020F0502020204030204" pitchFamily="34" charset="0"/>
            </a:endParaRPr>
          </a:p>
        </p:txBody>
      </p:sp>
      <p:sp>
        <p:nvSpPr>
          <p:cNvPr id="14" name="TextBox 13">
            <a:extLst>
              <a:ext uri="{FF2B5EF4-FFF2-40B4-BE49-F238E27FC236}">
                <a16:creationId xmlns:a16="http://schemas.microsoft.com/office/drawing/2014/main" id="{17944A6C-A057-0AA1-8F7F-09837AC8F035}"/>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5" name="TextBox 14">
            <a:extLst>
              <a:ext uri="{FF2B5EF4-FFF2-40B4-BE49-F238E27FC236}">
                <a16:creationId xmlns:a16="http://schemas.microsoft.com/office/drawing/2014/main" id="{13CC4978-18DB-3274-09C9-3976CB8AAD06}"/>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31</a:t>
            </a:r>
          </a:p>
        </p:txBody>
      </p:sp>
    </p:spTree>
    <p:extLst>
      <p:ext uri="{BB962C8B-B14F-4D97-AF65-F5344CB8AC3E}">
        <p14:creationId xmlns:p14="http://schemas.microsoft.com/office/powerpoint/2010/main" val="1743397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607407-E600-37E7-B20C-1A4A848EDFEE}"/>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4 · Open the lab guide</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5052CFCB-B2FC-4AE1-948E-A96685BA14EE}"/>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OPEN IN VS CODE</a:t>
            </a:r>
          </a:p>
        </p:txBody>
      </p:sp>
      <p:sp>
        <p:nvSpPr>
          <p:cNvPr id="4" name="Rectangle: Rounded Corners 3">
            <a:extLst>
              <a:ext uri="{FF2B5EF4-FFF2-40B4-BE49-F238E27FC236}">
                <a16:creationId xmlns:a16="http://schemas.microsoft.com/office/drawing/2014/main" id="{4618AE1D-FF32-5805-C5A7-77D4FB867BDD}"/>
              </a:ext>
            </a:extLst>
          </p:cNvPr>
          <p:cNvSpPr/>
          <p:nvPr/>
        </p:nvSpPr>
        <p:spPr>
          <a:xfrm>
            <a:off x="609600" y="1600200"/>
            <a:ext cx="5080000" cy="609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578CA37-39DD-4409-8A41-E764CCA2A776}"/>
              </a:ext>
            </a:extLst>
          </p:cNvPr>
          <p:cNvSpPr txBox="1"/>
          <p:nvPr/>
        </p:nvSpPr>
        <p:spPr>
          <a:xfrm>
            <a:off x="863600" y="1778000"/>
            <a:ext cx="45720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labs/lab4-into-the-cloud/README.md</a:t>
            </a:r>
          </a:p>
        </p:txBody>
      </p:sp>
      <p:sp>
        <p:nvSpPr>
          <p:cNvPr id="6" name="TextBox 5">
            <a:extLst>
              <a:ext uri="{FF2B5EF4-FFF2-40B4-BE49-F238E27FC236}">
                <a16:creationId xmlns:a16="http://schemas.microsoft.com/office/drawing/2014/main" id="{D513AAAD-F958-F4E4-94F4-3AE2B90F7D54}"/>
              </a:ext>
            </a:extLst>
          </p:cNvPr>
          <p:cNvSpPr txBox="1"/>
          <p:nvPr/>
        </p:nvSpPr>
        <p:spPr>
          <a:xfrm>
            <a:off x="609600" y="25146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WHERE</a:t>
            </a:r>
          </a:p>
        </p:txBody>
      </p:sp>
      <p:sp>
        <p:nvSpPr>
          <p:cNvPr id="7" name="TextBox 6">
            <a:extLst>
              <a:ext uri="{FF2B5EF4-FFF2-40B4-BE49-F238E27FC236}">
                <a16:creationId xmlns:a16="http://schemas.microsoft.com/office/drawing/2014/main" id="{FDA02DDB-8134-E004-4AA8-D91D6FFC789F}"/>
              </a:ext>
            </a:extLst>
          </p:cNvPr>
          <p:cNvSpPr txBox="1"/>
          <p:nvPr/>
        </p:nvSpPr>
        <p:spPr>
          <a:xfrm>
            <a:off x="609600" y="2794000"/>
            <a:ext cx="50800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On my screen, in an Ubuntu terminal signed in to AWS. You only need your phone.</a:t>
            </a:r>
            <a:endParaRPr lang="en-IN" sz="16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8B9372B0-E3B7-F5F5-F3A1-A5DB972C69CB}"/>
              </a:ext>
            </a:extLst>
          </p:cNvPr>
          <p:cNvSpPr txBox="1"/>
          <p:nvPr/>
        </p:nvSpPr>
        <p:spPr>
          <a:xfrm>
            <a:off x="609600" y="3860800"/>
            <a:ext cx="50800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Every step in the guide shows the command to run and the result to expect.</a:t>
            </a:r>
            <a:endParaRPr lang="en-IN" sz="1500">
              <a:solidFill>
                <a:srgbClr val="5B6B79"/>
              </a:solidFill>
              <a:latin typeface="Calibri" panose="020F0502020204030204" pitchFamily="34" charset="0"/>
            </a:endParaRPr>
          </a:p>
        </p:txBody>
      </p:sp>
      <p:sp>
        <p:nvSpPr>
          <p:cNvPr id="9" name="TextBox 8">
            <a:extLst>
              <a:ext uri="{FF2B5EF4-FFF2-40B4-BE49-F238E27FC236}">
                <a16:creationId xmlns:a16="http://schemas.microsoft.com/office/drawing/2014/main" id="{3A5925A6-86C1-4A55-1B04-AA7EAEB233E9}"/>
              </a:ext>
            </a:extLst>
          </p:cNvPr>
          <p:cNvSpPr txBox="1"/>
          <p:nvPr/>
        </p:nvSpPr>
        <p:spPr>
          <a:xfrm>
            <a:off x="6248400" y="1320800"/>
            <a:ext cx="5334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WHAT YOU'LL DO</a:t>
            </a:r>
          </a:p>
        </p:txBody>
      </p:sp>
      <p:sp>
        <p:nvSpPr>
          <p:cNvPr id="10" name="Oval 9">
            <a:extLst>
              <a:ext uri="{FF2B5EF4-FFF2-40B4-BE49-F238E27FC236}">
                <a16:creationId xmlns:a16="http://schemas.microsoft.com/office/drawing/2014/main" id="{24B532CF-F200-076A-F47B-56161E1EF1BC}"/>
              </a:ext>
            </a:extLst>
          </p:cNvPr>
          <p:cNvSpPr/>
          <p:nvPr/>
        </p:nvSpPr>
        <p:spPr>
          <a:xfrm>
            <a:off x="6248400" y="1701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1</a:t>
            </a:r>
          </a:p>
        </p:txBody>
      </p:sp>
      <p:sp>
        <p:nvSpPr>
          <p:cNvPr id="11" name="TextBox 10">
            <a:extLst>
              <a:ext uri="{FF2B5EF4-FFF2-40B4-BE49-F238E27FC236}">
                <a16:creationId xmlns:a16="http://schemas.microsoft.com/office/drawing/2014/main" id="{A805FDAA-D896-D65E-D93A-5A24B6AF563C}"/>
              </a:ext>
            </a:extLst>
          </p:cNvPr>
          <p:cNvSpPr txBox="1"/>
          <p:nvPr/>
        </p:nvSpPr>
        <p:spPr>
          <a:xfrm>
            <a:off x="6858000" y="1778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Deploy with Terraform and check from outside</a:t>
            </a:r>
            <a:endParaRPr lang="en-IN" sz="16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82A341E2-914F-A6BC-4217-F7C8C6040A54}"/>
              </a:ext>
            </a:extLst>
          </p:cNvPr>
          <p:cNvSpPr/>
          <p:nvPr/>
        </p:nvSpPr>
        <p:spPr>
          <a:xfrm>
            <a:off x="6248400" y="2463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29923568-EE5C-067F-327E-62150D24AF16}"/>
              </a:ext>
            </a:extLst>
          </p:cNvPr>
          <p:cNvSpPr txBox="1"/>
          <p:nvPr/>
        </p:nvSpPr>
        <p:spPr>
          <a:xfrm>
            <a:off x="6858000" y="2540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Drift: scan the QR code and see the leak</a:t>
            </a:r>
            <a:endParaRPr lang="en-IN" sz="1600">
              <a:solidFill>
                <a:srgbClr val="1E2A35"/>
              </a:solidFill>
              <a:latin typeface="Calibri" panose="020F0502020204030204" pitchFamily="34" charset="0"/>
            </a:endParaRPr>
          </a:p>
        </p:txBody>
      </p:sp>
      <p:sp>
        <p:nvSpPr>
          <p:cNvPr id="14" name="Oval 13">
            <a:extLst>
              <a:ext uri="{FF2B5EF4-FFF2-40B4-BE49-F238E27FC236}">
                <a16:creationId xmlns:a16="http://schemas.microsoft.com/office/drawing/2014/main" id="{B124FFE9-E173-4FDD-F81A-9DF114F5DBD3}"/>
              </a:ext>
            </a:extLst>
          </p:cNvPr>
          <p:cNvSpPr/>
          <p:nvPr/>
        </p:nvSpPr>
        <p:spPr>
          <a:xfrm>
            <a:off x="6248400" y="3225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CC0614F3-6263-97BA-7C85-0664F25337C5}"/>
              </a:ext>
            </a:extLst>
          </p:cNvPr>
          <p:cNvSpPr txBox="1"/>
          <p:nvPr/>
        </p:nvSpPr>
        <p:spPr>
          <a:xfrm>
            <a:off x="6858000" y="3302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Detect it with check.sh and terraform plan</a:t>
            </a:r>
            <a:endParaRPr lang="en-IN" sz="1600">
              <a:solidFill>
                <a:srgbClr val="1E2A35"/>
              </a:solidFill>
              <a:latin typeface="Calibri" panose="020F0502020204030204" pitchFamily="34" charset="0"/>
            </a:endParaRPr>
          </a:p>
        </p:txBody>
      </p:sp>
      <p:sp>
        <p:nvSpPr>
          <p:cNvPr id="16" name="Oval 15">
            <a:extLst>
              <a:ext uri="{FF2B5EF4-FFF2-40B4-BE49-F238E27FC236}">
                <a16:creationId xmlns:a16="http://schemas.microsoft.com/office/drawing/2014/main" id="{F289B1AD-99EC-BF55-2901-61614AC0B4C4}"/>
              </a:ext>
            </a:extLst>
          </p:cNvPr>
          <p:cNvSpPr/>
          <p:nvPr/>
        </p:nvSpPr>
        <p:spPr>
          <a:xfrm>
            <a:off x="6248400" y="3987800"/>
            <a:ext cx="431800" cy="431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4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3DFD3A21-8174-8EA0-9957-A85CC7CB0BA8}"/>
              </a:ext>
            </a:extLst>
          </p:cNvPr>
          <p:cNvSpPr txBox="1"/>
          <p:nvPr/>
        </p:nvSpPr>
        <p:spPr>
          <a:xfrm>
            <a:off x="6858000" y="4064000"/>
            <a:ext cx="47244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Fix it with terraform apply, then destroy</a:t>
            </a:r>
            <a:endParaRPr lang="en-IN" sz="1600">
              <a:solidFill>
                <a:srgbClr val="1E2A35"/>
              </a:solidFill>
              <a:latin typeface="Calibri" panose="020F0502020204030204" pitchFamily="34" charset="0"/>
            </a:endParaRPr>
          </a:p>
        </p:txBody>
      </p:sp>
      <p:sp>
        <p:nvSpPr>
          <p:cNvPr id="18" name="TextBox 17">
            <a:extLst>
              <a:ext uri="{FF2B5EF4-FFF2-40B4-BE49-F238E27FC236}">
                <a16:creationId xmlns:a16="http://schemas.microsoft.com/office/drawing/2014/main" id="{8E66FA34-9797-E6AF-2F06-6796B228FFC4}"/>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9" name="TextBox 18">
            <a:extLst>
              <a:ext uri="{FF2B5EF4-FFF2-40B4-BE49-F238E27FC236}">
                <a16:creationId xmlns:a16="http://schemas.microsoft.com/office/drawing/2014/main" id="{B7A2DCDA-CFF1-0AC9-B171-C3AA7364734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32</a:t>
            </a:r>
          </a:p>
        </p:txBody>
      </p:sp>
    </p:spTree>
    <p:extLst>
      <p:ext uri="{BB962C8B-B14F-4D97-AF65-F5344CB8AC3E}">
        <p14:creationId xmlns:p14="http://schemas.microsoft.com/office/powerpoint/2010/main" val="21176204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9D6806-E53C-9026-47D3-12F1CA85ECD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FFFFFF"/>
                </a:solidFill>
                <a:latin typeface="Calibri" panose="020F0502020204030204" pitchFamily="34" charset="0"/>
              </a:rPr>
              <a:t>What to take away</a:t>
            </a:r>
          </a:p>
        </p:txBody>
      </p:sp>
      <p:sp>
        <p:nvSpPr>
          <p:cNvPr id="3" name="Oval 2">
            <a:extLst>
              <a:ext uri="{FF2B5EF4-FFF2-40B4-BE49-F238E27FC236}">
                <a16:creationId xmlns:a16="http://schemas.microsoft.com/office/drawing/2014/main" id="{3E3E7994-40E1-4F91-ED4C-A1D4B3CA3421}"/>
              </a:ext>
            </a:extLst>
          </p:cNvPr>
          <p:cNvSpPr/>
          <p:nvPr/>
        </p:nvSpPr>
        <p:spPr>
          <a:xfrm>
            <a:off x="609600" y="1270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4" name="TextBox 3">
            <a:extLst>
              <a:ext uri="{FF2B5EF4-FFF2-40B4-BE49-F238E27FC236}">
                <a16:creationId xmlns:a16="http://schemas.microsoft.com/office/drawing/2014/main" id="{8788026A-3048-C497-F750-99F5FE3E0E17}"/>
              </a:ext>
            </a:extLst>
          </p:cNvPr>
          <p:cNvSpPr txBox="1"/>
          <p:nvPr/>
        </p:nvSpPr>
        <p:spPr>
          <a:xfrm>
            <a:off x="1346200" y="13716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Never put secrets in code. If one leaks, rotate it first.</a:t>
            </a:r>
            <a:endParaRPr lang="en-IN" sz="1900">
              <a:solidFill>
                <a:srgbClr val="FFFFFF"/>
              </a:solidFill>
              <a:latin typeface="Calibri" panose="020F0502020204030204" pitchFamily="34" charset="0"/>
            </a:endParaRPr>
          </a:p>
        </p:txBody>
      </p:sp>
      <p:sp>
        <p:nvSpPr>
          <p:cNvPr id="5" name="Oval 4">
            <a:extLst>
              <a:ext uri="{FF2B5EF4-FFF2-40B4-BE49-F238E27FC236}">
                <a16:creationId xmlns:a16="http://schemas.microsoft.com/office/drawing/2014/main" id="{8988FD3E-57A0-2C87-3041-E71BB0A04CF3}"/>
              </a:ext>
            </a:extLst>
          </p:cNvPr>
          <p:cNvSpPr/>
          <p:nvPr/>
        </p:nvSpPr>
        <p:spPr>
          <a:xfrm>
            <a:off x="609600" y="20066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6" name="TextBox 5">
            <a:extLst>
              <a:ext uri="{FF2B5EF4-FFF2-40B4-BE49-F238E27FC236}">
                <a16:creationId xmlns:a16="http://schemas.microsoft.com/office/drawing/2014/main" id="{8D772472-9EF1-EB93-AD3E-48D0767B6E14}"/>
              </a:ext>
            </a:extLst>
          </p:cNvPr>
          <p:cNvSpPr txBox="1"/>
          <p:nvPr/>
        </p:nvSpPr>
        <p:spPr>
          <a:xfrm>
            <a:off x="1346200" y="21082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Scan code early: the most dangerous bugs are well-known patterns.</a:t>
            </a:r>
            <a:endParaRPr lang="en-IN" sz="1900">
              <a:solidFill>
                <a:srgbClr val="FFFFFF"/>
              </a:solidFill>
              <a:latin typeface="Calibri" panose="020F0502020204030204" pitchFamily="34" charset="0"/>
            </a:endParaRPr>
          </a:p>
        </p:txBody>
      </p:sp>
      <p:sp>
        <p:nvSpPr>
          <p:cNvPr id="7" name="Oval 6">
            <a:extLst>
              <a:ext uri="{FF2B5EF4-FFF2-40B4-BE49-F238E27FC236}">
                <a16:creationId xmlns:a16="http://schemas.microsoft.com/office/drawing/2014/main" id="{EA09EA74-6779-B114-CD8C-4E584DCCFE56}"/>
              </a:ext>
            </a:extLst>
          </p:cNvPr>
          <p:cNvSpPr/>
          <p:nvPr/>
        </p:nvSpPr>
        <p:spPr>
          <a:xfrm>
            <a:off x="609600" y="27432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8" name="TextBox 7">
            <a:extLst>
              <a:ext uri="{FF2B5EF4-FFF2-40B4-BE49-F238E27FC236}">
                <a16:creationId xmlns:a16="http://schemas.microsoft.com/office/drawing/2014/main" id="{31AC44D1-BEAD-30C2-47B7-16D367E90C7F}"/>
              </a:ext>
            </a:extLst>
          </p:cNvPr>
          <p:cNvSpPr txBox="1"/>
          <p:nvPr/>
        </p:nvSpPr>
        <p:spPr>
          <a:xfrm>
            <a:off x="1346200" y="28448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Treat infrastructure as code, and scan it before it's created.</a:t>
            </a:r>
            <a:endParaRPr lang="en-IN" sz="1900">
              <a:solidFill>
                <a:srgbClr val="FFFFFF"/>
              </a:solidFill>
              <a:latin typeface="Calibri" panose="020F0502020204030204" pitchFamily="34" charset="0"/>
            </a:endParaRPr>
          </a:p>
        </p:txBody>
      </p:sp>
      <p:sp>
        <p:nvSpPr>
          <p:cNvPr id="9" name="Oval 8">
            <a:extLst>
              <a:ext uri="{FF2B5EF4-FFF2-40B4-BE49-F238E27FC236}">
                <a16:creationId xmlns:a16="http://schemas.microsoft.com/office/drawing/2014/main" id="{F4FADA07-76F6-41B0-AAB5-4BCC928CAC7E}"/>
              </a:ext>
            </a:extLst>
          </p:cNvPr>
          <p:cNvSpPr/>
          <p:nvPr/>
        </p:nvSpPr>
        <p:spPr>
          <a:xfrm>
            <a:off x="609600" y="3479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0" name="TextBox 9">
            <a:extLst>
              <a:ext uri="{FF2B5EF4-FFF2-40B4-BE49-F238E27FC236}">
                <a16:creationId xmlns:a16="http://schemas.microsoft.com/office/drawing/2014/main" id="{7EDEC602-87BE-7901-DB32-C190565A6942}"/>
              </a:ext>
            </a:extLst>
          </p:cNvPr>
          <p:cNvSpPr txBox="1"/>
          <p:nvPr/>
        </p:nvSpPr>
        <p:spPr>
          <a:xfrm>
            <a:off x="1346200" y="35814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Automate the checks in a pipeline, so nobody can forget or skip them.</a:t>
            </a:r>
            <a:endParaRPr lang="en-IN" sz="1900">
              <a:solidFill>
                <a:srgbClr val="FFFFFF"/>
              </a:solidFill>
              <a:latin typeface="Calibri" panose="020F0502020204030204" pitchFamily="34" charset="0"/>
            </a:endParaRPr>
          </a:p>
        </p:txBody>
      </p:sp>
      <p:sp>
        <p:nvSpPr>
          <p:cNvPr id="11" name="Oval 10">
            <a:extLst>
              <a:ext uri="{FF2B5EF4-FFF2-40B4-BE49-F238E27FC236}">
                <a16:creationId xmlns:a16="http://schemas.microsoft.com/office/drawing/2014/main" id="{4755EED1-72EA-BBB9-7A9D-17884AC44108}"/>
              </a:ext>
            </a:extLst>
          </p:cNvPr>
          <p:cNvSpPr/>
          <p:nvPr/>
        </p:nvSpPr>
        <p:spPr>
          <a:xfrm>
            <a:off x="609600" y="42164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5</a:t>
            </a:r>
          </a:p>
        </p:txBody>
      </p:sp>
      <p:sp>
        <p:nvSpPr>
          <p:cNvPr id="12" name="TextBox 11">
            <a:extLst>
              <a:ext uri="{FF2B5EF4-FFF2-40B4-BE49-F238E27FC236}">
                <a16:creationId xmlns:a16="http://schemas.microsoft.com/office/drawing/2014/main" id="{764341E4-5ECF-DD08-710C-04E74BA2C50E}"/>
              </a:ext>
            </a:extLst>
          </p:cNvPr>
          <p:cNvSpPr txBox="1"/>
          <p:nvPr/>
        </p:nvSpPr>
        <p:spPr>
          <a:xfrm>
            <a:off x="1346200" y="4318000"/>
            <a:ext cx="10236200" cy="369332"/>
          </a:xfrm>
          <a:prstGeom prst="rect">
            <a:avLst/>
          </a:prstGeom>
          <a:noFill/>
        </p:spPr>
        <p:txBody>
          <a:bodyPr vert="horz" wrap="square" lIns="0" tIns="0" rIns="0" bIns="0" rtlCol="0" anchor="t">
            <a:noAutofit/>
          </a:bodyPr>
          <a:lstStyle/>
          <a:p>
            <a:r>
              <a:rPr lang="en-US" sz="1900">
                <a:solidFill>
                  <a:srgbClr val="FFFFFF"/>
                </a:solidFill>
                <a:latin typeface="Calibri" panose="020F0502020204030204" pitchFamily="34" charset="0"/>
              </a:rPr>
              <a:t>Watch the live cloud too: it can change without the code changing.</a:t>
            </a:r>
            <a:endParaRPr lang="en-IN" sz="1900">
              <a:solidFill>
                <a:srgbClr val="FFFFFF"/>
              </a:solidFill>
              <a:latin typeface="Calibri" panose="020F0502020204030204" pitchFamily="34" charset="0"/>
            </a:endParaRPr>
          </a:p>
        </p:txBody>
      </p:sp>
      <p:sp>
        <p:nvSpPr>
          <p:cNvPr id="13" name="TextBox 12">
            <a:extLst>
              <a:ext uri="{FF2B5EF4-FFF2-40B4-BE49-F238E27FC236}">
                <a16:creationId xmlns:a16="http://schemas.microsoft.com/office/drawing/2014/main" id="{C7D2B5D2-E060-8B6A-2841-E3543D608175}"/>
              </a:ext>
            </a:extLst>
          </p:cNvPr>
          <p:cNvSpPr txBox="1"/>
          <p:nvPr/>
        </p:nvSpPr>
        <p:spPr>
          <a:xfrm>
            <a:off x="609600" y="5232400"/>
            <a:ext cx="10972800" cy="369332"/>
          </a:xfrm>
          <a:prstGeom prst="rect">
            <a:avLst/>
          </a:prstGeom>
          <a:noFill/>
        </p:spPr>
        <p:txBody>
          <a:bodyPr vert="horz" wrap="square" lIns="0" tIns="0" rIns="0" bIns="0" rtlCol="0" anchor="t">
            <a:noAutofit/>
          </a:bodyPr>
          <a:lstStyle/>
          <a:p>
            <a:r>
              <a:rPr lang="en-IN" sz="4000" b="1">
                <a:solidFill>
                  <a:srgbClr val="FFFFFF"/>
                </a:solidFill>
                <a:latin typeface="Calibri" panose="020F0502020204030204" pitchFamily="34" charset="0"/>
              </a:rPr>
              <a:t>Questions?</a:t>
            </a:r>
          </a:p>
        </p:txBody>
      </p:sp>
      <p:sp>
        <p:nvSpPr>
          <p:cNvPr id="14" name="TextBox 13">
            <a:extLst>
              <a:ext uri="{FF2B5EF4-FFF2-40B4-BE49-F238E27FC236}">
                <a16:creationId xmlns:a16="http://schemas.microsoft.com/office/drawing/2014/main" id="{D368B581-76D0-DA4C-EF2F-E83C460C07AC}"/>
              </a:ext>
            </a:extLst>
          </p:cNvPr>
          <p:cNvSpPr txBox="1"/>
          <p:nvPr/>
        </p:nvSpPr>
        <p:spPr>
          <a:xfrm>
            <a:off x="609600" y="5969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Everything from today: github.com/PrathameshChopade/MIT-Cloud-Demo</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2019992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4948</Words>
  <Application>Microsoft Office PowerPoint</Application>
  <PresentationFormat>Custom</PresentationFormat>
  <Paragraphs>639</Paragraphs>
  <Slides>33</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Prathmesh</dc:creator>
  <cp:lastModifiedBy>Prathmesh</cp:lastModifiedBy>
  <cp:revision>1</cp:revision>
  <dcterms:created xsi:type="dcterms:W3CDTF">2026-10-22T11:30:12Z</dcterms:created>
  <dcterms:modified xsi:type="dcterms:W3CDTF">2026-10-22T11:30:12Z</dcterms:modified>
</cp:coreProperties>
</file>