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2E60B7-F76F-44AD-9953-9D2687CECE40}" type="datetimeFigureOut">
              <a:rPr lang="en-IN" smtClean="0"/>
              <a:t>21-10-2026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C631D3-D24E-4CA0-9C02-E8073C67C1FB}" type="slidenum">
              <a:rPr lang="en-IN" smtClean="0"/>
              <a:t>‹#›</a:t>
            </a:fld>
            <a:endParaRPr lang="en-IN"/>
          </a:p>
        </p:txBody>
      </p:sp>
    </p:spTree>
    <p:extLst>
      <p:ext uri="{BB962C8B-B14F-4D97-AF65-F5344CB8AC3E}">
        <p14:creationId xmlns:p14="http://schemas.microsoft.com/office/powerpoint/2010/main" val="4643694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Welcome. This is a hands-on session: by the end you will have found and fixed real security problems on your own laptop. Everything runs locally in Docker, and no cloud account is needed. The four circles are the four checkpoints we will visit today.</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a:t>
            </a:fld>
            <a:endParaRPr lang="en-IN"/>
          </a:p>
        </p:txBody>
      </p:sp>
    </p:spTree>
    <p:extLst>
      <p:ext uri="{BB962C8B-B14F-4D97-AF65-F5344CB8AC3E}">
        <p14:creationId xmlns:p14="http://schemas.microsoft.com/office/powerpoint/2010/main" val="6309894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Ninety minutes in total. Labs 1 and 3 are hands-on on your own laptop; Lab 2 is a walkthrough of SonarQube on my screen while you read the code. Jenkins and AWS are short demos. Questions on topics outside today go on the parking-lot board and I will follow up.</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2</a:t>
            </a:fld>
            <a:endParaRPr lang="en-IN"/>
          </a:p>
        </p:txBody>
      </p:sp>
    </p:spTree>
    <p:extLst>
      <p:ext uri="{BB962C8B-B14F-4D97-AF65-F5344CB8AC3E}">
        <p14:creationId xmlns:p14="http://schemas.microsoft.com/office/powerpoint/2010/main" val="4122826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it has these five properties, it is cloud, whether it runs in an AWS data centre or in your own. Mention Platform9 and OpenStack: the same self-service model, on the company's own hardware.</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3</a:t>
            </a:fld>
            <a:endParaRPr lang="en-IN"/>
          </a:p>
        </p:txBody>
      </p:sp>
    </p:spTree>
    <p:extLst>
      <p:ext uri="{BB962C8B-B14F-4D97-AF65-F5344CB8AC3E}">
        <p14:creationId xmlns:p14="http://schemas.microsoft.com/office/powerpoint/2010/main" val="11404637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cloud service model view: IaaS, PaaS and SaaS differ in how much of the stack the provider runs for you. It is closely related to, but not the same as, the shared responsibility model on slide 6, which applies the same split to security: whatever you manage here, you also have to secure. Read it left to right: the further right, the more the provider manages. Examples: on-premises is your own servers or VMware; IaaS is EC2 or an OpenStack/Platform9 VM, where you still patch the OS; PaaS is Elastic Beanstalk or App Service, where you just bring code; SaaS is Microsoft 365 or Gmail. Even in SaaS, your data and who can access it remain your job.</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4</a:t>
            </a:fld>
            <a:endParaRPr lang="en-IN"/>
          </a:p>
        </p:txBody>
      </p:sp>
    </p:spTree>
    <p:extLst>
      <p:ext uri="{BB962C8B-B14F-4D97-AF65-F5344CB8AC3E}">
        <p14:creationId xmlns:p14="http://schemas.microsoft.com/office/powerpoint/2010/main" val="18805173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 cloud is built from these four. Glance is OpenStack's image service, the equivalent of AMIs: it stores the images servers boot from, so it sits with compute. Storage for workloads is Swift (objects), Cinder (disks) and Manila (shared files). Most mistakes today live in storage, network and identity settings.</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5</a:t>
            </a:fld>
            <a:endParaRPr lang="en-IN"/>
          </a:p>
        </p:txBody>
      </p:sp>
    </p:spTree>
    <p:extLst>
      <p:ext uri="{BB962C8B-B14F-4D97-AF65-F5344CB8AC3E}">
        <p14:creationId xmlns:p14="http://schemas.microsoft.com/office/powerpoint/2010/main" val="28145519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provider is responsible for security OF the cloud; you are responsible for security IN the cloud. AWS makes sure Block Public Access works; whether you switch it on is up to you.</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6</a:t>
            </a:fld>
            <a:endParaRPr lang="en-IN"/>
          </a:p>
        </p:txBody>
      </p:sp>
    </p:spTree>
    <p:extLst>
      <p:ext uri="{BB962C8B-B14F-4D97-AF65-F5344CB8AC3E}">
        <p14:creationId xmlns:p14="http://schemas.microsoft.com/office/powerpoint/2010/main" val="42473555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None of these needed an exotic exploit. Uber: keys in a repo (Lab 1). Capital One: a misconfigured app plus the old metadata service (Lab 3). Codecov: a credential left in a Docker image. Microsoft: a storage link with far too much access.</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7</a:t>
            </a:fld>
            <a:endParaRPr lang="en-IN"/>
          </a:p>
        </p:txBody>
      </p:sp>
    </p:spTree>
    <p:extLst>
      <p:ext uri="{BB962C8B-B14F-4D97-AF65-F5344CB8AC3E}">
        <p14:creationId xmlns:p14="http://schemas.microsoft.com/office/powerpoint/2010/main" val="14624344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change starts on a laptop and ends in production. Labs 1 to 3 catch problems before deployment; Lab 4 shows what can still go wrong after it.</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8</a:t>
            </a:fld>
            <a:endParaRPr lang="en-IN"/>
          </a:p>
        </p:txBody>
      </p:sp>
    </p:spTree>
    <p:extLst>
      <p:ext uri="{BB962C8B-B14F-4D97-AF65-F5344CB8AC3E}">
        <p14:creationId xmlns:p14="http://schemas.microsoft.com/office/powerpoint/2010/main" val="17373853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Any of these works; the labs only need Docker with Compose, and Git. Docker Desktop needs a paid licence in larger companies, which is why I use WSL2 with Docker Engine instead. Ask now if anyone did not get READY from the verify script.</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9</a:t>
            </a:fld>
            <a:endParaRPr lang="en-IN"/>
          </a:p>
        </p:txBody>
      </p:sp>
    </p:spTree>
    <p:extLst>
      <p:ext uri="{BB962C8B-B14F-4D97-AF65-F5344CB8AC3E}">
        <p14:creationId xmlns:p14="http://schemas.microsoft.com/office/powerpoint/2010/main" val="11302965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exactly what I am running. WSL2 runs Ubuntu in a small virtual machine; Docker Engine runs inside Ubuntu; the labs run in containers on top. I keep the kit on the Windows drive and open it in VS Code, so you can see the files on the projector.</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10</a:t>
            </a:fld>
            <a:endParaRPr lang="en-IN"/>
          </a:p>
        </p:txBody>
      </p:sp>
    </p:spTree>
    <p:extLst>
      <p:ext uri="{BB962C8B-B14F-4D97-AF65-F5344CB8AC3E}">
        <p14:creationId xmlns:p14="http://schemas.microsoft.com/office/powerpoint/2010/main" val="17848851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Everyone opens the toolbox now, from the kit folder. Anyone stuck pairs with a neighbour. Every lab follows the same four steps on the right.</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11</a:t>
            </a:fld>
            <a:endParaRPr lang="en-IN"/>
          </a:p>
        </p:txBody>
      </p:sp>
    </p:spTree>
    <p:extLst>
      <p:ext uri="{BB962C8B-B14F-4D97-AF65-F5344CB8AC3E}">
        <p14:creationId xmlns:p14="http://schemas.microsoft.com/office/powerpoint/2010/main" val="21899889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1. Open labs/lab1-secrets/README.md, or COMMANDS.md. Everyone follows the steps in the toolbox; I do the same on screen.</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12</a:t>
            </a:fld>
            <a:endParaRPr lang="en-IN"/>
          </a:p>
        </p:txBody>
      </p:sp>
    </p:spTree>
    <p:extLst>
      <p:ext uri="{BB962C8B-B14F-4D97-AF65-F5344CB8AC3E}">
        <p14:creationId xmlns:p14="http://schemas.microsoft.com/office/powerpoint/2010/main" val="74136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Set up the story before anyone types. Ask the room: once the lines are deleted and committed, is the key safe? Most will say yes. The lab shows why not.</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13</a:t>
            </a:fld>
            <a:endParaRPr lang="en-IN"/>
          </a:p>
        </p:txBody>
      </p:sp>
    </p:spTree>
    <p:extLst>
      <p:ext uri="{BB962C8B-B14F-4D97-AF65-F5344CB8AC3E}">
        <p14:creationId xmlns:p14="http://schemas.microsoft.com/office/powerpoint/2010/main" val="5284143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"fix" commit hides the key from the current files, but gitleaks still finds it in history. Stress the order on the right: rotate first, clean up last. Secret scanners catch machine-generated keys well, and human-chosen passwords poorly.</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14</a:t>
            </a:fld>
            <a:endParaRPr lang="en-IN"/>
          </a:p>
        </p:txBody>
      </p:sp>
    </p:spTree>
    <p:extLst>
      <p:ext uri="{BB962C8B-B14F-4D97-AF65-F5344CB8AC3E}">
        <p14:creationId xmlns:p14="http://schemas.microsoft.com/office/powerpoint/2010/main" val="25936106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same commands are in COMMANDS.md and the Lab 1 README. The key in the last step is fake; it only looks real so gitleaks reacts to it.</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15</a:t>
            </a:fld>
            <a:endParaRPr lang="en-IN"/>
          </a:p>
        </p:txBody>
      </p:sp>
    </p:spTree>
    <p:extLst>
      <p:ext uri="{BB962C8B-B14F-4D97-AF65-F5344CB8AC3E}">
        <p14:creationId xmlns:p14="http://schemas.microsoft.com/office/powerpoint/2010/main" val="25533932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2. Everyone opens labs/lab2-insecure-code/start/report_service.py in VS Code. I run SonarQube on my screen.</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16</a:t>
            </a:fld>
            <a:endParaRPr lang="en-IN"/>
          </a:p>
        </p:txBody>
      </p:sp>
    </p:spTree>
    <p:extLst>
      <p:ext uri="{BB962C8B-B14F-4D97-AF65-F5344CB8AC3E}">
        <p14:creationId xmlns:p14="http://schemas.microsoft.com/office/powerpoint/2010/main" val="22188742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Frame it: code review alone misses these, because the code looks normal. A scanner reads every line, every time.</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17</a:t>
            </a:fld>
            <a:endParaRPr lang="en-IN"/>
          </a:p>
        </p:txBody>
      </p:sp>
    </p:spTree>
    <p:extLst>
      <p:ext uri="{BB962C8B-B14F-4D97-AF65-F5344CB8AC3E}">
        <p14:creationId xmlns:p14="http://schemas.microsoft.com/office/powerpoint/2010/main" val="8857062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These six families cover the roughly twenty problems in the file; each one has a RISK comment in the code. Give the room a minute to read before showing SonarQube. The three to explain in depth: command injection, eval, and predictable tokens.</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18</a:t>
            </a:fld>
            <a:endParaRPr lang="en-IN"/>
          </a:p>
        </p:txBody>
      </p:sp>
    </p:spTree>
    <p:extLst>
      <p:ext uri="{BB962C8B-B14F-4D97-AF65-F5344CB8AC3E}">
        <p14:creationId xmlns:p14="http://schemas.microsoft.com/office/powerpoint/2010/main" val="8911315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Switch to the SonarQube tab. Projects list: start Failed, solution side by side. Open start, Issues, filter by Security, click one. Then Security Hotspots. Then in the solution project, review the remaining hotspots live and mark them Safe with a reason: the gate turns Passed.</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19</a:t>
            </a:fld>
            <a:endParaRPr lang="en-IN"/>
          </a:p>
        </p:txBody>
      </p:sp>
    </p:spTree>
    <p:extLst>
      <p:ext uri="{BB962C8B-B14F-4D97-AF65-F5344CB8AC3E}">
        <p14:creationId xmlns:p14="http://schemas.microsoft.com/office/powerpoint/2010/main" val="2335741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Participants only need VS Code for this lab. The SonarQube steps are mine, run before the session; the results are stored, so on the day I only start SonarQube and open the browser. Full details in FACILITATOR.md.</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20</a:t>
            </a:fld>
            <a:endParaRPr lang="en-IN"/>
          </a:p>
        </p:txBody>
      </p:sp>
    </p:spTree>
    <p:extLst>
      <p:ext uri="{BB962C8B-B14F-4D97-AF65-F5344CB8AC3E}">
        <p14:creationId xmlns:p14="http://schemas.microsoft.com/office/powerpoint/2010/main" val="28868480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Lab 3. Open labs/lab3-ci-gate/start/main.tf and solution/main.tf side by side. Nothing touches AWS: Checkov only reads the files.</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21</a:t>
            </a:fld>
            <a:endParaRPr lang="en-IN"/>
          </a:p>
        </p:txBody>
      </p:sp>
    </p:spTree>
    <p:extLst>
      <p:ext uri="{BB962C8B-B14F-4D97-AF65-F5344CB8AC3E}">
        <p14:creationId xmlns:p14="http://schemas.microsoft.com/office/powerpoint/2010/main" val="41566466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Connect back to the building blocks: storage, network, compute and identity all appear in this one file. The question for the room: would you let this deploy?</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22</a:t>
            </a:fld>
            <a:endParaRPr lang="en-IN"/>
          </a:p>
        </p:txBody>
      </p:sp>
    </p:spTree>
    <p:extLst>
      <p:ext uri="{BB962C8B-B14F-4D97-AF65-F5344CB8AC3E}">
        <p14:creationId xmlns:p14="http://schemas.microsoft.com/office/powerpoint/2010/main" val="42247255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through the RISK lines in main.tf. The IMDSv1 row is the Capital One path. Run Checkov with the must-fix list on start: it fails. Run it on solution: it passes. Compare the two files side by side in VS Code.</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23</a:t>
            </a:fld>
            <a:endParaRPr lang="en-IN"/>
          </a:p>
        </p:txBody>
      </p:sp>
    </p:spTree>
    <p:extLst>
      <p:ext uri="{BB962C8B-B14F-4D97-AF65-F5344CB8AC3E}">
        <p14:creationId xmlns:p14="http://schemas.microsoft.com/office/powerpoint/2010/main" val="34958816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Switch to Jenkins. Build Now on the insecure version: red, Deploy skipped; show the console output. Apply the fixes and build again: green. Then the bridge to Lab 4: deploy is simulated here, so what can still go wrong once it is real?</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24</a:t>
            </a:fld>
            <a:endParaRPr lang="en-IN"/>
          </a:p>
        </p:txBody>
      </p:sp>
    </p:spTree>
    <p:extLst>
      <p:ext uri="{BB962C8B-B14F-4D97-AF65-F5344CB8AC3E}">
        <p14:creationId xmlns:p14="http://schemas.microsoft.com/office/powerpoint/2010/main" val="19135087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Participants run the top block. The bottom block is the Jenkins demo; the job setup is in FACILITATOR.md. Everything is also in COMMANDS.md.</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25</a:t>
            </a:fld>
            <a:endParaRPr lang="en-IN"/>
          </a:p>
        </p:txBody>
      </p:sp>
    </p:spTree>
    <p:extLst>
      <p:ext uri="{BB962C8B-B14F-4D97-AF65-F5344CB8AC3E}">
        <p14:creationId xmlns:p14="http://schemas.microsoft.com/office/powerpoint/2010/main" val="3073898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Recap the four points, then hand over to Lab 4. All commands are in COMMANDS.md in the repo. Collect any parking-lot questions and promise follow-up answers.</a:t>
            </a:r>
            <a:endParaRPr lang="en-IN"/>
          </a:p>
        </p:txBody>
      </p:sp>
      <p:sp>
        <p:nvSpPr>
          <p:cNvPr id="4" name="Slide Number Placeholder 3"/>
          <p:cNvSpPr>
            <a:spLocks noGrp="1"/>
          </p:cNvSpPr>
          <p:nvPr>
            <p:ph type="sldNum" sz="quarter" idx="5"/>
          </p:nvPr>
        </p:nvSpPr>
        <p:spPr/>
        <p:txBody>
          <a:bodyPr/>
          <a:lstStyle/>
          <a:p>
            <a:fld id="{6EC631D3-D24E-4CA0-9C02-E8073C67C1FB}" type="slidenum">
              <a:rPr lang="en-IN" smtClean="0"/>
              <a:t>26</a:t>
            </a:fld>
            <a:endParaRPr lang="en-IN"/>
          </a:p>
        </p:txBody>
      </p:sp>
    </p:spTree>
    <p:extLst>
      <p:ext uri="{BB962C8B-B14F-4D97-AF65-F5344CB8AC3E}">
        <p14:creationId xmlns:p14="http://schemas.microsoft.com/office/powerpoint/2010/main" val="1781901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B6A7C-8ADE-ECC2-8704-E46CCD455D9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825BDB4-74E0-4240-D98C-43B28B391C7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570873F-9AFD-735A-31DD-05C13859B4F3}"/>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5" name="Footer Placeholder 4">
            <a:extLst>
              <a:ext uri="{FF2B5EF4-FFF2-40B4-BE49-F238E27FC236}">
                <a16:creationId xmlns:a16="http://schemas.microsoft.com/office/drawing/2014/main" id="{78907251-5874-2BF4-5104-4A27260AAC6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D4F6D9D-0DE5-47CA-5549-E7AC19216DC4}"/>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30623838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65AEA0-799B-0705-C767-A341EC9486A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48ECBA8-FE5C-83C3-4B7B-26EC9CB2F4E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F511AFB-0E0F-288B-63C7-658A105BD571}"/>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5" name="Footer Placeholder 4">
            <a:extLst>
              <a:ext uri="{FF2B5EF4-FFF2-40B4-BE49-F238E27FC236}">
                <a16:creationId xmlns:a16="http://schemas.microsoft.com/office/drawing/2014/main" id="{03606FB5-3EE1-4386-0E12-996C6F1DCC6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0AC2175-CF51-35A9-7ACF-E4A4C45A85C7}"/>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11595796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0E832-32D9-2F52-F729-E3AA79C6347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6719F779-C549-8602-7216-9B6F66C571B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649DD7D-A659-5B73-F4D1-AD33B8558FFC}"/>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5" name="Footer Placeholder 4">
            <a:extLst>
              <a:ext uri="{FF2B5EF4-FFF2-40B4-BE49-F238E27FC236}">
                <a16:creationId xmlns:a16="http://schemas.microsoft.com/office/drawing/2014/main" id="{33614D9B-85D2-E6F9-B794-DE2E581BA1C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582CE30-0686-6970-5534-A8901581C6AA}"/>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424743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C9802A-3382-F148-B6C7-8D08D335082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35E4127-0362-9C8D-439D-49884262B5B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E7C50A2-4050-A74D-5C1B-83A7A95C30B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565A20B-A16F-420F-7648-080BCFF2A90B}"/>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6" name="Footer Placeholder 5">
            <a:extLst>
              <a:ext uri="{FF2B5EF4-FFF2-40B4-BE49-F238E27FC236}">
                <a16:creationId xmlns:a16="http://schemas.microsoft.com/office/drawing/2014/main" id="{4FA76381-EB24-F766-D187-F6846C0AEFA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0FD7D4E-8B29-6AA1-E610-5E29AAFC67A6}"/>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27118782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F6835-DA1E-7ED2-48C5-F83D18ACCE9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FF9EC81-4CF1-1ADD-F23A-15982C04050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8D16480-B9F8-5136-97E7-E89F593E0E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46589A1-341B-B07F-0AD5-A714EF90EF9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B9BCAC-221C-624F-E014-8C6402F2DE6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0BCB5542-4524-1255-24E5-17C73572956E}"/>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8" name="Footer Placeholder 7">
            <a:extLst>
              <a:ext uri="{FF2B5EF4-FFF2-40B4-BE49-F238E27FC236}">
                <a16:creationId xmlns:a16="http://schemas.microsoft.com/office/drawing/2014/main" id="{9D01676F-9CAF-311B-D117-BCE07657C38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E65D3CE-8657-BEE1-388F-0759CFEA8DF3}"/>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15599279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43767-0AB5-698A-6409-B992F1B6E83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8314E85-14B5-2DE5-338B-F4DA506A2DBA}"/>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4" name="Footer Placeholder 3">
            <a:extLst>
              <a:ext uri="{FF2B5EF4-FFF2-40B4-BE49-F238E27FC236}">
                <a16:creationId xmlns:a16="http://schemas.microsoft.com/office/drawing/2014/main" id="{74C652CF-430F-3D80-5CCC-836B32F2006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1D8BBAC4-AE3B-0558-AC44-6875D322CAFE}"/>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18052503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A8FCE52-72FF-AA8F-70D6-5C803793BAF1}"/>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3" name="Footer Placeholder 2">
            <a:extLst>
              <a:ext uri="{FF2B5EF4-FFF2-40B4-BE49-F238E27FC236}">
                <a16:creationId xmlns:a16="http://schemas.microsoft.com/office/drawing/2014/main" id="{06DFBC88-EE72-9298-52D1-75157E8187BA}"/>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F30268CF-77F8-19F0-41AA-FD35A6914A1F}"/>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21616744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05EBF-47FD-04FE-001E-81635C5CE1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485A31E-7EB1-BE50-0263-10226374233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C42A53D7-3FDA-2544-F2D9-6FFC1195A3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28DD00-0EC0-23DB-DF8E-C68A60CF44BC}"/>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6" name="Footer Placeholder 5">
            <a:extLst>
              <a:ext uri="{FF2B5EF4-FFF2-40B4-BE49-F238E27FC236}">
                <a16:creationId xmlns:a16="http://schemas.microsoft.com/office/drawing/2014/main" id="{51D6E071-E1A1-ECF0-EFB1-598C14D4F7F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95206C3-06ED-3745-14CF-6E24A423B0C1}"/>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10057309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765D7F-0DC9-39D3-3939-64B0F7C36F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038BBF78-742B-234B-D33B-78471D7DFD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9A2E612A-8957-2744-7901-90498D91FA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26F8DA-F80F-05AA-713B-BD8017A9D77E}"/>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6" name="Footer Placeholder 5">
            <a:extLst>
              <a:ext uri="{FF2B5EF4-FFF2-40B4-BE49-F238E27FC236}">
                <a16:creationId xmlns:a16="http://schemas.microsoft.com/office/drawing/2014/main" id="{AB6A7DAA-CBE9-3FAD-C7DE-9B22E755E54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B290428-94DE-5EE4-F2CC-498EF9597676}"/>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23547576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4389E-5A5E-E326-487C-ADC75093688F}"/>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B4D63C8-A251-3548-0927-E9AA90A6A9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F7621F2-8117-DE19-2F3D-1E24F580D95E}"/>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5" name="Footer Placeholder 4">
            <a:extLst>
              <a:ext uri="{FF2B5EF4-FFF2-40B4-BE49-F238E27FC236}">
                <a16:creationId xmlns:a16="http://schemas.microsoft.com/office/drawing/2014/main" id="{80D428E7-C077-7E14-E79E-4DF81C11DF2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289996E-9284-396F-555A-9B0C2054141C}"/>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130730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C426FE-0DF6-32D9-8B38-9A54DCD49E7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02BE040-B85F-81A8-E99F-94ED60CFCE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CD91164-A0A0-72E9-1947-FB4A41C83E07}"/>
              </a:ext>
            </a:extLst>
          </p:cNvPr>
          <p:cNvSpPr>
            <a:spLocks noGrp="1"/>
          </p:cNvSpPr>
          <p:nvPr>
            <p:ph type="dt" sz="half" idx="10"/>
          </p:nvPr>
        </p:nvSpPr>
        <p:spPr/>
        <p:txBody>
          <a:bodyPr/>
          <a:lstStyle/>
          <a:p>
            <a:fld id="{EB9717B0-EE80-44E4-9C01-29DF6EECFE8D}" type="datetimeFigureOut">
              <a:rPr lang="en-IN" smtClean="0"/>
              <a:t>21-10-2026</a:t>
            </a:fld>
            <a:endParaRPr lang="en-IN"/>
          </a:p>
        </p:txBody>
      </p:sp>
      <p:sp>
        <p:nvSpPr>
          <p:cNvPr id="5" name="Footer Placeholder 4">
            <a:extLst>
              <a:ext uri="{FF2B5EF4-FFF2-40B4-BE49-F238E27FC236}">
                <a16:creationId xmlns:a16="http://schemas.microsoft.com/office/drawing/2014/main" id="{14C6F4EB-C08D-011E-7B58-8A1B1CB04C1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CF9645D-494E-A026-1029-00441FA89E96}"/>
              </a:ext>
            </a:extLst>
          </p:cNvPr>
          <p:cNvSpPr>
            <a:spLocks noGrp="1"/>
          </p:cNvSpPr>
          <p:nvPr>
            <p:ph type="sldNum" sz="quarter" idx="12"/>
          </p:nvPr>
        </p:nvSpPr>
        <p:spPr/>
        <p:txBody>
          <a:bodyPr/>
          <a:lstStyle/>
          <a:p>
            <a:fld id="{FDF9CEBF-D338-4DD8-99E2-EFE709396948}" type="slidenum">
              <a:rPr lang="en-IN" smtClean="0"/>
              <a:t>‹#›</a:t>
            </a:fld>
            <a:endParaRPr lang="en-IN"/>
          </a:p>
        </p:txBody>
      </p:sp>
    </p:spTree>
    <p:extLst>
      <p:ext uri="{BB962C8B-B14F-4D97-AF65-F5344CB8AC3E}">
        <p14:creationId xmlns:p14="http://schemas.microsoft.com/office/powerpoint/2010/main" val="1349340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C8540A-27D1-3BD1-1176-DE98FA21C9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F858A94-C27F-4864-880A-E95FC9DB69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28465E3-78C0-1435-30C5-C73B1B68398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B9717B0-EE80-44E4-9C01-29DF6EECFE8D}" type="datetimeFigureOut">
              <a:rPr lang="en-IN" smtClean="0"/>
              <a:t>21-10-2026</a:t>
            </a:fld>
            <a:endParaRPr lang="en-IN"/>
          </a:p>
        </p:txBody>
      </p:sp>
      <p:sp>
        <p:nvSpPr>
          <p:cNvPr id="5" name="Footer Placeholder 4">
            <a:extLst>
              <a:ext uri="{FF2B5EF4-FFF2-40B4-BE49-F238E27FC236}">
                <a16:creationId xmlns:a16="http://schemas.microsoft.com/office/drawing/2014/main" id="{0BAEE1AB-802F-B84C-A2A8-E8F50F4A5F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40E3E9DA-A0FB-AD68-7DF7-2CA2D3A574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F9CEBF-D338-4DD8-99E2-EFE709396948}" type="slidenum">
              <a:rPr lang="en-IN" smtClean="0"/>
              <a:t>‹#›</a:t>
            </a:fld>
            <a:endParaRPr lang="en-IN"/>
          </a:p>
        </p:txBody>
      </p:sp>
    </p:spTree>
    <p:extLst>
      <p:ext uri="{BB962C8B-B14F-4D97-AF65-F5344CB8AC3E}">
        <p14:creationId xmlns:p14="http://schemas.microsoft.com/office/powerpoint/2010/main" val="4299263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C51020-6F4A-89FB-B223-BA08A887D92D}"/>
              </a:ext>
            </a:extLst>
          </p:cNvPr>
          <p:cNvSpPr txBox="1"/>
          <p:nvPr/>
        </p:nvSpPr>
        <p:spPr>
          <a:xfrm>
            <a:off x="609600" y="2184400"/>
            <a:ext cx="66040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HANDS-ON WORKSHOP</a:t>
            </a:r>
          </a:p>
        </p:txBody>
      </p:sp>
      <p:sp>
        <p:nvSpPr>
          <p:cNvPr id="3" name="TextBox 2">
            <a:extLst>
              <a:ext uri="{FF2B5EF4-FFF2-40B4-BE49-F238E27FC236}">
                <a16:creationId xmlns:a16="http://schemas.microsoft.com/office/drawing/2014/main" id="{951B9C3D-4766-A5D8-4228-470E0D25DE0C}"/>
              </a:ext>
            </a:extLst>
          </p:cNvPr>
          <p:cNvSpPr txBox="1"/>
          <p:nvPr/>
        </p:nvSpPr>
        <p:spPr>
          <a:xfrm>
            <a:off x="609600" y="2514600"/>
            <a:ext cx="7620000" cy="369332"/>
          </a:xfrm>
          <a:prstGeom prst="rect">
            <a:avLst/>
          </a:prstGeom>
          <a:noFill/>
        </p:spPr>
        <p:txBody>
          <a:bodyPr vert="horz" wrap="square" lIns="0" tIns="0" rIns="0" bIns="0" rtlCol="0" anchor="t">
            <a:noAutofit/>
          </a:bodyPr>
          <a:lstStyle/>
          <a:p>
            <a:r>
              <a:rPr lang="en-US" sz="4400" b="1">
                <a:solidFill>
                  <a:srgbClr val="FFFFFF"/>
                </a:solidFill>
                <a:latin typeface="Calibri" panose="020F0502020204030204" pitchFamily="34" charset="0"/>
              </a:rPr>
              <a:t>Securing the Path to the Cloud</a:t>
            </a:r>
            <a:endParaRPr lang="en-IN" sz="4400" b="1">
              <a:solidFill>
                <a:srgbClr val="FFFFFF"/>
              </a:solidFill>
              <a:latin typeface="Calibri" panose="020F0502020204030204" pitchFamily="34" charset="0"/>
            </a:endParaRPr>
          </a:p>
        </p:txBody>
      </p:sp>
      <p:sp>
        <p:nvSpPr>
          <p:cNvPr id="4" name="TextBox 3">
            <a:extLst>
              <a:ext uri="{FF2B5EF4-FFF2-40B4-BE49-F238E27FC236}">
                <a16:creationId xmlns:a16="http://schemas.microsoft.com/office/drawing/2014/main" id="{57EF2E5E-ACD4-16EE-9DB9-6D4661679BAF}"/>
              </a:ext>
            </a:extLst>
          </p:cNvPr>
          <p:cNvSpPr txBox="1"/>
          <p:nvPr/>
        </p:nvSpPr>
        <p:spPr>
          <a:xfrm>
            <a:off x="609600" y="3378200"/>
            <a:ext cx="6604000" cy="369332"/>
          </a:xfrm>
          <a:prstGeom prst="rect">
            <a:avLst/>
          </a:prstGeom>
          <a:noFill/>
        </p:spPr>
        <p:txBody>
          <a:bodyPr vert="horz" wrap="square" lIns="0" tIns="0" rIns="0" bIns="0" rtlCol="0" anchor="t">
            <a:noAutofit/>
          </a:bodyPr>
          <a:lstStyle/>
          <a:p>
            <a:r>
              <a:rPr lang="en-US">
                <a:solidFill>
                  <a:srgbClr val="C9D6DF"/>
                </a:solidFill>
                <a:latin typeface="Calibri" panose="020F0502020204030204" pitchFamily="34" charset="0"/>
              </a:rPr>
              <a:t>Cloud fundamentals, and catching security problems before they reach production</a:t>
            </a:r>
            <a:endParaRPr lang="en-IN">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719E0021-9D62-6482-8850-EA4C1DD47C52}"/>
              </a:ext>
            </a:extLst>
          </p:cNvPr>
          <p:cNvSpPr txBox="1"/>
          <p:nvPr/>
        </p:nvSpPr>
        <p:spPr>
          <a:xfrm>
            <a:off x="609600" y="4368800"/>
            <a:ext cx="6604000" cy="369332"/>
          </a:xfrm>
          <a:prstGeom prst="rect">
            <a:avLst/>
          </a:prstGeom>
          <a:noFill/>
        </p:spPr>
        <p:txBody>
          <a:bodyPr vert="horz" wrap="square" lIns="0" tIns="0" rIns="0" bIns="0" rtlCol="0" anchor="t">
            <a:noAutofit/>
          </a:bodyPr>
          <a:lstStyle/>
          <a:p>
            <a:r>
              <a:rPr lang="en-IN" sz="1400">
                <a:solidFill>
                  <a:srgbClr val="C9D6DF"/>
                </a:solidFill>
                <a:latin typeface="Calibri" panose="020F0502020204030204" pitchFamily="34" charset="0"/>
              </a:rPr>
              <a:t>Prathmesh  ·  22 October 2026</a:t>
            </a:r>
          </a:p>
        </p:txBody>
      </p:sp>
      <p:cxnSp>
        <p:nvCxnSpPr>
          <p:cNvPr id="6" name="Straight Connector 5">
            <a:extLst>
              <a:ext uri="{FF2B5EF4-FFF2-40B4-BE49-F238E27FC236}">
                <a16:creationId xmlns:a16="http://schemas.microsoft.com/office/drawing/2014/main" id="{8501BAFE-9CD4-1C53-C7B7-7E6D38AFAEFB}"/>
              </a:ext>
            </a:extLst>
          </p:cNvPr>
          <p:cNvCxnSpPr/>
          <p:nvPr/>
        </p:nvCxnSpPr>
        <p:spPr>
          <a:xfrm>
            <a:off x="9690100" y="1714500"/>
            <a:ext cx="0" cy="3048000"/>
          </a:xfrm>
          <a:prstGeom prst="line">
            <a:avLst/>
          </a:prstGeom>
          <a:ln w="25400">
            <a:solidFill>
              <a:srgbClr val="1B998B"/>
            </a:solidFill>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775BAD29-C91A-ED04-F2A0-5C47D9E0C91B}"/>
              </a:ext>
            </a:extLst>
          </p:cNvPr>
          <p:cNvSpPr/>
          <p:nvPr/>
        </p:nvSpPr>
        <p:spPr>
          <a:xfrm>
            <a:off x="9398000" y="1422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8" name="TextBox 7">
            <a:extLst>
              <a:ext uri="{FF2B5EF4-FFF2-40B4-BE49-F238E27FC236}">
                <a16:creationId xmlns:a16="http://schemas.microsoft.com/office/drawing/2014/main" id="{938ED5C3-736B-866D-DDB7-1E1238C24937}"/>
              </a:ext>
            </a:extLst>
          </p:cNvPr>
          <p:cNvSpPr txBox="1"/>
          <p:nvPr/>
        </p:nvSpPr>
        <p:spPr>
          <a:xfrm>
            <a:off x="10210800" y="1574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Secrets</a:t>
            </a:r>
          </a:p>
        </p:txBody>
      </p:sp>
      <p:sp>
        <p:nvSpPr>
          <p:cNvPr id="9" name="Oval 8">
            <a:extLst>
              <a:ext uri="{FF2B5EF4-FFF2-40B4-BE49-F238E27FC236}">
                <a16:creationId xmlns:a16="http://schemas.microsoft.com/office/drawing/2014/main" id="{5DE5714F-71B6-7768-3E8A-BF9A1FE7A714}"/>
              </a:ext>
            </a:extLst>
          </p:cNvPr>
          <p:cNvSpPr/>
          <p:nvPr/>
        </p:nvSpPr>
        <p:spPr>
          <a:xfrm>
            <a:off x="9398000" y="2438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55B9DB4E-DFD6-F401-413D-D253F0F9BE31}"/>
              </a:ext>
            </a:extLst>
          </p:cNvPr>
          <p:cNvSpPr txBox="1"/>
          <p:nvPr/>
        </p:nvSpPr>
        <p:spPr>
          <a:xfrm>
            <a:off x="10210800" y="2590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Code</a:t>
            </a:r>
          </a:p>
        </p:txBody>
      </p:sp>
      <p:sp>
        <p:nvSpPr>
          <p:cNvPr id="11" name="Oval 10">
            <a:extLst>
              <a:ext uri="{FF2B5EF4-FFF2-40B4-BE49-F238E27FC236}">
                <a16:creationId xmlns:a16="http://schemas.microsoft.com/office/drawing/2014/main" id="{A1C836F8-9F46-83DB-5F10-59754434C843}"/>
              </a:ext>
            </a:extLst>
          </p:cNvPr>
          <p:cNvSpPr/>
          <p:nvPr/>
        </p:nvSpPr>
        <p:spPr>
          <a:xfrm>
            <a:off x="9398000" y="3454400"/>
            <a:ext cx="584200" cy="5842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2" name="TextBox 11">
            <a:extLst>
              <a:ext uri="{FF2B5EF4-FFF2-40B4-BE49-F238E27FC236}">
                <a16:creationId xmlns:a16="http://schemas.microsoft.com/office/drawing/2014/main" id="{C3D71357-A9BC-D598-5BD9-8879C67F2E5F}"/>
              </a:ext>
            </a:extLst>
          </p:cNvPr>
          <p:cNvSpPr txBox="1"/>
          <p:nvPr/>
        </p:nvSpPr>
        <p:spPr>
          <a:xfrm>
            <a:off x="10210800" y="3606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Pipeline</a:t>
            </a:r>
          </a:p>
        </p:txBody>
      </p:sp>
      <p:sp>
        <p:nvSpPr>
          <p:cNvPr id="13" name="Oval 12">
            <a:extLst>
              <a:ext uri="{FF2B5EF4-FFF2-40B4-BE49-F238E27FC236}">
                <a16:creationId xmlns:a16="http://schemas.microsoft.com/office/drawing/2014/main" id="{5FDA9577-A864-A10D-ACAE-517FC39F72A1}"/>
              </a:ext>
            </a:extLst>
          </p:cNvPr>
          <p:cNvSpPr/>
          <p:nvPr/>
        </p:nvSpPr>
        <p:spPr>
          <a:xfrm>
            <a:off x="9398000" y="4470400"/>
            <a:ext cx="584200" cy="584200"/>
          </a:xfrm>
          <a:prstGeom prst="ellipse">
            <a:avLst/>
          </a:prstGeom>
          <a:solidFill>
            <a:srgbClr val="13293D"/>
          </a:solidFill>
          <a:ln w="19050">
            <a:solidFill>
              <a:srgbClr val="1B998B"/>
            </a:solidFill>
          </a:ln>
        </p:spPr>
        <p:style>
          <a:lnRef idx="2">
            <a:schemeClr val="accent1">
              <a:shade val="15000"/>
            </a:schemeClr>
          </a:lnRef>
          <a:fillRef idx="1">
            <a:schemeClr val="accent1"/>
          </a:fillRef>
          <a:effectRef idx="0">
            <a:schemeClr val="accent1"/>
          </a:effectRef>
          <a:fontRef idx="minor">
            <a:schemeClr val="lt1"/>
          </a:fontRef>
        </p:style>
        <p:txBody>
          <a:bodyPr wrap="square" lIns="76200" tIns="25400" rIns="76200" bIns="25400" rtlCol="0" anchor="ctr">
            <a:noAutofit/>
          </a:bodyPr>
          <a:lstStyle/>
          <a:p>
            <a:pPr algn="ctr"/>
            <a:r>
              <a:rPr lang="en-IN" b="1">
                <a:solidFill>
                  <a:srgbClr val="1B998B"/>
                </a:solidFill>
                <a:latin typeface="Calibri" panose="020F0502020204030204" pitchFamily="34" charset="0"/>
              </a:rPr>
              <a:t>4</a:t>
            </a:r>
          </a:p>
        </p:txBody>
      </p:sp>
      <p:sp>
        <p:nvSpPr>
          <p:cNvPr id="14" name="TextBox 13">
            <a:extLst>
              <a:ext uri="{FF2B5EF4-FFF2-40B4-BE49-F238E27FC236}">
                <a16:creationId xmlns:a16="http://schemas.microsoft.com/office/drawing/2014/main" id="{D6E083E8-0B75-7133-B9AB-236F6B8EABB8}"/>
              </a:ext>
            </a:extLst>
          </p:cNvPr>
          <p:cNvSpPr txBox="1"/>
          <p:nvPr/>
        </p:nvSpPr>
        <p:spPr>
          <a:xfrm>
            <a:off x="10210800" y="4622800"/>
            <a:ext cx="1778000" cy="369332"/>
          </a:xfrm>
          <a:prstGeom prst="rect">
            <a:avLst/>
          </a:prstGeom>
          <a:noFill/>
        </p:spPr>
        <p:txBody>
          <a:bodyPr vert="horz" wrap="square" lIns="0" tIns="0" rIns="0" bIns="0" rtlCol="0" anchor="t">
            <a:noAutofit/>
          </a:bodyPr>
          <a:lstStyle/>
          <a:p>
            <a:r>
              <a:rPr lang="en-IN" b="1">
                <a:solidFill>
                  <a:srgbClr val="FFFFFF"/>
                </a:solidFill>
                <a:latin typeface="Calibri" panose="020F0502020204030204" pitchFamily="34" charset="0"/>
              </a:rPr>
              <a:t>Cloud</a:t>
            </a:r>
          </a:p>
        </p:txBody>
      </p:sp>
    </p:spTree>
    <p:extLst>
      <p:ext uri="{BB962C8B-B14F-4D97-AF65-F5344CB8AC3E}">
        <p14:creationId xmlns:p14="http://schemas.microsoft.com/office/powerpoint/2010/main" val="9033207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AB9158-5CA1-6F73-9FC6-3A0D664AB7C5}"/>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Today's plan</a:t>
            </a:r>
          </a:p>
        </p:txBody>
      </p:sp>
      <p:sp>
        <p:nvSpPr>
          <p:cNvPr id="3" name="Rectangle: Rounded Corners 2">
            <a:extLst>
              <a:ext uri="{FF2B5EF4-FFF2-40B4-BE49-F238E27FC236}">
                <a16:creationId xmlns:a16="http://schemas.microsoft.com/office/drawing/2014/main" id="{B14184A7-C4B5-CE18-2681-BE7E2F86288D}"/>
              </a:ext>
            </a:extLst>
          </p:cNvPr>
          <p:cNvSpPr/>
          <p:nvPr/>
        </p:nvSpPr>
        <p:spPr>
          <a:xfrm>
            <a:off x="609600" y="12700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Intro</a:t>
            </a:r>
          </a:p>
        </p:txBody>
      </p:sp>
      <p:sp>
        <p:nvSpPr>
          <p:cNvPr id="4" name="TextBox 3">
            <a:extLst>
              <a:ext uri="{FF2B5EF4-FFF2-40B4-BE49-F238E27FC236}">
                <a16:creationId xmlns:a16="http://schemas.microsoft.com/office/drawing/2014/main" id="{B467DF4C-EAE0-432C-F3FA-6EC5623AC82E}"/>
              </a:ext>
            </a:extLst>
          </p:cNvPr>
          <p:cNvSpPr txBox="1"/>
          <p:nvPr/>
        </p:nvSpPr>
        <p:spPr>
          <a:xfrm>
            <a:off x="2286000" y="1371600"/>
            <a:ext cx="6604000" cy="369332"/>
          </a:xfrm>
          <a:prstGeom prst="rect">
            <a:avLst/>
          </a:prstGeom>
          <a:noFill/>
        </p:spPr>
        <p:txBody>
          <a:bodyPr vert="horz" wrap="square" lIns="0" tIns="0" rIns="0" bIns="0" rtlCol="0" anchor="t">
            <a:noAutofit/>
          </a:bodyPr>
          <a:lstStyle/>
          <a:p>
            <a:r>
              <a:rPr lang="en-US" sz="2000">
                <a:solidFill>
                  <a:srgbClr val="1E2A35"/>
                </a:solidFill>
                <a:latin typeface="Calibri" panose="020F0502020204030204" pitchFamily="34" charset="0"/>
              </a:rPr>
              <a:t>Cloud fundamentals and shared responsibility</a:t>
            </a:r>
            <a:endParaRPr lang="en-IN" sz="2000">
              <a:solidFill>
                <a:srgbClr val="1E2A35"/>
              </a:solidFill>
              <a:latin typeface="Calibri" panose="020F0502020204030204" pitchFamily="34" charset="0"/>
            </a:endParaRPr>
          </a:p>
        </p:txBody>
      </p:sp>
      <p:sp>
        <p:nvSpPr>
          <p:cNvPr id="5" name="TextBox 4">
            <a:extLst>
              <a:ext uri="{FF2B5EF4-FFF2-40B4-BE49-F238E27FC236}">
                <a16:creationId xmlns:a16="http://schemas.microsoft.com/office/drawing/2014/main" id="{DDABDFB9-8D4E-91DE-9EFF-1685B2AE4084}"/>
              </a:ext>
            </a:extLst>
          </p:cNvPr>
          <p:cNvSpPr txBox="1"/>
          <p:nvPr/>
        </p:nvSpPr>
        <p:spPr>
          <a:xfrm>
            <a:off x="8890000" y="13970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Talk</a:t>
            </a:r>
          </a:p>
        </p:txBody>
      </p:sp>
      <p:sp>
        <p:nvSpPr>
          <p:cNvPr id="6" name="Rectangle: Rounded Corners 5">
            <a:extLst>
              <a:ext uri="{FF2B5EF4-FFF2-40B4-BE49-F238E27FC236}">
                <a16:creationId xmlns:a16="http://schemas.microsoft.com/office/drawing/2014/main" id="{654E278F-E9B4-9989-253B-391D499E0B85}"/>
              </a:ext>
            </a:extLst>
          </p:cNvPr>
          <p:cNvSpPr/>
          <p:nvPr/>
        </p:nvSpPr>
        <p:spPr>
          <a:xfrm>
            <a:off x="609600" y="19558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Setup</a:t>
            </a:r>
          </a:p>
        </p:txBody>
      </p:sp>
      <p:sp>
        <p:nvSpPr>
          <p:cNvPr id="7" name="TextBox 6">
            <a:extLst>
              <a:ext uri="{FF2B5EF4-FFF2-40B4-BE49-F238E27FC236}">
                <a16:creationId xmlns:a16="http://schemas.microsoft.com/office/drawing/2014/main" id="{41472E6C-3315-2BC6-C5A3-2898CAA51CC7}"/>
              </a:ext>
            </a:extLst>
          </p:cNvPr>
          <p:cNvSpPr txBox="1"/>
          <p:nvPr/>
        </p:nvSpPr>
        <p:spPr>
          <a:xfrm>
            <a:off x="2286000" y="2057400"/>
            <a:ext cx="6604000" cy="369332"/>
          </a:xfrm>
          <a:prstGeom prst="rect">
            <a:avLst/>
          </a:prstGeom>
          <a:noFill/>
        </p:spPr>
        <p:txBody>
          <a:bodyPr vert="horz" wrap="square" lIns="0" tIns="0" rIns="0" bIns="0" rtlCol="0" anchor="t">
            <a:noAutofit/>
          </a:bodyPr>
          <a:lstStyle/>
          <a:p>
            <a:r>
              <a:rPr lang="en-US" sz="2000">
                <a:solidFill>
                  <a:srgbClr val="1E2A35"/>
                </a:solidFill>
                <a:latin typeface="Calibri" panose="020F0502020204030204" pitchFamily="34" charset="0"/>
              </a:rPr>
              <a:t>Setup check and your toolbox</a:t>
            </a:r>
            <a:endParaRPr lang="en-IN" sz="20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23C26A25-005B-D7ED-29DC-A1F7076D4B81}"/>
              </a:ext>
            </a:extLst>
          </p:cNvPr>
          <p:cNvSpPr txBox="1"/>
          <p:nvPr/>
        </p:nvSpPr>
        <p:spPr>
          <a:xfrm>
            <a:off x="8890000" y="20828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Demo</a:t>
            </a:r>
          </a:p>
        </p:txBody>
      </p:sp>
      <p:sp>
        <p:nvSpPr>
          <p:cNvPr id="9" name="Rectangle: Rounded Corners 8">
            <a:extLst>
              <a:ext uri="{FF2B5EF4-FFF2-40B4-BE49-F238E27FC236}">
                <a16:creationId xmlns:a16="http://schemas.microsoft.com/office/drawing/2014/main" id="{7667077B-C47E-9236-AFDB-B47D94509828}"/>
              </a:ext>
            </a:extLst>
          </p:cNvPr>
          <p:cNvSpPr/>
          <p:nvPr/>
        </p:nvSpPr>
        <p:spPr>
          <a:xfrm>
            <a:off x="609600" y="26416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1</a:t>
            </a:r>
          </a:p>
        </p:txBody>
      </p:sp>
      <p:sp>
        <p:nvSpPr>
          <p:cNvPr id="10" name="TextBox 9">
            <a:extLst>
              <a:ext uri="{FF2B5EF4-FFF2-40B4-BE49-F238E27FC236}">
                <a16:creationId xmlns:a16="http://schemas.microsoft.com/office/drawing/2014/main" id="{118AD5AD-6BB2-4283-F65E-B2597F8620C7}"/>
              </a:ext>
            </a:extLst>
          </p:cNvPr>
          <p:cNvSpPr txBox="1"/>
          <p:nvPr/>
        </p:nvSpPr>
        <p:spPr>
          <a:xfrm>
            <a:off x="2286000" y="27432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Secrets in Git</a:t>
            </a:r>
          </a:p>
        </p:txBody>
      </p:sp>
      <p:sp>
        <p:nvSpPr>
          <p:cNvPr id="11" name="TextBox 10">
            <a:extLst>
              <a:ext uri="{FF2B5EF4-FFF2-40B4-BE49-F238E27FC236}">
                <a16:creationId xmlns:a16="http://schemas.microsoft.com/office/drawing/2014/main" id="{EA54AEF0-48C9-40F7-AFB0-ACFC790D0F78}"/>
              </a:ext>
            </a:extLst>
          </p:cNvPr>
          <p:cNvSpPr txBox="1"/>
          <p:nvPr/>
        </p:nvSpPr>
        <p:spPr>
          <a:xfrm>
            <a:off x="8890000" y="27686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Hands-on</a:t>
            </a:r>
          </a:p>
        </p:txBody>
      </p:sp>
      <p:sp>
        <p:nvSpPr>
          <p:cNvPr id="12" name="Rectangle: Rounded Corners 11">
            <a:extLst>
              <a:ext uri="{FF2B5EF4-FFF2-40B4-BE49-F238E27FC236}">
                <a16:creationId xmlns:a16="http://schemas.microsoft.com/office/drawing/2014/main" id="{DDEA9CAF-4E0A-EC5A-6E78-BECA4049CAEE}"/>
              </a:ext>
            </a:extLst>
          </p:cNvPr>
          <p:cNvSpPr/>
          <p:nvPr/>
        </p:nvSpPr>
        <p:spPr>
          <a:xfrm>
            <a:off x="609600" y="33274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2</a:t>
            </a:r>
          </a:p>
        </p:txBody>
      </p:sp>
      <p:sp>
        <p:nvSpPr>
          <p:cNvPr id="13" name="TextBox 12">
            <a:extLst>
              <a:ext uri="{FF2B5EF4-FFF2-40B4-BE49-F238E27FC236}">
                <a16:creationId xmlns:a16="http://schemas.microsoft.com/office/drawing/2014/main" id="{A91D7139-EC00-B8D6-4076-5B2283918600}"/>
              </a:ext>
            </a:extLst>
          </p:cNvPr>
          <p:cNvSpPr txBox="1"/>
          <p:nvPr/>
        </p:nvSpPr>
        <p:spPr>
          <a:xfrm>
            <a:off x="2286000" y="34290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Insecure code</a:t>
            </a:r>
          </a:p>
        </p:txBody>
      </p:sp>
      <p:sp>
        <p:nvSpPr>
          <p:cNvPr id="14" name="TextBox 13">
            <a:extLst>
              <a:ext uri="{FF2B5EF4-FFF2-40B4-BE49-F238E27FC236}">
                <a16:creationId xmlns:a16="http://schemas.microsoft.com/office/drawing/2014/main" id="{F2D5088B-FDE7-2A86-EF52-40F6DB51EB45}"/>
              </a:ext>
            </a:extLst>
          </p:cNvPr>
          <p:cNvSpPr txBox="1"/>
          <p:nvPr/>
        </p:nvSpPr>
        <p:spPr>
          <a:xfrm>
            <a:off x="8890000" y="34544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SonarQube walkthrough</a:t>
            </a:r>
          </a:p>
        </p:txBody>
      </p:sp>
      <p:sp>
        <p:nvSpPr>
          <p:cNvPr id="15" name="Rectangle: Rounded Corners 14">
            <a:extLst>
              <a:ext uri="{FF2B5EF4-FFF2-40B4-BE49-F238E27FC236}">
                <a16:creationId xmlns:a16="http://schemas.microsoft.com/office/drawing/2014/main" id="{CDF5FDFB-7B75-28F8-4DDE-0B640C79F904}"/>
              </a:ext>
            </a:extLst>
          </p:cNvPr>
          <p:cNvSpPr/>
          <p:nvPr/>
        </p:nvSpPr>
        <p:spPr>
          <a:xfrm>
            <a:off x="609600" y="40132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3</a:t>
            </a:r>
          </a:p>
        </p:txBody>
      </p:sp>
      <p:sp>
        <p:nvSpPr>
          <p:cNvPr id="16" name="TextBox 15">
            <a:extLst>
              <a:ext uri="{FF2B5EF4-FFF2-40B4-BE49-F238E27FC236}">
                <a16:creationId xmlns:a16="http://schemas.microsoft.com/office/drawing/2014/main" id="{287D824A-F28A-644C-ED8E-F37D67BA0568}"/>
              </a:ext>
            </a:extLst>
          </p:cNvPr>
          <p:cNvSpPr txBox="1"/>
          <p:nvPr/>
        </p:nvSpPr>
        <p:spPr>
          <a:xfrm>
            <a:off x="2286000" y="41148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The CI security gate</a:t>
            </a:r>
          </a:p>
        </p:txBody>
      </p:sp>
      <p:sp>
        <p:nvSpPr>
          <p:cNvPr id="17" name="TextBox 16">
            <a:extLst>
              <a:ext uri="{FF2B5EF4-FFF2-40B4-BE49-F238E27FC236}">
                <a16:creationId xmlns:a16="http://schemas.microsoft.com/office/drawing/2014/main" id="{7EF9C727-9137-4FAD-1EC0-C2A8E6E0A6A0}"/>
              </a:ext>
            </a:extLst>
          </p:cNvPr>
          <p:cNvSpPr txBox="1"/>
          <p:nvPr/>
        </p:nvSpPr>
        <p:spPr>
          <a:xfrm>
            <a:off x="8890000" y="41402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Hands-on + Jenkins demo</a:t>
            </a:r>
          </a:p>
        </p:txBody>
      </p:sp>
      <p:sp>
        <p:nvSpPr>
          <p:cNvPr id="18" name="Rectangle: Rounded Corners 17">
            <a:extLst>
              <a:ext uri="{FF2B5EF4-FFF2-40B4-BE49-F238E27FC236}">
                <a16:creationId xmlns:a16="http://schemas.microsoft.com/office/drawing/2014/main" id="{A6D5CB5E-747C-DF97-AEF3-6A51B765A3A7}"/>
              </a:ext>
            </a:extLst>
          </p:cNvPr>
          <p:cNvSpPr/>
          <p:nvPr/>
        </p:nvSpPr>
        <p:spPr>
          <a:xfrm>
            <a:off x="609600" y="4699000"/>
            <a:ext cx="1397000" cy="508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Lab 4</a:t>
            </a:r>
          </a:p>
        </p:txBody>
      </p:sp>
      <p:sp>
        <p:nvSpPr>
          <p:cNvPr id="19" name="TextBox 18">
            <a:extLst>
              <a:ext uri="{FF2B5EF4-FFF2-40B4-BE49-F238E27FC236}">
                <a16:creationId xmlns:a16="http://schemas.microsoft.com/office/drawing/2014/main" id="{70A899B0-9756-03F8-1FD9-728FE84373CE}"/>
              </a:ext>
            </a:extLst>
          </p:cNvPr>
          <p:cNvSpPr txBox="1"/>
          <p:nvPr/>
        </p:nvSpPr>
        <p:spPr>
          <a:xfrm>
            <a:off x="2286000" y="4800600"/>
            <a:ext cx="6604000" cy="369332"/>
          </a:xfrm>
          <a:prstGeom prst="rect">
            <a:avLst/>
          </a:prstGeom>
          <a:noFill/>
        </p:spPr>
        <p:txBody>
          <a:bodyPr vert="horz" wrap="square" lIns="0" tIns="0" rIns="0" bIns="0" rtlCol="0" anchor="t">
            <a:noAutofit/>
          </a:bodyPr>
          <a:lstStyle/>
          <a:p>
            <a:r>
              <a:rPr lang="en-IN" sz="2000" b="1">
                <a:solidFill>
                  <a:srgbClr val="1E2A35"/>
                </a:solidFill>
                <a:latin typeface="Calibri" panose="020F0502020204030204" pitchFamily="34" charset="0"/>
              </a:rPr>
              <a:t>Into the cloud</a:t>
            </a:r>
          </a:p>
        </p:txBody>
      </p:sp>
      <p:sp>
        <p:nvSpPr>
          <p:cNvPr id="20" name="TextBox 19">
            <a:extLst>
              <a:ext uri="{FF2B5EF4-FFF2-40B4-BE49-F238E27FC236}">
                <a16:creationId xmlns:a16="http://schemas.microsoft.com/office/drawing/2014/main" id="{3FC978A1-EC70-5FF3-6C46-8A149C8B4791}"/>
              </a:ext>
            </a:extLst>
          </p:cNvPr>
          <p:cNvSpPr txBox="1"/>
          <p:nvPr/>
        </p:nvSpPr>
        <p:spPr>
          <a:xfrm>
            <a:off x="8890000" y="48260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Live AWS demo</a:t>
            </a:r>
          </a:p>
        </p:txBody>
      </p:sp>
      <p:sp>
        <p:nvSpPr>
          <p:cNvPr id="21" name="Rectangle: Rounded Corners 20">
            <a:extLst>
              <a:ext uri="{FF2B5EF4-FFF2-40B4-BE49-F238E27FC236}">
                <a16:creationId xmlns:a16="http://schemas.microsoft.com/office/drawing/2014/main" id="{6BA37BA4-A7B9-FDAF-2770-DAE3303DC377}"/>
              </a:ext>
            </a:extLst>
          </p:cNvPr>
          <p:cNvSpPr/>
          <p:nvPr/>
        </p:nvSpPr>
        <p:spPr>
          <a:xfrm>
            <a:off x="609600" y="5384800"/>
            <a:ext cx="1397000" cy="50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Close</a:t>
            </a:r>
          </a:p>
        </p:txBody>
      </p:sp>
      <p:sp>
        <p:nvSpPr>
          <p:cNvPr id="22" name="TextBox 21">
            <a:extLst>
              <a:ext uri="{FF2B5EF4-FFF2-40B4-BE49-F238E27FC236}">
                <a16:creationId xmlns:a16="http://schemas.microsoft.com/office/drawing/2014/main" id="{2B87149B-2D3B-7E04-19AC-0FD671A9B6E2}"/>
              </a:ext>
            </a:extLst>
          </p:cNvPr>
          <p:cNvSpPr txBox="1"/>
          <p:nvPr/>
        </p:nvSpPr>
        <p:spPr>
          <a:xfrm>
            <a:off x="2286000" y="5486400"/>
            <a:ext cx="6604000" cy="369332"/>
          </a:xfrm>
          <a:prstGeom prst="rect">
            <a:avLst/>
          </a:prstGeom>
          <a:noFill/>
        </p:spPr>
        <p:txBody>
          <a:bodyPr vert="horz" wrap="square" lIns="0" tIns="0" rIns="0" bIns="0" rtlCol="0" anchor="t">
            <a:noAutofit/>
          </a:bodyPr>
          <a:lstStyle/>
          <a:p>
            <a:r>
              <a:rPr lang="en-IN" sz="2000">
                <a:solidFill>
                  <a:srgbClr val="1E2A35"/>
                </a:solidFill>
                <a:latin typeface="Calibri" panose="020F0502020204030204" pitchFamily="34" charset="0"/>
              </a:rPr>
              <a:t>Wrap-up and questions</a:t>
            </a:r>
          </a:p>
        </p:txBody>
      </p:sp>
      <p:sp>
        <p:nvSpPr>
          <p:cNvPr id="23" name="TextBox 22">
            <a:extLst>
              <a:ext uri="{FF2B5EF4-FFF2-40B4-BE49-F238E27FC236}">
                <a16:creationId xmlns:a16="http://schemas.microsoft.com/office/drawing/2014/main" id="{C79CEE0B-8802-6A82-065B-77447B5A0003}"/>
              </a:ext>
            </a:extLst>
          </p:cNvPr>
          <p:cNvSpPr txBox="1"/>
          <p:nvPr/>
        </p:nvSpPr>
        <p:spPr>
          <a:xfrm>
            <a:off x="8890000" y="5511800"/>
            <a:ext cx="2692400" cy="369332"/>
          </a:xfrm>
          <a:prstGeom prst="rect">
            <a:avLst/>
          </a:prstGeom>
          <a:noFill/>
        </p:spPr>
        <p:txBody>
          <a:bodyPr vert="horz" wrap="square" lIns="0" tIns="0" rIns="0" bIns="0" rtlCol="0" anchor="t">
            <a:noAutofit/>
          </a:bodyPr>
          <a:lstStyle/>
          <a:p>
            <a:pPr algn="r"/>
            <a:r>
              <a:rPr lang="en-IN" sz="1400">
                <a:solidFill>
                  <a:srgbClr val="5B6B79"/>
                </a:solidFill>
                <a:latin typeface="Calibri" panose="020F0502020204030204" pitchFamily="34" charset="0"/>
              </a:rPr>
              <a:t>Discussion</a:t>
            </a:r>
          </a:p>
        </p:txBody>
      </p:sp>
      <p:sp>
        <p:nvSpPr>
          <p:cNvPr id="24" name="TextBox 23">
            <a:extLst>
              <a:ext uri="{FF2B5EF4-FFF2-40B4-BE49-F238E27FC236}">
                <a16:creationId xmlns:a16="http://schemas.microsoft.com/office/drawing/2014/main" id="{04319009-711E-6B31-1B9C-9D1C32CA1248}"/>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F48FBE6C-C8C5-97DB-8BCE-28A977D6FADC}"/>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a:t>
            </a:r>
          </a:p>
        </p:txBody>
      </p:sp>
    </p:spTree>
    <p:extLst>
      <p:ext uri="{BB962C8B-B14F-4D97-AF65-F5344CB8AC3E}">
        <p14:creationId xmlns:p14="http://schemas.microsoft.com/office/powerpoint/2010/main" val="34266666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AABC3A6-A802-927A-7CD5-0766B483F935}"/>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What makes something "cloud"</a:t>
            </a:r>
          </a:p>
        </p:txBody>
      </p:sp>
      <p:sp>
        <p:nvSpPr>
          <p:cNvPr id="3" name="TextBox 2">
            <a:extLst>
              <a:ext uri="{FF2B5EF4-FFF2-40B4-BE49-F238E27FC236}">
                <a16:creationId xmlns:a16="http://schemas.microsoft.com/office/drawing/2014/main" id="{46C16798-04FD-3CD0-ADED-22579B8C0539}"/>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The five essential characteristics, as defined by NIST</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9C25FB80-CD31-6DAF-68FA-8BAFC56A488A}"/>
              </a:ext>
            </a:extLst>
          </p:cNvPr>
          <p:cNvSpPr/>
          <p:nvPr/>
        </p:nvSpPr>
        <p:spPr>
          <a:xfrm>
            <a:off x="6096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val 4">
            <a:extLst>
              <a:ext uri="{FF2B5EF4-FFF2-40B4-BE49-F238E27FC236}">
                <a16:creationId xmlns:a16="http://schemas.microsoft.com/office/drawing/2014/main" id="{86352FE3-C258-0531-FA02-779D5DEFF1F0}"/>
              </a:ext>
            </a:extLst>
          </p:cNvPr>
          <p:cNvSpPr/>
          <p:nvPr/>
        </p:nvSpPr>
        <p:spPr>
          <a:xfrm>
            <a:off x="8128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F3818433-5537-098F-D148-E3BCA0A27A94}"/>
              </a:ext>
            </a:extLst>
          </p:cNvPr>
          <p:cNvSpPr txBox="1"/>
          <p:nvPr/>
        </p:nvSpPr>
        <p:spPr>
          <a:xfrm>
            <a:off x="8128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On-demand self-service</a:t>
            </a:r>
          </a:p>
        </p:txBody>
      </p:sp>
      <p:sp>
        <p:nvSpPr>
          <p:cNvPr id="7" name="TextBox 6">
            <a:extLst>
              <a:ext uri="{FF2B5EF4-FFF2-40B4-BE49-F238E27FC236}">
                <a16:creationId xmlns:a16="http://schemas.microsoft.com/office/drawing/2014/main" id="{F473492F-2693-48FA-0B81-38BCD327A2A7}"/>
              </a:ext>
            </a:extLst>
          </p:cNvPr>
          <p:cNvSpPr txBox="1"/>
          <p:nvPr/>
        </p:nvSpPr>
        <p:spPr>
          <a:xfrm>
            <a:off x="8128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Create servers or storage yourself, in minutes, without raising a ticket.</a:t>
            </a:r>
            <a:endParaRPr lang="en-IN" sz="1400">
              <a:solidFill>
                <a:srgbClr val="1E2A3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D6D15618-DD42-F152-24A5-456C6EA8C98D}"/>
              </a:ext>
            </a:extLst>
          </p:cNvPr>
          <p:cNvSpPr/>
          <p:nvPr/>
        </p:nvSpPr>
        <p:spPr>
          <a:xfrm>
            <a:off x="283845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Oval 8">
            <a:extLst>
              <a:ext uri="{FF2B5EF4-FFF2-40B4-BE49-F238E27FC236}">
                <a16:creationId xmlns:a16="http://schemas.microsoft.com/office/drawing/2014/main" id="{902821E1-F03F-7E40-1ADC-1773A1DEB851}"/>
              </a:ext>
            </a:extLst>
          </p:cNvPr>
          <p:cNvSpPr/>
          <p:nvPr/>
        </p:nvSpPr>
        <p:spPr>
          <a:xfrm>
            <a:off x="304165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3A7CFCEC-57E9-8BA1-91CA-7E18B937C66D}"/>
              </a:ext>
            </a:extLst>
          </p:cNvPr>
          <p:cNvSpPr txBox="1"/>
          <p:nvPr/>
        </p:nvSpPr>
        <p:spPr>
          <a:xfrm>
            <a:off x="304165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Broad network access</a:t>
            </a:r>
          </a:p>
        </p:txBody>
      </p:sp>
      <p:sp>
        <p:nvSpPr>
          <p:cNvPr id="11" name="TextBox 10">
            <a:extLst>
              <a:ext uri="{FF2B5EF4-FFF2-40B4-BE49-F238E27FC236}">
                <a16:creationId xmlns:a16="http://schemas.microsoft.com/office/drawing/2014/main" id="{BF2E6C81-456D-A9A6-115C-27D283A126AC}"/>
              </a:ext>
            </a:extLst>
          </p:cNvPr>
          <p:cNvSpPr txBox="1"/>
          <p:nvPr/>
        </p:nvSpPr>
        <p:spPr>
          <a:xfrm>
            <a:off x="304165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Reach it over the network, from laptops, phones and other services.</a:t>
            </a:r>
            <a:endParaRPr lang="en-IN" sz="1400">
              <a:solidFill>
                <a:srgbClr val="1E2A35"/>
              </a:solidFill>
              <a:latin typeface="Calibri" panose="020F0502020204030204" pitchFamily="34" charset="0"/>
            </a:endParaRPr>
          </a:p>
        </p:txBody>
      </p:sp>
      <p:sp>
        <p:nvSpPr>
          <p:cNvPr id="12" name="Rectangle: Rounded Corners 11">
            <a:extLst>
              <a:ext uri="{FF2B5EF4-FFF2-40B4-BE49-F238E27FC236}">
                <a16:creationId xmlns:a16="http://schemas.microsoft.com/office/drawing/2014/main" id="{057BFEE0-03BC-B9AF-11B9-60F71E972A1C}"/>
              </a:ext>
            </a:extLst>
          </p:cNvPr>
          <p:cNvSpPr/>
          <p:nvPr/>
        </p:nvSpPr>
        <p:spPr>
          <a:xfrm>
            <a:off x="50673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Oval 12">
            <a:extLst>
              <a:ext uri="{FF2B5EF4-FFF2-40B4-BE49-F238E27FC236}">
                <a16:creationId xmlns:a16="http://schemas.microsoft.com/office/drawing/2014/main" id="{E8A5203B-FB5B-7973-F91C-B78FA77B33A8}"/>
              </a:ext>
            </a:extLst>
          </p:cNvPr>
          <p:cNvSpPr/>
          <p:nvPr/>
        </p:nvSpPr>
        <p:spPr>
          <a:xfrm>
            <a:off x="52705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4" name="TextBox 13">
            <a:extLst>
              <a:ext uri="{FF2B5EF4-FFF2-40B4-BE49-F238E27FC236}">
                <a16:creationId xmlns:a16="http://schemas.microsoft.com/office/drawing/2014/main" id="{FE50680F-98F6-A437-381B-8694D9F55796}"/>
              </a:ext>
            </a:extLst>
          </p:cNvPr>
          <p:cNvSpPr txBox="1"/>
          <p:nvPr/>
        </p:nvSpPr>
        <p:spPr>
          <a:xfrm>
            <a:off x="52705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Resource pooling</a:t>
            </a:r>
          </a:p>
        </p:txBody>
      </p:sp>
      <p:sp>
        <p:nvSpPr>
          <p:cNvPr id="15" name="TextBox 14">
            <a:extLst>
              <a:ext uri="{FF2B5EF4-FFF2-40B4-BE49-F238E27FC236}">
                <a16:creationId xmlns:a16="http://schemas.microsoft.com/office/drawing/2014/main" id="{6D03B79A-4A74-0E8A-CD3E-608C1DD33D11}"/>
              </a:ext>
            </a:extLst>
          </p:cNvPr>
          <p:cNvSpPr txBox="1"/>
          <p:nvPr/>
        </p:nvSpPr>
        <p:spPr>
          <a:xfrm>
            <a:off x="52705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Many customers share the provider's hardware, isolated from each other.</a:t>
            </a:r>
            <a:endParaRPr lang="en-IN" sz="1400">
              <a:solidFill>
                <a:srgbClr val="1E2A35"/>
              </a:solidFill>
              <a:latin typeface="Calibri" panose="020F0502020204030204" pitchFamily="34" charset="0"/>
            </a:endParaRPr>
          </a:p>
        </p:txBody>
      </p:sp>
      <p:sp>
        <p:nvSpPr>
          <p:cNvPr id="16" name="Rectangle: Rounded Corners 15">
            <a:extLst>
              <a:ext uri="{FF2B5EF4-FFF2-40B4-BE49-F238E27FC236}">
                <a16:creationId xmlns:a16="http://schemas.microsoft.com/office/drawing/2014/main" id="{DC07D6C5-D3D5-E015-D204-DFF404A449D9}"/>
              </a:ext>
            </a:extLst>
          </p:cNvPr>
          <p:cNvSpPr/>
          <p:nvPr/>
        </p:nvSpPr>
        <p:spPr>
          <a:xfrm>
            <a:off x="729615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Oval 16">
            <a:extLst>
              <a:ext uri="{FF2B5EF4-FFF2-40B4-BE49-F238E27FC236}">
                <a16:creationId xmlns:a16="http://schemas.microsoft.com/office/drawing/2014/main" id="{F50ADFA7-E100-476D-C0D0-E653AF66D109}"/>
              </a:ext>
            </a:extLst>
          </p:cNvPr>
          <p:cNvSpPr/>
          <p:nvPr/>
        </p:nvSpPr>
        <p:spPr>
          <a:xfrm>
            <a:off x="749935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8" name="TextBox 17">
            <a:extLst>
              <a:ext uri="{FF2B5EF4-FFF2-40B4-BE49-F238E27FC236}">
                <a16:creationId xmlns:a16="http://schemas.microsoft.com/office/drawing/2014/main" id="{37D56BAF-1C02-4AE4-67BC-6C54EB414FB3}"/>
              </a:ext>
            </a:extLst>
          </p:cNvPr>
          <p:cNvSpPr txBox="1"/>
          <p:nvPr/>
        </p:nvSpPr>
        <p:spPr>
          <a:xfrm>
            <a:off x="749935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Rapid elasticity</a:t>
            </a:r>
          </a:p>
        </p:txBody>
      </p:sp>
      <p:sp>
        <p:nvSpPr>
          <p:cNvPr id="19" name="TextBox 18">
            <a:extLst>
              <a:ext uri="{FF2B5EF4-FFF2-40B4-BE49-F238E27FC236}">
                <a16:creationId xmlns:a16="http://schemas.microsoft.com/office/drawing/2014/main" id="{C4A3F749-4FBA-8650-F1A5-1528CCA17976}"/>
              </a:ext>
            </a:extLst>
          </p:cNvPr>
          <p:cNvSpPr txBox="1"/>
          <p:nvPr/>
        </p:nvSpPr>
        <p:spPr>
          <a:xfrm>
            <a:off x="749935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Scale up for the peak, and back down afterwards.</a:t>
            </a:r>
            <a:endParaRPr lang="en-IN" sz="1400">
              <a:solidFill>
                <a:srgbClr val="1E2A35"/>
              </a:solidFill>
              <a:latin typeface="Calibri" panose="020F0502020204030204" pitchFamily="34" charset="0"/>
            </a:endParaRPr>
          </a:p>
        </p:txBody>
      </p:sp>
      <p:sp>
        <p:nvSpPr>
          <p:cNvPr id="20" name="Rectangle: Rounded Corners 19">
            <a:extLst>
              <a:ext uri="{FF2B5EF4-FFF2-40B4-BE49-F238E27FC236}">
                <a16:creationId xmlns:a16="http://schemas.microsoft.com/office/drawing/2014/main" id="{7A117264-C9D2-5231-8C44-77E37568089E}"/>
              </a:ext>
            </a:extLst>
          </p:cNvPr>
          <p:cNvSpPr/>
          <p:nvPr/>
        </p:nvSpPr>
        <p:spPr>
          <a:xfrm>
            <a:off x="9525000" y="1651000"/>
            <a:ext cx="2057400" cy="3048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Oval 20">
            <a:extLst>
              <a:ext uri="{FF2B5EF4-FFF2-40B4-BE49-F238E27FC236}">
                <a16:creationId xmlns:a16="http://schemas.microsoft.com/office/drawing/2014/main" id="{EF120CDB-899E-5B68-D82B-AC168B1C4EA4}"/>
              </a:ext>
            </a:extLst>
          </p:cNvPr>
          <p:cNvSpPr/>
          <p:nvPr/>
        </p:nvSpPr>
        <p:spPr>
          <a:xfrm>
            <a:off x="9728200" y="19050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5</a:t>
            </a:r>
          </a:p>
        </p:txBody>
      </p:sp>
      <p:sp>
        <p:nvSpPr>
          <p:cNvPr id="22" name="TextBox 21">
            <a:extLst>
              <a:ext uri="{FF2B5EF4-FFF2-40B4-BE49-F238E27FC236}">
                <a16:creationId xmlns:a16="http://schemas.microsoft.com/office/drawing/2014/main" id="{A54A97F2-7065-451C-81A7-05AE3AF5AD0E}"/>
              </a:ext>
            </a:extLst>
          </p:cNvPr>
          <p:cNvSpPr txBox="1"/>
          <p:nvPr/>
        </p:nvSpPr>
        <p:spPr>
          <a:xfrm>
            <a:off x="9728200" y="2616200"/>
            <a:ext cx="16510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Measured service</a:t>
            </a:r>
          </a:p>
        </p:txBody>
      </p:sp>
      <p:sp>
        <p:nvSpPr>
          <p:cNvPr id="23" name="TextBox 22">
            <a:extLst>
              <a:ext uri="{FF2B5EF4-FFF2-40B4-BE49-F238E27FC236}">
                <a16:creationId xmlns:a16="http://schemas.microsoft.com/office/drawing/2014/main" id="{E808B43A-B112-E431-3B29-7702D0881A6F}"/>
              </a:ext>
            </a:extLst>
          </p:cNvPr>
          <p:cNvSpPr txBox="1"/>
          <p:nvPr/>
        </p:nvSpPr>
        <p:spPr>
          <a:xfrm>
            <a:off x="9728200" y="3378200"/>
            <a:ext cx="16510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Pay for what you use, metered by the hour, gigabyte or request.</a:t>
            </a:r>
            <a:endParaRPr lang="en-IN" sz="1400">
              <a:solidFill>
                <a:srgbClr val="1E2A35"/>
              </a:solidFill>
              <a:latin typeface="Calibri" panose="020F0502020204030204" pitchFamily="34" charset="0"/>
            </a:endParaRPr>
          </a:p>
        </p:txBody>
      </p:sp>
      <p:sp>
        <p:nvSpPr>
          <p:cNvPr id="24" name="TextBox 23">
            <a:extLst>
              <a:ext uri="{FF2B5EF4-FFF2-40B4-BE49-F238E27FC236}">
                <a16:creationId xmlns:a16="http://schemas.microsoft.com/office/drawing/2014/main" id="{4B37ACB5-E6AB-2DEF-4507-8CFA981AD537}"/>
              </a:ext>
            </a:extLst>
          </p:cNvPr>
          <p:cNvSpPr txBox="1"/>
          <p:nvPr/>
        </p:nvSpPr>
        <p:spPr>
          <a:xfrm>
            <a:off x="609600" y="50292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Private clouds such as OpenStack (for example Platform9) offer the same model on your own hardware.</a:t>
            </a:r>
            <a:endParaRPr lang="en-IN" sz="16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34AFE66E-7AEB-F983-1A26-C25B009AA120}"/>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6" name="TextBox 25">
            <a:extLst>
              <a:ext uri="{FF2B5EF4-FFF2-40B4-BE49-F238E27FC236}">
                <a16:creationId xmlns:a16="http://schemas.microsoft.com/office/drawing/2014/main" id="{7E71FE7E-3115-571E-CD5E-3E26203494BA}"/>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3</a:t>
            </a:r>
          </a:p>
        </p:txBody>
      </p:sp>
    </p:spTree>
    <p:extLst>
      <p:ext uri="{BB962C8B-B14F-4D97-AF65-F5344CB8AC3E}">
        <p14:creationId xmlns:p14="http://schemas.microsoft.com/office/powerpoint/2010/main" val="1125899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3AAFE1B-FA70-A3A4-07CF-E46AB7033F67}"/>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Cloud service models: who manages what</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51B68335-5567-9B11-B3B3-90AF8B3A7EF1}"/>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The further right, the more the provider runs for you. Slide 6 turns this into the security view.</a:t>
            </a:r>
            <a:endParaRPr lang="en-IN" sz="1600">
              <a:solidFill>
                <a:srgbClr val="5B6B79"/>
              </a:solidFill>
              <a:latin typeface="Calibri" panose="020F0502020204030204" pitchFamily="34" charset="0"/>
            </a:endParaRPr>
          </a:p>
        </p:txBody>
      </p:sp>
      <p:sp>
        <p:nvSpPr>
          <p:cNvPr id="4" name="TextBox 3">
            <a:extLst>
              <a:ext uri="{FF2B5EF4-FFF2-40B4-BE49-F238E27FC236}">
                <a16:creationId xmlns:a16="http://schemas.microsoft.com/office/drawing/2014/main" id="{49A55B05-2467-A4C7-4BCA-FDE41EB21618}"/>
              </a:ext>
            </a:extLst>
          </p:cNvPr>
          <p:cNvSpPr txBox="1"/>
          <p:nvPr/>
        </p:nvSpPr>
        <p:spPr>
          <a:xfrm>
            <a:off x="8509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On-premises</a:t>
            </a:r>
          </a:p>
        </p:txBody>
      </p:sp>
      <p:sp>
        <p:nvSpPr>
          <p:cNvPr id="5" name="TextBox 4">
            <a:extLst>
              <a:ext uri="{FF2B5EF4-FFF2-40B4-BE49-F238E27FC236}">
                <a16:creationId xmlns:a16="http://schemas.microsoft.com/office/drawing/2014/main" id="{9A4D6D84-E7D6-09E8-76FD-39A2849F87B0}"/>
              </a:ext>
            </a:extLst>
          </p:cNvPr>
          <p:cNvSpPr txBox="1"/>
          <p:nvPr/>
        </p:nvSpPr>
        <p:spPr>
          <a:xfrm>
            <a:off x="8509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Your own data centre: physical servers, VMware</a:t>
            </a:r>
            <a:endParaRPr lang="en-IN" sz="1200" b="1">
              <a:solidFill>
                <a:srgbClr val="1B998B"/>
              </a:solidFill>
              <a:latin typeface="Calibri" panose="020F0502020204030204" pitchFamily="34" charset="0"/>
            </a:endParaRPr>
          </a:p>
        </p:txBody>
      </p:sp>
      <p:sp>
        <p:nvSpPr>
          <p:cNvPr id="6" name="Rectangle: Rounded Corners 5">
            <a:extLst>
              <a:ext uri="{FF2B5EF4-FFF2-40B4-BE49-F238E27FC236}">
                <a16:creationId xmlns:a16="http://schemas.microsoft.com/office/drawing/2014/main" id="{3FC64FAC-3FED-907D-8939-2236C74589D5}"/>
              </a:ext>
            </a:extLst>
          </p:cNvPr>
          <p:cNvSpPr/>
          <p:nvPr/>
        </p:nvSpPr>
        <p:spPr>
          <a:xfrm>
            <a:off x="8509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7" name="Rectangle: Rounded Corners 6">
            <a:extLst>
              <a:ext uri="{FF2B5EF4-FFF2-40B4-BE49-F238E27FC236}">
                <a16:creationId xmlns:a16="http://schemas.microsoft.com/office/drawing/2014/main" id="{3D864E5A-8AE8-5343-62DA-3CB0E69C7F56}"/>
              </a:ext>
            </a:extLst>
          </p:cNvPr>
          <p:cNvSpPr/>
          <p:nvPr/>
        </p:nvSpPr>
        <p:spPr>
          <a:xfrm>
            <a:off x="8509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8" name="Rectangle: Rounded Corners 7">
            <a:extLst>
              <a:ext uri="{FF2B5EF4-FFF2-40B4-BE49-F238E27FC236}">
                <a16:creationId xmlns:a16="http://schemas.microsoft.com/office/drawing/2014/main" id="{705111C2-C541-03D3-9B45-6DDA7146A438}"/>
              </a:ext>
            </a:extLst>
          </p:cNvPr>
          <p:cNvSpPr/>
          <p:nvPr/>
        </p:nvSpPr>
        <p:spPr>
          <a:xfrm>
            <a:off x="850900" y="33020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Runtime and middleware</a:t>
            </a:r>
          </a:p>
        </p:txBody>
      </p:sp>
      <p:sp>
        <p:nvSpPr>
          <p:cNvPr id="9" name="Rectangle: Rounded Corners 8">
            <a:extLst>
              <a:ext uri="{FF2B5EF4-FFF2-40B4-BE49-F238E27FC236}">
                <a16:creationId xmlns:a16="http://schemas.microsoft.com/office/drawing/2014/main" id="{4BCCCEA6-FAEC-8F98-6BE0-D77B1A112577}"/>
              </a:ext>
            </a:extLst>
          </p:cNvPr>
          <p:cNvSpPr/>
          <p:nvPr/>
        </p:nvSpPr>
        <p:spPr>
          <a:xfrm>
            <a:off x="850900" y="38481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Operating system</a:t>
            </a:r>
          </a:p>
        </p:txBody>
      </p:sp>
      <p:sp>
        <p:nvSpPr>
          <p:cNvPr id="10" name="Rectangle: Rounded Corners 9">
            <a:extLst>
              <a:ext uri="{FF2B5EF4-FFF2-40B4-BE49-F238E27FC236}">
                <a16:creationId xmlns:a16="http://schemas.microsoft.com/office/drawing/2014/main" id="{D4581DF9-CD8E-56AD-F6E7-F4C398E58539}"/>
              </a:ext>
            </a:extLst>
          </p:cNvPr>
          <p:cNvSpPr/>
          <p:nvPr/>
        </p:nvSpPr>
        <p:spPr>
          <a:xfrm>
            <a:off x="850900" y="43942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Virtualization</a:t>
            </a:r>
          </a:p>
        </p:txBody>
      </p:sp>
      <p:sp>
        <p:nvSpPr>
          <p:cNvPr id="11" name="Rectangle: Rounded Corners 10">
            <a:extLst>
              <a:ext uri="{FF2B5EF4-FFF2-40B4-BE49-F238E27FC236}">
                <a16:creationId xmlns:a16="http://schemas.microsoft.com/office/drawing/2014/main" id="{E1D7AEC1-5DBD-A990-B79B-3626A86B9829}"/>
              </a:ext>
            </a:extLst>
          </p:cNvPr>
          <p:cNvSpPr/>
          <p:nvPr/>
        </p:nvSpPr>
        <p:spPr>
          <a:xfrm>
            <a:off x="850900" y="49403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Servers, storage, network</a:t>
            </a:r>
          </a:p>
        </p:txBody>
      </p:sp>
      <p:sp>
        <p:nvSpPr>
          <p:cNvPr id="12" name="TextBox 11">
            <a:extLst>
              <a:ext uri="{FF2B5EF4-FFF2-40B4-BE49-F238E27FC236}">
                <a16:creationId xmlns:a16="http://schemas.microsoft.com/office/drawing/2014/main" id="{9A75A2EF-C38E-D3A1-A72D-90C4673A9CAF}"/>
              </a:ext>
            </a:extLst>
          </p:cNvPr>
          <p:cNvSpPr txBox="1"/>
          <p:nvPr/>
        </p:nvSpPr>
        <p:spPr>
          <a:xfrm>
            <a:off x="35433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IaaS</a:t>
            </a:r>
          </a:p>
        </p:txBody>
      </p:sp>
      <p:sp>
        <p:nvSpPr>
          <p:cNvPr id="13" name="TextBox 12">
            <a:extLst>
              <a:ext uri="{FF2B5EF4-FFF2-40B4-BE49-F238E27FC236}">
                <a16:creationId xmlns:a16="http://schemas.microsoft.com/office/drawing/2014/main" id="{23C36419-923E-B3E2-D858-CB8ADD740806}"/>
              </a:ext>
            </a:extLst>
          </p:cNvPr>
          <p:cNvSpPr txBox="1"/>
          <p:nvPr/>
        </p:nvSpPr>
        <p:spPr>
          <a:xfrm>
            <a:off x="35433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AWS EC2, Azure VMs, OpenStack / Platform9</a:t>
            </a:r>
            <a:endParaRPr lang="en-IN" sz="1200" b="1">
              <a:solidFill>
                <a:srgbClr val="1B998B"/>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29DFFAE4-A804-AECB-CBF1-2797DFC73FD4}"/>
              </a:ext>
            </a:extLst>
          </p:cNvPr>
          <p:cNvSpPr/>
          <p:nvPr/>
        </p:nvSpPr>
        <p:spPr>
          <a:xfrm>
            <a:off x="35433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15" name="Rectangle: Rounded Corners 14">
            <a:extLst>
              <a:ext uri="{FF2B5EF4-FFF2-40B4-BE49-F238E27FC236}">
                <a16:creationId xmlns:a16="http://schemas.microsoft.com/office/drawing/2014/main" id="{20F957BC-3A37-8850-A62F-E59FEC22DF14}"/>
              </a:ext>
            </a:extLst>
          </p:cNvPr>
          <p:cNvSpPr/>
          <p:nvPr/>
        </p:nvSpPr>
        <p:spPr>
          <a:xfrm>
            <a:off x="35433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16" name="Rectangle: Rounded Corners 15">
            <a:extLst>
              <a:ext uri="{FF2B5EF4-FFF2-40B4-BE49-F238E27FC236}">
                <a16:creationId xmlns:a16="http://schemas.microsoft.com/office/drawing/2014/main" id="{84F3E463-E5FC-CDA5-0A43-EAAE349268F7}"/>
              </a:ext>
            </a:extLst>
          </p:cNvPr>
          <p:cNvSpPr/>
          <p:nvPr/>
        </p:nvSpPr>
        <p:spPr>
          <a:xfrm>
            <a:off x="3543300" y="33020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Runtime and middleware</a:t>
            </a:r>
          </a:p>
        </p:txBody>
      </p:sp>
      <p:sp>
        <p:nvSpPr>
          <p:cNvPr id="17" name="Rectangle: Rounded Corners 16">
            <a:extLst>
              <a:ext uri="{FF2B5EF4-FFF2-40B4-BE49-F238E27FC236}">
                <a16:creationId xmlns:a16="http://schemas.microsoft.com/office/drawing/2014/main" id="{CF21B9A0-F3DC-88DA-FE37-2AF8FB08551E}"/>
              </a:ext>
            </a:extLst>
          </p:cNvPr>
          <p:cNvSpPr/>
          <p:nvPr/>
        </p:nvSpPr>
        <p:spPr>
          <a:xfrm>
            <a:off x="3543300" y="38481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Operating system</a:t>
            </a:r>
          </a:p>
        </p:txBody>
      </p:sp>
      <p:sp>
        <p:nvSpPr>
          <p:cNvPr id="18" name="Rectangle: Rounded Corners 17">
            <a:extLst>
              <a:ext uri="{FF2B5EF4-FFF2-40B4-BE49-F238E27FC236}">
                <a16:creationId xmlns:a16="http://schemas.microsoft.com/office/drawing/2014/main" id="{992AA18D-E735-085F-5828-9BF362B75365}"/>
              </a:ext>
            </a:extLst>
          </p:cNvPr>
          <p:cNvSpPr/>
          <p:nvPr/>
        </p:nvSpPr>
        <p:spPr>
          <a:xfrm>
            <a:off x="35433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19" name="Rectangle: Rounded Corners 18">
            <a:extLst>
              <a:ext uri="{FF2B5EF4-FFF2-40B4-BE49-F238E27FC236}">
                <a16:creationId xmlns:a16="http://schemas.microsoft.com/office/drawing/2014/main" id="{1C7615DE-51EF-B5D8-CBB0-04F1249D2A8B}"/>
              </a:ext>
            </a:extLst>
          </p:cNvPr>
          <p:cNvSpPr/>
          <p:nvPr/>
        </p:nvSpPr>
        <p:spPr>
          <a:xfrm>
            <a:off x="35433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20" name="TextBox 19">
            <a:extLst>
              <a:ext uri="{FF2B5EF4-FFF2-40B4-BE49-F238E27FC236}">
                <a16:creationId xmlns:a16="http://schemas.microsoft.com/office/drawing/2014/main" id="{7BA83BFD-ACD4-B016-118B-B6158C311601}"/>
              </a:ext>
            </a:extLst>
          </p:cNvPr>
          <p:cNvSpPr txBox="1"/>
          <p:nvPr/>
        </p:nvSpPr>
        <p:spPr>
          <a:xfrm>
            <a:off x="62357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PaaS</a:t>
            </a:r>
          </a:p>
        </p:txBody>
      </p:sp>
      <p:sp>
        <p:nvSpPr>
          <p:cNvPr id="21" name="TextBox 20">
            <a:extLst>
              <a:ext uri="{FF2B5EF4-FFF2-40B4-BE49-F238E27FC236}">
                <a16:creationId xmlns:a16="http://schemas.microsoft.com/office/drawing/2014/main" id="{3ACEB8B6-52CE-6B61-F2C9-E42ACBBE4E2A}"/>
              </a:ext>
            </a:extLst>
          </p:cNvPr>
          <p:cNvSpPr txBox="1"/>
          <p:nvPr/>
        </p:nvSpPr>
        <p:spPr>
          <a:xfrm>
            <a:off x="6235700" y="1727200"/>
            <a:ext cx="2413000" cy="369332"/>
          </a:xfrm>
          <a:prstGeom prst="rect">
            <a:avLst/>
          </a:prstGeom>
          <a:noFill/>
        </p:spPr>
        <p:txBody>
          <a:bodyPr vert="horz" wrap="square" lIns="0" tIns="0" rIns="0" bIns="0" rtlCol="0" anchor="t">
            <a:noAutofit/>
          </a:bodyPr>
          <a:lstStyle/>
          <a:p>
            <a:pPr algn="ctr"/>
            <a:r>
              <a:rPr lang="en-US" sz="1200" b="1">
                <a:solidFill>
                  <a:srgbClr val="1B998B"/>
                </a:solidFill>
                <a:latin typeface="Calibri" panose="020F0502020204030204" pitchFamily="34" charset="0"/>
              </a:rPr>
              <a:t>AWS Elastic Beanstalk, Azure App Service, Heroku</a:t>
            </a:r>
            <a:endParaRPr lang="en-IN" sz="1200" b="1">
              <a:solidFill>
                <a:srgbClr val="1B998B"/>
              </a:solidFill>
              <a:latin typeface="Calibri" panose="020F0502020204030204" pitchFamily="34" charset="0"/>
            </a:endParaRPr>
          </a:p>
        </p:txBody>
      </p:sp>
      <p:sp>
        <p:nvSpPr>
          <p:cNvPr id="22" name="Rectangle: Rounded Corners 21">
            <a:extLst>
              <a:ext uri="{FF2B5EF4-FFF2-40B4-BE49-F238E27FC236}">
                <a16:creationId xmlns:a16="http://schemas.microsoft.com/office/drawing/2014/main" id="{F4CC5593-B275-1FA1-9193-31627B12BEF1}"/>
              </a:ext>
            </a:extLst>
          </p:cNvPr>
          <p:cNvSpPr/>
          <p:nvPr/>
        </p:nvSpPr>
        <p:spPr>
          <a:xfrm>
            <a:off x="6235700" y="22098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Applications</a:t>
            </a:r>
          </a:p>
        </p:txBody>
      </p:sp>
      <p:sp>
        <p:nvSpPr>
          <p:cNvPr id="23" name="Rectangle: Rounded Corners 22">
            <a:extLst>
              <a:ext uri="{FF2B5EF4-FFF2-40B4-BE49-F238E27FC236}">
                <a16:creationId xmlns:a16="http://schemas.microsoft.com/office/drawing/2014/main" id="{5ACD09A5-2CC0-87FA-3D39-B666CDFD5700}"/>
              </a:ext>
            </a:extLst>
          </p:cNvPr>
          <p:cNvSpPr/>
          <p:nvPr/>
        </p:nvSpPr>
        <p:spPr>
          <a:xfrm>
            <a:off x="6235700" y="2755900"/>
            <a:ext cx="2413000" cy="4699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FFFFFF"/>
                </a:solidFill>
                <a:latin typeface="Calibri" panose="020F0502020204030204" pitchFamily="34" charset="0"/>
              </a:rPr>
              <a:t>Data</a:t>
            </a:r>
          </a:p>
        </p:txBody>
      </p:sp>
      <p:sp>
        <p:nvSpPr>
          <p:cNvPr id="24" name="Rectangle: Rounded Corners 23">
            <a:extLst>
              <a:ext uri="{FF2B5EF4-FFF2-40B4-BE49-F238E27FC236}">
                <a16:creationId xmlns:a16="http://schemas.microsoft.com/office/drawing/2014/main" id="{D15CF2D0-5EFC-9969-2A89-FF4559708FDF}"/>
              </a:ext>
            </a:extLst>
          </p:cNvPr>
          <p:cNvSpPr/>
          <p:nvPr/>
        </p:nvSpPr>
        <p:spPr>
          <a:xfrm>
            <a:off x="6235700" y="33020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Runtime and middleware</a:t>
            </a:r>
          </a:p>
        </p:txBody>
      </p:sp>
      <p:sp>
        <p:nvSpPr>
          <p:cNvPr id="25" name="Rectangle: Rounded Corners 24">
            <a:extLst>
              <a:ext uri="{FF2B5EF4-FFF2-40B4-BE49-F238E27FC236}">
                <a16:creationId xmlns:a16="http://schemas.microsoft.com/office/drawing/2014/main" id="{799B3A6D-EE1A-B310-E256-48E576C38125}"/>
              </a:ext>
            </a:extLst>
          </p:cNvPr>
          <p:cNvSpPr/>
          <p:nvPr/>
        </p:nvSpPr>
        <p:spPr>
          <a:xfrm>
            <a:off x="6235700" y="38481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Operating system</a:t>
            </a:r>
          </a:p>
        </p:txBody>
      </p:sp>
      <p:sp>
        <p:nvSpPr>
          <p:cNvPr id="26" name="Rectangle: Rounded Corners 25">
            <a:extLst>
              <a:ext uri="{FF2B5EF4-FFF2-40B4-BE49-F238E27FC236}">
                <a16:creationId xmlns:a16="http://schemas.microsoft.com/office/drawing/2014/main" id="{B7A60249-F131-60FD-7984-94DDD36CB21E}"/>
              </a:ext>
            </a:extLst>
          </p:cNvPr>
          <p:cNvSpPr/>
          <p:nvPr/>
        </p:nvSpPr>
        <p:spPr>
          <a:xfrm>
            <a:off x="62357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27" name="Rectangle: Rounded Corners 26">
            <a:extLst>
              <a:ext uri="{FF2B5EF4-FFF2-40B4-BE49-F238E27FC236}">
                <a16:creationId xmlns:a16="http://schemas.microsoft.com/office/drawing/2014/main" id="{F8112038-1A07-E826-5A86-4B5578927043}"/>
              </a:ext>
            </a:extLst>
          </p:cNvPr>
          <p:cNvSpPr/>
          <p:nvPr/>
        </p:nvSpPr>
        <p:spPr>
          <a:xfrm>
            <a:off x="62357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28" name="TextBox 27">
            <a:extLst>
              <a:ext uri="{FF2B5EF4-FFF2-40B4-BE49-F238E27FC236}">
                <a16:creationId xmlns:a16="http://schemas.microsoft.com/office/drawing/2014/main" id="{24FA2CAC-C344-0FB3-F282-97BDAA9463BB}"/>
              </a:ext>
            </a:extLst>
          </p:cNvPr>
          <p:cNvSpPr txBox="1"/>
          <p:nvPr/>
        </p:nvSpPr>
        <p:spPr>
          <a:xfrm>
            <a:off x="8928100" y="1422400"/>
            <a:ext cx="2413000" cy="369332"/>
          </a:xfrm>
          <a:prstGeom prst="rect">
            <a:avLst/>
          </a:prstGeom>
          <a:noFill/>
        </p:spPr>
        <p:txBody>
          <a:bodyPr vert="horz" wrap="square" lIns="0" tIns="0" rIns="0" bIns="0" rtlCol="0" anchor="t">
            <a:noAutofit/>
          </a:bodyPr>
          <a:lstStyle/>
          <a:p>
            <a:pPr algn="ctr"/>
            <a:r>
              <a:rPr lang="en-IN" b="1">
                <a:solidFill>
                  <a:srgbClr val="13293D"/>
                </a:solidFill>
                <a:latin typeface="Calibri" panose="020F0502020204030204" pitchFamily="34" charset="0"/>
              </a:rPr>
              <a:t>SaaS</a:t>
            </a:r>
          </a:p>
        </p:txBody>
      </p:sp>
      <p:sp>
        <p:nvSpPr>
          <p:cNvPr id="29" name="TextBox 28">
            <a:extLst>
              <a:ext uri="{FF2B5EF4-FFF2-40B4-BE49-F238E27FC236}">
                <a16:creationId xmlns:a16="http://schemas.microsoft.com/office/drawing/2014/main" id="{C34AC986-1166-6EE0-4023-923D115A0CDE}"/>
              </a:ext>
            </a:extLst>
          </p:cNvPr>
          <p:cNvSpPr txBox="1"/>
          <p:nvPr/>
        </p:nvSpPr>
        <p:spPr>
          <a:xfrm>
            <a:off x="8928100" y="1727200"/>
            <a:ext cx="2413000" cy="369332"/>
          </a:xfrm>
          <a:prstGeom prst="rect">
            <a:avLst/>
          </a:prstGeom>
          <a:noFill/>
        </p:spPr>
        <p:txBody>
          <a:bodyPr vert="horz" wrap="square" lIns="0" tIns="0" rIns="0" bIns="0" rtlCol="0" anchor="t">
            <a:noAutofit/>
          </a:bodyPr>
          <a:lstStyle/>
          <a:p>
            <a:pPr algn="ctr"/>
            <a:r>
              <a:rPr lang="en-IN" sz="1200" b="1">
                <a:solidFill>
                  <a:srgbClr val="1B998B"/>
                </a:solidFill>
                <a:latin typeface="Calibri" panose="020F0502020204030204" pitchFamily="34" charset="0"/>
              </a:rPr>
              <a:t>Microsoft 365, Gmail, Salesforce</a:t>
            </a:r>
          </a:p>
        </p:txBody>
      </p:sp>
      <p:sp>
        <p:nvSpPr>
          <p:cNvPr id="30" name="Rectangle: Rounded Corners 29">
            <a:extLst>
              <a:ext uri="{FF2B5EF4-FFF2-40B4-BE49-F238E27FC236}">
                <a16:creationId xmlns:a16="http://schemas.microsoft.com/office/drawing/2014/main" id="{1A75B322-BFCB-4F97-F4BA-FD8B54029B18}"/>
              </a:ext>
            </a:extLst>
          </p:cNvPr>
          <p:cNvSpPr/>
          <p:nvPr/>
        </p:nvSpPr>
        <p:spPr>
          <a:xfrm>
            <a:off x="8928100" y="22098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Applications</a:t>
            </a:r>
          </a:p>
        </p:txBody>
      </p:sp>
      <p:sp>
        <p:nvSpPr>
          <p:cNvPr id="31" name="Rectangle: Rounded Corners 30">
            <a:extLst>
              <a:ext uri="{FF2B5EF4-FFF2-40B4-BE49-F238E27FC236}">
                <a16:creationId xmlns:a16="http://schemas.microsoft.com/office/drawing/2014/main" id="{8D09D7D4-6028-148A-01F1-40B641BC9101}"/>
              </a:ext>
            </a:extLst>
          </p:cNvPr>
          <p:cNvSpPr/>
          <p:nvPr/>
        </p:nvSpPr>
        <p:spPr>
          <a:xfrm>
            <a:off x="8928100" y="27559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Data</a:t>
            </a:r>
          </a:p>
        </p:txBody>
      </p:sp>
      <p:sp>
        <p:nvSpPr>
          <p:cNvPr id="32" name="Rectangle: Rounded Corners 31">
            <a:extLst>
              <a:ext uri="{FF2B5EF4-FFF2-40B4-BE49-F238E27FC236}">
                <a16:creationId xmlns:a16="http://schemas.microsoft.com/office/drawing/2014/main" id="{59B7A08D-C87D-0465-B205-7AA227802CFF}"/>
              </a:ext>
            </a:extLst>
          </p:cNvPr>
          <p:cNvSpPr/>
          <p:nvPr/>
        </p:nvSpPr>
        <p:spPr>
          <a:xfrm>
            <a:off x="8928100" y="33020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Runtime and middleware</a:t>
            </a:r>
          </a:p>
        </p:txBody>
      </p:sp>
      <p:sp>
        <p:nvSpPr>
          <p:cNvPr id="33" name="Rectangle: Rounded Corners 32">
            <a:extLst>
              <a:ext uri="{FF2B5EF4-FFF2-40B4-BE49-F238E27FC236}">
                <a16:creationId xmlns:a16="http://schemas.microsoft.com/office/drawing/2014/main" id="{0FE26CED-1A19-C167-36BE-9C45DBB5EEA6}"/>
              </a:ext>
            </a:extLst>
          </p:cNvPr>
          <p:cNvSpPr/>
          <p:nvPr/>
        </p:nvSpPr>
        <p:spPr>
          <a:xfrm>
            <a:off x="8928100" y="38481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Operating system</a:t>
            </a:r>
          </a:p>
        </p:txBody>
      </p:sp>
      <p:sp>
        <p:nvSpPr>
          <p:cNvPr id="34" name="Rectangle: Rounded Corners 33">
            <a:extLst>
              <a:ext uri="{FF2B5EF4-FFF2-40B4-BE49-F238E27FC236}">
                <a16:creationId xmlns:a16="http://schemas.microsoft.com/office/drawing/2014/main" id="{B85A7627-C44F-E01B-0175-2FAD75C1C70D}"/>
              </a:ext>
            </a:extLst>
          </p:cNvPr>
          <p:cNvSpPr/>
          <p:nvPr/>
        </p:nvSpPr>
        <p:spPr>
          <a:xfrm>
            <a:off x="8928100" y="43942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Virtualization</a:t>
            </a:r>
          </a:p>
        </p:txBody>
      </p:sp>
      <p:sp>
        <p:nvSpPr>
          <p:cNvPr id="35" name="Rectangle: Rounded Corners 34">
            <a:extLst>
              <a:ext uri="{FF2B5EF4-FFF2-40B4-BE49-F238E27FC236}">
                <a16:creationId xmlns:a16="http://schemas.microsoft.com/office/drawing/2014/main" id="{579C18A8-B062-5341-736B-F7AC9571695B}"/>
              </a:ext>
            </a:extLst>
          </p:cNvPr>
          <p:cNvSpPr/>
          <p:nvPr/>
        </p:nvSpPr>
        <p:spPr>
          <a:xfrm>
            <a:off x="8928100" y="4940300"/>
            <a:ext cx="2413000" cy="4699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a:solidFill>
                  <a:srgbClr val="13293D"/>
                </a:solidFill>
                <a:latin typeface="Calibri" panose="020F0502020204030204" pitchFamily="34" charset="0"/>
              </a:rPr>
              <a:t>Servers, storage, network</a:t>
            </a:r>
          </a:p>
        </p:txBody>
      </p:sp>
      <p:sp>
        <p:nvSpPr>
          <p:cNvPr id="36" name="Rectangle 35">
            <a:extLst>
              <a:ext uri="{FF2B5EF4-FFF2-40B4-BE49-F238E27FC236}">
                <a16:creationId xmlns:a16="http://schemas.microsoft.com/office/drawing/2014/main" id="{16657802-C070-F991-F450-251C358D8CA9}"/>
              </a:ext>
            </a:extLst>
          </p:cNvPr>
          <p:cNvSpPr/>
          <p:nvPr/>
        </p:nvSpPr>
        <p:spPr>
          <a:xfrm>
            <a:off x="850900" y="5638800"/>
            <a:ext cx="203200" cy="203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TextBox 36">
            <a:extLst>
              <a:ext uri="{FF2B5EF4-FFF2-40B4-BE49-F238E27FC236}">
                <a16:creationId xmlns:a16="http://schemas.microsoft.com/office/drawing/2014/main" id="{C7E4EB0C-CE22-44E7-409B-FD1DFBB0BE99}"/>
              </a:ext>
            </a:extLst>
          </p:cNvPr>
          <p:cNvSpPr txBox="1"/>
          <p:nvPr/>
        </p:nvSpPr>
        <p:spPr>
          <a:xfrm>
            <a:off x="1143000" y="5626100"/>
            <a:ext cx="2032000" cy="369332"/>
          </a:xfrm>
          <a:prstGeom prst="rect">
            <a:avLst/>
          </a:prstGeom>
          <a:noFill/>
        </p:spPr>
        <p:txBody>
          <a:bodyPr vert="horz" wrap="square" lIns="0" tIns="0" rIns="0" bIns="0" rtlCol="0" anchor="t">
            <a:noAutofit/>
          </a:bodyPr>
          <a:lstStyle/>
          <a:p>
            <a:r>
              <a:rPr lang="en-IN" sz="1400">
                <a:solidFill>
                  <a:srgbClr val="1E2A35"/>
                </a:solidFill>
                <a:latin typeface="Calibri" panose="020F0502020204030204" pitchFamily="34" charset="0"/>
              </a:rPr>
              <a:t>You manage</a:t>
            </a:r>
          </a:p>
        </p:txBody>
      </p:sp>
      <p:sp>
        <p:nvSpPr>
          <p:cNvPr id="38" name="Rectangle 37">
            <a:extLst>
              <a:ext uri="{FF2B5EF4-FFF2-40B4-BE49-F238E27FC236}">
                <a16:creationId xmlns:a16="http://schemas.microsoft.com/office/drawing/2014/main" id="{3DA16BF5-23B5-B560-47A0-23469B7E55FD}"/>
              </a:ext>
            </a:extLst>
          </p:cNvPr>
          <p:cNvSpPr/>
          <p:nvPr/>
        </p:nvSpPr>
        <p:spPr>
          <a:xfrm>
            <a:off x="2794000" y="5638800"/>
            <a:ext cx="203200" cy="203200"/>
          </a:xfrm>
          <a:prstGeom prst="rect">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91CA2FB3-02BE-375F-23D4-A85DC5684900}"/>
              </a:ext>
            </a:extLst>
          </p:cNvPr>
          <p:cNvSpPr txBox="1"/>
          <p:nvPr/>
        </p:nvSpPr>
        <p:spPr>
          <a:xfrm>
            <a:off x="3086100" y="5626100"/>
            <a:ext cx="2540000" cy="369332"/>
          </a:xfrm>
          <a:prstGeom prst="rect">
            <a:avLst/>
          </a:prstGeom>
          <a:noFill/>
        </p:spPr>
        <p:txBody>
          <a:bodyPr vert="horz" wrap="square" lIns="0" tIns="0" rIns="0" bIns="0" rtlCol="0" anchor="t">
            <a:noAutofit/>
          </a:bodyPr>
          <a:lstStyle/>
          <a:p>
            <a:r>
              <a:rPr lang="en-IN" sz="1400">
                <a:solidFill>
                  <a:srgbClr val="1E2A35"/>
                </a:solidFill>
                <a:latin typeface="Calibri" panose="020F0502020204030204" pitchFamily="34" charset="0"/>
              </a:rPr>
              <a:t>The provider manages</a:t>
            </a:r>
          </a:p>
        </p:txBody>
      </p:sp>
      <p:sp>
        <p:nvSpPr>
          <p:cNvPr id="40" name="TextBox 39">
            <a:extLst>
              <a:ext uri="{FF2B5EF4-FFF2-40B4-BE49-F238E27FC236}">
                <a16:creationId xmlns:a16="http://schemas.microsoft.com/office/drawing/2014/main" id="{7DE73380-B606-6DBD-7105-3FBCD75E08C3}"/>
              </a:ext>
            </a:extLst>
          </p:cNvPr>
          <p:cNvSpPr txBox="1"/>
          <p:nvPr/>
        </p:nvSpPr>
        <p:spPr>
          <a:xfrm>
            <a:off x="850900" y="6019800"/>
            <a:ext cx="107315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Deployment models:  public (AWS, Azure, GCP)  ·  private (OpenStack, Platform9)  ·  hybrid (both)</a:t>
            </a:r>
            <a:endParaRPr lang="en-IN" sz="1400">
              <a:solidFill>
                <a:srgbClr val="5B6B79"/>
              </a:solidFill>
              <a:latin typeface="Calibri" panose="020F0502020204030204" pitchFamily="34" charset="0"/>
            </a:endParaRPr>
          </a:p>
        </p:txBody>
      </p:sp>
      <p:sp>
        <p:nvSpPr>
          <p:cNvPr id="41" name="TextBox 40">
            <a:extLst>
              <a:ext uri="{FF2B5EF4-FFF2-40B4-BE49-F238E27FC236}">
                <a16:creationId xmlns:a16="http://schemas.microsoft.com/office/drawing/2014/main" id="{02D803D5-E035-7D99-C6F1-FA9550AB56E9}"/>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42" name="TextBox 41">
            <a:extLst>
              <a:ext uri="{FF2B5EF4-FFF2-40B4-BE49-F238E27FC236}">
                <a16:creationId xmlns:a16="http://schemas.microsoft.com/office/drawing/2014/main" id="{3AA30E02-7466-0A31-2A7E-FC990A129BC5}"/>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4</a:t>
            </a:r>
          </a:p>
        </p:txBody>
      </p:sp>
    </p:spTree>
    <p:extLst>
      <p:ext uri="{BB962C8B-B14F-4D97-AF65-F5344CB8AC3E}">
        <p14:creationId xmlns:p14="http://schemas.microsoft.com/office/powerpoint/2010/main" val="1248202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AFFF759-3651-80AB-55ED-CD2B5FF28645}"/>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Four building blocks of every cloud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69131A13-FEDF-BF0A-2FE3-9E89534A5211}"/>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Same ideas, different names in AWS and OpenStack</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F8059881-790D-B37C-E3AC-7C14BE1EDF02}"/>
              </a:ext>
            </a:extLst>
          </p:cNvPr>
          <p:cNvSpPr/>
          <p:nvPr/>
        </p:nvSpPr>
        <p:spPr>
          <a:xfrm>
            <a:off x="609600" y="15494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val 4">
            <a:extLst>
              <a:ext uri="{FF2B5EF4-FFF2-40B4-BE49-F238E27FC236}">
                <a16:creationId xmlns:a16="http://schemas.microsoft.com/office/drawing/2014/main" id="{2130E0EC-CFA0-BEA1-648D-304D8969FC21}"/>
              </a:ext>
            </a:extLst>
          </p:cNvPr>
          <p:cNvSpPr/>
          <p:nvPr/>
        </p:nvSpPr>
        <p:spPr>
          <a:xfrm>
            <a:off x="863600" y="18034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C</a:t>
            </a:r>
          </a:p>
        </p:txBody>
      </p:sp>
      <p:sp>
        <p:nvSpPr>
          <p:cNvPr id="6" name="TextBox 5">
            <a:extLst>
              <a:ext uri="{FF2B5EF4-FFF2-40B4-BE49-F238E27FC236}">
                <a16:creationId xmlns:a16="http://schemas.microsoft.com/office/drawing/2014/main" id="{E8DF571D-4E6E-1AC3-F627-7DC627579F86}"/>
              </a:ext>
            </a:extLst>
          </p:cNvPr>
          <p:cNvSpPr txBox="1"/>
          <p:nvPr/>
        </p:nvSpPr>
        <p:spPr>
          <a:xfrm>
            <a:off x="1625600" y="19050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Compute</a:t>
            </a:r>
          </a:p>
        </p:txBody>
      </p:sp>
      <p:sp>
        <p:nvSpPr>
          <p:cNvPr id="7" name="TextBox 6">
            <a:extLst>
              <a:ext uri="{FF2B5EF4-FFF2-40B4-BE49-F238E27FC236}">
                <a16:creationId xmlns:a16="http://schemas.microsoft.com/office/drawing/2014/main" id="{C369AC71-6A27-B8BB-8BC5-59A8DF0C325F}"/>
              </a:ext>
            </a:extLst>
          </p:cNvPr>
          <p:cNvSpPr txBox="1"/>
          <p:nvPr/>
        </p:nvSpPr>
        <p:spPr>
          <a:xfrm>
            <a:off x="1625600" y="23622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Virtual servers and containers that run your code, booted from images.</a:t>
            </a:r>
            <a:endParaRPr lang="en-IN" sz="15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0C6D1508-08C7-5461-4106-67C61DC977CE}"/>
              </a:ext>
            </a:extLst>
          </p:cNvPr>
          <p:cNvSpPr txBox="1"/>
          <p:nvPr/>
        </p:nvSpPr>
        <p:spPr>
          <a:xfrm>
            <a:off x="1625600" y="3124200"/>
            <a:ext cx="406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AWS: EC2, AMIs   ·   OpenStack: Nova, Glance (images)</a:t>
            </a:r>
          </a:p>
        </p:txBody>
      </p:sp>
      <p:sp>
        <p:nvSpPr>
          <p:cNvPr id="9" name="Rectangle: Rounded Corners 8">
            <a:extLst>
              <a:ext uri="{FF2B5EF4-FFF2-40B4-BE49-F238E27FC236}">
                <a16:creationId xmlns:a16="http://schemas.microsoft.com/office/drawing/2014/main" id="{A21CBA62-A947-5806-EE2F-54C3F405EA14}"/>
              </a:ext>
            </a:extLst>
          </p:cNvPr>
          <p:cNvSpPr/>
          <p:nvPr/>
        </p:nvSpPr>
        <p:spPr>
          <a:xfrm>
            <a:off x="6248400" y="15494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Oval 9">
            <a:extLst>
              <a:ext uri="{FF2B5EF4-FFF2-40B4-BE49-F238E27FC236}">
                <a16:creationId xmlns:a16="http://schemas.microsoft.com/office/drawing/2014/main" id="{4024DC06-301B-BCFF-D0CC-5283EE5691DE}"/>
              </a:ext>
            </a:extLst>
          </p:cNvPr>
          <p:cNvSpPr/>
          <p:nvPr/>
        </p:nvSpPr>
        <p:spPr>
          <a:xfrm>
            <a:off x="6502400" y="18034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S</a:t>
            </a:r>
          </a:p>
        </p:txBody>
      </p:sp>
      <p:sp>
        <p:nvSpPr>
          <p:cNvPr id="11" name="TextBox 10">
            <a:extLst>
              <a:ext uri="{FF2B5EF4-FFF2-40B4-BE49-F238E27FC236}">
                <a16:creationId xmlns:a16="http://schemas.microsoft.com/office/drawing/2014/main" id="{CBC3CF25-F007-51ED-B28F-001645152873}"/>
              </a:ext>
            </a:extLst>
          </p:cNvPr>
          <p:cNvSpPr txBox="1"/>
          <p:nvPr/>
        </p:nvSpPr>
        <p:spPr>
          <a:xfrm>
            <a:off x="7264400" y="19050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Storage</a:t>
            </a:r>
          </a:p>
        </p:txBody>
      </p:sp>
      <p:sp>
        <p:nvSpPr>
          <p:cNvPr id="12" name="TextBox 11">
            <a:extLst>
              <a:ext uri="{FF2B5EF4-FFF2-40B4-BE49-F238E27FC236}">
                <a16:creationId xmlns:a16="http://schemas.microsoft.com/office/drawing/2014/main" id="{15D18AB5-9EFD-4809-54AC-AB0AECD1DAFA}"/>
              </a:ext>
            </a:extLst>
          </p:cNvPr>
          <p:cNvSpPr txBox="1"/>
          <p:nvPr/>
        </p:nvSpPr>
        <p:spPr>
          <a:xfrm>
            <a:off x="7264400" y="23622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Object storage for files and backups, plus disks and shared file systems.</a:t>
            </a:r>
            <a:endParaRPr lang="en-IN" sz="1500">
              <a:solidFill>
                <a:srgbClr val="1E2A35"/>
              </a:solidFill>
              <a:latin typeface="Calibri" panose="020F0502020204030204" pitchFamily="34" charset="0"/>
            </a:endParaRPr>
          </a:p>
        </p:txBody>
      </p:sp>
      <p:sp>
        <p:nvSpPr>
          <p:cNvPr id="13" name="TextBox 12">
            <a:extLst>
              <a:ext uri="{FF2B5EF4-FFF2-40B4-BE49-F238E27FC236}">
                <a16:creationId xmlns:a16="http://schemas.microsoft.com/office/drawing/2014/main" id="{0426B2DB-129A-273F-E829-9EC15A803335}"/>
              </a:ext>
            </a:extLst>
          </p:cNvPr>
          <p:cNvSpPr txBox="1"/>
          <p:nvPr/>
        </p:nvSpPr>
        <p:spPr>
          <a:xfrm>
            <a:off x="7264400" y="3124200"/>
            <a:ext cx="4064000" cy="369332"/>
          </a:xfrm>
          <a:prstGeom prst="rect">
            <a:avLst/>
          </a:prstGeom>
          <a:noFill/>
        </p:spPr>
        <p:txBody>
          <a:bodyPr vert="horz" wrap="square" lIns="0" tIns="0" rIns="0" bIns="0" rtlCol="0" anchor="t">
            <a:noAutofit/>
          </a:bodyPr>
          <a:lstStyle/>
          <a:p>
            <a:r>
              <a:rPr lang="en-US" sz="1300" b="1">
                <a:solidFill>
                  <a:srgbClr val="1B998B"/>
                </a:solidFill>
                <a:latin typeface="Calibri" panose="020F0502020204030204" pitchFamily="34" charset="0"/>
              </a:rPr>
              <a:t>AWS: S3, EBS, EFS   ·   OpenStack: Swift, Cinder, Manila</a:t>
            </a:r>
            <a:endParaRPr lang="en-IN" sz="1300" b="1">
              <a:solidFill>
                <a:srgbClr val="1B998B"/>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0E959861-0DD4-4051-DD42-E53CB211FE91}"/>
              </a:ext>
            </a:extLst>
          </p:cNvPr>
          <p:cNvSpPr/>
          <p:nvPr/>
        </p:nvSpPr>
        <p:spPr>
          <a:xfrm>
            <a:off x="609600" y="38608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Oval 14">
            <a:extLst>
              <a:ext uri="{FF2B5EF4-FFF2-40B4-BE49-F238E27FC236}">
                <a16:creationId xmlns:a16="http://schemas.microsoft.com/office/drawing/2014/main" id="{808BBD66-D279-5E54-025B-7F7C6FACEE97}"/>
              </a:ext>
            </a:extLst>
          </p:cNvPr>
          <p:cNvSpPr/>
          <p:nvPr/>
        </p:nvSpPr>
        <p:spPr>
          <a:xfrm>
            <a:off x="863600" y="41148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N</a:t>
            </a:r>
          </a:p>
        </p:txBody>
      </p:sp>
      <p:sp>
        <p:nvSpPr>
          <p:cNvPr id="16" name="TextBox 15">
            <a:extLst>
              <a:ext uri="{FF2B5EF4-FFF2-40B4-BE49-F238E27FC236}">
                <a16:creationId xmlns:a16="http://schemas.microsoft.com/office/drawing/2014/main" id="{66771611-1A04-76B3-2F88-6E9BD61D49DA}"/>
              </a:ext>
            </a:extLst>
          </p:cNvPr>
          <p:cNvSpPr txBox="1"/>
          <p:nvPr/>
        </p:nvSpPr>
        <p:spPr>
          <a:xfrm>
            <a:off x="1625600" y="42164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Network</a:t>
            </a:r>
          </a:p>
        </p:txBody>
      </p:sp>
      <p:sp>
        <p:nvSpPr>
          <p:cNvPr id="17" name="TextBox 16">
            <a:extLst>
              <a:ext uri="{FF2B5EF4-FFF2-40B4-BE49-F238E27FC236}">
                <a16:creationId xmlns:a16="http://schemas.microsoft.com/office/drawing/2014/main" id="{700059BB-567A-06BA-F7CA-DBDC04BE9239}"/>
              </a:ext>
            </a:extLst>
          </p:cNvPr>
          <p:cNvSpPr txBox="1"/>
          <p:nvPr/>
        </p:nvSpPr>
        <p:spPr>
          <a:xfrm>
            <a:off x="1625600" y="46736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Private networks, subnets and firewall rules that decide who can reach what.</a:t>
            </a:r>
            <a:endParaRPr lang="en-IN" sz="1500">
              <a:solidFill>
                <a:srgbClr val="1E2A35"/>
              </a:solidFill>
              <a:latin typeface="Calibri" panose="020F0502020204030204" pitchFamily="34" charset="0"/>
            </a:endParaRPr>
          </a:p>
        </p:txBody>
      </p:sp>
      <p:sp>
        <p:nvSpPr>
          <p:cNvPr id="18" name="TextBox 17">
            <a:extLst>
              <a:ext uri="{FF2B5EF4-FFF2-40B4-BE49-F238E27FC236}">
                <a16:creationId xmlns:a16="http://schemas.microsoft.com/office/drawing/2014/main" id="{F2258D7F-3226-7452-353E-46D507233B74}"/>
              </a:ext>
            </a:extLst>
          </p:cNvPr>
          <p:cNvSpPr txBox="1"/>
          <p:nvPr/>
        </p:nvSpPr>
        <p:spPr>
          <a:xfrm>
            <a:off x="1625600" y="5435600"/>
            <a:ext cx="4064000" cy="369332"/>
          </a:xfrm>
          <a:prstGeom prst="rect">
            <a:avLst/>
          </a:prstGeom>
          <a:noFill/>
        </p:spPr>
        <p:txBody>
          <a:bodyPr vert="horz" wrap="square" lIns="0" tIns="0" rIns="0" bIns="0" rtlCol="0" anchor="t">
            <a:noAutofit/>
          </a:bodyPr>
          <a:lstStyle/>
          <a:p>
            <a:r>
              <a:rPr lang="en-US" sz="1300" b="1">
                <a:solidFill>
                  <a:srgbClr val="1B998B"/>
                </a:solidFill>
                <a:latin typeface="Calibri" panose="020F0502020204030204" pitchFamily="34" charset="0"/>
              </a:rPr>
              <a:t>AWS: VPC, security groups   ·   OpenStack: Neutron</a:t>
            </a:r>
            <a:endParaRPr lang="en-IN" sz="1300" b="1">
              <a:solidFill>
                <a:srgbClr val="1B998B"/>
              </a:solidFill>
              <a:latin typeface="Calibri" panose="020F0502020204030204" pitchFamily="34" charset="0"/>
            </a:endParaRPr>
          </a:p>
        </p:txBody>
      </p:sp>
      <p:sp>
        <p:nvSpPr>
          <p:cNvPr id="19" name="Rectangle: Rounded Corners 18">
            <a:extLst>
              <a:ext uri="{FF2B5EF4-FFF2-40B4-BE49-F238E27FC236}">
                <a16:creationId xmlns:a16="http://schemas.microsoft.com/office/drawing/2014/main" id="{6161142B-9F20-C1BC-EE4F-242E915AB7E5}"/>
              </a:ext>
            </a:extLst>
          </p:cNvPr>
          <p:cNvSpPr/>
          <p:nvPr/>
        </p:nvSpPr>
        <p:spPr>
          <a:xfrm>
            <a:off x="6248400" y="3860800"/>
            <a:ext cx="5334000" cy="2108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Oval 19">
            <a:extLst>
              <a:ext uri="{FF2B5EF4-FFF2-40B4-BE49-F238E27FC236}">
                <a16:creationId xmlns:a16="http://schemas.microsoft.com/office/drawing/2014/main" id="{223CB925-2E37-F9DB-8680-50913FC9E5C6}"/>
              </a:ext>
            </a:extLst>
          </p:cNvPr>
          <p:cNvSpPr/>
          <p:nvPr/>
        </p:nvSpPr>
        <p:spPr>
          <a:xfrm>
            <a:off x="6502400" y="4114800"/>
            <a:ext cx="558800" cy="5588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2000" b="1">
                <a:solidFill>
                  <a:srgbClr val="FFFFFF"/>
                </a:solidFill>
                <a:latin typeface="Calibri" panose="020F0502020204030204" pitchFamily="34" charset="0"/>
              </a:rPr>
              <a:t>I</a:t>
            </a:r>
          </a:p>
        </p:txBody>
      </p:sp>
      <p:sp>
        <p:nvSpPr>
          <p:cNvPr id="21" name="TextBox 20">
            <a:extLst>
              <a:ext uri="{FF2B5EF4-FFF2-40B4-BE49-F238E27FC236}">
                <a16:creationId xmlns:a16="http://schemas.microsoft.com/office/drawing/2014/main" id="{369B0BB5-A09A-D094-6937-D2217C7DB0CE}"/>
              </a:ext>
            </a:extLst>
          </p:cNvPr>
          <p:cNvSpPr txBox="1"/>
          <p:nvPr/>
        </p:nvSpPr>
        <p:spPr>
          <a:xfrm>
            <a:off x="7264400" y="4216400"/>
            <a:ext cx="4064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Identity</a:t>
            </a:r>
          </a:p>
        </p:txBody>
      </p:sp>
      <p:sp>
        <p:nvSpPr>
          <p:cNvPr id="22" name="TextBox 21">
            <a:extLst>
              <a:ext uri="{FF2B5EF4-FFF2-40B4-BE49-F238E27FC236}">
                <a16:creationId xmlns:a16="http://schemas.microsoft.com/office/drawing/2014/main" id="{ACBFB983-E06E-1E17-74D4-AAC7DC59E387}"/>
              </a:ext>
            </a:extLst>
          </p:cNvPr>
          <p:cNvSpPr txBox="1"/>
          <p:nvPr/>
        </p:nvSpPr>
        <p:spPr>
          <a:xfrm>
            <a:off x="7264400" y="46736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Who can do what: users, roles and permissions.</a:t>
            </a:r>
            <a:endParaRPr lang="en-IN" sz="1500">
              <a:solidFill>
                <a:srgbClr val="1E2A35"/>
              </a:solidFill>
              <a:latin typeface="Calibri" panose="020F0502020204030204" pitchFamily="34" charset="0"/>
            </a:endParaRPr>
          </a:p>
        </p:txBody>
      </p:sp>
      <p:sp>
        <p:nvSpPr>
          <p:cNvPr id="23" name="TextBox 22">
            <a:extLst>
              <a:ext uri="{FF2B5EF4-FFF2-40B4-BE49-F238E27FC236}">
                <a16:creationId xmlns:a16="http://schemas.microsoft.com/office/drawing/2014/main" id="{9CA7C7B6-12C5-868D-ABCF-2BC3CB3385FF}"/>
              </a:ext>
            </a:extLst>
          </p:cNvPr>
          <p:cNvSpPr txBox="1"/>
          <p:nvPr/>
        </p:nvSpPr>
        <p:spPr>
          <a:xfrm>
            <a:off x="7264400" y="5435600"/>
            <a:ext cx="406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AWS: IAM   ·   OpenStack: Keystone</a:t>
            </a:r>
          </a:p>
        </p:txBody>
      </p:sp>
      <p:sp>
        <p:nvSpPr>
          <p:cNvPr id="24" name="TextBox 23">
            <a:extLst>
              <a:ext uri="{FF2B5EF4-FFF2-40B4-BE49-F238E27FC236}">
                <a16:creationId xmlns:a16="http://schemas.microsoft.com/office/drawing/2014/main" id="{CD7CADB2-D81B-B352-4BB2-068127B72BD3}"/>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8E15E187-6A73-7A84-56FC-8B616E4C8C41}"/>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5</a:t>
            </a:r>
          </a:p>
        </p:txBody>
      </p:sp>
    </p:spTree>
    <p:extLst>
      <p:ext uri="{BB962C8B-B14F-4D97-AF65-F5344CB8AC3E}">
        <p14:creationId xmlns:p14="http://schemas.microsoft.com/office/powerpoint/2010/main" val="32091094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59F74A-A494-25C2-FE1A-A2D45FD9843C}"/>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Shared responsibility: whose job is it?</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EB8BA4D3-3AFF-2BD9-DDC7-F445C66CF22E}"/>
              </a:ext>
            </a:extLst>
          </p:cNvPr>
          <p:cNvSpPr/>
          <p:nvPr/>
        </p:nvSpPr>
        <p:spPr>
          <a:xfrm>
            <a:off x="609600" y="1346200"/>
            <a:ext cx="5334000" cy="29464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0AA49232-D10B-75CB-2E50-1A09EDC2CD26}"/>
              </a:ext>
            </a:extLst>
          </p:cNvPr>
          <p:cNvSpPr txBox="1"/>
          <p:nvPr/>
        </p:nvSpPr>
        <p:spPr>
          <a:xfrm>
            <a:off x="914400" y="1625600"/>
            <a:ext cx="47244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The provider secures the cloud</a:t>
            </a:r>
            <a:endParaRPr lang="en-IN" sz="2000" b="1">
              <a:solidFill>
                <a:srgbClr val="13293D"/>
              </a:solidFill>
              <a:latin typeface="Calibri" panose="020F0502020204030204" pitchFamily="34" charset="0"/>
            </a:endParaRPr>
          </a:p>
        </p:txBody>
      </p:sp>
      <p:sp>
        <p:nvSpPr>
          <p:cNvPr id="5" name="TextBox 4">
            <a:extLst>
              <a:ext uri="{FF2B5EF4-FFF2-40B4-BE49-F238E27FC236}">
                <a16:creationId xmlns:a16="http://schemas.microsoft.com/office/drawing/2014/main" id="{4540B787-F5BF-3EC3-3F3A-BCD1F4ED6199}"/>
              </a:ext>
            </a:extLst>
          </p:cNvPr>
          <p:cNvSpPr txBox="1"/>
          <p:nvPr/>
        </p:nvSpPr>
        <p:spPr>
          <a:xfrm>
            <a:off x="914400" y="2235200"/>
            <a:ext cx="47244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600">
                <a:solidFill>
                  <a:srgbClr val="1E2A35"/>
                </a:solidFill>
                <a:latin typeface="Calibri" panose="020F0502020204030204" pitchFamily="34" charset="0"/>
              </a:rPr>
              <a:t>Data centres and physical security</a:t>
            </a:r>
          </a:p>
          <a:p>
            <a:pPr marL="228600" indent="-228600">
              <a:spcAft>
                <a:spcPts val="1000"/>
              </a:spcAft>
              <a:buFont typeface="+mj-lt"/>
              <a:buChar char="•"/>
            </a:pPr>
            <a:r>
              <a:rPr lang="en-US" sz="1600">
                <a:solidFill>
                  <a:srgbClr val="1E2A35"/>
                </a:solidFill>
                <a:latin typeface="Calibri" panose="020F0502020204030204" pitchFamily="34" charset="0"/>
              </a:rPr>
              <a:t>Hardware, hypervisor and global network</a:t>
            </a:r>
          </a:p>
          <a:p>
            <a:pPr marL="228600" indent="-228600">
              <a:spcAft>
                <a:spcPts val="1000"/>
              </a:spcAft>
              <a:buFont typeface="+mj-lt"/>
              <a:buChar char="•"/>
            </a:pPr>
            <a:r>
              <a:rPr lang="en-US" sz="1600">
                <a:solidFill>
                  <a:srgbClr val="1E2A35"/>
                </a:solidFill>
                <a:latin typeface="Calibri" panose="020F0502020204030204" pitchFamily="34" charset="0"/>
              </a:rPr>
              <a:t>The managed services themselves: S3, IAM, VPC</a:t>
            </a:r>
            <a:endParaRPr lang="en-IN" sz="1600">
              <a:solidFill>
                <a:srgbClr val="1E2A35"/>
              </a:solidFill>
              <a:latin typeface="Calibri" panose="020F0502020204030204" pitchFamily="34" charset="0"/>
            </a:endParaRPr>
          </a:p>
        </p:txBody>
      </p:sp>
      <p:sp>
        <p:nvSpPr>
          <p:cNvPr id="6" name="Rectangle: Rounded Corners 5">
            <a:extLst>
              <a:ext uri="{FF2B5EF4-FFF2-40B4-BE49-F238E27FC236}">
                <a16:creationId xmlns:a16="http://schemas.microsoft.com/office/drawing/2014/main" id="{4D67E146-5A81-22E9-9E52-278ACA1A75FD}"/>
              </a:ext>
            </a:extLst>
          </p:cNvPr>
          <p:cNvSpPr/>
          <p:nvPr/>
        </p:nvSpPr>
        <p:spPr>
          <a:xfrm>
            <a:off x="6248400" y="1346200"/>
            <a:ext cx="5334000" cy="29464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TextBox 6">
            <a:extLst>
              <a:ext uri="{FF2B5EF4-FFF2-40B4-BE49-F238E27FC236}">
                <a16:creationId xmlns:a16="http://schemas.microsoft.com/office/drawing/2014/main" id="{23B0AD6A-17DD-D583-23F9-AC4289BC8CE1}"/>
              </a:ext>
            </a:extLst>
          </p:cNvPr>
          <p:cNvSpPr txBox="1"/>
          <p:nvPr/>
        </p:nvSpPr>
        <p:spPr>
          <a:xfrm>
            <a:off x="6553200" y="1625600"/>
            <a:ext cx="4724400" cy="369332"/>
          </a:xfrm>
          <a:prstGeom prst="rect">
            <a:avLst/>
          </a:prstGeom>
          <a:noFill/>
        </p:spPr>
        <p:txBody>
          <a:bodyPr vert="horz" wrap="square" lIns="0" tIns="0" rIns="0" bIns="0" rtlCol="0" anchor="t">
            <a:noAutofit/>
          </a:bodyPr>
          <a:lstStyle/>
          <a:p>
            <a:r>
              <a:rPr lang="en-US" sz="2000" b="1">
                <a:solidFill>
                  <a:srgbClr val="FFFFFF"/>
                </a:solidFill>
                <a:latin typeface="Calibri" panose="020F0502020204030204" pitchFamily="34" charset="0"/>
              </a:rPr>
              <a:t>You secure what you put in it</a:t>
            </a:r>
            <a:endParaRPr lang="en-IN" sz="2000" b="1">
              <a:solidFill>
                <a:srgbClr val="FFFFFF"/>
              </a:solidFill>
              <a:latin typeface="Calibri" panose="020F0502020204030204" pitchFamily="34" charset="0"/>
            </a:endParaRPr>
          </a:p>
        </p:txBody>
      </p:sp>
      <p:sp>
        <p:nvSpPr>
          <p:cNvPr id="8" name="TextBox 7">
            <a:extLst>
              <a:ext uri="{FF2B5EF4-FFF2-40B4-BE49-F238E27FC236}">
                <a16:creationId xmlns:a16="http://schemas.microsoft.com/office/drawing/2014/main" id="{B8257ED0-522C-4ABE-F239-65627BDDDB80}"/>
              </a:ext>
            </a:extLst>
          </p:cNvPr>
          <p:cNvSpPr txBox="1"/>
          <p:nvPr/>
        </p:nvSpPr>
        <p:spPr>
          <a:xfrm>
            <a:off x="6553200" y="2235200"/>
            <a:ext cx="47244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600">
                <a:solidFill>
                  <a:srgbClr val="FFFFFF"/>
                </a:solidFill>
                <a:latin typeface="Calibri" panose="020F0502020204030204" pitchFamily="34" charset="0"/>
              </a:rPr>
              <a:t>Identities, keys and permissions</a:t>
            </a:r>
          </a:p>
          <a:p>
            <a:pPr marL="228600" indent="-228600">
              <a:spcAft>
                <a:spcPts val="1000"/>
              </a:spcAft>
              <a:buFont typeface="+mj-lt"/>
              <a:buChar char="•"/>
            </a:pPr>
            <a:r>
              <a:rPr lang="en-US" sz="1600">
                <a:solidFill>
                  <a:srgbClr val="FFFFFF"/>
                </a:solidFill>
                <a:latin typeface="Calibri" panose="020F0502020204030204" pitchFamily="34" charset="0"/>
              </a:rPr>
              <a:t>Configuration: storage access, firewall rules</a:t>
            </a:r>
          </a:p>
          <a:p>
            <a:pPr marL="228600" indent="-228600">
              <a:spcAft>
                <a:spcPts val="1000"/>
              </a:spcAft>
              <a:buFont typeface="+mj-lt"/>
              <a:buChar char="•"/>
            </a:pPr>
            <a:r>
              <a:rPr lang="en-US" sz="1600">
                <a:solidFill>
                  <a:srgbClr val="FFFFFF"/>
                </a:solidFill>
                <a:latin typeface="Calibri" panose="020F0502020204030204" pitchFamily="34" charset="0"/>
              </a:rPr>
              <a:t>Your code, images and data</a:t>
            </a:r>
          </a:p>
          <a:p>
            <a:pPr marL="228600" indent="-228600">
              <a:spcAft>
                <a:spcPts val="1000"/>
              </a:spcAft>
              <a:buFont typeface="+mj-lt"/>
              <a:buChar char="•"/>
            </a:pPr>
            <a:r>
              <a:rPr lang="en-US" sz="1600">
                <a:solidFill>
                  <a:srgbClr val="FFFFFF"/>
                </a:solidFill>
                <a:latin typeface="Calibri" panose="020F0502020204030204" pitchFamily="34" charset="0"/>
              </a:rPr>
              <a:t>What changes after deployment</a:t>
            </a:r>
            <a:endParaRPr lang="en-IN" sz="1600">
              <a:solidFill>
                <a:srgbClr val="FFFFFF"/>
              </a:solidFill>
              <a:latin typeface="Calibri" panose="020F0502020204030204" pitchFamily="34" charset="0"/>
            </a:endParaRPr>
          </a:p>
        </p:txBody>
      </p:sp>
      <p:sp>
        <p:nvSpPr>
          <p:cNvPr id="9" name="TextBox 8">
            <a:extLst>
              <a:ext uri="{FF2B5EF4-FFF2-40B4-BE49-F238E27FC236}">
                <a16:creationId xmlns:a16="http://schemas.microsoft.com/office/drawing/2014/main" id="{20D3ADC0-B601-D67D-28EA-85BACF28FA69}"/>
              </a:ext>
            </a:extLst>
          </p:cNvPr>
          <p:cNvSpPr txBox="1"/>
          <p:nvPr/>
        </p:nvSpPr>
        <p:spPr>
          <a:xfrm>
            <a:off x="609600" y="4699000"/>
            <a:ext cx="10972800" cy="381000"/>
          </a:xfrm>
          <a:prstGeom prst="rect">
            <a:avLst/>
          </a:prstGeom>
          <a:noFill/>
        </p:spPr>
        <p:txBody>
          <a:bodyPr vert="horz" wrap="square" lIns="0" tIns="0" rIns="0" bIns="0" rtlCol="0" anchor="t">
            <a:noAutofit/>
          </a:bodyPr>
          <a:lstStyle/>
          <a:p>
            <a:pPr algn="ctr"/>
            <a:r>
              <a:rPr lang="en-US" sz="2200" b="1">
                <a:solidFill>
                  <a:srgbClr val="E4572E"/>
                </a:solidFill>
                <a:latin typeface="Calibri" panose="020F0502020204030204" pitchFamily="34" charset="0"/>
              </a:rPr>
              <a:t>Every lab today sits in the right-hand column.</a:t>
            </a:r>
            <a:endParaRPr lang="en-IN" sz="2200" b="1">
              <a:solidFill>
                <a:srgbClr val="E4572E"/>
              </a:solidFill>
              <a:latin typeface="Calibri" panose="020F0502020204030204" pitchFamily="34" charset="0"/>
            </a:endParaRPr>
          </a:p>
        </p:txBody>
      </p:sp>
      <p:sp>
        <p:nvSpPr>
          <p:cNvPr id="10" name="TextBox 9">
            <a:extLst>
              <a:ext uri="{FF2B5EF4-FFF2-40B4-BE49-F238E27FC236}">
                <a16:creationId xmlns:a16="http://schemas.microsoft.com/office/drawing/2014/main" id="{2756C4E1-E68A-0FAF-DA9D-84C10418F732}"/>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1" name="TextBox 10">
            <a:extLst>
              <a:ext uri="{FF2B5EF4-FFF2-40B4-BE49-F238E27FC236}">
                <a16:creationId xmlns:a16="http://schemas.microsoft.com/office/drawing/2014/main" id="{74C19C19-187E-F35F-F2B2-6F845A1346E1}"/>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6</a:t>
            </a:r>
          </a:p>
        </p:txBody>
      </p:sp>
    </p:spTree>
    <p:extLst>
      <p:ext uri="{BB962C8B-B14F-4D97-AF65-F5344CB8AC3E}">
        <p14:creationId xmlns:p14="http://schemas.microsoft.com/office/powerpoint/2010/main" val="20278156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EA4116D-ACEC-7BD4-C164-8BCD6A5C520B}"/>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Breaches start with everyday mistakes</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11E263CD-7FA2-CCF1-B0E1-332030117C3C}"/>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Stolen credentials and misconfiguration are consistently among the top causes in industry breach reports</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2B124835-E192-C3BB-6540-70BC47254C05}"/>
              </a:ext>
            </a:extLst>
          </p:cNvPr>
          <p:cNvSpPr/>
          <p:nvPr/>
        </p:nvSpPr>
        <p:spPr>
          <a:xfrm>
            <a:off x="609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7CEF1B7-0BA8-A61F-3F0F-06C8A658D440}"/>
              </a:ext>
            </a:extLst>
          </p:cNvPr>
          <p:cNvSpPr txBox="1"/>
          <p:nvPr/>
        </p:nvSpPr>
        <p:spPr>
          <a:xfrm>
            <a:off x="838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2016</a:t>
            </a:r>
          </a:p>
        </p:txBody>
      </p:sp>
      <p:sp>
        <p:nvSpPr>
          <p:cNvPr id="6" name="TextBox 5">
            <a:extLst>
              <a:ext uri="{FF2B5EF4-FFF2-40B4-BE49-F238E27FC236}">
                <a16:creationId xmlns:a16="http://schemas.microsoft.com/office/drawing/2014/main" id="{B11612F2-3325-8786-C450-9875F3A402C8}"/>
              </a:ext>
            </a:extLst>
          </p:cNvPr>
          <p:cNvSpPr txBox="1"/>
          <p:nvPr/>
        </p:nvSpPr>
        <p:spPr>
          <a:xfrm>
            <a:off x="838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Uber</a:t>
            </a:r>
          </a:p>
        </p:txBody>
      </p:sp>
      <p:sp>
        <p:nvSpPr>
          <p:cNvPr id="7" name="TextBox 6">
            <a:extLst>
              <a:ext uri="{FF2B5EF4-FFF2-40B4-BE49-F238E27FC236}">
                <a16:creationId xmlns:a16="http://schemas.microsoft.com/office/drawing/2014/main" id="{500B988F-C030-F7AC-57CF-7613CC85D6F9}"/>
              </a:ext>
            </a:extLst>
          </p:cNvPr>
          <p:cNvSpPr txBox="1"/>
          <p:nvPr/>
        </p:nvSpPr>
        <p:spPr>
          <a:xfrm>
            <a:off x="838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AWS keys found in a private GitHub repository exposed data on 57 million users.</a:t>
            </a:r>
            <a:endParaRPr lang="en-IN" sz="1400">
              <a:solidFill>
                <a:srgbClr val="1E2A35"/>
              </a:solidFill>
              <a:latin typeface="Calibri" panose="020F0502020204030204" pitchFamily="34" charset="0"/>
            </a:endParaRPr>
          </a:p>
        </p:txBody>
      </p:sp>
      <p:sp>
        <p:nvSpPr>
          <p:cNvPr id="8" name="Rectangle: Rounded Corners 7">
            <a:extLst>
              <a:ext uri="{FF2B5EF4-FFF2-40B4-BE49-F238E27FC236}">
                <a16:creationId xmlns:a16="http://schemas.microsoft.com/office/drawing/2014/main" id="{89231039-8C64-D8AE-BDE2-A9718126CAE7}"/>
              </a:ext>
            </a:extLst>
          </p:cNvPr>
          <p:cNvSpPr/>
          <p:nvPr/>
        </p:nvSpPr>
        <p:spPr>
          <a:xfrm>
            <a:off x="838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Secrets in code</a:t>
            </a:r>
          </a:p>
        </p:txBody>
      </p:sp>
      <p:sp>
        <p:nvSpPr>
          <p:cNvPr id="9" name="Rectangle: Rounded Corners 8">
            <a:extLst>
              <a:ext uri="{FF2B5EF4-FFF2-40B4-BE49-F238E27FC236}">
                <a16:creationId xmlns:a16="http://schemas.microsoft.com/office/drawing/2014/main" id="{50B14E21-58F3-8270-7804-DBF5F9395CC5}"/>
              </a:ext>
            </a:extLst>
          </p:cNvPr>
          <p:cNvSpPr/>
          <p:nvPr/>
        </p:nvSpPr>
        <p:spPr>
          <a:xfrm>
            <a:off x="3403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190B99BC-ED37-13EF-64DD-7DEA51F81ABA}"/>
              </a:ext>
            </a:extLst>
          </p:cNvPr>
          <p:cNvSpPr txBox="1"/>
          <p:nvPr/>
        </p:nvSpPr>
        <p:spPr>
          <a:xfrm>
            <a:off x="3632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2019</a:t>
            </a:r>
          </a:p>
        </p:txBody>
      </p:sp>
      <p:sp>
        <p:nvSpPr>
          <p:cNvPr id="11" name="TextBox 10">
            <a:extLst>
              <a:ext uri="{FF2B5EF4-FFF2-40B4-BE49-F238E27FC236}">
                <a16:creationId xmlns:a16="http://schemas.microsoft.com/office/drawing/2014/main" id="{83BC40A5-6A5C-6AF9-1479-3C3EAE2888A1}"/>
              </a:ext>
            </a:extLst>
          </p:cNvPr>
          <p:cNvSpPr txBox="1"/>
          <p:nvPr/>
        </p:nvSpPr>
        <p:spPr>
          <a:xfrm>
            <a:off x="3632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Capital One</a:t>
            </a:r>
          </a:p>
        </p:txBody>
      </p:sp>
      <p:sp>
        <p:nvSpPr>
          <p:cNvPr id="12" name="TextBox 11">
            <a:extLst>
              <a:ext uri="{FF2B5EF4-FFF2-40B4-BE49-F238E27FC236}">
                <a16:creationId xmlns:a16="http://schemas.microsoft.com/office/drawing/2014/main" id="{FA644E09-D9D6-A7BD-02E4-CBA8D4FE6B5A}"/>
              </a:ext>
            </a:extLst>
          </p:cNvPr>
          <p:cNvSpPr txBox="1"/>
          <p:nvPr/>
        </p:nvSpPr>
        <p:spPr>
          <a:xfrm>
            <a:off x="3632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 web app was tricked into fetching cloud credentials from the metadata service, then reading data on 100M+ customers.</a:t>
            </a:r>
            <a:endParaRPr lang="en-IN" sz="1400">
              <a:solidFill>
                <a:srgbClr val="1E2A35"/>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84C0B408-F64C-5347-12D4-B1E97B155EF6}"/>
              </a:ext>
            </a:extLst>
          </p:cNvPr>
          <p:cNvSpPr/>
          <p:nvPr/>
        </p:nvSpPr>
        <p:spPr>
          <a:xfrm>
            <a:off x="3632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Misconfiguration</a:t>
            </a:r>
          </a:p>
        </p:txBody>
      </p:sp>
      <p:sp>
        <p:nvSpPr>
          <p:cNvPr id="14" name="Rectangle: Rounded Corners 13">
            <a:extLst>
              <a:ext uri="{FF2B5EF4-FFF2-40B4-BE49-F238E27FC236}">
                <a16:creationId xmlns:a16="http://schemas.microsoft.com/office/drawing/2014/main" id="{2EC50A7D-617D-DF25-CBA1-512FC27F20F2}"/>
              </a:ext>
            </a:extLst>
          </p:cNvPr>
          <p:cNvSpPr/>
          <p:nvPr/>
        </p:nvSpPr>
        <p:spPr>
          <a:xfrm>
            <a:off x="6197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6359974F-50E5-12EE-508F-CAFFF3DA4823}"/>
              </a:ext>
            </a:extLst>
          </p:cNvPr>
          <p:cNvSpPr txBox="1"/>
          <p:nvPr/>
        </p:nvSpPr>
        <p:spPr>
          <a:xfrm>
            <a:off x="6426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2021</a:t>
            </a:r>
          </a:p>
        </p:txBody>
      </p:sp>
      <p:sp>
        <p:nvSpPr>
          <p:cNvPr id="16" name="TextBox 15">
            <a:extLst>
              <a:ext uri="{FF2B5EF4-FFF2-40B4-BE49-F238E27FC236}">
                <a16:creationId xmlns:a16="http://schemas.microsoft.com/office/drawing/2014/main" id="{4B01AE85-678B-B2D2-0FCA-D2B137A672AE}"/>
              </a:ext>
            </a:extLst>
          </p:cNvPr>
          <p:cNvSpPr txBox="1"/>
          <p:nvPr/>
        </p:nvSpPr>
        <p:spPr>
          <a:xfrm>
            <a:off x="6426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Codecov</a:t>
            </a:r>
          </a:p>
        </p:txBody>
      </p:sp>
      <p:sp>
        <p:nvSpPr>
          <p:cNvPr id="17" name="TextBox 16">
            <a:extLst>
              <a:ext uri="{FF2B5EF4-FFF2-40B4-BE49-F238E27FC236}">
                <a16:creationId xmlns:a16="http://schemas.microsoft.com/office/drawing/2014/main" id="{0823BE70-0C08-B7FA-CF2A-1E1EC6FBBF53}"/>
              </a:ext>
            </a:extLst>
          </p:cNvPr>
          <p:cNvSpPr txBox="1"/>
          <p:nvPr/>
        </p:nvSpPr>
        <p:spPr>
          <a:xfrm>
            <a:off x="6426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 credential taken from a Docker image let attackers alter a widely used CI upload script.</a:t>
            </a:r>
            <a:endParaRPr lang="en-IN" sz="1400">
              <a:solidFill>
                <a:srgbClr val="1E2A35"/>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195C8DA5-0D13-7EB7-2361-6544890B5EDC}"/>
              </a:ext>
            </a:extLst>
          </p:cNvPr>
          <p:cNvSpPr/>
          <p:nvPr/>
        </p:nvSpPr>
        <p:spPr>
          <a:xfrm>
            <a:off x="6426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Leaked credential</a:t>
            </a:r>
          </a:p>
        </p:txBody>
      </p:sp>
      <p:sp>
        <p:nvSpPr>
          <p:cNvPr id="19" name="Rectangle: Rounded Corners 18">
            <a:extLst>
              <a:ext uri="{FF2B5EF4-FFF2-40B4-BE49-F238E27FC236}">
                <a16:creationId xmlns:a16="http://schemas.microsoft.com/office/drawing/2014/main" id="{D3DC0599-F982-4931-A510-66065D731BEC}"/>
              </a:ext>
            </a:extLst>
          </p:cNvPr>
          <p:cNvSpPr/>
          <p:nvPr/>
        </p:nvSpPr>
        <p:spPr>
          <a:xfrm>
            <a:off x="8991600" y="1625600"/>
            <a:ext cx="2590800" cy="3429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6DDA288B-0D8B-9399-21E2-BF860B5833EC}"/>
              </a:ext>
            </a:extLst>
          </p:cNvPr>
          <p:cNvSpPr txBox="1"/>
          <p:nvPr/>
        </p:nvSpPr>
        <p:spPr>
          <a:xfrm>
            <a:off x="9220200" y="1854200"/>
            <a:ext cx="2133600" cy="369332"/>
          </a:xfrm>
          <a:prstGeom prst="rect">
            <a:avLst/>
          </a:prstGeom>
          <a:noFill/>
        </p:spPr>
        <p:txBody>
          <a:bodyPr vert="horz" wrap="square" lIns="0" tIns="0" rIns="0" bIns="0" rtlCol="0" anchor="t">
            <a:noAutofit/>
          </a:bodyPr>
          <a:lstStyle/>
          <a:p>
            <a:r>
              <a:rPr lang="en-IN" sz="3200" b="1">
                <a:solidFill>
                  <a:srgbClr val="E4572E"/>
                </a:solidFill>
                <a:latin typeface="Calibri" panose="020F0502020204030204" pitchFamily="34" charset="0"/>
              </a:rPr>
              <a:t>2023</a:t>
            </a:r>
          </a:p>
        </p:txBody>
      </p:sp>
      <p:sp>
        <p:nvSpPr>
          <p:cNvPr id="21" name="TextBox 20">
            <a:extLst>
              <a:ext uri="{FF2B5EF4-FFF2-40B4-BE49-F238E27FC236}">
                <a16:creationId xmlns:a16="http://schemas.microsoft.com/office/drawing/2014/main" id="{4CFC4B88-04F2-9592-4764-BCB2F7B553C9}"/>
              </a:ext>
            </a:extLst>
          </p:cNvPr>
          <p:cNvSpPr txBox="1"/>
          <p:nvPr/>
        </p:nvSpPr>
        <p:spPr>
          <a:xfrm>
            <a:off x="9220200" y="2438400"/>
            <a:ext cx="2133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Microsoft AI research</a:t>
            </a:r>
          </a:p>
        </p:txBody>
      </p:sp>
      <p:sp>
        <p:nvSpPr>
          <p:cNvPr id="22" name="TextBox 21">
            <a:extLst>
              <a:ext uri="{FF2B5EF4-FFF2-40B4-BE49-F238E27FC236}">
                <a16:creationId xmlns:a16="http://schemas.microsoft.com/office/drawing/2014/main" id="{FCB1B5A2-F23E-FF31-348A-2C9343EBF751}"/>
              </a:ext>
            </a:extLst>
          </p:cNvPr>
          <p:cNvSpPr txBox="1"/>
          <p:nvPr/>
        </p:nvSpPr>
        <p:spPr>
          <a:xfrm>
            <a:off x="9220200" y="2870200"/>
            <a:ext cx="2133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An over-permissive storage access link shared on GitHub exposed 38 TB of internal data.</a:t>
            </a:r>
            <a:endParaRPr lang="en-IN" sz="1400">
              <a:solidFill>
                <a:srgbClr val="1E2A35"/>
              </a:solidFill>
              <a:latin typeface="Calibri" panose="020F0502020204030204" pitchFamily="34" charset="0"/>
            </a:endParaRPr>
          </a:p>
        </p:txBody>
      </p:sp>
      <p:sp>
        <p:nvSpPr>
          <p:cNvPr id="23" name="Rectangle: Rounded Corners 22">
            <a:extLst>
              <a:ext uri="{FF2B5EF4-FFF2-40B4-BE49-F238E27FC236}">
                <a16:creationId xmlns:a16="http://schemas.microsoft.com/office/drawing/2014/main" id="{78520821-51C2-8419-6F81-A665FBE5920F}"/>
              </a:ext>
            </a:extLst>
          </p:cNvPr>
          <p:cNvSpPr/>
          <p:nvPr/>
        </p:nvSpPr>
        <p:spPr>
          <a:xfrm>
            <a:off x="9220200" y="4470400"/>
            <a:ext cx="2133600" cy="3556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200" b="1">
                <a:solidFill>
                  <a:srgbClr val="E4572E"/>
                </a:solidFill>
                <a:latin typeface="Calibri" panose="020F0502020204030204" pitchFamily="34" charset="0"/>
              </a:rPr>
              <a:t>Too much access</a:t>
            </a:r>
          </a:p>
        </p:txBody>
      </p:sp>
      <p:sp>
        <p:nvSpPr>
          <p:cNvPr id="24" name="TextBox 23">
            <a:extLst>
              <a:ext uri="{FF2B5EF4-FFF2-40B4-BE49-F238E27FC236}">
                <a16:creationId xmlns:a16="http://schemas.microsoft.com/office/drawing/2014/main" id="{6FEEFEFD-0F6B-857E-03FC-91E33E3BC83E}"/>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D2502DE5-7180-5A9C-CA39-DA5D04A2E2CD}"/>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7</a:t>
            </a:r>
          </a:p>
        </p:txBody>
      </p:sp>
    </p:spTree>
    <p:extLst>
      <p:ext uri="{BB962C8B-B14F-4D97-AF65-F5344CB8AC3E}">
        <p14:creationId xmlns:p14="http://schemas.microsoft.com/office/powerpoint/2010/main" val="8511178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B767EDE-6301-9F3D-6C07-7387C2C6F9F3}"/>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The path to the cloud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1CE1D488-0A83-1888-4A29-5E532888F17F}"/>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Each lab is one checkpoint a change passes on its way to production</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33DB5893-1D91-A418-D114-F5B43803C142}"/>
              </a:ext>
            </a:extLst>
          </p:cNvPr>
          <p:cNvSpPr/>
          <p:nvPr/>
        </p:nvSpPr>
        <p:spPr>
          <a:xfrm>
            <a:off x="609600" y="2921000"/>
            <a:ext cx="1143000" cy="10160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13293D"/>
                </a:solidFill>
                <a:latin typeface="Calibri" panose="020F0502020204030204" pitchFamily="34" charset="0"/>
              </a:rPr>
              <a:t>Developer</a:t>
            </a:r>
          </a:p>
          <a:p>
            <a:pPr algn="ctr"/>
            <a:r>
              <a:rPr lang="en-IN" sz="1400" b="1">
                <a:solidFill>
                  <a:srgbClr val="13293D"/>
                </a:solidFill>
                <a:latin typeface="Calibri" panose="020F0502020204030204" pitchFamily="34" charset="0"/>
              </a:rPr>
              <a:t>laptop</a:t>
            </a:r>
          </a:p>
        </p:txBody>
      </p:sp>
      <p:sp>
        <p:nvSpPr>
          <p:cNvPr id="5" name="Rectangle: Rounded Corners 4">
            <a:extLst>
              <a:ext uri="{FF2B5EF4-FFF2-40B4-BE49-F238E27FC236}">
                <a16:creationId xmlns:a16="http://schemas.microsoft.com/office/drawing/2014/main" id="{1A96572F-4C50-02B2-611C-A212CBD9E77A}"/>
              </a:ext>
            </a:extLst>
          </p:cNvPr>
          <p:cNvSpPr/>
          <p:nvPr/>
        </p:nvSpPr>
        <p:spPr>
          <a:xfrm>
            <a:off x="19812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Oval 5">
            <a:extLst>
              <a:ext uri="{FF2B5EF4-FFF2-40B4-BE49-F238E27FC236}">
                <a16:creationId xmlns:a16="http://schemas.microsoft.com/office/drawing/2014/main" id="{AA658F63-6A75-C9E6-EC9F-0DA9C30F7E22}"/>
              </a:ext>
            </a:extLst>
          </p:cNvPr>
          <p:cNvSpPr/>
          <p:nvPr/>
        </p:nvSpPr>
        <p:spPr>
          <a:xfrm>
            <a:off x="21590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7" name="TextBox 6">
            <a:extLst>
              <a:ext uri="{FF2B5EF4-FFF2-40B4-BE49-F238E27FC236}">
                <a16:creationId xmlns:a16="http://schemas.microsoft.com/office/drawing/2014/main" id="{2446BF2B-9C12-EE8C-FF17-822798D82106}"/>
              </a:ext>
            </a:extLst>
          </p:cNvPr>
          <p:cNvSpPr txBox="1"/>
          <p:nvPr/>
        </p:nvSpPr>
        <p:spPr>
          <a:xfrm>
            <a:off x="21590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Secrets in Git</a:t>
            </a:r>
          </a:p>
        </p:txBody>
      </p:sp>
      <p:sp>
        <p:nvSpPr>
          <p:cNvPr id="8" name="TextBox 7">
            <a:extLst>
              <a:ext uri="{FF2B5EF4-FFF2-40B4-BE49-F238E27FC236}">
                <a16:creationId xmlns:a16="http://schemas.microsoft.com/office/drawing/2014/main" id="{9A2CFF53-E9E0-80D1-55D4-7A120A9C91D6}"/>
              </a:ext>
            </a:extLst>
          </p:cNvPr>
          <p:cNvSpPr txBox="1"/>
          <p:nvPr/>
        </p:nvSpPr>
        <p:spPr>
          <a:xfrm>
            <a:off x="21590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gitleaks</a:t>
            </a:r>
          </a:p>
        </p:txBody>
      </p:sp>
      <p:sp>
        <p:nvSpPr>
          <p:cNvPr id="9" name="TextBox 8">
            <a:extLst>
              <a:ext uri="{FF2B5EF4-FFF2-40B4-BE49-F238E27FC236}">
                <a16:creationId xmlns:a16="http://schemas.microsoft.com/office/drawing/2014/main" id="{BABC76EB-1C4C-29EB-7605-9005FA64211F}"/>
              </a:ext>
            </a:extLst>
          </p:cNvPr>
          <p:cNvSpPr txBox="1"/>
          <p:nvPr/>
        </p:nvSpPr>
        <p:spPr>
          <a:xfrm>
            <a:off x="2159000" y="3835400"/>
            <a:ext cx="1524000" cy="369332"/>
          </a:xfrm>
          <a:prstGeom prst="rect">
            <a:avLst/>
          </a:prstGeom>
          <a:noFill/>
        </p:spPr>
        <p:txBody>
          <a:bodyPr vert="horz" wrap="square" lIns="0" tIns="0" rIns="0" bIns="0" rtlCol="0" anchor="t">
            <a:noAutofit/>
          </a:bodyPr>
          <a:lstStyle/>
          <a:p>
            <a:r>
              <a:rPr lang="en-US" sz="1300">
                <a:solidFill>
                  <a:srgbClr val="FFFFFF"/>
                </a:solidFill>
                <a:latin typeface="Calibri" panose="020F0502020204030204" pitchFamily="34" charset="0"/>
              </a:rPr>
              <a:t>Keys and passwords committed to code</a:t>
            </a:r>
            <a:endParaRPr lang="en-IN" sz="1300">
              <a:solidFill>
                <a:srgbClr val="FFFFFF"/>
              </a:solidFill>
              <a:latin typeface="Calibri" panose="020F0502020204030204" pitchFamily="34" charset="0"/>
            </a:endParaRPr>
          </a:p>
        </p:txBody>
      </p:sp>
      <p:cxnSp>
        <p:nvCxnSpPr>
          <p:cNvPr id="10" name="Straight Connector 9">
            <a:extLst>
              <a:ext uri="{FF2B5EF4-FFF2-40B4-BE49-F238E27FC236}">
                <a16:creationId xmlns:a16="http://schemas.microsoft.com/office/drawing/2014/main" id="{D7BC0FBD-B708-A5FF-ED40-7AEA44918E12}"/>
              </a:ext>
            </a:extLst>
          </p:cNvPr>
          <p:cNvCxnSpPr/>
          <p:nvPr/>
        </p:nvCxnSpPr>
        <p:spPr>
          <a:xfrm>
            <a:off x="17780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798B54B6-0A43-3FF0-2F90-98FD24532E79}"/>
              </a:ext>
            </a:extLst>
          </p:cNvPr>
          <p:cNvSpPr/>
          <p:nvPr/>
        </p:nvSpPr>
        <p:spPr>
          <a:xfrm>
            <a:off x="40513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Oval 11">
            <a:extLst>
              <a:ext uri="{FF2B5EF4-FFF2-40B4-BE49-F238E27FC236}">
                <a16:creationId xmlns:a16="http://schemas.microsoft.com/office/drawing/2014/main" id="{121B0861-7EB2-A1D1-7AFD-B594FA0DBE74}"/>
              </a:ext>
            </a:extLst>
          </p:cNvPr>
          <p:cNvSpPr/>
          <p:nvPr/>
        </p:nvSpPr>
        <p:spPr>
          <a:xfrm>
            <a:off x="42291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BE48F36A-7496-3600-CBCA-EEE5D9E34BE8}"/>
              </a:ext>
            </a:extLst>
          </p:cNvPr>
          <p:cNvSpPr txBox="1"/>
          <p:nvPr/>
        </p:nvSpPr>
        <p:spPr>
          <a:xfrm>
            <a:off x="42291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Insecure code</a:t>
            </a:r>
          </a:p>
        </p:txBody>
      </p:sp>
      <p:sp>
        <p:nvSpPr>
          <p:cNvPr id="14" name="TextBox 13">
            <a:extLst>
              <a:ext uri="{FF2B5EF4-FFF2-40B4-BE49-F238E27FC236}">
                <a16:creationId xmlns:a16="http://schemas.microsoft.com/office/drawing/2014/main" id="{899435D2-06DC-E394-F3ED-18DCFBEAE377}"/>
              </a:ext>
            </a:extLst>
          </p:cNvPr>
          <p:cNvSpPr txBox="1"/>
          <p:nvPr/>
        </p:nvSpPr>
        <p:spPr>
          <a:xfrm>
            <a:off x="42291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SonarQube</a:t>
            </a:r>
          </a:p>
        </p:txBody>
      </p:sp>
      <p:sp>
        <p:nvSpPr>
          <p:cNvPr id="15" name="TextBox 14">
            <a:extLst>
              <a:ext uri="{FF2B5EF4-FFF2-40B4-BE49-F238E27FC236}">
                <a16:creationId xmlns:a16="http://schemas.microsoft.com/office/drawing/2014/main" id="{0CDB5FFA-39F4-8EDB-C8A9-AE7A514A1041}"/>
              </a:ext>
            </a:extLst>
          </p:cNvPr>
          <p:cNvSpPr txBox="1"/>
          <p:nvPr/>
        </p:nvSpPr>
        <p:spPr>
          <a:xfrm>
            <a:off x="4229100" y="3835400"/>
            <a:ext cx="1524000" cy="369332"/>
          </a:xfrm>
          <a:prstGeom prst="rect">
            <a:avLst/>
          </a:prstGeom>
          <a:noFill/>
        </p:spPr>
        <p:txBody>
          <a:bodyPr vert="horz" wrap="square" lIns="0" tIns="0" rIns="0" bIns="0" rtlCol="0" anchor="t">
            <a:noAutofit/>
          </a:bodyPr>
          <a:lstStyle/>
          <a:p>
            <a:r>
              <a:rPr lang="en-IN" sz="1300">
                <a:solidFill>
                  <a:srgbClr val="FFFFFF"/>
                </a:solidFill>
                <a:latin typeface="Calibri" panose="020F0502020204030204" pitchFamily="34" charset="0"/>
              </a:rPr>
              <a:t>Bugs attackers can exploit</a:t>
            </a:r>
          </a:p>
        </p:txBody>
      </p:sp>
      <p:cxnSp>
        <p:nvCxnSpPr>
          <p:cNvPr id="16" name="Straight Connector 15">
            <a:extLst>
              <a:ext uri="{FF2B5EF4-FFF2-40B4-BE49-F238E27FC236}">
                <a16:creationId xmlns:a16="http://schemas.microsoft.com/office/drawing/2014/main" id="{124321F4-48A7-CCE9-F8D8-D4920C293FB3}"/>
              </a:ext>
            </a:extLst>
          </p:cNvPr>
          <p:cNvCxnSpPr/>
          <p:nvPr/>
        </p:nvCxnSpPr>
        <p:spPr>
          <a:xfrm>
            <a:off x="38481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Rounded Corners 16">
            <a:extLst>
              <a:ext uri="{FF2B5EF4-FFF2-40B4-BE49-F238E27FC236}">
                <a16:creationId xmlns:a16="http://schemas.microsoft.com/office/drawing/2014/main" id="{15239595-4C87-D72A-6E3E-CB7FC17298D5}"/>
              </a:ext>
            </a:extLst>
          </p:cNvPr>
          <p:cNvSpPr/>
          <p:nvPr/>
        </p:nvSpPr>
        <p:spPr>
          <a:xfrm>
            <a:off x="6121400" y="2032000"/>
            <a:ext cx="1841500" cy="2794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Oval 17">
            <a:extLst>
              <a:ext uri="{FF2B5EF4-FFF2-40B4-BE49-F238E27FC236}">
                <a16:creationId xmlns:a16="http://schemas.microsoft.com/office/drawing/2014/main" id="{73D042E8-08C0-3383-6096-55D9BDB83DA1}"/>
              </a:ext>
            </a:extLst>
          </p:cNvPr>
          <p:cNvSpPr/>
          <p:nvPr/>
        </p:nvSpPr>
        <p:spPr>
          <a:xfrm>
            <a:off x="62992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9" name="TextBox 18">
            <a:extLst>
              <a:ext uri="{FF2B5EF4-FFF2-40B4-BE49-F238E27FC236}">
                <a16:creationId xmlns:a16="http://schemas.microsoft.com/office/drawing/2014/main" id="{326BFE49-0D92-6561-D535-B6331C87995D}"/>
              </a:ext>
            </a:extLst>
          </p:cNvPr>
          <p:cNvSpPr txBox="1"/>
          <p:nvPr/>
        </p:nvSpPr>
        <p:spPr>
          <a:xfrm>
            <a:off x="6299200" y="2870200"/>
            <a:ext cx="1524000" cy="369332"/>
          </a:xfrm>
          <a:prstGeom prst="rect">
            <a:avLst/>
          </a:prstGeom>
          <a:noFill/>
        </p:spPr>
        <p:txBody>
          <a:bodyPr vert="horz" wrap="square" lIns="0" tIns="0" rIns="0" bIns="0" rtlCol="0" anchor="t">
            <a:noAutofit/>
          </a:bodyPr>
          <a:lstStyle/>
          <a:p>
            <a:r>
              <a:rPr lang="en-IN" sz="1700" b="1">
                <a:solidFill>
                  <a:srgbClr val="FFFFFF"/>
                </a:solidFill>
                <a:latin typeface="Calibri" panose="020F0502020204030204" pitchFamily="34" charset="0"/>
              </a:rPr>
              <a:t>CI security gate</a:t>
            </a:r>
          </a:p>
        </p:txBody>
      </p:sp>
      <p:sp>
        <p:nvSpPr>
          <p:cNvPr id="20" name="TextBox 19">
            <a:extLst>
              <a:ext uri="{FF2B5EF4-FFF2-40B4-BE49-F238E27FC236}">
                <a16:creationId xmlns:a16="http://schemas.microsoft.com/office/drawing/2014/main" id="{548E49B6-E65E-F8B3-460B-E24238AE7B8D}"/>
              </a:ext>
            </a:extLst>
          </p:cNvPr>
          <p:cNvSpPr txBox="1"/>
          <p:nvPr/>
        </p:nvSpPr>
        <p:spPr>
          <a:xfrm>
            <a:off x="62992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Checkov · Jenkins</a:t>
            </a:r>
          </a:p>
        </p:txBody>
      </p:sp>
      <p:sp>
        <p:nvSpPr>
          <p:cNvPr id="21" name="TextBox 20">
            <a:extLst>
              <a:ext uri="{FF2B5EF4-FFF2-40B4-BE49-F238E27FC236}">
                <a16:creationId xmlns:a16="http://schemas.microsoft.com/office/drawing/2014/main" id="{8C301751-FDAB-6078-526E-ECE0B44A58EA}"/>
              </a:ext>
            </a:extLst>
          </p:cNvPr>
          <p:cNvSpPr txBox="1"/>
          <p:nvPr/>
        </p:nvSpPr>
        <p:spPr>
          <a:xfrm>
            <a:off x="6299200" y="3835400"/>
            <a:ext cx="1524000" cy="369332"/>
          </a:xfrm>
          <a:prstGeom prst="rect">
            <a:avLst/>
          </a:prstGeom>
          <a:noFill/>
        </p:spPr>
        <p:txBody>
          <a:bodyPr vert="horz" wrap="square" lIns="0" tIns="0" rIns="0" bIns="0" rtlCol="0" anchor="t">
            <a:noAutofit/>
          </a:bodyPr>
          <a:lstStyle/>
          <a:p>
            <a:r>
              <a:rPr lang="en-US" sz="1300">
                <a:solidFill>
                  <a:srgbClr val="FFFFFF"/>
                </a:solidFill>
                <a:latin typeface="Calibri" panose="020F0502020204030204" pitchFamily="34" charset="0"/>
              </a:rPr>
              <a:t>Cloud misconfiguration, blocked before deploy</a:t>
            </a:r>
            <a:endParaRPr lang="en-IN" sz="1300">
              <a:solidFill>
                <a:srgbClr val="FFFFFF"/>
              </a:solidFill>
              <a:latin typeface="Calibri" panose="020F0502020204030204" pitchFamily="34" charset="0"/>
            </a:endParaRPr>
          </a:p>
        </p:txBody>
      </p:sp>
      <p:cxnSp>
        <p:nvCxnSpPr>
          <p:cNvPr id="22" name="Straight Connector 21">
            <a:extLst>
              <a:ext uri="{FF2B5EF4-FFF2-40B4-BE49-F238E27FC236}">
                <a16:creationId xmlns:a16="http://schemas.microsoft.com/office/drawing/2014/main" id="{1C21515D-6F03-2920-9EA4-9B7CE2AF396C}"/>
              </a:ext>
            </a:extLst>
          </p:cNvPr>
          <p:cNvCxnSpPr/>
          <p:nvPr/>
        </p:nvCxnSpPr>
        <p:spPr>
          <a:xfrm>
            <a:off x="59182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Rounded Corners 22">
            <a:extLst>
              <a:ext uri="{FF2B5EF4-FFF2-40B4-BE49-F238E27FC236}">
                <a16:creationId xmlns:a16="http://schemas.microsoft.com/office/drawing/2014/main" id="{054F027F-ED5E-F169-8B5B-7071F434328B}"/>
              </a:ext>
            </a:extLst>
          </p:cNvPr>
          <p:cNvSpPr/>
          <p:nvPr/>
        </p:nvSpPr>
        <p:spPr>
          <a:xfrm>
            <a:off x="8191500" y="2032000"/>
            <a:ext cx="1841500" cy="2794000"/>
          </a:xfrm>
          <a:prstGeom prst="roundRect">
            <a:avLst>
              <a:gd name="adj" fmla="val 10000"/>
            </a:avLst>
          </a:prstGeom>
          <a:solidFill>
            <a:srgbClr val="FFFFFF"/>
          </a:solidFill>
          <a:ln w="19050">
            <a:solidFill>
              <a:srgbClr val="13293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Oval 23">
            <a:extLst>
              <a:ext uri="{FF2B5EF4-FFF2-40B4-BE49-F238E27FC236}">
                <a16:creationId xmlns:a16="http://schemas.microsoft.com/office/drawing/2014/main" id="{EED9CE74-9964-83BC-D433-9DD52174C627}"/>
              </a:ext>
            </a:extLst>
          </p:cNvPr>
          <p:cNvSpPr/>
          <p:nvPr/>
        </p:nvSpPr>
        <p:spPr>
          <a:xfrm>
            <a:off x="8369300" y="2235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4</a:t>
            </a:r>
          </a:p>
        </p:txBody>
      </p:sp>
      <p:sp>
        <p:nvSpPr>
          <p:cNvPr id="25" name="TextBox 24">
            <a:extLst>
              <a:ext uri="{FF2B5EF4-FFF2-40B4-BE49-F238E27FC236}">
                <a16:creationId xmlns:a16="http://schemas.microsoft.com/office/drawing/2014/main" id="{1743884B-E6D2-4D03-39D7-DF5790F0846F}"/>
              </a:ext>
            </a:extLst>
          </p:cNvPr>
          <p:cNvSpPr txBox="1"/>
          <p:nvPr/>
        </p:nvSpPr>
        <p:spPr>
          <a:xfrm>
            <a:off x="8369300" y="2870200"/>
            <a:ext cx="1524000" cy="369332"/>
          </a:xfrm>
          <a:prstGeom prst="rect">
            <a:avLst/>
          </a:prstGeom>
          <a:noFill/>
        </p:spPr>
        <p:txBody>
          <a:bodyPr vert="horz" wrap="square" lIns="0" tIns="0" rIns="0" bIns="0" rtlCol="0" anchor="t">
            <a:noAutofit/>
          </a:bodyPr>
          <a:lstStyle/>
          <a:p>
            <a:r>
              <a:rPr lang="en-IN" sz="1700" b="1">
                <a:solidFill>
                  <a:srgbClr val="13293D"/>
                </a:solidFill>
                <a:latin typeface="Calibri" panose="020F0502020204030204" pitchFamily="34" charset="0"/>
              </a:rPr>
              <a:t>Into the cloud</a:t>
            </a:r>
          </a:p>
        </p:txBody>
      </p:sp>
      <p:sp>
        <p:nvSpPr>
          <p:cNvPr id="26" name="TextBox 25">
            <a:extLst>
              <a:ext uri="{FF2B5EF4-FFF2-40B4-BE49-F238E27FC236}">
                <a16:creationId xmlns:a16="http://schemas.microsoft.com/office/drawing/2014/main" id="{92DF47CD-F49E-030D-81D7-14E8616695BA}"/>
              </a:ext>
            </a:extLst>
          </p:cNvPr>
          <p:cNvSpPr txBox="1"/>
          <p:nvPr/>
        </p:nvSpPr>
        <p:spPr>
          <a:xfrm>
            <a:off x="8369300" y="3479800"/>
            <a:ext cx="1524000" cy="369332"/>
          </a:xfrm>
          <a:prstGeom prst="rect">
            <a:avLst/>
          </a:prstGeom>
          <a:noFill/>
        </p:spPr>
        <p:txBody>
          <a:bodyPr vert="horz" wrap="square" lIns="0" tIns="0" rIns="0" bIns="0" rtlCol="0" anchor="t">
            <a:noAutofit/>
          </a:bodyPr>
          <a:lstStyle/>
          <a:p>
            <a:r>
              <a:rPr lang="en-IN" sz="1300" b="1">
                <a:solidFill>
                  <a:srgbClr val="1B998B"/>
                </a:solidFill>
                <a:latin typeface="Calibri" panose="020F0502020204030204" pitchFamily="34" charset="0"/>
              </a:rPr>
              <a:t>Terraform · AWS</a:t>
            </a:r>
          </a:p>
        </p:txBody>
      </p:sp>
      <p:sp>
        <p:nvSpPr>
          <p:cNvPr id="27" name="TextBox 26">
            <a:extLst>
              <a:ext uri="{FF2B5EF4-FFF2-40B4-BE49-F238E27FC236}">
                <a16:creationId xmlns:a16="http://schemas.microsoft.com/office/drawing/2014/main" id="{A7272013-B217-7983-46D4-B12D1B2F9478}"/>
              </a:ext>
            </a:extLst>
          </p:cNvPr>
          <p:cNvSpPr txBox="1"/>
          <p:nvPr/>
        </p:nvSpPr>
        <p:spPr>
          <a:xfrm>
            <a:off x="8369300" y="3835400"/>
            <a:ext cx="1524000" cy="369332"/>
          </a:xfrm>
          <a:prstGeom prst="rect">
            <a:avLst/>
          </a:prstGeom>
          <a:noFill/>
        </p:spPr>
        <p:txBody>
          <a:bodyPr vert="horz" wrap="square" lIns="0" tIns="0" rIns="0" bIns="0" rtlCol="0" anchor="t">
            <a:noAutofit/>
          </a:bodyPr>
          <a:lstStyle/>
          <a:p>
            <a:r>
              <a:rPr lang="en-IN" sz="1300">
                <a:solidFill>
                  <a:srgbClr val="13293D"/>
                </a:solidFill>
                <a:latin typeface="Calibri" panose="020F0502020204030204" pitchFamily="34" charset="0"/>
              </a:rPr>
              <a:t>What happens after deploy</a:t>
            </a:r>
          </a:p>
        </p:txBody>
      </p:sp>
      <p:cxnSp>
        <p:nvCxnSpPr>
          <p:cNvPr id="28" name="Straight Connector 27">
            <a:extLst>
              <a:ext uri="{FF2B5EF4-FFF2-40B4-BE49-F238E27FC236}">
                <a16:creationId xmlns:a16="http://schemas.microsoft.com/office/drawing/2014/main" id="{7509B578-1FC6-3292-5AF8-A447CD30DBD4}"/>
              </a:ext>
            </a:extLst>
          </p:cNvPr>
          <p:cNvCxnSpPr/>
          <p:nvPr/>
        </p:nvCxnSpPr>
        <p:spPr>
          <a:xfrm>
            <a:off x="79883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Rounded Corners 28">
            <a:extLst>
              <a:ext uri="{FF2B5EF4-FFF2-40B4-BE49-F238E27FC236}">
                <a16:creationId xmlns:a16="http://schemas.microsoft.com/office/drawing/2014/main" id="{2516CF6B-12F2-8B5A-9FBD-E5AEDB332341}"/>
              </a:ext>
            </a:extLst>
          </p:cNvPr>
          <p:cNvSpPr/>
          <p:nvPr/>
        </p:nvSpPr>
        <p:spPr>
          <a:xfrm>
            <a:off x="10261600" y="2921000"/>
            <a:ext cx="1320800" cy="1016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400" b="1">
                <a:solidFill>
                  <a:srgbClr val="FFFFFF"/>
                </a:solidFill>
                <a:latin typeface="Calibri" panose="020F0502020204030204" pitchFamily="34" charset="0"/>
              </a:rPr>
              <a:t>Production</a:t>
            </a:r>
          </a:p>
          <a:p>
            <a:pPr algn="ctr"/>
            <a:r>
              <a:rPr lang="en-IN" sz="1400" b="1">
                <a:solidFill>
                  <a:srgbClr val="FFFFFF"/>
                </a:solidFill>
                <a:latin typeface="Calibri" panose="020F0502020204030204" pitchFamily="34" charset="0"/>
              </a:rPr>
              <a:t>cloud</a:t>
            </a:r>
          </a:p>
        </p:txBody>
      </p:sp>
      <p:cxnSp>
        <p:nvCxnSpPr>
          <p:cNvPr id="30" name="Straight Connector 29">
            <a:extLst>
              <a:ext uri="{FF2B5EF4-FFF2-40B4-BE49-F238E27FC236}">
                <a16:creationId xmlns:a16="http://schemas.microsoft.com/office/drawing/2014/main" id="{D81569F8-C63E-AE6F-AB72-D59F629139D0}"/>
              </a:ext>
            </a:extLst>
          </p:cNvPr>
          <p:cNvCxnSpPr/>
          <p:nvPr/>
        </p:nvCxnSpPr>
        <p:spPr>
          <a:xfrm>
            <a:off x="10058400" y="3429000"/>
            <a:ext cx="1778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26B017ED-ED38-4095-9C7D-EB8FDDC87F0E}"/>
              </a:ext>
            </a:extLst>
          </p:cNvPr>
          <p:cNvSpPr txBox="1"/>
          <p:nvPr/>
        </p:nvSpPr>
        <p:spPr>
          <a:xfrm>
            <a:off x="609600" y="5232400"/>
            <a:ext cx="109728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Shift left: the earlier a problem is caught, the cheaper it is to fix.</a:t>
            </a:r>
            <a:endParaRPr lang="en-IN" sz="2000" b="1">
              <a:solidFill>
                <a:srgbClr val="13293D"/>
              </a:solidFill>
              <a:latin typeface="Calibri" panose="020F0502020204030204" pitchFamily="34" charset="0"/>
            </a:endParaRPr>
          </a:p>
        </p:txBody>
      </p:sp>
      <p:sp>
        <p:nvSpPr>
          <p:cNvPr id="32" name="TextBox 31">
            <a:extLst>
              <a:ext uri="{FF2B5EF4-FFF2-40B4-BE49-F238E27FC236}">
                <a16:creationId xmlns:a16="http://schemas.microsoft.com/office/drawing/2014/main" id="{46304B6F-1E76-128B-144F-A31DE4DD06F8}"/>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33" name="TextBox 32">
            <a:extLst>
              <a:ext uri="{FF2B5EF4-FFF2-40B4-BE49-F238E27FC236}">
                <a16:creationId xmlns:a16="http://schemas.microsoft.com/office/drawing/2014/main" id="{0D064ECA-8EB2-D1A1-68FE-0583169EC4E2}"/>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8</a:t>
            </a:r>
          </a:p>
        </p:txBody>
      </p:sp>
    </p:spTree>
    <p:extLst>
      <p:ext uri="{BB962C8B-B14F-4D97-AF65-F5344CB8AC3E}">
        <p14:creationId xmlns:p14="http://schemas.microsoft.com/office/powerpoint/2010/main" val="22818060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ECCC65-6374-1D70-4101-33930C517E63}"/>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Before you start: what you need</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2117652D-E3CB-BB81-433D-545A0BF89A4B}"/>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Docker and Git on your laptop. No cloud account needed.</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5DE7DFC0-A6AC-C327-B37A-F0F0C0DD79AB}"/>
              </a:ext>
            </a:extLst>
          </p:cNvPr>
          <p:cNvSpPr/>
          <p:nvPr/>
        </p:nvSpPr>
        <p:spPr>
          <a:xfrm>
            <a:off x="6096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9D2AE31-D791-5897-5740-52359BB4F648}"/>
              </a:ext>
            </a:extLst>
          </p:cNvPr>
          <p:cNvSpPr txBox="1"/>
          <p:nvPr/>
        </p:nvSpPr>
        <p:spPr>
          <a:xfrm>
            <a:off x="8636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Windows</a:t>
            </a:r>
          </a:p>
        </p:txBody>
      </p:sp>
      <p:sp>
        <p:nvSpPr>
          <p:cNvPr id="6" name="TextBox 5">
            <a:extLst>
              <a:ext uri="{FF2B5EF4-FFF2-40B4-BE49-F238E27FC236}">
                <a16:creationId xmlns:a16="http://schemas.microsoft.com/office/drawing/2014/main" id="{65A5170B-61BA-A60B-0E76-4CEA78D1D3A3}"/>
              </a:ext>
            </a:extLst>
          </p:cNvPr>
          <p:cNvSpPr txBox="1"/>
          <p:nvPr/>
        </p:nvSpPr>
        <p:spPr>
          <a:xfrm>
            <a:off x="8636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IN" sz="1500">
                <a:solidFill>
                  <a:srgbClr val="1E2A35"/>
                </a:solidFill>
                <a:latin typeface="Calibri" panose="020F0502020204030204" pitchFamily="34" charset="0"/>
              </a:rPr>
              <a:t>Docker Desktop</a:t>
            </a:r>
          </a:p>
          <a:p>
            <a:pPr marL="228600" indent="-228600">
              <a:spcAft>
                <a:spcPts val="1000"/>
              </a:spcAft>
              <a:buFont typeface="+mj-lt"/>
              <a:buChar char="•"/>
            </a:pPr>
            <a:r>
              <a:rPr lang="en-IN" sz="1500">
                <a:solidFill>
                  <a:srgbClr val="1E2A35"/>
                </a:solidFill>
                <a:latin typeface="Calibri" panose="020F0502020204030204" pitchFamily="34" charset="0"/>
              </a:rPr>
              <a:t>or Rancher Desktop / Podman Desktop</a:t>
            </a:r>
          </a:p>
          <a:p>
            <a:pPr marL="228600" indent="-228600">
              <a:spcAft>
                <a:spcPts val="1000"/>
              </a:spcAft>
              <a:buFont typeface="+mj-lt"/>
              <a:buChar char="•"/>
            </a:pPr>
            <a:r>
              <a:rPr lang="en-IN" sz="1500">
                <a:solidFill>
                  <a:srgbClr val="1E2A35"/>
                </a:solidFill>
                <a:latin typeface="Calibri" panose="020F0502020204030204" pitchFamily="34" charset="0"/>
              </a:rPr>
              <a:t>or WSL2 + Ubuntu + Docker Engine (my setup, no Docker Desktop licence needed)</a:t>
            </a:r>
          </a:p>
        </p:txBody>
      </p:sp>
      <p:sp>
        <p:nvSpPr>
          <p:cNvPr id="7" name="Rectangle: Rounded Corners 6">
            <a:extLst>
              <a:ext uri="{FF2B5EF4-FFF2-40B4-BE49-F238E27FC236}">
                <a16:creationId xmlns:a16="http://schemas.microsoft.com/office/drawing/2014/main" id="{06BCA2F5-15EE-FDA0-7671-FF725FF95092}"/>
              </a:ext>
            </a:extLst>
          </p:cNvPr>
          <p:cNvSpPr/>
          <p:nvPr/>
        </p:nvSpPr>
        <p:spPr>
          <a:xfrm>
            <a:off x="43180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BF31479-73F6-9335-D5FD-CDC3F7BA71CA}"/>
              </a:ext>
            </a:extLst>
          </p:cNvPr>
          <p:cNvSpPr txBox="1"/>
          <p:nvPr/>
        </p:nvSpPr>
        <p:spPr>
          <a:xfrm>
            <a:off x="45720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macOS</a:t>
            </a:r>
          </a:p>
        </p:txBody>
      </p:sp>
      <p:sp>
        <p:nvSpPr>
          <p:cNvPr id="9" name="TextBox 8">
            <a:extLst>
              <a:ext uri="{FF2B5EF4-FFF2-40B4-BE49-F238E27FC236}">
                <a16:creationId xmlns:a16="http://schemas.microsoft.com/office/drawing/2014/main" id="{0A1D4348-8494-7311-72A9-777BDEDBBEC8}"/>
              </a:ext>
            </a:extLst>
          </p:cNvPr>
          <p:cNvSpPr txBox="1"/>
          <p:nvPr/>
        </p:nvSpPr>
        <p:spPr>
          <a:xfrm>
            <a:off x="45720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500">
                <a:solidFill>
                  <a:srgbClr val="1E2A35"/>
                </a:solidFill>
                <a:latin typeface="Calibri" panose="020F0502020204030204" pitchFamily="34" charset="0"/>
              </a:rPr>
              <a:t>Docker Desktop</a:t>
            </a:r>
          </a:p>
          <a:p>
            <a:pPr marL="228600" indent="-228600">
              <a:spcAft>
                <a:spcPts val="1000"/>
              </a:spcAft>
              <a:buFont typeface="+mj-lt"/>
              <a:buChar char="•"/>
            </a:pPr>
            <a:r>
              <a:rPr lang="en-US" sz="1500">
                <a:solidFill>
                  <a:srgbClr val="1E2A35"/>
                </a:solidFill>
                <a:latin typeface="Calibri" panose="020F0502020204030204" pitchFamily="34" charset="0"/>
              </a:rPr>
              <a:t>or Rancher Desktop</a:t>
            </a:r>
          </a:p>
          <a:p>
            <a:pPr marL="228600" indent="-228600">
              <a:spcAft>
                <a:spcPts val="1000"/>
              </a:spcAft>
              <a:buFont typeface="+mj-lt"/>
              <a:buChar char="•"/>
            </a:pPr>
            <a:r>
              <a:rPr lang="en-US" sz="1500">
                <a:solidFill>
                  <a:srgbClr val="1E2A35"/>
                </a:solidFill>
                <a:latin typeface="Calibri" panose="020F0502020204030204" pitchFamily="34" charset="0"/>
              </a:rPr>
              <a:t>or Colima</a:t>
            </a:r>
            <a:endParaRPr lang="en-IN" sz="1500">
              <a:solidFill>
                <a:srgbClr val="1E2A35"/>
              </a:solidFill>
              <a:latin typeface="Calibri" panose="020F0502020204030204" pitchFamily="34" charset="0"/>
            </a:endParaRPr>
          </a:p>
        </p:txBody>
      </p:sp>
      <p:sp>
        <p:nvSpPr>
          <p:cNvPr id="10" name="Rectangle: Rounded Corners 9">
            <a:extLst>
              <a:ext uri="{FF2B5EF4-FFF2-40B4-BE49-F238E27FC236}">
                <a16:creationId xmlns:a16="http://schemas.microsoft.com/office/drawing/2014/main" id="{1D4575D3-5CF3-A988-B548-43BC401B08F4}"/>
              </a:ext>
            </a:extLst>
          </p:cNvPr>
          <p:cNvSpPr/>
          <p:nvPr/>
        </p:nvSpPr>
        <p:spPr>
          <a:xfrm>
            <a:off x="8026400" y="1524000"/>
            <a:ext cx="3556000" cy="27686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760477C-B4DE-034F-1DA2-8A53832BC10A}"/>
              </a:ext>
            </a:extLst>
          </p:cNvPr>
          <p:cNvSpPr txBox="1"/>
          <p:nvPr/>
        </p:nvSpPr>
        <p:spPr>
          <a:xfrm>
            <a:off x="8280400" y="1752600"/>
            <a:ext cx="3048000" cy="369332"/>
          </a:xfrm>
          <a:prstGeom prst="rect">
            <a:avLst/>
          </a:prstGeom>
          <a:noFill/>
        </p:spPr>
        <p:txBody>
          <a:bodyPr vert="horz" wrap="square" lIns="0" tIns="0" rIns="0" bIns="0" rtlCol="0" anchor="t">
            <a:noAutofit/>
          </a:bodyPr>
          <a:lstStyle/>
          <a:p>
            <a:r>
              <a:rPr lang="en-IN" sz="2200" b="1">
                <a:solidFill>
                  <a:srgbClr val="13293D"/>
                </a:solidFill>
                <a:latin typeface="Calibri" panose="020F0502020204030204" pitchFamily="34" charset="0"/>
              </a:rPr>
              <a:t>Linux</a:t>
            </a:r>
          </a:p>
        </p:txBody>
      </p:sp>
      <p:sp>
        <p:nvSpPr>
          <p:cNvPr id="12" name="TextBox 11">
            <a:extLst>
              <a:ext uri="{FF2B5EF4-FFF2-40B4-BE49-F238E27FC236}">
                <a16:creationId xmlns:a16="http://schemas.microsoft.com/office/drawing/2014/main" id="{52461618-C7BA-08AC-9FAB-2EB6D3F99F12}"/>
              </a:ext>
            </a:extLst>
          </p:cNvPr>
          <p:cNvSpPr txBox="1"/>
          <p:nvPr/>
        </p:nvSpPr>
        <p:spPr>
          <a:xfrm>
            <a:off x="8280400" y="2286000"/>
            <a:ext cx="3048000" cy="369332"/>
          </a:xfrm>
          <a:prstGeom prst="rect">
            <a:avLst/>
          </a:prstGeom>
          <a:noFill/>
        </p:spPr>
        <p:txBody>
          <a:bodyPr vert="horz" wrap="square" lIns="0" tIns="0" rIns="0" bIns="0" rtlCol="0" anchor="t">
            <a:noAutofit/>
          </a:bodyPr>
          <a:lstStyle/>
          <a:p>
            <a:pPr marL="228600" indent="-228600">
              <a:spcAft>
                <a:spcPts val="1000"/>
              </a:spcAft>
              <a:buFont typeface="+mj-lt"/>
              <a:buChar char="•"/>
            </a:pPr>
            <a:r>
              <a:rPr lang="en-US" sz="1500">
                <a:solidFill>
                  <a:srgbClr val="1E2A35"/>
                </a:solidFill>
                <a:latin typeface="Calibri" panose="020F0502020204030204" pitchFamily="34" charset="0"/>
              </a:rPr>
              <a:t>Docker Engine</a:t>
            </a:r>
          </a:p>
          <a:p>
            <a:pPr marL="228600" indent="-228600">
              <a:spcAft>
                <a:spcPts val="1000"/>
              </a:spcAft>
              <a:buFont typeface="+mj-lt"/>
              <a:buChar char="•"/>
            </a:pPr>
            <a:r>
              <a:rPr lang="en-US" sz="1500">
                <a:solidFill>
                  <a:srgbClr val="1E2A35"/>
                </a:solidFill>
                <a:latin typeface="Calibri" panose="020F0502020204030204" pitchFamily="34" charset="0"/>
              </a:rPr>
              <a:t>plus the Docker Compose plugin</a:t>
            </a:r>
            <a:endParaRPr lang="en-IN" sz="1500">
              <a:solidFill>
                <a:srgbClr val="1E2A35"/>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55888F11-35D3-54CB-0053-023E2EEE73CF}"/>
              </a:ext>
            </a:extLst>
          </p:cNvPr>
          <p:cNvSpPr/>
          <p:nvPr/>
        </p:nvSpPr>
        <p:spPr>
          <a:xfrm>
            <a:off x="609600" y="4521200"/>
            <a:ext cx="10972800" cy="6604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13293D"/>
                </a:solidFill>
                <a:latin typeface="Calibri" panose="020F0502020204030204" pitchFamily="34" charset="0"/>
              </a:rPr>
              <a:t>Everyone:  Git   ·   the lab kit   ·   about 1.5 GB of disk   ·   VS Code (optional)   ·   run verify, expect READY</a:t>
            </a:r>
            <a:endParaRPr lang="en-IN" sz="1500" b="1">
              <a:solidFill>
                <a:srgbClr val="13293D"/>
              </a:solidFill>
              <a:latin typeface="Calibri" panose="020F0502020204030204" pitchFamily="34" charset="0"/>
            </a:endParaRPr>
          </a:p>
        </p:txBody>
      </p:sp>
      <p:sp>
        <p:nvSpPr>
          <p:cNvPr id="14" name="TextBox 13">
            <a:extLst>
              <a:ext uri="{FF2B5EF4-FFF2-40B4-BE49-F238E27FC236}">
                <a16:creationId xmlns:a16="http://schemas.microsoft.com/office/drawing/2014/main" id="{157CA100-77AA-1386-AEFB-4D4F4DAD90AC}"/>
              </a:ext>
            </a:extLst>
          </p:cNvPr>
          <p:cNvSpPr txBox="1"/>
          <p:nvPr/>
        </p:nvSpPr>
        <p:spPr>
          <a:xfrm>
            <a:off x="609600" y="5384800"/>
            <a:ext cx="109728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Laptop can't run Docker, for example because of company restrictions? Pair with a neighbour: every lab works with two people at one screen.</a:t>
            </a:r>
            <a:endParaRPr lang="en-IN" sz="1500">
              <a:solidFill>
                <a:srgbClr val="5B6B79"/>
              </a:solidFill>
              <a:latin typeface="Calibri" panose="020F0502020204030204" pitchFamily="34" charset="0"/>
            </a:endParaRPr>
          </a:p>
        </p:txBody>
      </p:sp>
      <p:sp>
        <p:nvSpPr>
          <p:cNvPr id="15" name="TextBox 14">
            <a:extLst>
              <a:ext uri="{FF2B5EF4-FFF2-40B4-BE49-F238E27FC236}">
                <a16:creationId xmlns:a16="http://schemas.microsoft.com/office/drawing/2014/main" id="{06988CF9-381A-407B-B677-3C83F52527DD}"/>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21C97E74-1D0F-086F-1783-80C482038597}"/>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9</a:t>
            </a:r>
          </a:p>
        </p:txBody>
      </p:sp>
    </p:spTree>
    <p:extLst>
      <p:ext uri="{BB962C8B-B14F-4D97-AF65-F5344CB8AC3E}">
        <p14:creationId xmlns:p14="http://schemas.microsoft.com/office/powerpoint/2010/main" val="26125918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E6C0DD-2207-D0BC-648F-739600DECC1D}"/>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My setup: Windows + WSL2 + Docker</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99CE7405-B972-DE4F-DF85-E9F2B74AD8CD}"/>
              </a:ext>
            </a:extLst>
          </p:cNvPr>
          <p:cNvSpPr/>
          <p:nvPr/>
        </p:nvSpPr>
        <p:spPr>
          <a:xfrm>
            <a:off x="609600" y="1320800"/>
            <a:ext cx="4826000" cy="685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3293D"/>
                </a:solidFill>
                <a:latin typeface="Calibri" panose="020F0502020204030204" pitchFamily="34" charset="0"/>
              </a:rPr>
              <a:t>Windows 11: VS Code, browser, PowerPoint</a:t>
            </a:r>
            <a:endParaRPr lang="en-IN" sz="1500" b="1">
              <a:solidFill>
                <a:srgbClr val="13293D"/>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7CF26429-E78B-9BF8-679C-EAA8A72C38CE}"/>
              </a:ext>
            </a:extLst>
          </p:cNvPr>
          <p:cNvSpPr/>
          <p:nvPr/>
        </p:nvSpPr>
        <p:spPr>
          <a:xfrm>
            <a:off x="609600" y="2108200"/>
            <a:ext cx="4826000" cy="6858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US" sz="1500" b="1">
                <a:solidFill>
                  <a:srgbClr val="13293D"/>
                </a:solidFill>
                <a:latin typeface="Calibri" panose="020F0502020204030204" pitchFamily="34" charset="0"/>
              </a:rPr>
              <a:t>WSL2: a lightweight Linux virtual machine</a:t>
            </a:r>
            <a:endParaRPr lang="en-IN" sz="1500" b="1">
              <a:solidFill>
                <a:srgbClr val="13293D"/>
              </a:solidFill>
              <a:latin typeface="Calibri" panose="020F0502020204030204" pitchFamily="34" charset="0"/>
            </a:endParaRPr>
          </a:p>
        </p:txBody>
      </p:sp>
      <p:sp>
        <p:nvSpPr>
          <p:cNvPr id="5" name="Rectangle: Rounded Corners 4">
            <a:extLst>
              <a:ext uri="{FF2B5EF4-FFF2-40B4-BE49-F238E27FC236}">
                <a16:creationId xmlns:a16="http://schemas.microsoft.com/office/drawing/2014/main" id="{1F635945-F5ED-D62F-D408-B591F2128DDB}"/>
              </a:ext>
            </a:extLst>
          </p:cNvPr>
          <p:cNvSpPr/>
          <p:nvPr/>
        </p:nvSpPr>
        <p:spPr>
          <a:xfrm>
            <a:off x="609600" y="2895600"/>
            <a:ext cx="4826000" cy="6858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13293D"/>
                </a:solidFill>
                <a:latin typeface="Calibri" panose="020F0502020204030204" pitchFamily="34" charset="0"/>
              </a:rPr>
              <a:t>Ubuntu 24.04</a:t>
            </a:r>
          </a:p>
        </p:txBody>
      </p:sp>
      <p:sp>
        <p:nvSpPr>
          <p:cNvPr id="6" name="Rectangle: Rounded Corners 5">
            <a:extLst>
              <a:ext uri="{FF2B5EF4-FFF2-40B4-BE49-F238E27FC236}">
                <a16:creationId xmlns:a16="http://schemas.microsoft.com/office/drawing/2014/main" id="{02B800BA-8743-7CA8-886A-F85D3B59CBFD}"/>
              </a:ext>
            </a:extLst>
          </p:cNvPr>
          <p:cNvSpPr/>
          <p:nvPr/>
        </p:nvSpPr>
        <p:spPr>
          <a:xfrm>
            <a:off x="609600" y="3683000"/>
            <a:ext cx="4826000" cy="6858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FFFFFF"/>
                </a:solidFill>
                <a:latin typeface="Calibri" panose="020F0502020204030204" pitchFamily="34" charset="0"/>
              </a:rPr>
              <a:t>Docker Engine + Compose plugin</a:t>
            </a:r>
          </a:p>
        </p:txBody>
      </p:sp>
      <p:sp>
        <p:nvSpPr>
          <p:cNvPr id="7" name="Rectangle: Rounded Corners 6">
            <a:extLst>
              <a:ext uri="{FF2B5EF4-FFF2-40B4-BE49-F238E27FC236}">
                <a16:creationId xmlns:a16="http://schemas.microsoft.com/office/drawing/2014/main" id="{F7794060-88CB-6286-E0B4-91F5CA121A7A}"/>
              </a:ext>
            </a:extLst>
          </p:cNvPr>
          <p:cNvSpPr/>
          <p:nvPr/>
        </p:nvSpPr>
        <p:spPr>
          <a:xfrm>
            <a:off x="609600" y="4470400"/>
            <a:ext cx="4826000" cy="6858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FFFFFF"/>
                </a:solidFill>
                <a:latin typeface="Calibri" panose="020F0502020204030204" pitchFamily="34" charset="0"/>
              </a:rPr>
              <a:t>Containers: toolbox, SonarQube, Jenkins</a:t>
            </a:r>
          </a:p>
        </p:txBody>
      </p:sp>
      <p:sp>
        <p:nvSpPr>
          <p:cNvPr id="8" name="Rectangle: Rounded Corners 7">
            <a:extLst>
              <a:ext uri="{FF2B5EF4-FFF2-40B4-BE49-F238E27FC236}">
                <a16:creationId xmlns:a16="http://schemas.microsoft.com/office/drawing/2014/main" id="{56E52742-7855-672A-8180-E7D7FD6234A6}"/>
              </a:ext>
            </a:extLst>
          </p:cNvPr>
          <p:cNvSpPr/>
          <p:nvPr/>
        </p:nvSpPr>
        <p:spPr>
          <a:xfrm>
            <a:off x="5740400" y="1320800"/>
            <a:ext cx="5842000" cy="2260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62778801-14DC-EE12-89D8-B1D2B0E378C7}"/>
              </a:ext>
            </a:extLst>
          </p:cNvPr>
          <p:cNvSpPr txBox="1"/>
          <p:nvPr/>
        </p:nvSpPr>
        <p:spPr>
          <a:xfrm>
            <a:off x="5994400" y="1498600"/>
            <a:ext cx="5334000" cy="369332"/>
          </a:xfrm>
          <a:prstGeom prst="rect">
            <a:avLst/>
          </a:prstGeom>
          <a:noFill/>
        </p:spPr>
        <p:txBody>
          <a:bodyPr vert="horz" wrap="square" lIns="0" tIns="0" rIns="0" bIns="0" rtlCol="0" anchor="t">
            <a:noAutofit/>
          </a:bodyPr>
          <a:lstStyle/>
          <a:p>
            <a:r>
              <a:rPr lang="en-IN" sz="1200">
                <a:solidFill>
                  <a:srgbClr val="8FD3C9"/>
                </a:solidFill>
                <a:latin typeface="Consolas" panose="020B0609020204030204" pitchFamily="49" charset="0"/>
              </a:rPr>
              <a:t># PowerShell, once</a:t>
            </a:r>
          </a:p>
          <a:p>
            <a:r>
              <a:rPr lang="en-IN" sz="1200">
                <a:solidFill>
                  <a:srgbClr val="FFFFFF"/>
                </a:solidFill>
                <a:latin typeface="Consolas" panose="020B0609020204030204" pitchFamily="49" charset="0"/>
              </a:rPr>
              <a:t>wsl --install -d Ubuntu-24.04</a:t>
            </a:r>
          </a:p>
          <a:p>
            <a:r>
              <a:rPr lang="en-IN" sz="1200">
                <a:solidFill>
                  <a:srgbClr val="8FD3C9"/>
                </a:solidFill>
                <a:latin typeface="Consolas" panose="020B0609020204030204" pitchFamily="49" charset="0"/>
              </a:rPr>
              <a:t># Ubuntu: install Docker Engine (see COMMANDS.md)</a:t>
            </a:r>
          </a:p>
          <a:p>
            <a:r>
              <a:rPr lang="en-IN" sz="1200">
                <a:solidFill>
                  <a:srgbClr val="FFFFFF"/>
                </a:solidFill>
                <a:latin typeface="Consolas" panose="020B0609020204030204" pitchFamily="49" charset="0"/>
              </a:rPr>
              <a:t>sudo usermod -aG docker $USER</a:t>
            </a:r>
          </a:p>
          <a:p>
            <a:r>
              <a:rPr lang="en-IN" sz="1200">
                <a:solidFill>
                  <a:srgbClr val="8FD3C9"/>
                </a:solidFill>
                <a:latin typeface="Consolas" panose="020B0609020204030204" pitchFamily="49" charset="0"/>
              </a:rPr>
              <a:t># Ubuntu: get the repo, build, check</a:t>
            </a:r>
          </a:p>
          <a:p>
            <a:r>
              <a:rPr lang="en-IN" sz="1200">
                <a:solidFill>
                  <a:srgbClr val="FFFFFF"/>
                </a:solidFill>
                <a:latin typeface="Consolas" panose="020B0609020204030204" pitchFamily="49" charset="0"/>
              </a:rPr>
              <a:t>cd /mnt/c/Users/&lt;you&gt;/Desktop</a:t>
            </a:r>
          </a:p>
          <a:p>
            <a:r>
              <a:rPr lang="en-IN" sz="1200">
                <a:solidFill>
                  <a:srgbClr val="FFFFFF"/>
                </a:solidFill>
                <a:latin typeface="Consolas" panose="020B0609020204030204" pitchFamily="49" charset="0"/>
              </a:rPr>
              <a:t>git clone https://github.com/PrathameshChopade/MIT-Cloud-Demo.git</a:t>
            </a:r>
          </a:p>
          <a:p>
            <a:r>
              <a:rPr lang="en-IN" sz="1200">
                <a:solidFill>
                  <a:srgbClr val="FFFFFF"/>
                </a:solidFill>
                <a:latin typeface="Consolas" panose="020B0609020204030204" pitchFamily="49" charset="0"/>
              </a:rPr>
              <a:t>cd MIT-Cloud-Demo</a:t>
            </a:r>
          </a:p>
          <a:p>
            <a:r>
              <a:rPr lang="en-IN" sz="1200">
                <a:solidFill>
                  <a:srgbClr val="FFFFFF"/>
                </a:solidFill>
                <a:latin typeface="Consolas" panose="020B0609020204030204" pitchFamily="49" charset="0"/>
              </a:rPr>
              <a:t>docker compose build</a:t>
            </a:r>
          </a:p>
          <a:p>
            <a:r>
              <a:rPr lang="en-IN" sz="1200">
                <a:solidFill>
                  <a:srgbClr val="FFFFFF"/>
                </a:solidFill>
                <a:latin typeface="Consolas" panose="020B0609020204030204" pitchFamily="49" charset="0"/>
              </a:rPr>
              <a:t>bash verify.sh</a:t>
            </a:r>
            <a:r>
              <a:rPr lang="en-IN" sz="1200">
                <a:solidFill>
                  <a:srgbClr val="8FD3C9"/>
                </a:solidFill>
                <a:latin typeface="Consolas" panose="020B0609020204030204" pitchFamily="49" charset="0"/>
              </a:rPr>
              <a:t>   # expect: READY</a:t>
            </a:r>
          </a:p>
        </p:txBody>
      </p:sp>
      <p:sp>
        <p:nvSpPr>
          <p:cNvPr id="10" name="TextBox 9">
            <a:extLst>
              <a:ext uri="{FF2B5EF4-FFF2-40B4-BE49-F238E27FC236}">
                <a16:creationId xmlns:a16="http://schemas.microsoft.com/office/drawing/2014/main" id="{8FC4F87B-E7D8-312A-C6CC-D0A23EEABDB5}"/>
              </a:ext>
            </a:extLst>
          </p:cNvPr>
          <p:cNvSpPr txBox="1"/>
          <p:nvPr/>
        </p:nvSpPr>
        <p:spPr>
          <a:xfrm>
            <a:off x="5740400" y="3835400"/>
            <a:ext cx="5842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Cloning onto the Windows drive (/mnt/c) lets VS Code on Windows show the lab files while the tools run in Ubuntu.</a:t>
            </a:r>
            <a:endParaRPr lang="en-IN" sz="1500">
              <a:solidFill>
                <a:srgbClr val="1E2A35"/>
              </a:solidFill>
              <a:latin typeface="Calibri" panose="020F0502020204030204" pitchFamily="34" charset="0"/>
            </a:endParaRPr>
          </a:p>
        </p:txBody>
      </p:sp>
      <p:sp>
        <p:nvSpPr>
          <p:cNvPr id="11" name="TextBox 10">
            <a:extLst>
              <a:ext uri="{FF2B5EF4-FFF2-40B4-BE49-F238E27FC236}">
                <a16:creationId xmlns:a16="http://schemas.microsoft.com/office/drawing/2014/main" id="{558F8910-CFE2-3957-B12A-7EC0911C01E7}"/>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2" name="TextBox 11">
            <a:extLst>
              <a:ext uri="{FF2B5EF4-FFF2-40B4-BE49-F238E27FC236}">
                <a16:creationId xmlns:a16="http://schemas.microsoft.com/office/drawing/2014/main" id="{8247730E-42A9-FF08-79DC-65DE3BCA50C7}"/>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10</a:t>
            </a:r>
          </a:p>
        </p:txBody>
      </p:sp>
    </p:spTree>
    <p:extLst>
      <p:ext uri="{BB962C8B-B14F-4D97-AF65-F5344CB8AC3E}">
        <p14:creationId xmlns:p14="http://schemas.microsoft.com/office/powerpoint/2010/main" val="5337240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5EA0B8-5601-EAB6-A1C4-3F4D5F0BF945}"/>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How the labs work</a:t>
            </a:r>
          </a:p>
        </p:txBody>
      </p:sp>
      <p:sp>
        <p:nvSpPr>
          <p:cNvPr id="3" name="Rectangle: Rounded Corners 2">
            <a:extLst>
              <a:ext uri="{FF2B5EF4-FFF2-40B4-BE49-F238E27FC236}">
                <a16:creationId xmlns:a16="http://schemas.microsoft.com/office/drawing/2014/main" id="{5F0D005A-A4F2-6A6F-29DE-E28EA0DC08BF}"/>
              </a:ext>
            </a:extLst>
          </p:cNvPr>
          <p:cNvSpPr/>
          <p:nvPr/>
        </p:nvSpPr>
        <p:spPr>
          <a:xfrm>
            <a:off x="609600" y="1473200"/>
            <a:ext cx="5207000" cy="1397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DA6D1175-5949-8F6F-D4BB-E3FD638F3DB9}"/>
              </a:ext>
            </a:extLst>
          </p:cNvPr>
          <p:cNvSpPr txBox="1"/>
          <p:nvPr/>
        </p:nvSpPr>
        <p:spPr>
          <a:xfrm>
            <a:off x="914400" y="1676400"/>
            <a:ext cx="4572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START THE TOOLBOX</a:t>
            </a:r>
          </a:p>
        </p:txBody>
      </p:sp>
      <p:sp>
        <p:nvSpPr>
          <p:cNvPr id="5" name="TextBox 4">
            <a:extLst>
              <a:ext uri="{FF2B5EF4-FFF2-40B4-BE49-F238E27FC236}">
                <a16:creationId xmlns:a16="http://schemas.microsoft.com/office/drawing/2014/main" id="{B118464F-4BDC-21C0-E387-09755534970F}"/>
              </a:ext>
            </a:extLst>
          </p:cNvPr>
          <p:cNvSpPr txBox="1"/>
          <p:nvPr/>
        </p:nvSpPr>
        <p:spPr>
          <a:xfrm>
            <a:off x="914400" y="2006600"/>
            <a:ext cx="4699000" cy="369332"/>
          </a:xfrm>
          <a:prstGeom prst="rect">
            <a:avLst/>
          </a:prstGeom>
          <a:noFill/>
        </p:spPr>
        <p:txBody>
          <a:bodyPr vert="horz" wrap="square" lIns="0" tIns="0" rIns="0" bIns="0" rtlCol="0" anchor="t">
            <a:noAutofit/>
          </a:bodyPr>
          <a:lstStyle/>
          <a:p>
            <a:r>
              <a:rPr lang="en-US" sz="1600">
                <a:solidFill>
                  <a:srgbClr val="FFFFFF"/>
                </a:solidFill>
                <a:latin typeface="Consolas" panose="020B0609020204030204" pitchFamily="49" charset="0"/>
              </a:rPr>
              <a:t>cd MIT-Cloud-Demo</a:t>
            </a:r>
          </a:p>
          <a:p>
            <a:r>
              <a:rPr lang="en-US" sz="1600">
                <a:solidFill>
                  <a:srgbClr val="FFFFFF"/>
                </a:solidFill>
                <a:latin typeface="Consolas" panose="020B0609020204030204" pitchFamily="49" charset="0"/>
              </a:rPr>
              <a:t>docker compose run --rm toolbox</a:t>
            </a:r>
            <a:endParaRPr lang="en-IN" sz="1600">
              <a:solidFill>
                <a:srgbClr val="FFFFFF"/>
              </a:solidFill>
              <a:latin typeface="Consolas" panose="020B0609020204030204" pitchFamily="49" charset="0"/>
            </a:endParaRPr>
          </a:p>
        </p:txBody>
      </p:sp>
      <p:sp>
        <p:nvSpPr>
          <p:cNvPr id="6" name="TextBox 5">
            <a:extLst>
              <a:ext uri="{FF2B5EF4-FFF2-40B4-BE49-F238E27FC236}">
                <a16:creationId xmlns:a16="http://schemas.microsoft.com/office/drawing/2014/main" id="{02280BAD-D416-CB3B-59C3-21EA6FB4C0B6}"/>
              </a:ext>
            </a:extLst>
          </p:cNvPr>
          <p:cNvSpPr txBox="1"/>
          <p:nvPr/>
        </p:nvSpPr>
        <p:spPr>
          <a:xfrm>
            <a:off x="609600" y="3098800"/>
            <a:ext cx="5207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One container with every tool you need: git, gitleaks and Checkov. Nothing else to install.</a:t>
            </a:r>
            <a:endParaRPr lang="en-IN" sz="15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5388339C-9262-6D70-78FA-E881AEB9585B}"/>
              </a:ext>
            </a:extLst>
          </p:cNvPr>
          <p:cNvSpPr txBox="1"/>
          <p:nvPr/>
        </p:nvSpPr>
        <p:spPr>
          <a:xfrm>
            <a:off x="609600" y="3810000"/>
            <a:ext cx="5207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It opens in the repo folder, so every path matches the repo. Follow along in VS Code; one git command resets it all.</a:t>
            </a:r>
            <a:endParaRPr lang="en-IN" sz="1500">
              <a:solidFill>
                <a:srgbClr val="1E2A35"/>
              </a:solidFill>
              <a:latin typeface="Calibri" panose="020F0502020204030204" pitchFamily="34" charset="0"/>
            </a:endParaRPr>
          </a:p>
        </p:txBody>
      </p:sp>
      <p:sp>
        <p:nvSpPr>
          <p:cNvPr id="8" name="TextBox 7">
            <a:extLst>
              <a:ext uri="{FF2B5EF4-FFF2-40B4-BE49-F238E27FC236}">
                <a16:creationId xmlns:a16="http://schemas.microsoft.com/office/drawing/2014/main" id="{283D0789-65BA-CC9C-18B4-308242D27109}"/>
              </a:ext>
            </a:extLst>
          </p:cNvPr>
          <p:cNvSpPr txBox="1"/>
          <p:nvPr/>
        </p:nvSpPr>
        <p:spPr>
          <a:xfrm>
            <a:off x="609600" y="4521200"/>
            <a:ext cx="5207000" cy="369332"/>
          </a:xfrm>
          <a:prstGeom prst="rect">
            <a:avLst/>
          </a:prstGeom>
          <a:noFill/>
        </p:spPr>
        <p:txBody>
          <a:bodyPr vert="horz" wrap="square" lIns="0" tIns="0" rIns="0" bIns="0" rtlCol="0" anchor="t">
            <a:noAutofit/>
          </a:bodyPr>
          <a:lstStyle/>
          <a:p>
            <a:r>
              <a:rPr lang="en-US" sz="1500" b="1">
                <a:solidFill>
                  <a:srgbClr val="E4572E"/>
                </a:solidFill>
                <a:latin typeface="Calibri" panose="020F0502020204030204" pitchFamily="34" charset="0"/>
              </a:rPr>
              <a:t>All passwords and keys in the lab files are fake. Every command is in COMMANDS.md in the repo.</a:t>
            </a:r>
            <a:endParaRPr lang="en-IN" sz="1500" b="1">
              <a:solidFill>
                <a:srgbClr val="E4572E"/>
              </a:solidFill>
              <a:latin typeface="Calibri" panose="020F0502020204030204" pitchFamily="34" charset="0"/>
            </a:endParaRPr>
          </a:p>
        </p:txBody>
      </p:sp>
      <p:sp>
        <p:nvSpPr>
          <p:cNvPr id="9" name="Oval 8">
            <a:extLst>
              <a:ext uri="{FF2B5EF4-FFF2-40B4-BE49-F238E27FC236}">
                <a16:creationId xmlns:a16="http://schemas.microsoft.com/office/drawing/2014/main" id="{7005BE28-B7FE-B700-781C-11997FF3308B}"/>
              </a:ext>
            </a:extLst>
          </p:cNvPr>
          <p:cNvSpPr/>
          <p:nvPr/>
        </p:nvSpPr>
        <p:spPr>
          <a:xfrm>
            <a:off x="6502400" y="14732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10" name="TextBox 9">
            <a:extLst>
              <a:ext uri="{FF2B5EF4-FFF2-40B4-BE49-F238E27FC236}">
                <a16:creationId xmlns:a16="http://schemas.microsoft.com/office/drawing/2014/main" id="{03FC3DFA-B445-CAE1-F4BD-E9DC4E18222C}"/>
              </a:ext>
            </a:extLst>
          </p:cNvPr>
          <p:cNvSpPr txBox="1"/>
          <p:nvPr/>
        </p:nvSpPr>
        <p:spPr>
          <a:xfrm>
            <a:off x="7340600" y="14986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See</a:t>
            </a:r>
          </a:p>
        </p:txBody>
      </p:sp>
      <p:sp>
        <p:nvSpPr>
          <p:cNvPr id="11" name="TextBox 10">
            <a:extLst>
              <a:ext uri="{FF2B5EF4-FFF2-40B4-BE49-F238E27FC236}">
                <a16:creationId xmlns:a16="http://schemas.microsoft.com/office/drawing/2014/main" id="{B7F54F34-A2E3-918A-04E1-8B905004C189}"/>
              </a:ext>
            </a:extLst>
          </p:cNvPr>
          <p:cNvSpPr txBox="1"/>
          <p:nvPr/>
        </p:nvSpPr>
        <p:spPr>
          <a:xfrm>
            <a:off x="7340600" y="18288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Each lab starts from deliberately insecure files.</a:t>
            </a:r>
            <a:endParaRPr lang="en-IN" sz="15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4AD12F44-FFB5-EFBA-0620-10350280A536}"/>
              </a:ext>
            </a:extLst>
          </p:cNvPr>
          <p:cNvSpPr/>
          <p:nvPr/>
        </p:nvSpPr>
        <p:spPr>
          <a:xfrm>
            <a:off x="6502400" y="24638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13" name="TextBox 12">
            <a:extLst>
              <a:ext uri="{FF2B5EF4-FFF2-40B4-BE49-F238E27FC236}">
                <a16:creationId xmlns:a16="http://schemas.microsoft.com/office/drawing/2014/main" id="{DE9D87A8-6D86-14D2-62CB-8FBBB790C2A3}"/>
              </a:ext>
            </a:extLst>
          </p:cNvPr>
          <p:cNvSpPr txBox="1"/>
          <p:nvPr/>
        </p:nvSpPr>
        <p:spPr>
          <a:xfrm>
            <a:off x="7340600" y="24892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Catch</a:t>
            </a:r>
          </a:p>
        </p:txBody>
      </p:sp>
      <p:sp>
        <p:nvSpPr>
          <p:cNvPr id="14" name="TextBox 13">
            <a:extLst>
              <a:ext uri="{FF2B5EF4-FFF2-40B4-BE49-F238E27FC236}">
                <a16:creationId xmlns:a16="http://schemas.microsoft.com/office/drawing/2014/main" id="{190F20A3-B79F-7B81-C24C-19D82BD73AC3}"/>
              </a:ext>
            </a:extLst>
          </p:cNvPr>
          <p:cNvSpPr txBox="1"/>
          <p:nvPr/>
        </p:nvSpPr>
        <p:spPr>
          <a:xfrm>
            <a:off x="7340600" y="28194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Run a free, open-source scanner.</a:t>
            </a:r>
            <a:endParaRPr lang="en-IN" sz="1500">
              <a:solidFill>
                <a:srgbClr val="1E2A35"/>
              </a:solidFill>
              <a:latin typeface="Calibri" panose="020F0502020204030204" pitchFamily="34" charset="0"/>
            </a:endParaRPr>
          </a:p>
        </p:txBody>
      </p:sp>
      <p:sp>
        <p:nvSpPr>
          <p:cNvPr id="15" name="Oval 14">
            <a:extLst>
              <a:ext uri="{FF2B5EF4-FFF2-40B4-BE49-F238E27FC236}">
                <a16:creationId xmlns:a16="http://schemas.microsoft.com/office/drawing/2014/main" id="{5E5D8A90-8779-DBC7-53E8-C8565565112A}"/>
              </a:ext>
            </a:extLst>
          </p:cNvPr>
          <p:cNvSpPr/>
          <p:nvPr/>
        </p:nvSpPr>
        <p:spPr>
          <a:xfrm>
            <a:off x="6502400" y="34544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16" name="TextBox 15">
            <a:extLst>
              <a:ext uri="{FF2B5EF4-FFF2-40B4-BE49-F238E27FC236}">
                <a16:creationId xmlns:a16="http://schemas.microsoft.com/office/drawing/2014/main" id="{02C1AC1B-CFB2-40E7-001E-72C00C5F61B7}"/>
              </a:ext>
            </a:extLst>
          </p:cNvPr>
          <p:cNvSpPr txBox="1"/>
          <p:nvPr/>
        </p:nvSpPr>
        <p:spPr>
          <a:xfrm>
            <a:off x="7340600" y="34798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Fix</a:t>
            </a:r>
          </a:p>
        </p:txBody>
      </p:sp>
      <p:sp>
        <p:nvSpPr>
          <p:cNvPr id="17" name="TextBox 16">
            <a:extLst>
              <a:ext uri="{FF2B5EF4-FFF2-40B4-BE49-F238E27FC236}">
                <a16:creationId xmlns:a16="http://schemas.microsoft.com/office/drawing/2014/main" id="{7A18E370-E98F-F6FD-6834-104C5B6CCA92}"/>
              </a:ext>
            </a:extLst>
          </p:cNvPr>
          <p:cNvSpPr txBox="1"/>
          <p:nvPr/>
        </p:nvSpPr>
        <p:spPr>
          <a:xfrm>
            <a:off x="7340600" y="38100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Apply the fix, or compare with the solution.</a:t>
            </a:r>
            <a:endParaRPr lang="en-IN" sz="1500">
              <a:solidFill>
                <a:srgbClr val="1E2A35"/>
              </a:solidFill>
              <a:latin typeface="Calibri" panose="020F0502020204030204" pitchFamily="34" charset="0"/>
            </a:endParaRPr>
          </a:p>
        </p:txBody>
      </p:sp>
      <p:sp>
        <p:nvSpPr>
          <p:cNvPr id="18" name="Oval 17">
            <a:extLst>
              <a:ext uri="{FF2B5EF4-FFF2-40B4-BE49-F238E27FC236}">
                <a16:creationId xmlns:a16="http://schemas.microsoft.com/office/drawing/2014/main" id="{623CC193-F921-0115-9E4A-D732ECF6A16B}"/>
              </a:ext>
            </a:extLst>
          </p:cNvPr>
          <p:cNvSpPr/>
          <p:nvPr/>
        </p:nvSpPr>
        <p:spPr>
          <a:xfrm>
            <a:off x="6502400" y="4445000"/>
            <a:ext cx="609600" cy="609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9" name="TextBox 18">
            <a:extLst>
              <a:ext uri="{FF2B5EF4-FFF2-40B4-BE49-F238E27FC236}">
                <a16:creationId xmlns:a16="http://schemas.microsoft.com/office/drawing/2014/main" id="{FC110D31-F059-F969-88E9-CE0EFC1CA0AA}"/>
              </a:ext>
            </a:extLst>
          </p:cNvPr>
          <p:cNvSpPr txBox="1"/>
          <p:nvPr/>
        </p:nvSpPr>
        <p:spPr>
          <a:xfrm>
            <a:off x="7340600" y="4470400"/>
            <a:ext cx="4191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Verify</a:t>
            </a:r>
          </a:p>
        </p:txBody>
      </p:sp>
      <p:sp>
        <p:nvSpPr>
          <p:cNvPr id="20" name="TextBox 19">
            <a:extLst>
              <a:ext uri="{FF2B5EF4-FFF2-40B4-BE49-F238E27FC236}">
                <a16:creationId xmlns:a16="http://schemas.microsoft.com/office/drawing/2014/main" id="{92CCD647-6F2E-1A0D-F63E-0E5B64087A50}"/>
              </a:ext>
            </a:extLst>
          </p:cNvPr>
          <p:cNvSpPr txBox="1"/>
          <p:nvPr/>
        </p:nvSpPr>
        <p:spPr>
          <a:xfrm>
            <a:off x="7340600" y="4800600"/>
            <a:ext cx="4191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Scan again: now it comes back clean.</a:t>
            </a:r>
            <a:endParaRPr lang="en-IN" sz="1500">
              <a:solidFill>
                <a:srgbClr val="1E2A35"/>
              </a:solidFill>
              <a:latin typeface="Calibri" panose="020F0502020204030204" pitchFamily="34" charset="0"/>
            </a:endParaRPr>
          </a:p>
        </p:txBody>
      </p:sp>
      <p:sp>
        <p:nvSpPr>
          <p:cNvPr id="21" name="TextBox 20">
            <a:extLst>
              <a:ext uri="{FF2B5EF4-FFF2-40B4-BE49-F238E27FC236}">
                <a16:creationId xmlns:a16="http://schemas.microsoft.com/office/drawing/2014/main" id="{9786B92B-1D4B-BAB5-27D8-6FAF4612A2BE}"/>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2" name="TextBox 21">
            <a:extLst>
              <a:ext uri="{FF2B5EF4-FFF2-40B4-BE49-F238E27FC236}">
                <a16:creationId xmlns:a16="http://schemas.microsoft.com/office/drawing/2014/main" id="{126A765B-A880-6AF6-8DF6-CF6A7921035B}"/>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11</a:t>
            </a:r>
          </a:p>
        </p:txBody>
      </p:sp>
    </p:spTree>
    <p:extLst>
      <p:ext uri="{BB962C8B-B14F-4D97-AF65-F5344CB8AC3E}">
        <p14:creationId xmlns:p14="http://schemas.microsoft.com/office/powerpoint/2010/main" val="21936789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AF1240-8293-7DC6-7255-1B504D322565}"/>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01</a:t>
            </a:r>
          </a:p>
        </p:txBody>
      </p:sp>
      <p:sp>
        <p:nvSpPr>
          <p:cNvPr id="3" name="TextBox 2">
            <a:extLst>
              <a:ext uri="{FF2B5EF4-FFF2-40B4-BE49-F238E27FC236}">
                <a16:creationId xmlns:a16="http://schemas.microsoft.com/office/drawing/2014/main" id="{7C6D77CE-7FD4-2F67-3A3B-6D3AB3F4D7A3}"/>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Secrets in Git</a:t>
            </a:r>
          </a:p>
        </p:txBody>
      </p:sp>
      <p:sp>
        <p:nvSpPr>
          <p:cNvPr id="4" name="TextBox 3">
            <a:extLst>
              <a:ext uri="{FF2B5EF4-FFF2-40B4-BE49-F238E27FC236}">
                <a16:creationId xmlns:a16="http://schemas.microsoft.com/office/drawing/2014/main" id="{585A8761-901E-27FB-383C-C8641ED0DCDE}"/>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Passwords and keys committed to a repository, and why deleting them isn't enough</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9F6D4E41-754E-25FD-14FF-A49713A3251D}"/>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Tool: gitleaks   ·   15 minutes hands-on</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4045260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E5A3E44-A03A-D84C-C620-23F7F0D46D4D}"/>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1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415A1DEF-FC7E-B904-FA16-1C3A11DE8B58}"/>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BC8E5647-4249-EA35-893E-F83F15A78D8F}"/>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0E69DAD5-61C7-D377-332F-0C284DF77195}"/>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A developer in a hurry hard-codes an AWS access key and a database password into a small service, and commits it to Git. A week later, they 'fix' it by deleting the lines and committing again.</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398BBA56-599A-A1A9-98BA-975DB2F8179C}"/>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Once the lines are deleted, is the key safe?</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DDE99764-9E08-7B80-66A6-C5B8E8E498ED}"/>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5A3B87ED-9EFA-0C74-D4CD-00F861AF599C}"/>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5CA68E64-06BA-0857-F17C-D034DD41C3A5}"/>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Find secrets in code and in Git history with gitleaks</a:t>
            </a:r>
            <a:endParaRPr lang="en-IN" sz="1700">
              <a:solidFill>
                <a:srgbClr val="1E2A35"/>
              </a:solidFill>
              <a:latin typeface="Calibri" panose="020F0502020204030204" pitchFamily="34" charset="0"/>
            </a:endParaRPr>
          </a:p>
        </p:txBody>
      </p:sp>
      <p:sp>
        <p:nvSpPr>
          <p:cNvPr id="10" name="Oval 9">
            <a:extLst>
              <a:ext uri="{FF2B5EF4-FFF2-40B4-BE49-F238E27FC236}">
                <a16:creationId xmlns:a16="http://schemas.microsoft.com/office/drawing/2014/main" id="{B0439720-A57E-EF0A-85CF-E09CDE273E40}"/>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8353E336-5C4F-3EFB-6843-963AE280F693}"/>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Understand why deleting a secret is not enough, and what to do instead</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CF74EC6A-CD7A-2B6C-9FA4-84014840300D}"/>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82CA8AA3-08C6-6D37-A3A5-8C2DA3DEC6F6}"/>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Block secrets before they are committed, with a pre-commit hook</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D6FBA146-5D11-FF39-643D-AEE391359AA6}"/>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Uber, 2016: AWS keys in a private repository led to a breach affecting 57 million users.</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1D2D706A-CBDC-86E2-3A71-5330467FC95A}"/>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1DB73D74-3D4F-3A8E-06B1-D0D1C7210586}"/>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13</a:t>
            </a:r>
          </a:p>
        </p:txBody>
      </p:sp>
    </p:spTree>
    <p:extLst>
      <p:ext uri="{BB962C8B-B14F-4D97-AF65-F5344CB8AC3E}">
        <p14:creationId xmlns:p14="http://schemas.microsoft.com/office/powerpoint/2010/main" val="42078729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11AEE9-9963-D2A0-E29D-904283875A60}"/>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Deleting a secret doesn't remove it</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D09BD57A-64A5-7425-F96C-F88798D8DDEE}"/>
              </a:ext>
            </a:extLst>
          </p:cNvPr>
          <p:cNvSpPr txBox="1"/>
          <p:nvPr/>
        </p:nvSpPr>
        <p:spPr>
          <a:xfrm>
            <a:off x="609600" y="1320800"/>
            <a:ext cx="5080000" cy="369332"/>
          </a:xfrm>
          <a:prstGeom prst="rect">
            <a:avLst/>
          </a:prstGeom>
          <a:noFill/>
        </p:spPr>
        <p:txBody>
          <a:bodyPr vert="horz" wrap="square" lIns="0" tIns="0" rIns="0" bIns="0" rtlCol="0" anchor="t">
            <a:noAutofit/>
          </a:bodyPr>
          <a:lstStyle/>
          <a:p>
            <a:r>
              <a:rPr lang="en-IN" sz="1200" b="1">
                <a:solidFill>
                  <a:srgbClr val="5B6B79"/>
                </a:solidFill>
                <a:latin typeface="Calibri" panose="020F0502020204030204" pitchFamily="34" charset="0"/>
              </a:rPr>
              <a:t>GIT HISTORY</a:t>
            </a:r>
          </a:p>
        </p:txBody>
      </p:sp>
      <p:cxnSp>
        <p:nvCxnSpPr>
          <p:cNvPr id="4" name="Straight Connector 3">
            <a:extLst>
              <a:ext uri="{FF2B5EF4-FFF2-40B4-BE49-F238E27FC236}">
                <a16:creationId xmlns:a16="http://schemas.microsoft.com/office/drawing/2014/main" id="{57749792-B82A-F03A-6071-FBCAA61A59D5}"/>
              </a:ext>
            </a:extLst>
          </p:cNvPr>
          <p:cNvCxnSpPr/>
          <p:nvPr/>
        </p:nvCxnSpPr>
        <p:spPr>
          <a:xfrm>
            <a:off x="825500" y="1778000"/>
            <a:ext cx="0" cy="1168400"/>
          </a:xfrm>
          <a:prstGeom prst="line">
            <a:avLst/>
          </a:prstGeom>
          <a:ln w="38100">
            <a:solidFill>
              <a:srgbClr val="D5DBE0"/>
            </a:solidFill>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4D09139-2AAD-B236-6E75-9D962516DDB0}"/>
              </a:ext>
            </a:extLst>
          </p:cNvPr>
          <p:cNvSpPr/>
          <p:nvPr/>
        </p:nvSpPr>
        <p:spPr>
          <a:xfrm>
            <a:off x="647700" y="1625600"/>
            <a:ext cx="355600" cy="355600"/>
          </a:xfrm>
          <a:prstGeom prst="ellipse">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200" b="1">
                <a:solidFill>
                  <a:srgbClr val="FFFFFF"/>
                </a:solidFill>
                <a:latin typeface="Calibri" panose="020F0502020204030204" pitchFamily="34" charset="0"/>
              </a:rPr>
              <a:t>1</a:t>
            </a:r>
          </a:p>
        </p:txBody>
      </p:sp>
      <p:sp>
        <p:nvSpPr>
          <p:cNvPr id="6" name="TextBox 5">
            <a:extLst>
              <a:ext uri="{FF2B5EF4-FFF2-40B4-BE49-F238E27FC236}">
                <a16:creationId xmlns:a16="http://schemas.microsoft.com/office/drawing/2014/main" id="{D05E433F-151B-A1F2-A74E-EEBA700DDF87}"/>
              </a:ext>
            </a:extLst>
          </p:cNvPr>
          <p:cNvSpPr txBox="1"/>
          <p:nvPr/>
        </p:nvSpPr>
        <p:spPr>
          <a:xfrm>
            <a:off x="1219200" y="1625600"/>
            <a:ext cx="4572000" cy="369332"/>
          </a:xfrm>
          <a:prstGeom prst="rect">
            <a:avLst/>
          </a:prstGeom>
          <a:noFill/>
        </p:spPr>
        <p:txBody>
          <a:bodyPr vert="horz" wrap="square" lIns="0" tIns="0" rIns="0" bIns="0" rtlCol="0" anchor="t">
            <a:noAutofit/>
          </a:bodyPr>
          <a:lstStyle/>
          <a:p>
            <a:r>
              <a:rPr lang="en-IN" sz="1600" b="1">
                <a:solidFill>
                  <a:srgbClr val="13293D"/>
                </a:solidFill>
                <a:latin typeface="Calibri" panose="020F0502020204030204" pitchFamily="34" charset="0"/>
              </a:rPr>
              <a:t>Add order export service</a:t>
            </a:r>
          </a:p>
        </p:txBody>
      </p:sp>
      <p:sp>
        <p:nvSpPr>
          <p:cNvPr id="7" name="TextBox 6">
            <a:extLst>
              <a:ext uri="{FF2B5EF4-FFF2-40B4-BE49-F238E27FC236}">
                <a16:creationId xmlns:a16="http://schemas.microsoft.com/office/drawing/2014/main" id="{4A9846C2-B73B-6AF1-4A75-FDBC8FDBAD8D}"/>
              </a:ext>
            </a:extLst>
          </p:cNvPr>
          <p:cNvSpPr txBox="1"/>
          <p:nvPr/>
        </p:nvSpPr>
        <p:spPr>
          <a:xfrm>
            <a:off x="1219200" y="1930400"/>
            <a:ext cx="4572000" cy="369332"/>
          </a:xfrm>
          <a:prstGeom prst="rect">
            <a:avLst/>
          </a:prstGeom>
          <a:noFill/>
        </p:spPr>
        <p:txBody>
          <a:bodyPr vert="horz" wrap="square" lIns="0" tIns="0" rIns="0" bIns="0" rtlCol="0" anchor="t">
            <a:noAutofit/>
          </a:bodyPr>
          <a:lstStyle/>
          <a:p>
            <a:r>
              <a:rPr lang="en-US" sz="1400">
                <a:solidFill>
                  <a:srgbClr val="E4572E"/>
                </a:solidFill>
                <a:latin typeface="Calibri" panose="020F0502020204030204" pitchFamily="34" charset="0"/>
              </a:rPr>
              <a:t>config.py contains an AWS key and a password</a:t>
            </a:r>
            <a:endParaRPr lang="en-IN" sz="1400">
              <a:solidFill>
                <a:srgbClr val="E4572E"/>
              </a:solidFill>
              <a:latin typeface="Calibri" panose="020F0502020204030204" pitchFamily="34" charset="0"/>
            </a:endParaRPr>
          </a:p>
        </p:txBody>
      </p:sp>
      <p:sp>
        <p:nvSpPr>
          <p:cNvPr id="8" name="Oval 7">
            <a:extLst>
              <a:ext uri="{FF2B5EF4-FFF2-40B4-BE49-F238E27FC236}">
                <a16:creationId xmlns:a16="http://schemas.microsoft.com/office/drawing/2014/main" id="{98986B2F-F12A-65AE-E8ED-D47997B49E6C}"/>
              </a:ext>
            </a:extLst>
          </p:cNvPr>
          <p:cNvSpPr/>
          <p:nvPr/>
        </p:nvSpPr>
        <p:spPr>
          <a:xfrm>
            <a:off x="647700" y="2717800"/>
            <a:ext cx="355600" cy="355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200" b="1">
                <a:solidFill>
                  <a:srgbClr val="FFFFFF"/>
                </a:solidFill>
                <a:latin typeface="Calibri" panose="020F0502020204030204" pitchFamily="34" charset="0"/>
              </a:rPr>
              <a:t>2</a:t>
            </a:r>
          </a:p>
        </p:txBody>
      </p:sp>
      <p:sp>
        <p:nvSpPr>
          <p:cNvPr id="9" name="TextBox 8">
            <a:extLst>
              <a:ext uri="{FF2B5EF4-FFF2-40B4-BE49-F238E27FC236}">
                <a16:creationId xmlns:a16="http://schemas.microsoft.com/office/drawing/2014/main" id="{A7E8C4AE-A023-05BA-1FCA-FB2AF59657E0}"/>
              </a:ext>
            </a:extLst>
          </p:cNvPr>
          <p:cNvSpPr txBox="1"/>
          <p:nvPr/>
        </p:nvSpPr>
        <p:spPr>
          <a:xfrm>
            <a:off x="1219200" y="2717800"/>
            <a:ext cx="4572000" cy="369332"/>
          </a:xfrm>
          <a:prstGeom prst="rect">
            <a:avLst/>
          </a:prstGeom>
          <a:noFill/>
        </p:spPr>
        <p:txBody>
          <a:bodyPr vert="horz" wrap="square" lIns="0" tIns="0" rIns="0" bIns="0" rtlCol="0" anchor="t">
            <a:noAutofit/>
          </a:bodyPr>
          <a:lstStyle/>
          <a:p>
            <a:r>
              <a:rPr lang="en-US" sz="1600" b="1">
                <a:solidFill>
                  <a:srgbClr val="13293D"/>
                </a:solidFill>
                <a:latin typeface="Calibri" panose="020F0502020204030204" pitchFamily="34" charset="0"/>
              </a:rPr>
              <a:t>Move secrets to environment variables</a:t>
            </a:r>
            <a:endParaRPr lang="en-IN" sz="1600" b="1">
              <a:solidFill>
                <a:srgbClr val="13293D"/>
              </a:solidFill>
              <a:latin typeface="Calibri" panose="020F0502020204030204" pitchFamily="34" charset="0"/>
            </a:endParaRPr>
          </a:p>
        </p:txBody>
      </p:sp>
      <p:sp>
        <p:nvSpPr>
          <p:cNvPr id="10" name="TextBox 9">
            <a:extLst>
              <a:ext uri="{FF2B5EF4-FFF2-40B4-BE49-F238E27FC236}">
                <a16:creationId xmlns:a16="http://schemas.microsoft.com/office/drawing/2014/main" id="{2C840018-ED20-7F1D-609B-47C1752A9502}"/>
              </a:ext>
            </a:extLst>
          </p:cNvPr>
          <p:cNvSpPr txBox="1"/>
          <p:nvPr/>
        </p:nvSpPr>
        <p:spPr>
          <a:xfrm>
            <a:off x="1219200" y="3022600"/>
            <a:ext cx="4572000" cy="369332"/>
          </a:xfrm>
          <a:prstGeom prst="rect">
            <a:avLst/>
          </a:prstGeom>
          <a:noFill/>
        </p:spPr>
        <p:txBody>
          <a:bodyPr vert="horz" wrap="square" lIns="0" tIns="0" rIns="0" bIns="0" rtlCol="0" anchor="t">
            <a:noAutofit/>
          </a:bodyPr>
          <a:lstStyle/>
          <a:p>
            <a:r>
              <a:rPr lang="en-US" sz="1400">
                <a:solidFill>
                  <a:srgbClr val="1B998B"/>
                </a:solidFill>
                <a:latin typeface="Calibri" panose="020F0502020204030204" pitchFamily="34" charset="0"/>
              </a:rPr>
              <a:t>The current files are now clean</a:t>
            </a:r>
            <a:endParaRPr lang="en-IN" sz="1400">
              <a:solidFill>
                <a:srgbClr val="1B998B"/>
              </a:solidFill>
              <a:latin typeface="Calibri" panose="020F0502020204030204" pitchFamily="34" charset="0"/>
            </a:endParaRPr>
          </a:p>
        </p:txBody>
      </p:sp>
      <p:sp>
        <p:nvSpPr>
          <p:cNvPr id="11" name="Rectangle: Rounded Corners 10">
            <a:extLst>
              <a:ext uri="{FF2B5EF4-FFF2-40B4-BE49-F238E27FC236}">
                <a16:creationId xmlns:a16="http://schemas.microsoft.com/office/drawing/2014/main" id="{28B13D75-619E-FA91-37DD-12F69A32BAEB}"/>
              </a:ext>
            </a:extLst>
          </p:cNvPr>
          <p:cNvSpPr/>
          <p:nvPr/>
        </p:nvSpPr>
        <p:spPr>
          <a:xfrm>
            <a:off x="609600" y="3683000"/>
            <a:ext cx="5207000" cy="15240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EAA63F7A-EEA7-1457-76E4-79D12EA7C2DA}"/>
              </a:ext>
            </a:extLst>
          </p:cNvPr>
          <p:cNvSpPr txBox="1"/>
          <p:nvPr/>
        </p:nvSpPr>
        <p:spPr>
          <a:xfrm>
            <a:off x="914400" y="3911600"/>
            <a:ext cx="4572000" cy="369332"/>
          </a:xfrm>
          <a:prstGeom prst="rect">
            <a:avLst/>
          </a:prstGeom>
          <a:noFill/>
        </p:spPr>
        <p:txBody>
          <a:bodyPr vert="horz" wrap="square" lIns="0" tIns="0" rIns="0" bIns="0" rtlCol="0" anchor="t">
            <a:noAutofit/>
          </a:bodyPr>
          <a:lstStyle/>
          <a:p>
            <a:r>
              <a:rPr lang="en-IN" sz="1600">
                <a:solidFill>
                  <a:srgbClr val="1E2A35"/>
                </a:solidFill>
                <a:latin typeface="Consolas" panose="020B0609020204030204" pitchFamily="49" charset="0"/>
              </a:rPr>
              <a:t>gitleaks git -v</a:t>
            </a:r>
          </a:p>
        </p:txBody>
      </p:sp>
      <p:sp>
        <p:nvSpPr>
          <p:cNvPr id="13" name="TextBox 12">
            <a:extLst>
              <a:ext uri="{FF2B5EF4-FFF2-40B4-BE49-F238E27FC236}">
                <a16:creationId xmlns:a16="http://schemas.microsoft.com/office/drawing/2014/main" id="{E38FE877-7C45-A25E-028D-7885D2BA6AB7}"/>
              </a:ext>
            </a:extLst>
          </p:cNvPr>
          <p:cNvSpPr txBox="1"/>
          <p:nvPr/>
        </p:nvSpPr>
        <p:spPr>
          <a:xfrm>
            <a:off x="914400" y="4318000"/>
            <a:ext cx="4597400" cy="369332"/>
          </a:xfrm>
          <a:prstGeom prst="rect">
            <a:avLst/>
          </a:prstGeom>
          <a:noFill/>
        </p:spPr>
        <p:txBody>
          <a:bodyPr vert="horz" wrap="square" lIns="0" tIns="0" rIns="0" bIns="0" rtlCol="0" anchor="t">
            <a:noAutofit/>
          </a:bodyPr>
          <a:lstStyle/>
          <a:p>
            <a:r>
              <a:rPr lang="en-US" sz="1500" b="1">
                <a:solidFill>
                  <a:srgbClr val="E4572E"/>
                </a:solidFill>
                <a:latin typeface="Calibri" panose="020F0502020204030204" pitchFamily="34" charset="0"/>
              </a:rPr>
              <a:t>Leak still found in commit 1. Anyone with a clone, a fork or a backup still has the key.</a:t>
            </a:r>
            <a:endParaRPr lang="en-IN" sz="1500" b="1">
              <a:solidFill>
                <a:srgbClr val="E4572E"/>
              </a:solidFill>
              <a:latin typeface="Calibri" panose="020F0502020204030204" pitchFamily="34" charset="0"/>
            </a:endParaRPr>
          </a:p>
        </p:txBody>
      </p:sp>
      <p:sp>
        <p:nvSpPr>
          <p:cNvPr id="14" name="TextBox 13">
            <a:extLst>
              <a:ext uri="{FF2B5EF4-FFF2-40B4-BE49-F238E27FC236}">
                <a16:creationId xmlns:a16="http://schemas.microsoft.com/office/drawing/2014/main" id="{590762CE-0044-EB33-BEA8-2C654165BB3E}"/>
              </a:ext>
            </a:extLst>
          </p:cNvPr>
          <p:cNvSpPr txBox="1"/>
          <p:nvPr/>
        </p:nvSpPr>
        <p:spPr>
          <a:xfrm>
            <a:off x="6502400" y="1320800"/>
            <a:ext cx="5080000" cy="369332"/>
          </a:xfrm>
          <a:prstGeom prst="rect">
            <a:avLst/>
          </a:prstGeom>
          <a:noFill/>
        </p:spPr>
        <p:txBody>
          <a:bodyPr vert="horz" wrap="square" lIns="0" tIns="0" rIns="0" bIns="0" rtlCol="0" anchor="t">
            <a:noAutofit/>
          </a:bodyPr>
          <a:lstStyle/>
          <a:p>
            <a:r>
              <a:rPr lang="en-US" sz="2000" b="1">
                <a:solidFill>
                  <a:srgbClr val="13293D"/>
                </a:solidFill>
                <a:latin typeface="Calibri" panose="020F0502020204030204" pitchFamily="34" charset="0"/>
              </a:rPr>
              <a:t>If a secret was pushed</a:t>
            </a:r>
            <a:endParaRPr lang="en-IN" sz="2000" b="1">
              <a:solidFill>
                <a:srgbClr val="13293D"/>
              </a:solidFill>
              <a:latin typeface="Calibri" panose="020F0502020204030204" pitchFamily="34" charset="0"/>
            </a:endParaRPr>
          </a:p>
        </p:txBody>
      </p:sp>
      <p:sp>
        <p:nvSpPr>
          <p:cNvPr id="15" name="Oval 14">
            <a:extLst>
              <a:ext uri="{FF2B5EF4-FFF2-40B4-BE49-F238E27FC236}">
                <a16:creationId xmlns:a16="http://schemas.microsoft.com/office/drawing/2014/main" id="{FF72F0FA-F343-B537-8FE9-022CFA36419E}"/>
              </a:ext>
            </a:extLst>
          </p:cNvPr>
          <p:cNvSpPr/>
          <p:nvPr/>
        </p:nvSpPr>
        <p:spPr>
          <a:xfrm>
            <a:off x="6502400" y="18796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1</a:t>
            </a:r>
          </a:p>
        </p:txBody>
      </p:sp>
      <p:sp>
        <p:nvSpPr>
          <p:cNvPr id="16" name="TextBox 15">
            <a:extLst>
              <a:ext uri="{FF2B5EF4-FFF2-40B4-BE49-F238E27FC236}">
                <a16:creationId xmlns:a16="http://schemas.microsoft.com/office/drawing/2014/main" id="{41BCE4E3-2F29-5D61-11B0-3980AF4F1748}"/>
              </a:ext>
            </a:extLst>
          </p:cNvPr>
          <p:cNvSpPr txBox="1"/>
          <p:nvPr/>
        </p:nvSpPr>
        <p:spPr>
          <a:xfrm>
            <a:off x="7137400" y="1892300"/>
            <a:ext cx="4445000" cy="369332"/>
          </a:xfrm>
          <a:prstGeom prst="rect">
            <a:avLst/>
          </a:prstGeom>
          <a:noFill/>
        </p:spPr>
        <p:txBody>
          <a:bodyPr vert="horz" wrap="square" lIns="0" tIns="0" rIns="0" bIns="0" rtlCol="0" anchor="t">
            <a:noAutofit/>
          </a:bodyPr>
          <a:lstStyle/>
          <a:p>
            <a:r>
              <a:rPr lang="en-US" sz="1700" b="1">
                <a:solidFill>
                  <a:srgbClr val="1E2A35"/>
                </a:solidFill>
                <a:latin typeface="Calibri" panose="020F0502020204030204" pitchFamily="34" charset="0"/>
              </a:rPr>
              <a:t>Revoke and rotate it first</a:t>
            </a:r>
            <a:endParaRPr lang="en-IN" sz="1700" b="1">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8DB1BEBC-2E64-17DA-B69A-191556677C7C}"/>
              </a:ext>
            </a:extLst>
          </p:cNvPr>
          <p:cNvSpPr txBox="1"/>
          <p:nvPr/>
        </p:nvSpPr>
        <p:spPr>
          <a:xfrm>
            <a:off x="7137400" y="21971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Nothing else makes the key safe</a:t>
            </a:r>
            <a:endParaRPr lang="en-IN" sz="1400">
              <a:solidFill>
                <a:srgbClr val="5B6B79"/>
              </a:solidFill>
              <a:latin typeface="Calibri" panose="020F0502020204030204" pitchFamily="34" charset="0"/>
            </a:endParaRPr>
          </a:p>
        </p:txBody>
      </p:sp>
      <p:sp>
        <p:nvSpPr>
          <p:cNvPr id="18" name="Oval 17">
            <a:extLst>
              <a:ext uri="{FF2B5EF4-FFF2-40B4-BE49-F238E27FC236}">
                <a16:creationId xmlns:a16="http://schemas.microsoft.com/office/drawing/2014/main" id="{487DE53D-8772-5ACC-F176-0315C2098E0B}"/>
              </a:ext>
            </a:extLst>
          </p:cNvPr>
          <p:cNvSpPr/>
          <p:nvPr/>
        </p:nvSpPr>
        <p:spPr>
          <a:xfrm>
            <a:off x="6502400" y="27178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2</a:t>
            </a:r>
          </a:p>
        </p:txBody>
      </p:sp>
      <p:sp>
        <p:nvSpPr>
          <p:cNvPr id="19" name="TextBox 18">
            <a:extLst>
              <a:ext uri="{FF2B5EF4-FFF2-40B4-BE49-F238E27FC236}">
                <a16:creationId xmlns:a16="http://schemas.microsoft.com/office/drawing/2014/main" id="{555A2DA7-270D-E126-3409-5E7DC6A2D7B6}"/>
              </a:ext>
            </a:extLst>
          </p:cNvPr>
          <p:cNvSpPr txBox="1"/>
          <p:nvPr/>
        </p:nvSpPr>
        <p:spPr>
          <a:xfrm>
            <a:off x="7137400" y="2730500"/>
            <a:ext cx="4445000" cy="369332"/>
          </a:xfrm>
          <a:prstGeom prst="rect">
            <a:avLst/>
          </a:prstGeom>
          <a:noFill/>
        </p:spPr>
        <p:txBody>
          <a:bodyPr vert="horz" wrap="square" lIns="0" tIns="0" rIns="0" bIns="0" rtlCol="0" anchor="t">
            <a:noAutofit/>
          </a:bodyPr>
          <a:lstStyle/>
          <a:p>
            <a:r>
              <a:rPr lang="en-US" sz="1700" b="1">
                <a:solidFill>
                  <a:srgbClr val="1E2A35"/>
                </a:solidFill>
                <a:latin typeface="Calibri" panose="020F0502020204030204" pitchFamily="34" charset="0"/>
              </a:rPr>
              <a:t>Check whether it was used</a:t>
            </a:r>
            <a:endParaRPr lang="en-IN" sz="1700" b="1">
              <a:solidFill>
                <a:srgbClr val="1E2A35"/>
              </a:solidFill>
              <a:latin typeface="Calibri" panose="020F0502020204030204" pitchFamily="34" charset="0"/>
            </a:endParaRPr>
          </a:p>
        </p:txBody>
      </p:sp>
      <p:sp>
        <p:nvSpPr>
          <p:cNvPr id="20" name="TextBox 19">
            <a:extLst>
              <a:ext uri="{FF2B5EF4-FFF2-40B4-BE49-F238E27FC236}">
                <a16:creationId xmlns:a16="http://schemas.microsoft.com/office/drawing/2014/main" id="{F0205048-FD1B-726C-9634-266357D57275}"/>
              </a:ext>
            </a:extLst>
          </p:cNvPr>
          <p:cNvSpPr txBox="1"/>
          <p:nvPr/>
        </p:nvSpPr>
        <p:spPr>
          <a:xfrm>
            <a:off x="7137400" y="30353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For AWS: look it up in CloudTrail</a:t>
            </a:r>
            <a:endParaRPr lang="en-IN" sz="1400">
              <a:solidFill>
                <a:srgbClr val="5B6B79"/>
              </a:solidFill>
              <a:latin typeface="Calibri" panose="020F0502020204030204" pitchFamily="34" charset="0"/>
            </a:endParaRPr>
          </a:p>
        </p:txBody>
      </p:sp>
      <p:sp>
        <p:nvSpPr>
          <p:cNvPr id="21" name="Oval 20">
            <a:extLst>
              <a:ext uri="{FF2B5EF4-FFF2-40B4-BE49-F238E27FC236}">
                <a16:creationId xmlns:a16="http://schemas.microsoft.com/office/drawing/2014/main" id="{AC08AB7A-7162-735D-B529-28EE1318FA78}"/>
              </a:ext>
            </a:extLst>
          </p:cNvPr>
          <p:cNvSpPr/>
          <p:nvPr/>
        </p:nvSpPr>
        <p:spPr>
          <a:xfrm>
            <a:off x="6502400" y="35560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3</a:t>
            </a:r>
          </a:p>
        </p:txBody>
      </p:sp>
      <p:sp>
        <p:nvSpPr>
          <p:cNvPr id="22" name="TextBox 21">
            <a:extLst>
              <a:ext uri="{FF2B5EF4-FFF2-40B4-BE49-F238E27FC236}">
                <a16:creationId xmlns:a16="http://schemas.microsoft.com/office/drawing/2014/main" id="{CD20E01C-E49F-51D0-F786-CF0D71F0019A}"/>
              </a:ext>
            </a:extLst>
          </p:cNvPr>
          <p:cNvSpPr txBox="1"/>
          <p:nvPr/>
        </p:nvSpPr>
        <p:spPr>
          <a:xfrm>
            <a:off x="7137400" y="3568700"/>
            <a:ext cx="4445000" cy="369332"/>
          </a:xfrm>
          <a:prstGeom prst="rect">
            <a:avLst/>
          </a:prstGeom>
          <a:noFill/>
        </p:spPr>
        <p:txBody>
          <a:bodyPr vert="horz" wrap="square" lIns="0" tIns="0" rIns="0" bIns="0" rtlCol="0" anchor="t">
            <a:noAutofit/>
          </a:bodyPr>
          <a:lstStyle/>
          <a:p>
            <a:r>
              <a:rPr lang="en-IN" sz="1700" b="1">
                <a:solidFill>
                  <a:srgbClr val="1E2A35"/>
                </a:solidFill>
                <a:latin typeface="Calibri" panose="020F0502020204030204" pitchFamily="34" charset="0"/>
              </a:rPr>
              <a:t>Clean up the history</a:t>
            </a:r>
          </a:p>
        </p:txBody>
      </p:sp>
      <p:sp>
        <p:nvSpPr>
          <p:cNvPr id="23" name="TextBox 22">
            <a:extLst>
              <a:ext uri="{FF2B5EF4-FFF2-40B4-BE49-F238E27FC236}">
                <a16:creationId xmlns:a16="http://schemas.microsoft.com/office/drawing/2014/main" id="{E78B2EA2-C7FF-6368-8554-A1B4F507CF99}"/>
              </a:ext>
            </a:extLst>
          </p:cNvPr>
          <p:cNvSpPr txBox="1"/>
          <p:nvPr/>
        </p:nvSpPr>
        <p:spPr>
          <a:xfrm>
            <a:off x="7137400" y="3873500"/>
            <a:ext cx="4445000" cy="369332"/>
          </a:xfrm>
          <a:prstGeom prst="rect">
            <a:avLst/>
          </a:prstGeom>
          <a:noFill/>
        </p:spPr>
        <p:txBody>
          <a:bodyPr vert="horz" wrap="square" lIns="0" tIns="0" rIns="0" bIns="0" rtlCol="0" anchor="t">
            <a:noAutofit/>
          </a:bodyPr>
          <a:lstStyle/>
          <a:p>
            <a:r>
              <a:rPr lang="en-IN" sz="1400">
                <a:solidFill>
                  <a:srgbClr val="5B6B79"/>
                </a:solidFill>
                <a:latin typeface="Calibri" panose="020F0502020204030204" pitchFamily="34" charset="0"/>
              </a:rPr>
              <a:t>git filter-repo, then force-push</a:t>
            </a:r>
          </a:p>
        </p:txBody>
      </p:sp>
      <p:sp>
        <p:nvSpPr>
          <p:cNvPr id="24" name="Oval 23">
            <a:extLst>
              <a:ext uri="{FF2B5EF4-FFF2-40B4-BE49-F238E27FC236}">
                <a16:creationId xmlns:a16="http://schemas.microsoft.com/office/drawing/2014/main" id="{9896B1CA-E52D-8662-9ABA-BFF3DAE555F5}"/>
              </a:ext>
            </a:extLst>
          </p:cNvPr>
          <p:cNvSpPr/>
          <p:nvPr/>
        </p:nvSpPr>
        <p:spPr>
          <a:xfrm>
            <a:off x="6502400" y="4394200"/>
            <a:ext cx="457200" cy="457200"/>
          </a:xfrm>
          <a:prstGeom prst="ellipse">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500" b="1">
                <a:solidFill>
                  <a:srgbClr val="FFFFFF"/>
                </a:solidFill>
                <a:latin typeface="Calibri" panose="020F0502020204030204" pitchFamily="34" charset="0"/>
              </a:rPr>
              <a:t>4</a:t>
            </a:r>
          </a:p>
        </p:txBody>
      </p:sp>
      <p:sp>
        <p:nvSpPr>
          <p:cNvPr id="25" name="TextBox 24">
            <a:extLst>
              <a:ext uri="{FF2B5EF4-FFF2-40B4-BE49-F238E27FC236}">
                <a16:creationId xmlns:a16="http://schemas.microsoft.com/office/drawing/2014/main" id="{D4C0FDAA-50C1-C719-A11D-CF97387F796C}"/>
              </a:ext>
            </a:extLst>
          </p:cNvPr>
          <p:cNvSpPr txBox="1"/>
          <p:nvPr/>
        </p:nvSpPr>
        <p:spPr>
          <a:xfrm>
            <a:off x="7137400" y="4406900"/>
            <a:ext cx="4445000" cy="369332"/>
          </a:xfrm>
          <a:prstGeom prst="rect">
            <a:avLst/>
          </a:prstGeom>
          <a:noFill/>
        </p:spPr>
        <p:txBody>
          <a:bodyPr vert="horz" wrap="square" lIns="0" tIns="0" rIns="0" bIns="0" rtlCol="0" anchor="t">
            <a:noAutofit/>
          </a:bodyPr>
          <a:lstStyle/>
          <a:p>
            <a:r>
              <a:rPr lang="en-IN" sz="1700" b="1">
                <a:solidFill>
                  <a:srgbClr val="1E2A35"/>
                </a:solidFill>
                <a:latin typeface="Calibri" panose="020F0502020204030204" pitchFamily="34" charset="0"/>
              </a:rPr>
              <a:t>Prevent the next one</a:t>
            </a:r>
          </a:p>
        </p:txBody>
      </p:sp>
      <p:sp>
        <p:nvSpPr>
          <p:cNvPr id="26" name="TextBox 25">
            <a:extLst>
              <a:ext uri="{FF2B5EF4-FFF2-40B4-BE49-F238E27FC236}">
                <a16:creationId xmlns:a16="http://schemas.microsoft.com/office/drawing/2014/main" id="{8092B22F-785F-D315-4937-31DB2CA4E00D}"/>
              </a:ext>
            </a:extLst>
          </p:cNvPr>
          <p:cNvSpPr txBox="1"/>
          <p:nvPr/>
        </p:nvSpPr>
        <p:spPr>
          <a:xfrm>
            <a:off x="7137400" y="4711700"/>
            <a:ext cx="4445000" cy="369332"/>
          </a:xfrm>
          <a:prstGeom prst="rect">
            <a:avLst/>
          </a:prstGeom>
          <a:noFill/>
        </p:spPr>
        <p:txBody>
          <a:bodyPr vert="horz" wrap="square" lIns="0" tIns="0" rIns="0" bIns="0" rtlCol="0" anchor="t">
            <a:noAutofit/>
          </a:bodyPr>
          <a:lstStyle/>
          <a:p>
            <a:r>
              <a:rPr lang="en-US" sz="1400">
                <a:solidFill>
                  <a:srgbClr val="5B6B79"/>
                </a:solidFill>
                <a:latin typeface="Calibri" panose="020F0502020204030204" pitchFamily="34" charset="0"/>
              </a:rPr>
              <a:t>Pre-commit hook, plus the same scan in CI</a:t>
            </a:r>
            <a:endParaRPr lang="en-IN" sz="1400">
              <a:solidFill>
                <a:srgbClr val="5B6B79"/>
              </a:solidFill>
              <a:latin typeface="Calibri" panose="020F0502020204030204" pitchFamily="34" charset="0"/>
            </a:endParaRPr>
          </a:p>
        </p:txBody>
      </p:sp>
      <p:sp>
        <p:nvSpPr>
          <p:cNvPr id="27" name="TextBox 26">
            <a:extLst>
              <a:ext uri="{FF2B5EF4-FFF2-40B4-BE49-F238E27FC236}">
                <a16:creationId xmlns:a16="http://schemas.microsoft.com/office/drawing/2014/main" id="{0520F1F3-DC03-83CC-75A3-E187C1FC2749}"/>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8" name="TextBox 27">
            <a:extLst>
              <a:ext uri="{FF2B5EF4-FFF2-40B4-BE49-F238E27FC236}">
                <a16:creationId xmlns:a16="http://schemas.microsoft.com/office/drawing/2014/main" id="{DF4CA74F-CABD-8AF6-B35D-8680A7A32253}"/>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14</a:t>
            </a:r>
          </a:p>
        </p:txBody>
      </p:sp>
    </p:spTree>
    <p:extLst>
      <p:ext uri="{BB962C8B-B14F-4D97-AF65-F5344CB8AC3E}">
        <p14:creationId xmlns:p14="http://schemas.microsoft.com/office/powerpoint/2010/main" val="23584083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ADEC69-EB8B-826F-45D3-25EE77775865}"/>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Lab 1 · Commands</a:t>
            </a:r>
          </a:p>
        </p:txBody>
      </p:sp>
      <p:sp>
        <p:nvSpPr>
          <p:cNvPr id="3" name="TextBox 2">
            <a:extLst>
              <a:ext uri="{FF2B5EF4-FFF2-40B4-BE49-F238E27FC236}">
                <a16:creationId xmlns:a16="http://schemas.microsoft.com/office/drawing/2014/main" id="{8006D8AE-22E7-2447-9A48-520F8E770A0A}"/>
              </a:ext>
            </a:extLst>
          </p:cNvPr>
          <p:cNvSpPr txBox="1"/>
          <p:nvPr/>
        </p:nvSpPr>
        <p:spPr>
          <a:xfrm>
            <a:off x="609600" y="1016000"/>
            <a:ext cx="10972800" cy="369332"/>
          </a:xfrm>
          <a:prstGeom prst="rect">
            <a:avLst/>
          </a:prstGeom>
          <a:noFill/>
        </p:spPr>
        <p:txBody>
          <a:bodyPr vert="horz" wrap="square" lIns="0" tIns="0" rIns="0" bIns="0" rtlCol="0" anchor="t">
            <a:noAutofit/>
          </a:bodyPr>
          <a:lstStyle/>
          <a:p>
            <a:r>
              <a:rPr lang="en-US" sz="1600">
                <a:solidFill>
                  <a:srgbClr val="5B6B79"/>
                </a:solidFill>
                <a:latin typeface="Calibri" panose="020F0502020204030204" pitchFamily="34" charset="0"/>
              </a:rPr>
              <a:t>In the toolbox, which starts in the repo folder. Reset afterwards: see COMMANDS.md.</a:t>
            </a:r>
            <a:endParaRPr lang="en-IN" sz="1600">
              <a:solidFill>
                <a:srgbClr val="5B6B79"/>
              </a:solidFill>
              <a:latin typeface="Calibri" panose="020F0502020204030204" pitchFamily="34" charset="0"/>
            </a:endParaRPr>
          </a:p>
        </p:txBody>
      </p:sp>
      <p:sp>
        <p:nvSpPr>
          <p:cNvPr id="4" name="Rectangle: Rounded Corners 3">
            <a:extLst>
              <a:ext uri="{FF2B5EF4-FFF2-40B4-BE49-F238E27FC236}">
                <a16:creationId xmlns:a16="http://schemas.microsoft.com/office/drawing/2014/main" id="{79658458-1BCA-F469-882B-72C1287BFFBD}"/>
              </a:ext>
            </a:extLst>
          </p:cNvPr>
          <p:cNvSpPr/>
          <p:nvPr/>
        </p:nvSpPr>
        <p:spPr>
          <a:xfrm>
            <a:off x="609600" y="1422400"/>
            <a:ext cx="10972800" cy="3451225"/>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A87A5FE-663C-2137-D6E5-AF10C17DE6CE}"/>
              </a:ext>
            </a:extLst>
          </p:cNvPr>
          <p:cNvSpPr txBox="1"/>
          <p:nvPr/>
        </p:nvSpPr>
        <p:spPr>
          <a:xfrm>
            <a:off x="863600" y="1600200"/>
            <a:ext cx="10464800" cy="369332"/>
          </a:xfrm>
          <a:prstGeom prst="rect">
            <a:avLst/>
          </a:prstGeom>
          <a:noFill/>
        </p:spPr>
        <p:txBody>
          <a:bodyPr vert="horz" wrap="square" lIns="0" tIns="0" rIns="0" bIns="0" rtlCol="0" anchor="t">
            <a:noAutofit/>
          </a:bodyPr>
          <a:lstStyle/>
          <a:p>
            <a:r>
              <a:rPr lang="en-IN" sz="1300">
                <a:solidFill>
                  <a:srgbClr val="FFFFFF"/>
                </a:solidFill>
                <a:latin typeface="Consolas" panose="020B0609020204030204" pitchFamily="49" charset="0"/>
              </a:rPr>
              <a:t>cd labs/lab1-secrets/start</a:t>
            </a:r>
          </a:p>
          <a:p>
            <a:r>
              <a:rPr lang="en-IN" sz="1300">
                <a:solidFill>
                  <a:srgbClr val="FFFFFF"/>
                </a:solidFill>
                <a:latin typeface="Consolas" panose="020B0609020204030204" pitchFamily="49" charset="0"/>
              </a:rPr>
              <a:t>git init -q &amp;&amp; git add . &amp;&amp; git commit -qm "Add order export service"</a:t>
            </a:r>
          </a:p>
          <a:p>
            <a:r>
              <a:rPr lang="en-IN" sz="1300">
                <a:solidFill>
                  <a:srgbClr val="FFFFFF"/>
                </a:solidFill>
                <a:latin typeface="Consolas" panose="020B0609020204030204" pitchFamily="49" charset="0"/>
              </a:rPr>
              <a:t>gitleaks git -v                 </a:t>
            </a:r>
            <a:r>
              <a:rPr lang="en-IN" sz="1300">
                <a:solidFill>
                  <a:srgbClr val="8FD3C9"/>
                </a:solidFill>
                <a:latin typeface="Consolas" panose="020B0609020204030204" pitchFamily="49" charset="0"/>
              </a:rPr>
              <a:t>   # leak found</a:t>
            </a:r>
          </a:p>
          <a:p>
            <a:r>
              <a:rPr lang="en-IN" sz="1300">
                <a:solidFill>
                  <a:srgbClr val="FFFFFF"/>
                </a:solidFill>
                <a:latin typeface="Consolas" panose="020B0609020204030204" pitchFamily="49" charset="0"/>
              </a:rPr>
              <a:t>cp -r ../solution/. .</a:t>
            </a:r>
          </a:p>
          <a:p>
            <a:r>
              <a:rPr lang="en-IN" sz="1300">
                <a:solidFill>
                  <a:srgbClr val="FFFFFF"/>
                </a:solidFill>
                <a:latin typeface="Consolas" panose="020B0609020204030204" pitchFamily="49" charset="0"/>
              </a:rPr>
              <a:t>git add -A &amp;&amp; git commit -qm "Move secrets to environment variables"</a:t>
            </a:r>
          </a:p>
          <a:p>
            <a:r>
              <a:rPr lang="en-IN" sz="1300">
                <a:solidFill>
                  <a:srgbClr val="FFFFFF"/>
                </a:solidFill>
                <a:latin typeface="Consolas" panose="020B0609020204030204" pitchFamily="49" charset="0"/>
              </a:rPr>
              <a:t>gitleaks dir .                  </a:t>
            </a:r>
            <a:r>
              <a:rPr lang="en-IN" sz="1300">
                <a:solidFill>
                  <a:srgbClr val="8FD3C9"/>
                </a:solidFill>
                <a:latin typeface="Consolas" panose="020B0609020204030204" pitchFamily="49" charset="0"/>
              </a:rPr>
              <a:t>   # current files: clean</a:t>
            </a:r>
          </a:p>
          <a:p>
            <a:r>
              <a:rPr lang="en-IN" sz="1300">
                <a:solidFill>
                  <a:srgbClr val="FFFFFF"/>
                </a:solidFill>
                <a:latin typeface="Consolas" panose="020B0609020204030204" pitchFamily="49" charset="0"/>
              </a:rPr>
              <a:t>gitleaks git -v                 </a:t>
            </a:r>
            <a:r>
              <a:rPr lang="en-IN" sz="1300">
                <a:solidFill>
                  <a:srgbClr val="8FD3C9"/>
                </a:solidFill>
                <a:latin typeface="Consolas" panose="020B0609020204030204" pitchFamily="49" charset="0"/>
              </a:rPr>
              <a:t>   # history: still found</a:t>
            </a:r>
          </a:p>
          <a:p>
            <a:r>
              <a:rPr lang="en-IN" sz="1300">
                <a:solidFill>
                  <a:srgbClr val="8FD3C9"/>
                </a:solidFill>
                <a:latin typeface="Consolas" panose="020B0609020204030204" pitchFamily="49" charset="0"/>
              </a:rPr>
              <a:t># Add a pre-commit hook that blocks secrets</a:t>
            </a:r>
          </a:p>
          <a:p>
            <a:r>
              <a:rPr lang="en-IN" sz="1300">
                <a:solidFill>
                  <a:srgbClr val="FFFFFF"/>
                </a:solidFill>
                <a:latin typeface="Consolas" panose="020B0609020204030204" pitchFamily="49" charset="0"/>
              </a:rPr>
              <a:t>cat &gt; .git/hooks/pre-commit &lt;&lt;'EOF'</a:t>
            </a:r>
          </a:p>
          <a:p>
            <a:r>
              <a:rPr lang="en-IN" sz="1300">
                <a:solidFill>
                  <a:srgbClr val="8FD3C9"/>
                </a:solidFill>
                <a:latin typeface="Consolas" panose="020B0609020204030204" pitchFamily="49" charset="0"/>
              </a:rPr>
              <a:t>#!/bin/sh</a:t>
            </a:r>
          </a:p>
          <a:p>
            <a:r>
              <a:rPr lang="en-IN" sz="1300">
                <a:solidFill>
                  <a:srgbClr val="FFFFFF"/>
                </a:solidFill>
                <a:latin typeface="Consolas" panose="020B0609020204030204" pitchFamily="49" charset="0"/>
              </a:rPr>
              <a:t>exec gitleaks git --pre-commit --staged --redact -v</a:t>
            </a:r>
          </a:p>
          <a:p>
            <a:r>
              <a:rPr lang="en-IN" sz="1300">
                <a:solidFill>
                  <a:srgbClr val="FFFFFF"/>
                </a:solidFill>
                <a:latin typeface="Consolas" panose="020B0609020204030204" pitchFamily="49" charset="0"/>
              </a:rPr>
              <a:t>EOF</a:t>
            </a:r>
          </a:p>
          <a:p>
            <a:r>
              <a:rPr lang="en-IN" sz="1300">
                <a:solidFill>
                  <a:srgbClr val="FFFFFF"/>
                </a:solidFill>
                <a:latin typeface="Consolas" panose="020B0609020204030204" pitchFamily="49" charset="0"/>
              </a:rPr>
              <a:t>chmod +x .git/hooks/pre-commit</a:t>
            </a:r>
          </a:p>
          <a:p>
            <a:r>
              <a:rPr lang="en-IN" sz="1300">
                <a:solidFill>
                  <a:srgbClr val="FFFFFF"/>
                </a:solidFill>
                <a:latin typeface="Consolas" panose="020B0609020204030204" pitchFamily="49" charset="0"/>
              </a:rPr>
              <a:t>echo 'BACKUP_KEY = "AKIARZ5TQW7XKMB3NPLD"' &gt; app/backup.py</a:t>
            </a:r>
          </a:p>
          <a:p>
            <a:r>
              <a:rPr lang="en-IN" sz="1300">
                <a:solidFill>
                  <a:srgbClr val="FFFFFF"/>
                </a:solidFill>
                <a:latin typeface="Consolas" panose="020B0609020204030204" pitchFamily="49" charset="0"/>
              </a:rPr>
              <a:t>git add app/backup.py &amp;&amp; git commit -m "Add backup job"</a:t>
            </a:r>
            <a:r>
              <a:rPr lang="en-IN" sz="1300">
                <a:solidFill>
                  <a:srgbClr val="8FD3C9"/>
                </a:solidFill>
                <a:latin typeface="Consolas" panose="020B0609020204030204" pitchFamily="49" charset="0"/>
              </a:rPr>
              <a:t>   # blocked</a:t>
            </a:r>
          </a:p>
        </p:txBody>
      </p:sp>
      <p:sp>
        <p:nvSpPr>
          <p:cNvPr id="6" name="TextBox 5">
            <a:extLst>
              <a:ext uri="{FF2B5EF4-FFF2-40B4-BE49-F238E27FC236}">
                <a16:creationId xmlns:a16="http://schemas.microsoft.com/office/drawing/2014/main" id="{D168536F-BE92-A9B5-CB0E-13FD07D6153B}"/>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7" name="TextBox 6">
            <a:extLst>
              <a:ext uri="{FF2B5EF4-FFF2-40B4-BE49-F238E27FC236}">
                <a16:creationId xmlns:a16="http://schemas.microsoft.com/office/drawing/2014/main" id="{045543DF-F520-C844-B1BD-60288133B171}"/>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15</a:t>
            </a:r>
          </a:p>
        </p:txBody>
      </p:sp>
    </p:spTree>
    <p:extLst>
      <p:ext uri="{BB962C8B-B14F-4D97-AF65-F5344CB8AC3E}">
        <p14:creationId xmlns:p14="http://schemas.microsoft.com/office/powerpoint/2010/main" val="11954800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47C4B8D-2CBC-E30D-57BA-0F3174E654BF}"/>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02</a:t>
            </a:r>
          </a:p>
        </p:txBody>
      </p:sp>
      <p:sp>
        <p:nvSpPr>
          <p:cNvPr id="3" name="TextBox 2">
            <a:extLst>
              <a:ext uri="{FF2B5EF4-FFF2-40B4-BE49-F238E27FC236}">
                <a16:creationId xmlns:a16="http://schemas.microsoft.com/office/drawing/2014/main" id="{8C4BB0DA-A4A2-9309-51F8-DB71BA5B04A1}"/>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Insecure code</a:t>
            </a:r>
          </a:p>
        </p:txBody>
      </p:sp>
      <p:sp>
        <p:nvSpPr>
          <p:cNvPr id="4" name="TextBox 3">
            <a:extLst>
              <a:ext uri="{FF2B5EF4-FFF2-40B4-BE49-F238E27FC236}">
                <a16:creationId xmlns:a16="http://schemas.microsoft.com/office/drawing/2014/main" id="{2C15107C-18E5-5C28-D024-5475217B32D4}"/>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Ordinary-looking Python with serious security bugs, and how SonarQube finds them</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CA56DB1A-DAC1-42DF-D578-25835FE871D6}"/>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US" sz="1600" b="1">
                <a:solidFill>
                  <a:srgbClr val="1B998B"/>
                </a:solidFill>
                <a:latin typeface="Calibri" panose="020F0502020204030204" pitchFamily="34" charset="0"/>
              </a:rPr>
              <a:t>Tool: SonarQube   ·   20 minutes walkthrough</a:t>
            </a:r>
            <a:endParaRPr lang="en-IN" sz="1600" b="1">
              <a:solidFill>
                <a:srgbClr val="1B998B"/>
              </a:solidFill>
              <a:latin typeface="Calibri" panose="020F0502020204030204" pitchFamily="34" charset="0"/>
            </a:endParaRPr>
          </a:p>
        </p:txBody>
      </p:sp>
    </p:spTree>
    <p:extLst>
      <p:ext uri="{BB962C8B-B14F-4D97-AF65-F5344CB8AC3E}">
        <p14:creationId xmlns:p14="http://schemas.microsoft.com/office/powerpoint/2010/main" val="31882607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1680B47-80B6-A117-AF4F-E66352411D12}"/>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2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F99E69AB-D12B-B4A8-57FA-4C8A5FF84578}"/>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83027C3D-1FDB-6261-77E2-6F3379AA5A54}"/>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A356FA44-0F2C-E3E9-32BE-7CE4E2882DD8}"/>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An internal Python service builds, archives and shares customer reports. It works, it passed code review, and it contains about twenty security bugs, each one a pattern attackers look for.</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2865CC64-C392-4F7C-9556-D15394A5FA2C}"/>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How many would your code review catch?</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E742AFCB-9392-7694-D853-25727CBADFCB}"/>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04D149A0-1739-29D6-D419-AECB827CF57B}"/>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52A56C53-CC1D-EBBF-690A-D80020381925}"/>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Recognise the most common code vulnerabilities</a:t>
            </a:r>
            <a:endParaRPr lang="en-IN" sz="1700">
              <a:solidFill>
                <a:srgbClr val="1E2A35"/>
              </a:solidFill>
              <a:latin typeface="Calibri" panose="020F0502020204030204" pitchFamily="34" charset="0"/>
            </a:endParaRPr>
          </a:p>
        </p:txBody>
      </p:sp>
      <p:sp>
        <p:nvSpPr>
          <p:cNvPr id="10" name="Oval 9">
            <a:extLst>
              <a:ext uri="{FF2B5EF4-FFF2-40B4-BE49-F238E27FC236}">
                <a16:creationId xmlns:a16="http://schemas.microsoft.com/office/drawing/2014/main" id="{232401A3-C918-A663-2EAC-08166717B992}"/>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18D925F5-4A1F-63C7-92A3-B1877CBBA6FA}"/>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Read a SonarQube report: quality gate, issues and security hotspots</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F3D10FB0-DE61-E657-99B6-2158E321E6D3}"/>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2544443F-140E-78C6-B7E2-9BFE808FD935}"/>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See how each bug is fixed, by comparing the insecure and fixed versions</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78B9FD2E-FAC2-8081-51B1-81B1C436D4B7}"/>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Injection flaws have appeared in every OWASP Top 10 list since it began in 2003.</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6707F4F4-454D-8AE4-BF4F-79FE86111DAA}"/>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9607DA81-464B-CE89-D42D-EA46F5287F0B}"/>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17</a:t>
            </a:r>
          </a:p>
        </p:txBody>
      </p:sp>
    </p:spTree>
    <p:extLst>
      <p:ext uri="{BB962C8B-B14F-4D97-AF65-F5344CB8AC3E}">
        <p14:creationId xmlns:p14="http://schemas.microsoft.com/office/powerpoint/2010/main" val="19850345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F1D8F43-87DC-549D-3B65-CDF16386EF23}"/>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Ordinary-looking code, serious risks</a:t>
            </a:r>
          </a:p>
        </p:txBody>
      </p:sp>
      <p:sp>
        <p:nvSpPr>
          <p:cNvPr id="3" name="Rectangle: Rounded Corners 2">
            <a:extLst>
              <a:ext uri="{FF2B5EF4-FFF2-40B4-BE49-F238E27FC236}">
                <a16:creationId xmlns:a16="http://schemas.microsoft.com/office/drawing/2014/main" id="{32FB3538-AD64-C350-0759-A69C896DA867}"/>
              </a:ext>
            </a:extLst>
          </p:cNvPr>
          <p:cNvSpPr/>
          <p:nvPr/>
        </p:nvSpPr>
        <p:spPr>
          <a:xfrm>
            <a:off x="6096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D41D97C3-47C6-367E-693C-B86F962D2DB9}"/>
              </a:ext>
            </a:extLst>
          </p:cNvPr>
          <p:cNvSpPr txBox="1"/>
          <p:nvPr/>
        </p:nvSpPr>
        <p:spPr>
          <a:xfrm>
            <a:off x="8128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SQL injection</a:t>
            </a:r>
          </a:p>
        </p:txBody>
      </p:sp>
      <p:sp>
        <p:nvSpPr>
          <p:cNvPr id="5" name="TextBox 4">
            <a:extLst>
              <a:ext uri="{FF2B5EF4-FFF2-40B4-BE49-F238E27FC236}">
                <a16:creationId xmlns:a16="http://schemas.microsoft.com/office/drawing/2014/main" id="{342CB875-C75B-833D-60F5-746FE9633D1F}"/>
              </a:ext>
            </a:extLst>
          </p:cNvPr>
          <p:cNvSpPr txBox="1"/>
          <p:nvPr/>
        </p:nvSpPr>
        <p:spPr>
          <a:xfrm>
            <a:off x="812800" y="1828800"/>
            <a:ext cx="3149600" cy="369332"/>
          </a:xfrm>
          <a:prstGeom prst="rect">
            <a:avLst/>
          </a:prstGeom>
          <a:noFill/>
        </p:spPr>
        <p:txBody>
          <a:bodyPr vert="horz" wrap="square" lIns="0" tIns="0" rIns="0" bIns="0" rtlCol="0" anchor="t">
            <a:noAutofit/>
          </a:bodyPr>
          <a:lstStyle/>
          <a:p>
            <a:r>
              <a:rPr lang="en-US" sz="1200">
                <a:solidFill>
                  <a:srgbClr val="E4572E"/>
                </a:solidFill>
                <a:latin typeface="Consolas" panose="020B0609020204030204" pitchFamily="49" charset="0"/>
              </a:rPr>
              <a:t>f"... WHERE id = '{customer_id}'"</a:t>
            </a:r>
            <a:endParaRPr lang="en-IN" sz="1200">
              <a:solidFill>
                <a:srgbClr val="E4572E"/>
              </a:solidFill>
              <a:latin typeface="Consolas" panose="020B0609020204030204" pitchFamily="49" charset="0"/>
            </a:endParaRPr>
          </a:p>
        </p:txBody>
      </p:sp>
      <p:sp>
        <p:nvSpPr>
          <p:cNvPr id="6" name="TextBox 5">
            <a:extLst>
              <a:ext uri="{FF2B5EF4-FFF2-40B4-BE49-F238E27FC236}">
                <a16:creationId xmlns:a16="http://schemas.microsoft.com/office/drawing/2014/main" id="{7D289F0D-0D7D-FD1F-9A20-C358D3F8AD19}"/>
              </a:ext>
            </a:extLst>
          </p:cNvPr>
          <p:cNvSpPr txBox="1"/>
          <p:nvPr/>
        </p:nvSpPr>
        <p:spPr>
          <a:xfrm>
            <a:off x="8128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read every customer with one crafted ID</a:t>
            </a:r>
            <a:endParaRPr lang="en-IN" sz="14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4EA4C6ED-329D-09F5-1984-FDB9388A6E6F}"/>
              </a:ext>
            </a:extLst>
          </p:cNvPr>
          <p:cNvSpPr txBox="1"/>
          <p:nvPr/>
        </p:nvSpPr>
        <p:spPr>
          <a:xfrm>
            <a:off x="812800" y="30480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Parameterised query</a:t>
            </a:r>
          </a:p>
        </p:txBody>
      </p:sp>
      <p:sp>
        <p:nvSpPr>
          <p:cNvPr id="8" name="Rectangle: Rounded Corners 7">
            <a:extLst>
              <a:ext uri="{FF2B5EF4-FFF2-40B4-BE49-F238E27FC236}">
                <a16:creationId xmlns:a16="http://schemas.microsoft.com/office/drawing/2014/main" id="{9736067D-448E-24AD-DDD2-C509865CA1DA}"/>
              </a:ext>
            </a:extLst>
          </p:cNvPr>
          <p:cNvSpPr/>
          <p:nvPr/>
        </p:nvSpPr>
        <p:spPr>
          <a:xfrm>
            <a:off x="43180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373C18F7-9444-D2EF-5381-0447C8F2907B}"/>
              </a:ext>
            </a:extLst>
          </p:cNvPr>
          <p:cNvSpPr txBox="1"/>
          <p:nvPr/>
        </p:nvSpPr>
        <p:spPr>
          <a:xfrm>
            <a:off x="45212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Command injection</a:t>
            </a:r>
          </a:p>
        </p:txBody>
      </p:sp>
      <p:sp>
        <p:nvSpPr>
          <p:cNvPr id="10" name="TextBox 9">
            <a:extLst>
              <a:ext uri="{FF2B5EF4-FFF2-40B4-BE49-F238E27FC236}">
                <a16:creationId xmlns:a16="http://schemas.microsoft.com/office/drawing/2014/main" id="{B11443B7-95BE-E48C-5B20-3478A466C8E9}"/>
              </a:ext>
            </a:extLst>
          </p:cNvPr>
          <p:cNvSpPr txBox="1"/>
          <p:nvPr/>
        </p:nvSpPr>
        <p:spPr>
          <a:xfrm>
            <a:off x="4521200" y="18288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subprocess.run(..., shell=True)</a:t>
            </a:r>
          </a:p>
        </p:txBody>
      </p:sp>
      <p:sp>
        <p:nvSpPr>
          <p:cNvPr id="11" name="TextBox 10">
            <a:extLst>
              <a:ext uri="{FF2B5EF4-FFF2-40B4-BE49-F238E27FC236}">
                <a16:creationId xmlns:a16="http://schemas.microsoft.com/office/drawing/2014/main" id="{F635CA4F-5E56-8E1A-2EEA-753620FCF643}"/>
              </a:ext>
            </a:extLst>
          </p:cNvPr>
          <p:cNvSpPr txBox="1"/>
          <p:nvPr/>
        </p:nvSpPr>
        <p:spPr>
          <a:xfrm>
            <a:off x="45212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run their own commands on the server</a:t>
            </a:r>
            <a:endParaRPr lang="en-IN" sz="1400">
              <a:solidFill>
                <a:srgbClr val="1E2A35"/>
              </a:solidFill>
              <a:latin typeface="Calibri" panose="020F0502020204030204" pitchFamily="34" charset="0"/>
            </a:endParaRPr>
          </a:p>
        </p:txBody>
      </p:sp>
      <p:sp>
        <p:nvSpPr>
          <p:cNvPr id="12" name="TextBox 11">
            <a:extLst>
              <a:ext uri="{FF2B5EF4-FFF2-40B4-BE49-F238E27FC236}">
                <a16:creationId xmlns:a16="http://schemas.microsoft.com/office/drawing/2014/main" id="{9411C3BE-DDF6-402E-1DFC-373A74B3F824}"/>
              </a:ext>
            </a:extLst>
          </p:cNvPr>
          <p:cNvSpPr txBox="1"/>
          <p:nvPr/>
        </p:nvSpPr>
        <p:spPr>
          <a:xfrm>
            <a:off x="4521200" y="30480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Argument list, no shell</a:t>
            </a:r>
            <a:endParaRPr lang="en-IN" sz="1400" b="1">
              <a:solidFill>
                <a:srgbClr val="1B998B"/>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538BD363-876F-D258-7415-BAFE5CF3A702}"/>
              </a:ext>
            </a:extLst>
          </p:cNvPr>
          <p:cNvSpPr/>
          <p:nvPr/>
        </p:nvSpPr>
        <p:spPr>
          <a:xfrm>
            <a:off x="8026400" y="12700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542C2084-1309-48F8-1874-681002C65F78}"/>
              </a:ext>
            </a:extLst>
          </p:cNvPr>
          <p:cNvSpPr txBox="1"/>
          <p:nvPr/>
        </p:nvSpPr>
        <p:spPr>
          <a:xfrm>
            <a:off x="8229600" y="14478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Code execution</a:t>
            </a:r>
          </a:p>
        </p:txBody>
      </p:sp>
      <p:sp>
        <p:nvSpPr>
          <p:cNvPr id="15" name="TextBox 14">
            <a:extLst>
              <a:ext uri="{FF2B5EF4-FFF2-40B4-BE49-F238E27FC236}">
                <a16:creationId xmlns:a16="http://schemas.microsoft.com/office/drawing/2014/main" id="{403D7485-08DA-CD38-EA92-A09F5FE6CD67}"/>
              </a:ext>
            </a:extLst>
          </p:cNvPr>
          <p:cNvSpPr txBox="1"/>
          <p:nvPr/>
        </p:nvSpPr>
        <p:spPr>
          <a:xfrm>
            <a:off x="8229600" y="18288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eval(), pickle, yaml.load()</a:t>
            </a:r>
          </a:p>
        </p:txBody>
      </p:sp>
      <p:sp>
        <p:nvSpPr>
          <p:cNvPr id="16" name="TextBox 15">
            <a:extLst>
              <a:ext uri="{FF2B5EF4-FFF2-40B4-BE49-F238E27FC236}">
                <a16:creationId xmlns:a16="http://schemas.microsoft.com/office/drawing/2014/main" id="{352A4152-330F-DE72-A56F-4B500C835A2B}"/>
              </a:ext>
            </a:extLst>
          </p:cNvPr>
          <p:cNvSpPr txBox="1"/>
          <p:nvPr/>
        </p:nvSpPr>
        <p:spPr>
          <a:xfrm>
            <a:off x="8229600" y="23876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run any Python code they send</a:t>
            </a:r>
            <a:endParaRPr lang="en-IN" sz="1400">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90356292-A4AB-9634-53B1-3195E894C643}"/>
              </a:ext>
            </a:extLst>
          </p:cNvPr>
          <p:cNvSpPr txBox="1"/>
          <p:nvPr/>
        </p:nvSpPr>
        <p:spPr>
          <a:xfrm>
            <a:off x="8229600" y="30480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Safe parsers and JSON</a:t>
            </a:r>
            <a:endParaRPr lang="en-IN" sz="1400" b="1">
              <a:solidFill>
                <a:srgbClr val="1B998B"/>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7C069907-ABAE-C977-4622-526B84776F6E}"/>
              </a:ext>
            </a:extLst>
          </p:cNvPr>
          <p:cNvSpPr/>
          <p:nvPr/>
        </p:nvSpPr>
        <p:spPr>
          <a:xfrm>
            <a:off x="6096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TextBox 18">
            <a:extLst>
              <a:ext uri="{FF2B5EF4-FFF2-40B4-BE49-F238E27FC236}">
                <a16:creationId xmlns:a16="http://schemas.microsoft.com/office/drawing/2014/main" id="{5B50112A-C9C8-D719-4310-4064AB291E41}"/>
              </a:ext>
            </a:extLst>
          </p:cNvPr>
          <p:cNvSpPr txBox="1"/>
          <p:nvPr/>
        </p:nvSpPr>
        <p:spPr>
          <a:xfrm>
            <a:off x="8128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Broken TLS</a:t>
            </a:r>
          </a:p>
        </p:txBody>
      </p:sp>
      <p:sp>
        <p:nvSpPr>
          <p:cNvPr id="20" name="TextBox 19">
            <a:extLst>
              <a:ext uri="{FF2B5EF4-FFF2-40B4-BE49-F238E27FC236}">
                <a16:creationId xmlns:a16="http://schemas.microsoft.com/office/drawing/2014/main" id="{F11EBB4B-6B4D-9E86-C377-5E70399AE9D0}"/>
              </a:ext>
            </a:extLst>
          </p:cNvPr>
          <p:cNvSpPr txBox="1"/>
          <p:nvPr/>
        </p:nvSpPr>
        <p:spPr>
          <a:xfrm>
            <a:off x="812800" y="4318000"/>
            <a:ext cx="3149600" cy="369332"/>
          </a:xfrm>
          <a:prstGeom prst="rect">
            <a:avLst/>
          </a:prstGeom>
          <a:noFill/>
        </p:spPr>
        <p:txBody>
          <a:bodyPr vert="horz" wrap="square" lIns="0" tIns="0" rIns="0" bIns="0" rtlCol="0" anchor="t">
            <a:noAutofit/>
          </a:bodyPr>
          <a:lstStyle/>
          <a:p>
            <a:r>
              <a:rPr lang="en-US" sz="1200">
                <a:solidFill>
                  <a:srgbClr val="E4572E"/>
                </a:solidFill>
                <a:latin typeface="Consolas" panose="020B0609020204030204" pitchFamily="49" charset="0"/>
              </a:rPr>
              <a:t>requests.get(url, verify=False)</a:t>
            </a:r>
            <a:endParaRPr lang="en-IN" sz="1200">
              <a:solidFill>
                <a:srgbClr val="E4572E"/>
              </a:solidFill>
              <a:latin typeface="Consolas" panose="020B0609020204030204" pitchFamily="49" charset="0"/>
            </a:endParaRPr>
          </a:p>
        </p:txBody>
      </p:sp>
      <p:sp>
        <p:nvSpPr>
          <p:cNvPr id="21" name="TextBox 20">
            <a:extLst>
              <a:ext uri="{FF2B5EF4-FFF2-40B4-BE49-F238E27FC236}">
                <a16:creationId xmlns:a16="http://schemas.microsoft.com/office/drawing/2014/main" id="{A54194DA-01A4-8119-82AD-8314FFB3D7CD}"/>
              </a:ext>
            </a:extLst>
          </p:cNvPr>
          <p:cNvSpPr txBox="1"/>
          <p:nvPr/>
        </p:nvSpPr>
        <p:spPr>
          <a:xfrm>
            <a:off x="8128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read or change traffic in transit</a:t>
            </a:r>
            <a:endParaRPr lang="en-IN" sz="1400">
              <a:solidFill>
                <a:srgbClr val="1E2A35"/>
              </a:solidFill>
              <a:latin typeface="Calibri" panose="020F0502020204030204" pitchFamily="34" charset="0"/>
            </a:endParaRPr>
          </a:p>
        </p:txBody>
      </p:sp>
      <p:sp>
        <p:nvSpPr>
          <p:cNvPr id="22" name="TextBox 21">
            <a:extLst>
              <a:ext uri="{FF2B5EF4-FFF2-40B4-BE49-F238E27FC236}">
                <a16:creationId xmlns:a16="http://schemas.microsoft.com/office/drawing/2014/main" id="{14BF804D-26C0-B9A6-94CD-B2FE1E2D3EB8}"/>
              </a:ext>
            </a:extLst>
          </p:cNvPr>
          <p:cNvSpPr txBox="1"/>
          <p:nvPr/>
        </p:nvSpPr>
        <p:spPr>
          <a:xfrm>
            <a:off x="812800" y="5537200"/>
            <a:ext cx="31496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 Keep certificate checks on</a:t>
            </a:r>
            <a:endParaRPr lang="en-IN" sz="1400" b="1">
              <a:solidFill>
                <a:srgbClr val="1B998B"/>
              </a:solidFill>
              <a:latin typeface="Calibri" panose="020F0502020204030204" pitchFamily="34" charset="0"/>
            </a:endParaRPr>
          </a:p>
        </p:txBody>
      </p:sp>
      <p:sp>
        <p:nvSpPr>
          <p:cNvPr id="23" name="Rectangle: Rounded Corners 22">
            <a:extLst>
              <a:ext uri="{FF2B5EF4-FFF2-40B4-BE49-F238E27FC236}">
                <a16:creationId xmlns:a16="http://schemas.microsoft.com/office/drawing/2014/main" id="{75AFD87A-4F7A-96D5-C90C-FA08CBFE7ED9}"/>
              </a:ext>
            </a:extLst>
          </p:cNvPr>
          <p:cNvSpPr/>
          <p:nvPr/>
        </p:nvSpPr>
        <p:spPr>
          <a:xfrm>
            <a:off x="43180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BC3038AE-860A-3EAF-3B7E-B7CC83B1A1BD}"/>
              </a:ext>
            </a:extLst>
          </p:cNvPr>
          <p:cNvSpPr txBox="1"/>
          <p:nvPr/>
        </p:nvSpPr>
        <p:spPr>
          <a:xfrm>
            <a:off x="45212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Weak cryptography</a:t>
            </a:r>
          </a:p>
        </p:txBody>
      </p:sp>
      <p:sp>
        <p:nvSpPr>
          <p:cNvPr id="25" name="TextBox 24">
            <a:extLst>
              <a:ext uri="{FF2B5EF4-FFF2-40B4-BE49-F238E27FC236}">
                <a16:creationId xmlns:a16="http://schemas.microsoft.com/office/drawing/2014/main" id="{BE6E6EAC-EA6F-863D-D339-40A71E9AFDF8}"/>
              </a:ext>
            </a:extLst>
          </p:cNvPr>
          <p:cNvSpPr txBox="1"/>
          <p:nvPr/>
        </p:nvSpPr>
        <p:spPr>
          <a:xfrm>
            <a:off x="4521200" y="43180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md5, AES-ECB, RSA-1024</a:t>
            </a:r>
          </a:p>
        </p:txBody>
      </p:sp>
      <p:sp>
        <p:nvSpPr>
          <p:cNvPr id="26" name="TextBox 25">
            <a:extLst>
              <a:ext uri="{FF2B5EF4-FFF2-40B4-BE49-F238E27FC236}">
                <a16:creationId xmlns:a16="http://schemas.microsoft.com/office/drawing/2014/main" id="{2407F7FF-7700-EA52-CAC9-158568F4C65B}"/>
              </a:ext>
            </a:extLst>
          </p:cNvPr>
          <p:cNvSpPr txBox="1"/>
          <p:nvPr/>
        </p:nvSpPr>
        <p:spPr>
          <a:xfrm>
            <a:off x="45212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crack hashes, see patterns, break keys</a:t>
            </a:r>
            <a:endParaRPr lang="en-IN" sz="1400">
              <a:solidFill>
                <a:srgbClr val="1E2A35"/>
              </a:solidFill>
              <a:latin typeface="Calibri" panose="020F0502020204030204" pitchFamily="34" charset="0"/>
            </a:endParaRPr>
          </a:p>
        </p:txBody>
      </p:sp>
      <p:sp>
        <p:nvSpPr>
          <p:cNvPr id="27" name="TextBox 26">
            <a:extLst>
              <a:ext uri="{FF2B5EF4-FFF2-40B4-BE49-F238E27FC236}">
                <a16:creationId xmlns:a16="http://schemas.microsoft.com/office/drawing/2014/main" id="{EDC895A9-83D6-5E30-DDE2-8A4600112198}"/>
              </a:ext>
            </a:extLst>
          </p:cNvPr>
          <p:cNvSpPr txBox="1"/>
          <p:nvPr/>
        </p:nvSpPr>
        <p:spPr>
          <a:xfrm>
            <a:off x="4521200" y="55372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PBKDF2, AES-GCM, RSA-3072</a:t>
            </a:r>
          </a:p>
        </p:txBody>
      </p:sp>
      <p:sp>
        <p:nvSpPr>
          <p:cNvPr id="28" name="Rectangle: Rounded Corners 27">
            <a:extLst>
              <a:ext uri="{FF2B5EF4-FFF2-40B4-BE49-F238E27FC236}">
                <a16:creationId xmlns:a16="http://schemas.microsoft.com/office/drawing/2014/main" id="{CC6A9C95-F9B5-F6A2-18AA-370E0A3DE24B}"/>
              </a:ext>
            </a:extLst>
          </p:cNvPr>
          <p:cNvSpPr/>
          <p:nvPr/>
        </p:nvSpPr>
        <p:spPr>
          <a:xfrm>
            <a:off x="8026400" y="3759200"/>
            <a:ext cx="3556000" cy="23114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DC46202A-4A48-AAC9-FC7C-C630A50957F1}"/>
              </a:ext>
            </a:extLst>
          </p:cNvPr>
          <p:cNvSpPr txBox="1"/>
          <p:nvPr/>
        </p:nvSpPr>
        <p:spPr>
          <a:xfrm>
            <a:off x="8229600" y="3937000"/>
            <a:ext cx="3149600" cy="369332"/>
          </a:xfrm>
          <a:prstGeom prst="rect">
            <a:avLst/>
          </a:prstGeom>
          <a:noFill/>
        </p:spPr>
        <p:txBody>
          <a:bodyPr vert="horz" wrap="square" lIns="0" tIns="0" rIns="0" bIns="0" rtlCol="0" anchor="t">
            <a:noAutofit/>
          </a:bodyPr>
          <a:lstStyle/>
          <a:p>
            <a:r>
              <a:rPr lang="en-IN" b="1">
                <a:solidFill>
                  <a:srgbClr val="13293D"/>
                </a:solidFill>
                <a:latin typeface="Calibri" panose="020F0502020204030204" pitchFamily="34" charset="0"/>
              </a:rPr>
              <a:t>Guessable tokens</a:t>
            </a:r>
          </a:p>
        </p:txBody>
      </p:sp>
      <p:sp>
        <p:nvSpPr>
          <p:cNvPr id="30" name="TextBox 29">
            <a:extLst>
              <a:ext uri="{FF2B5EF4-FFF2-40B4-BE49-F238E27FC236}">
                <a16:creationId xmlns:a16="http://schemas.microsoft.com/office/drawing/2014/main" id="{CEB65153-CC8D-0217-88E2-9A9295A4B24E}"/>
              </a:ext>
            </a:extLst>
          </p:cNvPr>
          <p:cNvSpPr txBox="1"/>
          <p:nvPr/>
        </p:nvSpPr>
        <p:spPr>
          <a:xfrm>
            <a:off x="8229600" y="4318000"/>
            <a:ext cx="3149600" cy="369332"/>
          </a:xfrm>
          <a:prstGeom prst="rect">
            <a:avLst/>
          </a:prstGeom>
          <a:noFill/>
        </p:spPr>
        <p:txBody>
          <a:bodyPr vert="horz" wrap="square" lIns="0" tIns="0" rIns="0" bIns="0" rtlCol="0" anchor="t">
            <a:noAutofit/>
          </a:bodyPr>
          <a:lstStyle/>
          <a:p>
            <a:r>
              <a:rPr lang="en-IN" sz="1200">
                <a:solidFill>
                  <a:srgbClr val="E4572E"/>
                </a:solidFill>
                <a:latin typeface="Consolas" panose="020B0609020204030204" pitchFamily="49" charset="0"/>
              </a:rPr>
              <a:t>random.randint(100000, 999999)</a:t>
            </a:r>
          </a:p>
        </p:txBody>
      </p:sp>
      <p:sp>
        <p:nvSpPr>
          <p:cNvPr id="31" name="TextBox 30">
            <a:extLst>
              <a:ext uri="{FF2B5EF4-FFF2-40B4-BE49-F238E27FC236}">
                <a16:creationId xmlns:a16="http://schemas.microsoft.com/office/drawing/2014/main" id="{3A70C102-89EF-4947-CF4C-2516A6051199}"/>
              </a:ext>
            </a:extLst>
          </p:cNvPr>
          <p:cNvSpPr txBox="1"/>
          <p:nvPr/>
        </p:nvSpPr>
        <p:spPr>
          <a:xfrm>
            <a:off x="8229600" y="4876800"/>
            <a:ext cx="3149600" cy="369332"/>
          </a:xfrm>
          <a:prstGeom prst="rect">
            <a:avLst/>
          </a:prstGeom>
          <a:noFill/>
        </p:spPr>
        <p:txBody>
          <a:bodyPr vert="horz" wrap="square" lIns="0" tIns="0" rIns="0" bIns="0" rtlCol="0" anchor="t">
            <a:noAutofit/>
          </a:bodyPr>
          <a:lstStyle/>
          <a:p>
            <a:r>
              <a:rPr lang="en-US" sz="1400">
                <a:solidFill>
                  <a:srgbClr val="1E2A35"/>
                </a:solidFill>
                <a:latin typeface="Calibri" panose="020F0502020204030204" pitchFamily="34" charset="0"/>
              </a:rPr>
              <a:t>Attacker can: guess someone's session token</a:t>
            </a:r>
            <a:endParaRPr lang="en-IN" sz="1400">
              <a:solidFill>
                <a:srgbClr val="1E2A35"/>
              </a:solidFill>
              <a:latin typeface="Calibri" panose="020F0502020204030204" pitchFamily="34" charset="0"/>
            </a:endParaRPr>
          </a:p>
        </p:txBody>
      </p:sp>
      <p:sp>
        <p:nvSpPr>
          <p:cNvPr id="32" name="TextBox 31">
            <a:extLst>
              <a:ext uri="{FF2B5EF4-FFF2-40B4-BE49-F238E27FC236}">
                <a16:creationId xmlns:a16="http://schemas.microsoft.com/office/drawing/2014/main" id="{BB084E75-10E1-BE49-F509-0955828D11B0}"/>
              </a:ext>
            </a:extLst>
          </p:cNvPr>
          <p:cNvSpPr txBox="1"/>
          <p:nvPr/>
        </p:nvSpPr>
        <p:spPr>
          <a:xfrm>
            <a:off x="8229600" y="5537200"/>
            <a:ext cx="31496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Fix: secrets.token_urlsafe()</a:t>
            </a:r>
          </a:p>
        </p:txBody>
      </p:sp>
      <p:sp>
        <p:nvSpPr>
          <p:cNvPr id="33" name="TextBox 32">
            <a:extLst>
              <a:ext uri="{FF2B5EF4-FFF2-40B4-BE49-F238E27FC236}">
                <a16:creationId xmlns:a16="http://schemas.microsoft.com/office/drawing/2014/main" id="{78AB0043-B56E-0BE5-ACDC-572C0FED1DD0}"/>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34" name="TextBox 33">
            <a:extLst>
              <a:ext uri="{FF2B5EF4-FFF2-40B4-BE49-F238E27FC236}">
                <a16:creationId xmlns:a16="http://schemas.microsoft.com/office/drawing/2014/main" id="{3C2826B6-4707-D072-90A1-F8C48DD5FCCE}"/>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18</a:t>
            </a:r>
          </a:p>
        </p:txBody>
      </p:sp>
    </p:spTree>
    <p:extLst>
      <p:ext uri="{BB962C8B-B14F-4D97-AF65-F5344CB8AC3E}">
        <p14:creationId xmlns:p14="http://schemas.microsoft.com/office/powerpoint/2010/main" val="26413470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88C018-0C79-ADA9-5AC0-F9727316FF42}"/>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Reading a SonarQube report</a:t>
            </a:r>
          </a:p>
        </p:txBody>
      </p:sp>
      <p:sp>
        <p:nvSpPr>
          <p:cNvPr id="3" name="Rectangle: Rounded Corners 2">
            <a:extLst>
              <a:ext uri="{FF2B5EF4-FFF2-40B4-BE49-F238E27FC236}">
                <a16:creationId xmlns:a16="http://schemas.microsoft.com/office/drawing/2014/main" id="{E2D593A4-88CF-D32C-38AE-DF8A54244F97}"/>
              </a:ext>
            </a:extLst>
          </p:cNvPr>
          <p:cNvSpPr/>
          <p:nvPr/>
        </p:nvSpPr>
        <p:spPr>
          <a:xfrm>
            <a:off x="609600" y="1320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E39F1FAF-8398-3DF0-0497-7ED14718C022}"/>
              </a:ext>
            </a:extLst>
          </p:cNvPr>
          <p:cNvSpPr/>
          <p:nvPr/>
        </p:nvSpPr>
        <p:spPr>
          <a:xfrm>
            <a:off x="863600" y="1574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5" name="TextBox 4">
            <a:extLst>
              <a:ext uri="{FF2B5EF4-FFF2-40B4-BE49-F238E27FC236}">
                <a16:creationId xmlns:a16="http://schemas.microsoft.com/office/drawing/2014/main" id="{57994923-9551-6136-8BFB-63B23B77A893}"/>
              </a:ext>
            </a:extLst>
          </p:cNvPr>
          <p:cNvSpPr txBox="1"/>
          <p:nvPr/>
        </p:nvSpPr>
        <p:spPr>
          <a:xfrm>
            <a:off x="1574800" y="1651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Quality gate</a:t>
            </a:r>
          </a:p>
        </p:txBody>
      </p:sp>
      <p:sp>
        <p:nvSpPr>
          <p:cNvPr id="6" name="TextBox 5">
            <a:extLst>
              <a:ext uri="{FF2B5EF4-FFF2-40B4-BE49-F238E27FC236}">
                <a16:creationId xmlns:a16="http://schemas.microsoft.com/office/drawing/2014/main" id="{20332981-42DF-9A04-D26E-8AE8BAE8B0C5}"/>
              </a:ext>
            </a:extLst>
          </p:cNvPr>
          <p:cNvSpPr txBox="1"/>
          <p:nvPr/>
        </p:nvSpPr>
        <p:spPr>
          <a:xfrm>
            <a:off x="1574800" y="2082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The pass/fail verdict for the whole project, based on rules the team agrees.</a:t>
            </a:r>
            <a:endParaRPr lang="en-IN" sz="1500">
              <a:solidFill>
                <a:srgbClr val="1E2A35"/>
              </a:solidFill>
              <a:latin typeface="Calibri" panose="020F0502020204030204" pitchFamily="34" charset="0"/>
            </a:endParaRPr>
          </a:p>
        </p:txBody>
      </p:sp>
      <p:sp>
        <p:nvSpPr>
          <p:cNvPr id="7" name="TextBox 6">
            <a:extLst>
              <a:ext uri="{FF2B5EF4-FFF2-40B4-BE49-F238E27FC236}">
                <a16:creationId xmlns:a16="http://schemas.microsoft.com/office/drawing/2014/main" id="{BA8CDE76-F43B-0A85-736A-F47A5CAE7645}"/>
              </a:ext>
            </a:extLst>
          </p:cNvPr>
          <p:cNvSpPr txBox="1"/>
          <p:nvPr/>
        </p:nvSpPr>
        <p:spPr>
          <a:xfrm>
            <a:off x="1574800" y="2819400"/>
            <a:ext cx="4064000" cy="369332"/>
          </a:xfrm>
          <a:prstGeom prst="rect">
            <a:avLst/>
          </a:prstGeom>
          <a:noFill/>
        </p:spPr>
        <p:txBody>
          <a:bodyPr vert="horz" wrap="square" lIns="0" tIns="0" rIns="0" bIns="0" rtlCol="0" anchor="t">
            <a:noAutofit/>
          </a:bodyPr>
          <a:lstStyle/>
          <a:p>
            <a:r>
              <a:rPr lang="en-IN" sz="1400" b="1">
                <a:solidFill>
                  <a:srgbClr val="1B998B"/>
                </a:solidFill>
                <a:latin typeface="Calibri" panose="020F0502020204030204" pitchFamily="34" charset="0"/>
              </a:rPr>
              <a:t>Insecure version: Failed</a:t>
            </a:r>
          </a:p>
        </p:txBody>
      </p:sp>
      <p:sp>
        <p:nvSpPr>
          <p:cNvPr id="8" name="Rectangle: Rounded Corners 7">
            <a:extLst>
              <a:ext uri="{FF2B5EF4-FFF2-40B4-BE49-F238E27FC236}">
                <a16:creationId xmlns:a16="http://schemas.microsoft.com/office/drawing/2014/main" id="{2265AB28-EBA5-50AA-6D78-7FF434ABB3B4}"/>
              </a:ext>
            </a:extLst>
          </p:cNvPr>
          <p:cNvSpPr/>
          <p:nvPr/>
        </p:nvSpPr>
        <p:spPr>
          <a:xfrm>
            <a:off x="6248400" y="1320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Oval 8">
            <a:extLst>
              <a:ext uri="{FF2B5EF4-FFF2-40B4-BE49-F238E27FC236}">
                <a16:creationId xmlns:a16="http://schemas.microsoft.com/office/drawing/2014/main" id="{3191B9E7-AAED-012C-0516-136F64E62B7A}"/>
              </a:ext>
            </a:extLst>
          </p:cNvPr>
          <p:cNvSpPr/>
          <p:nvPr/>
        </p:nvSpPr>
        <p:spPr>
          <a:xfrm>
            <a:off x="6502400" y="1574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0" name="TextBox 9">
            <a:extLst>
              <a:ext uri="{FF2B5EF4-FFF2-40B4-BE49-F238E27FC236}">
                <a16:creationId xmlns:a16="http://schemas.microsoft.com/office/drawing/2014/main" id="{9BF1DE7A-F7EF-4B72-BD7D-5EF7891FB6B4}"/>
              </a:ext>
            </a:extLst>
          </p:cNvPr>
          <p:cNvSpPr txBox="1"/>
          <p:nvPr/>
        </p:nvSpPr>
        <p:spPr>
          <a:xfrm>
            <a:off x="7213600" y="1651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Issues</a:t>
            </a:r>
          </a:p>
        </p:txBody>
      </p:sp>
      <p:sp>
        <p:nvSpPr>
          <p:cNvPr id="11" name="TextBox 10">
            <a:extLst>
              <a:ext uri="{FF2B5EF4-FFF2-40B4-BE49-F238E27FC236}">
                <a16:creationId xmlns:a16="http://schemas.microsoft.com/office/drawing/2014/main" id="{E8EE0050-4C6D-A72B-DA9E-EB579BDDFDF8}"/>
              </a:ext>
            </a:extLst>
          </p:cNvPr>
          <p:cNvSpPr txBox="1"/>
          <p:nvPr/>
        </p:nvSpPr>
        <p:spPr>
          <a:xfrm>
            <a:off x="7213600" y="2082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Confirmed bugs and vulnerabilities, each pointing at the exact line, with an explanation.</a:t>
            </a:r>
            <a:endParaRPr lang="en-IN" sz="1500">
              <a:solidFill>
                <a:srgbClr val="1E2A35"/>
              </a:solidFill>
              <a:latin typeface="Calibri" panose="020F0502020204030204" pitchFamily="34" charset="0"/>
            </a:endParaRPr>
          </a:p>
        </p:txBody>
      </p:sp>
      <p:sp>
        <p:nvSpPr>
          <p:cNvPr id="12" name="TextBox 11">
            <a:extLst>
              <a:ext uri="{FF2B5EF4-FFF2-40B4-BE49-F238E27FC236}">
                <a16:creationId xmlns:a16="http://schemas.microsoft.com/office/drawing/2014/main" id="{F018A56D-48B3-EF33-D62B-A08B505342B4}"/>
              </a:ext>
            </a:extLst>
          </p:cNvPr>
          <p:cNvSpPr txBox="1"/>
          <p:nvPr/>
        </p:nvSpPr>
        <p:spPr>
          <a:xfrm>
            <a:off x="7213600" y="2819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For example: certificate checks turned off</a:t>
            </a:r>
            <a:endParaRPr lang="en-IN" sz="1400" b="1">
              <a:solidFill>
                <a:srgbClr val="1B998B"/>
              </a:solidFill>
              <a:latin typeface="Calibri" panose="020F0502020204030204" pitchFamily="34" charset="0"/>
            </a:endParaRPr>
          </a:p>
        </p:txBody>
      </p:sp>
      <p:sp>
        <p:nvSpPr>
          <p:cNvPr id="13" name="Rectangle: Rounded Corners 12">
            <a:extLst>
              <a:ext uri="{FF2B5EF4-FFF2-40B4-BE49-F238E27FC236}">
                <a16:creationId xmlns:a16="http://schemas.microsoft.com/office/drawing/2014/main" id="{830720AB-E6F9-66BB-E612-FCAE1A716141}"/>
              </a:ext>
            </a:extLst>
          </p:cNvPr>
          <p:cNvSpPr/>
          <p:nvPr/>
        </p:nvSpPr>
        <p:spPr>
          <a:xfrm>
            <a:off x="609600" y="3479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Oval 13">
            <a:extLst>
              <a:ext uri="{FF2B5EF4-FFF2-40B4-BE49-F238E27FC236}">
                <a16:creationId xmlns:a16="http://schemas.microsoft.com/office/drawing/2014/main" id="{CDF294BE-0834-E085-50B4-7B8E4FC1D080}"/>
              </a:ext>
            </a:extLst>
          </p:cNvPr>
          <p:cNvSpPr/>
          <p:nvPr/>
        </p:nvSpPr>
        <p:spPr>
          <a:xfrm>
            <a:off x="863600" y="3733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5" name="TextBox 14">
            <a:extLst>
              <a:ext uri="{FF2B5EF4-FFF2-40B4-BE49-F238E27FC236}">
                <a16:creationId xmlns:a16="http://schemas.microsoft.com/office/drawing/2014/main" id="{4BD32EFD-F9E0-46F4-8A24-1309A3AD4ACD}"/>
              </a:ext>
            </a:extLst>
          </p:cNvPr>
          <p:cNvSpPr txBox="1"/>
          <p:nvPr/>
        </p:nvSpPr>
        <p:spPr>
          <a:xfrm>
            <a:off x="1574800" y="3810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Security hotspots</a:t>
            </a:r>
          </a:p>
        </p:txBody>
      </p:sp>
      <p:sp>
        <p:nvSpPr>
          <p:cNvPr id="16" name="TextBox 15">
            <a:extLst>
              <a:ext uri="{FF2B5EF4-FFF2-40B4-BE49-F238E27FC236}">
                <a16:creationId xmlns:a16="http://schemas.microsoft.com/office/drawing/2014/main" id="{C2EABB69-7A35-0C64-E254-06304757CD97}"/>
              </a:ext>
            </a:extLst>
          </p:cNvPr>
          <p:cNvSpPr txBox="1"/>
          <p:nvPr/>
        </p:nvSpPr>
        <p:spPr>
          <a:xfrm>
            <a:off x="1574800" y="4241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Risky code that a person must review: it may be safe in context, or it may not.</a:t>
            </a:r>
            <a:endParaRPr lang="en-IN" sz="1500">
              <a:solidFill>
                <a:srgbClr val="1E2A35"/>
              </a:solidFill>
              <a:latin typeface="Calibri" panose="020F0502020204030204" pitchFamily="34" charset="0"/>
            </a:endParaRPr>
          </a:p>
        </p:txBody>
      </p:sp>
      <p:sp>
        <p:nvSpPr>
          <p:cNvPr id="17" name="TextBox 16">
            <a:extLst>
              <a:ext uri="{FF2B5EF4-FFF2-40B4-BE49-F238E27FC236}">
                <a16:creationId xmlns:a16="http://schemas.microsoft.com/office/drawing/2014/main" id="{14D85C16-1982-B22E-71AF-ECB5EB1EF4CE}"/>
              </a:ext>
            </a:extLst>
          </p:cNvPr>
          <p:cNvSpPr txBox="1"/>
          <p:nvPr/>
        </p:nvSpPr>
        <p:spPr>
          <a:xfrm>
            <a:off x="1574800" y="4978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For example: eval, shell=True, MD5</a:t>
            </a:r>
            <a:endParaRPr lang="en-IN" sz="1400" b="1">
              <a:solidFill>
                <a:srgbClr val="1B998B"/>
              </a:solidFill>
              <a:latin typeface="Calibri" panose="020F0502020204030204" pitchFamily="34" charset="0"/>
            </a:endParaRPr>
          </a:p>
        </p:txBody>
      </p:sp>
      <p:sp>
        <p:nvSpPr>
          <p:cNvPr id="18" name="Rectangle: Rounded Corners 17">
            <a:extLst>
              <a:ext uri="{FF2B5EF4-FFF2-40B4-BE49-F238E27FC236}">
                <a16:creationId xmlns:a16="http://schemas.microsoft.com/office/drawing/2014/main" id="{EC19F799-A4F5-4812-CA64-E6CC2C37C94A}"/>
              </a:ext>
            </a:extLst>
          </p:cNvPr>
          <p:cNvSpPr/>
          <p:nvPr/>
        </p:nvSpPr>
        <p:spPr>
          <a:xfrm>
            <a:off x="6248400" y="3479800"/>
            <a:ext cx="5334000" cy="19812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Oval 18">
            <a:extLst>
              <a:ext uri="{FF2B5EF4-FFF2-40B4-BE49-F238E27FC236}">
                <a16:creationId xmlns:a16="http://schemas.microsoft.com/office/drawing/2014/main" id="{76338D07-DB88-ADDE-B0AF-91F9175834CD}"/>
              </a:ext>
            </a:extLst>
          </p:cNvPr>
          <p:cNvSpPr/>
          <p:nvPr/>
        </p:nvSpPr>
        <p:spPr>
          <a:xfrm>
            <a:off x="6502400" y="3733800"/>
            <a:ext cx="508000" cy="5080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4</a:t>
            </a:r>
          </a:p>
        </p:txBody>
      </p:sp>
      <p:sp>
        <p:nvSpPr>
          <p:cNvPr id="20" name="TextBox 19">
            <a:extLst>
              <a:ext uri="{FF2B5EF4-FFF2-40B4-BE49-F238E27FC236}">
                <a16:creationId xmlns:a16="http://schemas.microsoft.com/office/drawing/2014/main" id="{1F15B40A-A606-35C9-B530-A830537522F0}"/>
              </a:ext>
            </a:extLst>
          </p:cNvPr>
          <p:cNvSpPr txBox="1"/>
          <p:nvPr/>
        </p:nvSpPr>
        <p:spPr>
          <a:xfrm>
            <a:off x="7213600" y="3810000"/>
            <a:ext cx="4064000" cy="369332"/>
          </a:xfrm>
          <a:prstGeom prst="rect">
            <a:avLst/>
          </a:prstGeom>
          <a:noFill/>
        </p:spPr>
        <p:txBody>
          <a:bodyPr vert="horz" wrap="square" lIns="0" tIns="0" rIns="0" bIns="0" rtlCol="0" anchor="t">
            <a:noAutofit/>
          </a:bodyPr>
          <a:lstStyle/>
          <a:p>
            <a:r>
              <a:rPr lang="en-IN" sz="2000" b="1">
                <a:solidFill>
                  <a:srgbClr val="13293D"/>
                </a:solidFill>
                <a:latin typeface="Calibri" panose="020F0502020204030204" pitchFamily="34" charset="0"/>
              </a:rPr>
              <a:t>Review</a:t>
            </a:r>
          </a:p>
        </p:txBody>
      </p:sp>
      <p:sp>
        <p:nvSpPr>
          <p:cNvPr id="21" name="TextBox 20">
            <a:extLst>
              <a:ext uri="{FF2B5EF4-FFF2-40B4-BE49-F238E27FC236}">
                <a16:creationId xmlns:a16="http://schemas.microsoft.com/office/drawing/2014/main" id="{0B3F3023-871C-0F96-0C80-47D3214AA78F}"/>
              </a:ext>
            </a:extLst>
          </p:cNvPr>
          <p:cNvSpPr txBox="1"/>
          <p:nvPr/>
        </p:nvSpPr>
        <p:spPr>
          <a:xfrm>
            <a:off x="7213600" y="4241800"/>
            <a:ext cx="4064000" cy="369332"/>
          </a:xfrm>
          <a:prstGeom prst="rect">
            <a:avLst/>
          </a:prstGeom>
          <a:noFill/>
        </p:spPr>
        <p:txBody>
          <a:bodyPr vert="horz" wrap="square" lIns="0" tIns="0" rIns="0" bIns="0" rtlCol="0" anchor="t">
            <a:noAutofit/>
          </a:bodyPr>
          <a:lstStyle/>
          <a:p>
            <a:r>
              <a:rPr lang="en-US" sz="1500">
                <a:solidFill>
                  <a:srgbClr val="1E2A35"/>
                </a:solidFill>
                <a:latin typeface="Calibri" panose="020F0502020204030204" pitchFamily="34" charset="0"/>
              </a:rPr>
              <a:t>Mark each hotspot Safe or Fixed, with a reason. The decision is recorded for audit.</a:t>
            </a:r>
            <a:endParaRPr lang="en-IN" sz="1500">
              <a:solidFill>
                <a:srgbClr val="1E2A35"/>
              </a:solidFill>
              <a:latin typeface="Calibri" panose="020F0502020204030204" pitchFamily="34" charset="0"/>
            </a:endParaRPr>
          </a:p>
        </p:txBody>
      </p:sp>
      <p:sp>
        <p:nvSpPr>
          <p:cNvPr id="22" name="TextBox 21">
            <a:extLst>
              <a:ext uri="{FF2B5EF4-FFF2-40B4-BE49-F238E27FC236}">
                <a16:creationId xmlns:a16="http://schemas.microsoft.com/office/drawing/2014/main" id="{EAEDBB06-A8D2-9886-CED3-8E85BAB2E3B6}"/>
              </a:ext>
            </a:extLst>
          </p:cNvPr>
          <p:cNvSpPr txBox="1"/>
          <p:nvPr/>
        </p:nvSpPr>
        <p:spPr>
          <a:xfrm>
            <a:off x="7213600" y="4978400"/>
            <a:ext cx="4064000" cy="369332"/>
          </a:xfrm>
          <a:prstGeom prst="rect">
            <a:avLst/>
          </a:prstGeom>
          <a:noFill/>
        </p:spPr>
        <p:txBody>
          <a:bodyPr vert="horz" wrap="square" lIns="0" tIns="0" rIns="0" bIns="0" rtlCol="0" anchor="t">
            <a:noAutofit/>
          </a:bodyPr>
          <a:lstStyle/>
          <a:p>
            <a:r>
              <a:rPr lang="en-US" sz="1400" b="1">
                <a:solidFill>
                  <a:srgbClr val="1B998B"/>
                </a:solidFill>
                <a:latin typeface="Calibri" panose="020F0502020204030204" pitchFamily="34" charset="0"/>
              </a:rPr>
              <a:t>Fixed version: Passed after review</a:t>
            </a:r>
            <a:endParaRPr lang="en-IN" sz="1400" b="1">
              <a:solidFill>
                <a:srgbClr val="1B998B"/>
              </a:solidFill>
              <a:latin typeface="Calibri" panose="020F0502020204030204" pitchFamily="34" charset="0"/>
            </a:endParaRPr>
          </a:p>
        </p:txBody>
      </p:sp>
      <p:sp>
        <p:nvSpPr>
          <p:cNvPr id="23" name="TextBox 22">
            <a:extLst>
              <a:ext uri="{FF2B5EF4-FFF2-40B4-BE49-F238E27FC236}">
                <a16:creationId xmlns:a16="http://schemas.microsoft.com/office/drawing/2014/main" id="{CA57CFFC-B16E-777E-0D16-514925906BCC}"/>
              </a:ext>
            </a:extLst>
          </p:cNvPr>
          <p:cNvSpPr txBox="1"/>
          <p:nvPr/>
        </p:nvSpPr>
        <p:spPr>
          <a:xfrm>
            <a:off x="609600" y="5689600"/>
            <a:ext cx="10972800" cy="369332"/>
          </a:xfrm>
          <a:prstGeom prst="rect">
            <a:avLst/>
          </a:prstGeom>
          <a:noFill/>
        </p:spPr>
        <p:txBody>
          <a:bodyPr vert="horz" wrap="square" lIns="0" tIns="0" rIns="0" bIns="0" rtlCol="0" anchor="t">
            <a:noAutofit/>
          </a:bodyPr>
          <a:lstStyle/>
          <a:p>
            <a:r>
              <a:rPr lang="en-US" sz="1500">
                <a:solidFill>
                  <a:srgbClr val="5B6B79"/>
                </a:solidFill>
                <a:latin typeface="Calibri" panose="020F0502020204030204" pitchFamily="34" charset="0"/>
              </a:rPr>
              <a:t>SonarQube is what many teams run on every pull request: a dashboard, history, and a gate that can block a merge.</a:t>
            </a:r>
            <a:endParaRPr lang="en-IN" sz="1500">
              <a:solidFill>
                <a:srgbClr val="5B6B79"/>
              </a:solidFill>
              <a:latin typeface="Calibri" panose="020F0502020204030204" pitchFamily="34" charset="0"/>
            </a:endParaRPr>
          </a:p>
        </p:txBody>
      </p:sp>
      <p:sp>
        <p:nvSpPr>
          <p:cNvPr id="24" name="TextBox 23">
            <a:extLst>
              <a:ext uri="{FF2B5EF4-FFF2-40B4-BE49-F238E27FC236}">
                <a16:creationId xmlns:a16="http://schemas.microsoft.com/office/drawing/2014/main" id="{B289A5BB-86F9-AD22-EC81-576D17585630}"/>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5" name="TextBox 24">
            <a:extLst>
              <a:ext uri="{FF2B5EF4-FFF2-40B4-BE49-F238E27FC236}">
                <a16:creationId xmlns:a16="http://schemas.microsoft.com/office/drawing/2014/main" id="{238C9130-C3E3-9730-1448-2D8D2FA1065D}"/>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19</a:t>
            </a:r>
          </a:p>
        </p:txBody>
      </p:sp>
    </p:spTree>
    <p:extLst>
      <p:ext uri="{BB962C8B-B14F-4D97-AF65-F5344CB8AC3E}">
        <p14:creationId xmlns:p14="http://schemas.microsoft.com/office/powerpoint/2010/main" val="9328293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471D3BE-9096-9C20-E033-32BB05539667}"/>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Lab 2 · Commands</a:t>
            </a:r>
          </a:p>
        </p:txBody>
      </p:sp>
      <p:sp>
        <p:nvSpPr>
          <p:cNvPr id="3" name="TextBox 2">
            <a:extLst>
              <a:ext uri="{FF2B5EF4-FFF2-40B4-BE49-F238E27FC236}">
                <a16:creationId xmlns:a16="http://schemas.microsoft.com/office/drawing/2014/main" id="{D891D65F-8D65-63DD-AFCE-A4F536FCF4C8}"/>
              </a:ext>
            </a:extLst>
          </p:cNvPr>
          <p:cNvSpPr txBox="1"/>
          <p:nvPr/>
        </p:nvSpPr>
        <p:spPr>
          <a:xfrm>
            <a:off x="609600" y="11684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EVERYONE</a:t>
            </a:r>
          </a:p>
        </p:txBody>
      </p:sp>
      <p:sp>
        <p:nvSpPr>
          <p:cNvPr id="4" name="Rectangle: Rounded Corners 3">
            <a:extLst>
              <a:ext uri="{FF2B5EF4-FFF2-40B4-BE49-F238E27FC236}">
                <a16:creationId xmlns:a16="http://schemas.microsoft.com/office/drawing/2014/main" id="{E2E80DA6-B6F9-6FDB-6F5C-F321F111F1BD}"/>
              </a:ext>
            </a:extLst>
          </p:cNvPr>
          <p:cNvSpPr/>
          <p:nvPr/>
        </p:nvSpPr>
        <p:spPr>
          <a:xfrm>
            <a:off x="609600" y="1447800"/>
            <a:ext cx="10972800" cy="561975"/>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449A356-0F39-83BB-ACF4-F6DE0F1ABAEB}"/>
              </a:ext>
            </a:extLst>
          </p:cNvPr>
          <p:cNvSpPr txBox="1"/>
          <p:nvPr/>
        </p:nvSpPr>
        <p:spPr>
          <a:xfrm>
            <a:off x="863600" y="1625600"/>
            <a:ext cx="10464800" cy="369332"/>
          </a:xfrm>
          <a:prstGeom prst="rect">
            <a:avLst/>
          </a:prstGeom>
          <a:noFill/>
        </p:spPr>
        <p:txBody>
          <a:bodyPr vert="horz" wrap="square" lIns="0" tIns="0" rIns="0" bIns="0" rtlCol="0" anchor="t">
            <a:noAutofit/>
          </a:bodyPr>
          <a:lstStyle/>
          <a:p>
            <a:r>
              <a:rPr lang="en-US" sz="1300">
                <a:solidFill>
                  <a:srgbClr val="8FD3C9"/>
                </a:solidFill>
                <a:latin typeface="Consolas" panose="020B0609020204030204" pitchFamily="49" charset="0"/>
              </a:rPr>
              <a:t># Open in VS Code: labs/lab2-insecure-code/start/report_service.py</a:t>
            </a:r>
            <a:endParaRPr lang="en-IN" sz="1300">
              <a:solidFill>
                <a:srgbClr val="8FD3C9"/>
              </a:solidFill>
              <a:latin typeface="Consolas" panose="020B0609020204030204" pitchFamily="49" charset="0"/>
            </a:endParaRPr>
          </a:p>
        </p:txBody>
      </p:sp>
      <p:sp>
        <p:nvSpPr>
          <p:cNvPr id="6" name="TextBox 5">
            <a:extLst>
              <a:ext uri="{FF2B5EF4-FFF2-40B4-BE49-F238E27FC236}">
                <a16:creationId xmlns:a16="http://schemas.microsoft.com/office/drawing/2014/main" id="{64BD909A-767D-6770-68C3-A393EDCEC66D}"/>
              </a:ext>
            </a:extLst>
          </p:cNvPr>
          <p:cNvSpPr txBox="1"/>
          <p:nvPr/>
        </p:nvSpPr>
        <p:spPr>
          <a:xfrm>
            <a:off x="609600" y="2212975"/>
            <a:ext cx="762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FACILITATOR (UBUNTU TERMINAL, REPO FOLDER)</a:t>
            </a:r>
          </a:p>
        </p:txBody>
      </p:sp>
      <p:sp>
        <p:nvSpPr>
          <p:cNvPr id="7" name="Rectangle: Rounded Corners 6">
            <a:extLst>
              <a:ext uri="{FF2B5EF4-FFF2-40B4-BE49-F238E27FC236}">
                <a16:creationId xmlns:a16="http://schemas.microsoft.com/office/drawing/2014/main" id="{2D7F5A97-22FC-466A-B7DA-25DEA5851EF1}"/>
              </a:ext>
            </a:extLst>
          </p:cNvPr>
          <p:cNvSpPr/>
          <p:nvPr/>
        </p:nvSpPr>
        <p:spPr>
          <a:xfrm>
            <a:off x="609600" y="2492375"/>
            <a:ext cx="10972800" cy="1879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9364EB8-BFB6-8C6B-03E8-B45A55F29244}"/>
              </a:ext>
            </a:extLst>
          </p:cNvPr>
          <p:cNvSpPr txBox="1"/>
          <p:nvPr/>
        </p:nvSpPr>
        <p:spPr>
          <a:xfrm>
            <a:off x="863600" y="2670175"/>
            <a:ext cx="10464800" cy="369332"/>
          </a:xfrm>
          <a:prstGeom prst="rect">
            <a:avLst/>
          </a:prstGeom>
          <a:noFill/>
        </p:spPr>
        <p:txBody>
          <a:bodyPr vert="horz" wrap="square" lIns="0" tIns="0" rIns="0" bIns="0" rtlCol="0" anchor="t">
            <a:noAutofit/>
          </a:bodyPr>
          <a:lstStyle/>
          <a:p>
            <a:r>
              <a:rPr lang="en-IN" sz="1200">
                <a:solidFill>
                  <a:srgbClr val="FFFFFF"/>
                </a:solidFill>
                <a:latin typeface="Consolas" panose="020B0609020204030204" pitchFamily="49" charset="0"/>
              </a:rPr>
              <a:t>docker compose --profile sonarqube up -d sonarqube</a:t>
            </a:r>
          </a:p>
          <a:p>
            <a:r>
              <a:rPr lang="en-IN" sz="1200">
                <a:solidFill>
                  <a:srgbClr val="FFFFFF"/>
                </a:solidFill>
                <a:latin typeface="Consolas" panose="020B0609020204030204" pitchFamily="49" charset="0"/>
              </a:rPr>
              <a:t>docker compose --profile sonarqube logs -f sonarqube</a:t>
            </a:r>
            <a:r>
              <a:rPr lang="en-IN" sz="1200">
                <a:solidFill>
                  <a:srgbClr val="8FD3C9"/>
                </a:solidFill>
                <a:latin typeface="Consolas" panose="020B0609020204030204" pitchFamily="49" charset="0"/>
              </a:rPr>
              <a:t>   # wait: "SonarQube is operational"</a:t>
            </a:r>
          </a:p>
          <a:p>
            <a:r>
              <a:rPr lang="en-IN" sz="1200">
                <a:solidFill>
                  <a:srgbClr val="8FD3C9"/>
                </a:solidFill>
                <a:latin typeface="Consolas" panose="020B0609020204030204" pitchFamily="49" charset="0"/>
              </a:rPr>
              <a:t># http://localhost:9000 : log in, create a token, create the Workshop quality gate</a:t>
            </a:r>
          </a:p>
          <a:p>
            <a:r>
              <a:rPr lang="en-IN" sz="1200">
                <a:solidFill>
                  <a:srgbClr val="FFFFFF"/>
                </a:solidFill>
                <a:latin typeface="Consolas" panose="020B0609020204030204" pitchFamily="49" charset="0"/>
              </a:rPr>
              <a:t>export SONAR_TOKEN=&lt;your token&gt;</a:t>
            </a:r>
          </a:p>
          <a:p>
            <a:r>
              <a:rPr lang="en-IN" sz="1200">
                <a:solidFill>
                  <a:srgbClr val="FFFFFF"/>
                </a:solidFill>
                <a:latin typeface="Consolas" panose="020B0609020204030204" pitchFamily="49" charset="0"/>
              </a:rPr>
              <a:t>docker compose --profile sonarqube run --rm -e SONAR_TOKEN sonar-scanner \</a:t>
            </a:r>
          </a:p>
          <a:p>
            <a:r>
              <a:rPr lang="en-IN" sz="1200">
                <a:solidFill>
                  <a:srgbClr val="FFFFFF"/>
                </a:solidFill>
                <a:latin typeface="Consolas" panose="020B0609020204030204" pitchFamily="49" charset="0"/>
              </a:rPr>
              <a:t>  -Dsonar.projectKey=lab2-start "-Dsonar.projectName=Lab 2 - Insecure code (start)" -Dsonar.sources=start</a:t>
            </a:r>
          </a:p>
          <a:p>
            <a:r>
              <a:rPr lang="en-IN" sz="1200">
                <a:solidFill>
                  <a:srgbClr val="FFFFFF"/>
                </a:solidFill>
                <a:latin typeface="Consolas" panose="020B0609020204030204" pitchFamily="49" charset="0"/>
              </a:rPr>
              <a:t>docker compose --profile sonarqube run --rm -e SONAR_TOKEN sonar-scanner \</a:t>
            </a:r>
          </a:p>
          <a:p>
            <a:r>
              <a:rPr lang="en-IN" sz="1200">
                <a:solidFill>
                  <a:srgbClr val="FFFFFF"/>
                </a:solidFill>
                <a:latin typeface="Consolas" panose="020B0609020204030204" pitchFamily="49" charset="0"/>
              </a:rPr>
              <a:t>  -Dsonar.projectKey=lab2-solution "-Dsonar.projectName=Lab 2 - Fixed code (solution)" -Dsonar.sources=solution</a:t>
            </a:r>
          </a:p>
        </p:txBody>
      </p:sp>
      <p:sp>
        <p:nvSpPr>
          <p:cNvPr id="9" name="TextBox 8">
            <a:extLst>
              <a:ext uri="{FF2B5EF4-FFF2-40B4-BE49-F238E27FC236}">
                <a16:creationId xmlns:a16="http://schemas.microsoft.com/office/drawing/2014/main" id="{8C41FD67-FDDD-1B31-5274-4DA8DBF35FD9}"/>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0" name="TextBox 9">
            <a:extLst>
              <a:ext uri="{FF2B5EF4-FFF2-40B4-BE49-F238E27FC236}">
                <a16:creationId xmlns:a16="http://schemas.microsoft.com/office/drawing/2014/main" id="{35EEDE20-6D02-C702-251A-97725E7A8ECE}"/>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20</a:t>
            </a:r>
          </a:p>
        </p:txBody>
      </p:sp>
    </p:spTree>
    <p:extLst>
      <p:ext uri="{BB962C8B-B14F-4D97-AF65-F5344CB8AC3E}">
        <p14:creationId xmlns:p14="http://schemas.microsoft.com/office/powerpoint/2010/main" val="19674629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F53055-93E6-6F4B-F83F-3111C9B30B92}"/>
              </a:ext>
            </a:extLst>
          </p:cNvPr>
          <p:cNvSpPr txBox="1"/>
          <p:nvPr/>
        </p:nvSpPr>
        <p:spPr>
          <a:xfrm>
            <a:off x="609600" y="1219200"/>
            <a:ext cx="5080000" cy="369332"/>
          </a:xfrm>
          <a:prstGeom prst="rect">
            <a:avLst/>
          </a:prstGeom>
          <a:noFill/>
        </p:spPr>
        <p:txBody>
          <a:bodyPr vert="horz" wrap="square" lIns="0" tIns="0" rIns="0" bIns="0" rtlCol="0" anchor="t">
            <a:noAutofit/>
          </a:bodyPr>
          <a:lstStyle/>
          <a:p>
            <a:r>
              <a:rPr lang="en-IN" sz="12000" b="1">
                <a:solidFill>
                  <a:srgbClr val="1B998B"/>
                </a:solidFill>
                <a:latin typeface="Calibri" panose="020F0502020204030204" pitchFamily="34" charset="0"/>
              </a:rPr>
              <a:t>03</a:t>
            </a:r>
          </a:p>
        </p:txBody>
      </p:sp>
      <p:sp>
        <p:nvSpPr>
          <p:cNvPr id="3" name="TextBox 2">
            <a:extLst>
              <a:ext uri="{FF2B5EF4-FFF2-40B4-BE49-F238E27FC236}">
                <a16:creationId xmlns:a16="http://schemas.microsoft.com/office/drawing/2014/main" id="{D12232FA-79A3-42A8-DCFA-63D023B4F82D}"/>
              </a:ext>
            </a:extLst>
          </p:cNvPr>
          <p:cNvSpPr txBox="1"/>
          <p:nvPr/>
        </p:nvSpPr>
        <p:spPr>
          <a:xfrm>
            <a:off x="609600" y="3175000"/>
            <a:ext cx="10972800" cy="369332"/>
          </a:xfrm>
          <a:prstGeom prst="rect">
            <a:avLst/>
          </a:prstGeom>
          <a:noFill/>
        </p:spPr>
        <p:txBody>
          <a:bodyPr vert="horz" wrap="square" lIns="0" tIns="0" rIns="0" bIns="0" rtlCol="0" anchor="t">
            <a:noAutofit/>
          </a:bodyPr>
          <a:lstStyle/>
          <a:p>
            <a:r>
              <a:rPr lang="en-IN" sz="4400" b="1">
                <a:solidFill>
                  <a:srgbClr val="FFFFFF"/>
                </a:solidFill>
                <a:latin typeface="Calibri" panose="020F0502020204030204" pitchFamily="34" charset="0"/>
              </a:rPr>
              <a:t>The CI security gate</a:t>
            </a:r>
          </a:p>
        </p:txBody>
      </p:sp>
      <p:sp>
        <p:nvSpPr>
          <p:cNvPr id="4" name="TextBox 3">
            <a:extLst>
              <a:ext uri="{FF2B5EF4-FFF2-40B4-BE49-F238E27FC236}">
                <a16:creationId xmlns:a16="http://schemas.microsoft.com/office/drawing/2014/main" id="{49A9D09B-AD51-7E5F-E6F5-E1AE94E98AC1}"/>
              </a:ext>
            </a:extLst>
          </p:cNvPr>
          <p:cNvSpPr txBox="1"/>
          <p:nvPr/>
        </p:nvSpPr>
        <p:spPr>
          <a:xfrm>
            <a:off x="609600" y="4038600"/>
            <a:ext cx="9652000" cy="369332"/>
          </a:xfrm>
          <a:prstGeom prst="rect">
            <a:avLst/>
          </a:prstGeom>
          <a:noFill/>
        </p:spPr>
        <p:txBody>
          <a:bodyPr vert="horz" wrap="square" lIns="0" tIns="0" rIns="0" bIns="0" rtlCol="0" anchor="t">
            <a:noAutofit/>
          </a:bodyPr>
          <a:lstStyle/>
          <a:p>
            <a:r>
              <a:rPr lang="en-US" sz="2000">
                <a:solidFill>
                  <a:srgbClr val="C9D6DF"/>
                </a:solidFill>
                <a:latin typeface="Calibri" panose="020F0502020204030204" pitchFamily="34" charset="0"/>
              </a:rPr>
              <a:t>Cloud misconfigurations in Terraform, caught by Checkov and blocked by a Jenkins pipeline</a:t>
            </a:r>
            <a:endParaRPr lang="en-IN" sz="2000">
              <a:solidFill>
                <a:srgbClr val="C9D6DF"/>
              </a:solidFill>
              <a:latin typeface="Calibri" panose="020F0502020204030204" pitchFamily="34" charset="0"/>
            </a:endParaRPr>
          </a:p>
        </p:txBody>
      </p:sp>
      <p:sp>
        <p:nvSpPr>
          <p:cNvPr id="5" name="TextBox 4">
            <a:extLst>
              <a:ext uri="{FF2B5EF4-FFF2-40B4-BE49-F238E27FC236}">
                <a16:creationId xmlns:a16="http://schemas.microsoft.com/office/drawing/2014/main" id="{81BBE043-4DF4-91DB-0C0B-DC19867B7535}"/>
              </a:ext>
            </a:extLst>
          </p:cNvPr>
          <p:cNvSpPr txBox="1"/>
          <p:nvPr/>
        </p:nvSpPr>
        <p:spPr>
          <a:xfrm>
            <a:off x="609600" y="5207000"/>
            <a:ext cx="10972800" cy="369332"/>
          </a:xfrm>
          <a:prstGeom prst="rect">
            <a:avLst/>
          </a:prstGeom>
          <a:noFill/>
        </p:spPr>
        <p:txBody>
          <a:bodyPr vert="horz" wrap="square" lIns="0" tIns="0" rIns="0" bIns="0" rtlCol="0" anchor="t">
            <a:noAutofit/>
          </a:bodyPr>
          <a:lstStyle/>
          <a:p>
            <a:r>
              <a:rPr lang="en-IN" sz="1600" b="1">
                <a:solidFill>
                  <a:srgbClr val="1B998B"/>
                </a:solidFill>
                <a:latin typeface="Calibri" panose="020F0502020204030204" pitchFamily="34" charset="0"/>
              </a:rPr>
              <a:t>Tools: Terraform, Checkov, Jenkins   ·   15 minutes</a:t>
            </a:r>
          </a:p>
        </p:txBody>
      </p:sp>
    </p:spTree>
    <p:extLst>
      <p:ext uri="{BB962C8B-B14F-4D97-AF65-F5344CB8AC3E}">
        <p14:creationId xmlns:p14="http://schemas.microsoft.com/office/powerpoint/2010/main" val="9355467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891659-9BFD-C0DA-D540-4C498E486829}"/>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Lab 3 · What we're trying to achieve</a:t>
            </a:r>
            <a:endParaRPr lang="en-IN" sz="3400" b="1">
              <a:solidFill>
                <a:srgbClr val="13293D"/>
              </a:solidFill>
              <a:latin typeface="Calibri" panose="020F0502020204030204" pitchFamily="34" charset="0"/>
            </a:endParaRPr>
          </a:p>
        </p:txBody>
      </p:sp>
      <p:sp>
        <p:nvSpPr>
          <p:cNvPr id="3" name="Rectangle: Rounded Corners 2">
            <a:extLst>
              <a:ext uri="{FF2B5EF4-FFF2-40B4-BE49-F238E27FC236}">
                <a16:creationId xmlns:a16="http://schemas.microsoft.com/office/drawing/2014/main" id="{1ED1AB95-5CC2-C0F5-3705-B0A5A098243B}"/>
              </a:ext>
            </a:extLst>
          </p:cNvPr>
          <p:cNvSpPr/>
          <p:nvPr/>
        </p:nvSpPr>
        <p:spPr>
          <a:xfrm>
            <a:off x="609600" y="1320800"/>
            <a:ext cx="5080000" cy="3479800"/>
          </a:xfrm>
          <a:prstGeom prst="roundRect">
            <a:avLst>
              <a:gd name="adj" fmla="val 10000"/>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90207654-A91D-12BD-505E-1AB2B49EFF36}"/>
              </a:ext>
            </a:extLst>
          </p:cNvPr>
          <p:cNvSpPr txBox="1"/>
          <p:nvPr/>
        </p:nvSpPr>
        <p:spPr>
          <a:xfrm>
            <a:off x="914400" y="1574800"/>
            <a:ext cx="44704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THE SCENARIO</a:t>
            </a:r>
          </a:p>
        </p:txBody>
      </p:sp>
      <p:sp>
        <p:nvSpPr>
          <p:cNvPr id="5" name="TextBox 4">
            <a:extLst>
              <a:ext uri="{FF2B5EF4-FFF2-40B4-BE49-F238E27FC236}">
                <a16:creationId xmlns:a16="http://schemas.microsoft.com/office/drawing/2014/main" id="{3B34A5E3-AE4D-DFA9-532D-15AAC5D1F848}"/>
              </a:ext>
            </a:extLst>
          </p:cNvPr>
          <p:cNvSpPr txBox="1"/>
          <p:nvPr/>
        </p:nvSpPr>
        <p:spPr>
          <a:xfrm>
            <a:off x="914400" y="1905000"/>
            <a:ext cx="44704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The team describes its AWS setup in Terraform: a storage bucket, a firewall rule, a server and a permission policy. Someone took shortcuts to 'just make it work', and the pipeline is about to deploy it.</a:t>
            </a:r>
            <a:endParaRPr lang="en-IN" sz="1700">
              <a:solidFill>
                <a:srgbClr val="1E2A35"/>
              </a:solidFill>
              <a:latin typeface="Calibri" panose="020F0502020204030204" pitchFamily="34" charset="0"/>
            </a:endParaRPr>
          </a:p>
        </p:txBody>
      </p:sp>
      <p:sp>
        <p:nvSpPr>
          <p:cNvPr id="6" name="TextBox 5">
            <a:extLst>
              <a:ext uri="{FF2B5EF4-FFF2-40B4-BE49-F238E27FC236}">
                <a16:creationId xmlns:a16="http://schemas.microsoft.com/office/drawing/2014/main" id="{89FCF746-8559-7F4E-A5A5-371BBA032157}"/>
              </a:ext>
            </a:extLst>
          </p:cNvPr>
          <p:cNvSpPr txBox="1"/>
          <p:nvPr/>
        </p:nvSpPr>
        <p:spPr>
          <a:xfrm>
            <a:off x="914400" y="3886200"/>
            <a:ext cx="4470400" cy="369332"/>
          </a:xfrm>
          <a:prstGeom prst="rect">
            <a:avLst/>
          </a:prstGeom>
          <a:noFill/>
        </p:spPr>
        <p:txBody>
          <a:bodyPr vert="horz" wrap="square" lIns="0" tIns="0" rIns="0" bIns="0" rtlCol="0" anchor="b">
            <a:noAutofit/>
          </a:bodyPr>
          <a:lstStyle/>
          <a:p>
            <a:r>
              <a:rPr lang="en-US" sz="2000" b="1">
                <a:solidFill>
                  <a:srgbClr val="E4572E"/>
                </a:solidFill>
                <a:latin typeface="Calibri" panose="020F0502020204030204" pitchFamily="34" charset="0"/>
              </a:rPr>
              <a:t>Would you let this deploy?</a:t>
            </a:r>
            <a:endParaRPr lang="en-IN" sz="2000" b="1">
              <a:solidFill>
                <a:srgbClr val="E4572E"/>
              </a:solidFill>
              <a:latin typeface="Calibri" panose="020F0502020204030204" pitchFamily="34" charset="0"/>
            </a:endParaRPr>
          </a:p>
        </p:txBody>
      </p:sp>
      <p:sp>
        <p:nvSpPr>
          <p:cNvPr id="7" name="TextBox 6">
            <a:extLst>
              <a:ext uri="{FF2B5EF4-FFF2-40B4-BE49-F238E27FC236}">
                <a16:creationId xmlns:a16="http://schemas.microsoft.com/office/drawing/2014/main" id="{5E085A28-3BA4-0EDD-5386-B5C58A238F6D}"/>
              </a:ext>
            </a:extLst>
          </p:cNvPr>
          <p:cNvSpPr txBox="1"/>
          <p:nvPr/>
        </p:nvSpPr>
        <p:spPr>
          <a:xfrm>
            <a:off x="6248400" y="1574800"/>
            <a:ext cx="5334000" cy="369332"/>
          </a:xfrm>
          <a:prstGeom prst="rect">
            <a:avLst/>
          </a:prstGeom>
          <a:noFill/>
        </p:spPr>
        <p:txBody>
          <a:bodyPr vert="horz" wrap="square" lIns="0" tIns="0" rIns="0" bIns="0" rtlCol="0" anchor="t">
            <a:noAutofit/>
          </a:bodyPr>
          <a:lstStyle/>
          <a:p>
            <a:r>
              <a:rPr lang="en-US" sz="1200" b="1">
                <a:solidFill>
                  <a:srgbClr val="1B998B"/>
                </a:solidFill>
                <a:latin typeface="Calibri" panose="020F0502020204030204" pitchFamily="34" charset="0"/>
              </a:rPr>
              <a:t>BY THE END OF THIS LAB YOU WILL</a:t>
            </a:r>
            <a:endParaRPr lang="en-IN" sz="1200" b="1">
              <a:solidFill>
                <a:srgbClr val="1B998B"/>
              </a:solidFill>
              <a:latin typeface="Calibri" panose="020F0502020204030204" pitchFamily="34" charset="0"/>
            </a:endParaRPr>
          </a:p>
        </p:txBody>
      </p:sp>
      <p:sp>
        <p:nvSpPr>
          <p:cNvPr id="8" name="Oval 7">
            <a:extLst>
              <a:ext uri="{FF2B5EF4-FFF2-40B4-BE49-F238E27FC236}">
                <a16:creationId xmlns:a16="http://schemas.microsoft.com/office/drawing/2014/main" id="{F731AF8E-DBF2-B485-CDDC-79CD15DCC7D6}"/>
              </a:ext>
            </a:extLst>
          </p:cNvPr>
          <p:cNvSpPr/>
          <p:nvPr/>
        </p:nvSpPr>
        <p:spPr>
          <a:xfrm>
            <a:off x="6248400" y="19812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1</a:t>
            </a:r>
          </a:p>
        </p:txBody>
      </p:sp>
      <p:sp>
        <p:nvSpPr>
          <p:cNvPr id="9" name="TextBox 8">
            <a:extLst>
              <a:ext uri="{FF2B5EF4-FFF2-40B4-BE49-F238E27FC236}">
                <a16:creationId xmlns:a16="http://schemas.microsoft.com/office/drawing/2014/main" id="{5EF1C051-EF0F-EB17-A453-8CA38AC0CB5B}"/>
              </a:ext>
            </a:extLst>
          </p:cNvPr>
          <p:cNvSpPr txBox="1"/>
          <p:nvPr/>
        </p:nvSpPr>
        <p:spPr>
          <a:xfrm>
            <a:off x="6934200" y="2006600"/>
            <a:ext cx="4648200" cy="369332"/>
          </a:xfrm>
          <a:prstGeom prst="rect">
            <a:avLst/>
          </a:prstGeom>
          <a:noFill/>
        </p:spPr>
        <p:txBody>
          <a:bodyPr vert="horz" wrap="square" lIns="0" tIns="0" rIns="0" bIns="0" rtlCol="0" anchor="t">
            <a:noAutofit/>
          </a:bodyPr>
          <a:lstStyle/>
          <a:p>
            <a:r>
              <a:rPr lang="en-IN" sz="1700">
                <a:solidFill>
                  <a:srgbClr val="1E2A35"/>
                </a:solidFill>
                <a:latin typeface="Calibri" panose="020F0502020204030204" pitchFamily="34" charset="0"/>
              </a:rPr>
              <a:t>Spot common cloud misconfigurations in infrastructure code</a:t>
            </a:r>
          </a:p>
        </p:txBody>
      </p:sp>
      <p:sp>
        <p:nvSpPr>
          <p:cNvPr id="10" name="Oval 9">
            <a:extLst>
              <a:ext uri="{FF2B5EF4-FFF2-40B4-BE49-F238E27FC236}">
                <a16:creationId xmlns:a16="http://schemas.microsoft.com/office/drawing/2014/main" id="{C9F4C8EC-9662-9466-9D28-922900FCAE79}"/>
              </a:ext>
            </a:extLst>
          </p:cNvPr>
          <p:cNvSpPr/>
          <p:nvPr/>
        </p:nvSpPr>
        <p:spPr>
          <a:xfrm>
            <a:off x="6248400" y="29210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2</a:t>
            </a:r>
          </a:p>
        </p:txBody>
      </p:sp>
      <p:sp>
        <p:nvSpPr>
          <p:cNvPr id="11" name="TextBox 10">
            <a:extLst>
              <a:ext uri="{FF2B5EF4-FFF2-40B4-BE49-F238E27FC236}">
                <a16:creationId xmlns:a16="http://schemas.microsoft.com/office/drawing/2014/main" id="{97485B6E-66F9-6BD4-7A2A-1EA83476C2A1}"/>
              </a:ext>
            </a:extLst>
          </p:cNvPr>
          <p:cNvSpPr txBox="1"/>
          <p:nvPr/>
        </p:nvSpPr>
        <p:spPr>
          <a:xfrm>
            <a:off x="6934200" y="29464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Scan Terraform with Checkov, without touching AWS</a:t>
            </a:r>
            <a:endParaRPr lang="en-IN" sz="1700">
              <a:solidFill>
                <a:srgbClr val="1E2A35"/>
              </a:solidFill>
              <a:latin typeface="Calibri" panose="020F0502020204030204" pitchFamily="34" charset="0"/>
            </a:endParaRPr>
          </a:p>
        </p:txBody>
      </p:sp>
      <p:sp>
        <p:nvSpPr>
          <p:cNvPr id="12" name="Oval 11">
            <a:extLst>
              <a:ext uri="{FF2B5EF4-FFF2-40B4-BE49-F238E27FC236}">
                <a16:creationId xmlns:a16="http://schemas.microsoft.com/office/drawing/2014/main" id="{3B53F686-9461-A92F-3CE1-76F819EFC93B}"/>
              </a:ext>
            </a:extLst>
          </p:cNvPr>
          <p:cNvSpPr/>
          <p:nvPr/>
        </p:nvSpPr>
        <p:spPr>
          <a:xfrm>
            <a:off x="6248400" y="3860800"/>
            <a:ext cx="482600" cy="4826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sz="1600" b="1">
                <a:solidFill>
                  <a:srgbClr val="FFFFFF"/>
                </a:solidFill>
                <a:latin typeface="Calibri" panose="020F0502020204030204" pitchFamily="34" charset="0"/>
              </a:rPr>
              <a:t>3</a:t>
            </a:r>
          </a:p>
        </p:txBody>
      </p:sp>
      <p:sp>
        <p:nvSpPr>
          <p:cNvPr id="13" name="TextBox 12">
            <a:extLst>
              <a:ext uri="{FF2B5EF4-FFF2-40B4-BE49-F238E27FC236}">
                <a16:creationId xmlns:a16="http://schemas.microsoft.com/office/drawing/2014/main" id="{076F1276-7BCA-16E7-BC2A-CA7FAFA21F1A}"/>
              </a:ext>
            </a:extLst>
          </p:cNvPr>
          <p:cNvSpPr txBox="1"/>
          <p:nvPr/>
        </p:nvSpPr>
        <p:spPr>
          <a:xfrm>
            <a:off x="6934200" y="3886200"/>
            <a:ext cx="4648200" cy="369332"/>
          </a:xfrm>
          <a:prstGeom prst="rect">
            <a:avLst/>
          </a:prstGeom>
          <a:noFill/>
        </p:spPr>
        <p:txBody>
          <a:bodyPr vert="horz" wrap="square" lIns="0" tIns="0" rIns="0" bIns="0" rtlCol="0" anchor="t">
            <a:noAutofit/>
          </a:bodyPr>
          <a:lstStyle/>
          <a:p>
            <a:r>
              <a:rPr lang="en-US" sz="1700">
                <a:solidFill>
                  <a:srgbClr val="1E2A35"/>
                </a:solidFill>
                <a:latin typeface="Calibri" panose="020F0502020204030204" pitchFamily="34" charset="0"/>
              </a:rPr>
              <a:t>See a pipeline block an unsafe deployment, then let the fixed one through</a:t>
            </a:r>
            <a:endParaRPr lang="en-IN" sz="1700">
              <a:solidFill>
                <a:srgbClr val="1E2A35"/>
              </a:solidFill>
              <a:latin typeface="Calibri" panose="020F0502020204030204" pitchFamily="34" charset="0"/>
            </a:endParaRPr>
          </a:p>
        </p:txBody>
      </p:sp>
      <p:sp>
        <p:nvSpPr>
          <p:cNvPr id="14" name="Rectangle: Rounded Corners 13">
            <a:extLst>
              <a:ext uri="{FF2B5EF4-FFF2-40B4-BE49-F238E27FC236}">
                <a16:creationId xmlns:a16="http://schemas.microsoft.com/office/drawing/2014/main" id="{A4495139-4703-61C1-6F92-153C13344020}"/>
              </a:ext>
            </a:extLst>
          </p:cNvPr>
          <p:cNvSpPr/>
          <p:nvPr/>
        </p:nvSpPr>
        <p:spPr>
          <a:xfrm>
            <a:off x="609600" y="5054600"/>
            <a:ext cx="10972800" cy="711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0" tIns="25400" rIns="76200" bIns="25400" rtlCol="0" anchor="ctr"/>
          <a:lstStyle/>
          <a:p>
            <a:r>
              <a:rPr lang="en-US" sz="1500" b="1">
                <a:solidFill>
                  <a:srgbClr val="E4572E"/>
                </a:solidFill>
                <a:latin typeface="Calibri" panose="020F0502020204030204" pitchFamily="34" charset="0"/>
              </a:rPr>
              <a:t>Real world:  Capital One, 2019: a misconfigured app and the old metadata service exposed data on 100M+ customers.</a:t>
            </a:r>
            <a:endParaRPr lang="en-IN" sz="1500" b="1">
              <a:solidFill>
                <a:srgbClr val="E4572E"/>
              </a:solidFill>
              <a:latin typeface="Calibri" panose="020F0502020204030204" pitchFamily="34" charset="0"/>
            </a:endParaRPr>
          </a:p>
        </p:txBody>
      </p:sp>
      <p:sp>
        <p:nvSpPr>
          <p:cNvPr id="15" name="TextBox 14">
            <a:extLst>
              <a:ext uri="{FF2B5EF4-FFF2-40B4-BE49-F238E27FC236}">
                <a16:creationId xmlns:a16="http://schemas.microsoft.com/office/drawing/2014/main" id="{35A24F55-83EB-CBCF-40D9-ADD78E9E7147}"/>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6" name="TextBox 15">
            <a:extLst>
              <a:ext uri="{FF2B5EF4-FFF2-40B4-BE49-F238E27FC236}">
                <a16:creationId xmlns:a16="http://schemas.microsoft.com/office/drawing/2014/main" id="{4F3034C4-324E-0551-6674-32F57C49DC40}"/>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22</a:t>
            </a:r>
          </a:p>
        </p:txBody>
      </p:sp>
    </p:spTree>
    <p:extLst>
      <p:ext uri="{BB962C8B-B14F-4D97-AF65-F5344CB8AC3E}">
        <p14:creationId xmlns:p14="http://schemas.microsoft.com/office/powerpoint/2010/main" val="24819600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1A9E52-2AA4-D568-3C37-EBEA8CEC2254}"/>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Six misconfigurations in one Terraform file</a:t>
            </a:r>
            <a:endParaRPr lang="en-IN" sz="3400" b="1">
              <a:solidFill>
                <a:srgbClr val="13293D"/>
              </a:solidFill>
              <a:latin typeface="Calibri" panose="020F0502020204030204" pitchFamily="34" charset="0"/>
            </a:endParaRPr>
          </a:p>
        </p:txBody>
      </p:sp>
      <p:sp>
        <p:nvSpPr>
          <p:cNvPr id="3" name="Rectangle 2">
            <a:extLst>
              <a:ext uri="{FF2B5EF4-FFF2-40B4-BE49-F238E27FC236}">
                <a16:creationId xmlns:a16="http://schemas.microsoft.com/office/drawing/2014/main" id="{8731EC83-03B2-0301-C7CA-7A39106EC43B}"/>
              </a:ext>
            </a:extLst>
          </p:cNvPr>
          <p:cNvSpPr/>
          <p:nvPr/>
        </p:nvSpPr>
        <p:spPr>
          <a:xfrm>
            <a:off x="609600" y="1270000"/>
            <a:ext cx="21844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Component</a:t>
            </a:r>
          </a:p>
        </p:txBody>
      </p:sp>
      <p:sp>
        <p:nvSpPr>
          <p:cNvPr id="4" name="Rectangle 3">
            <a:extLst>
              <a:ext uri="{FF2B5EF4-FFF2-40B4-BE49-F238E27FC236}">
                <a16:creationId xmlns:a16="http://schemas.microsoft.com/office/drawing/2014/main" id="{E52A1281-F2AE-D41E-BE14-9215189E687A}"/>
              </a:ext>
            </a:extLst>
          </p:cNvPr>
          <p:cNvSpPr/>
          <p:nvPr/>
        </p:nvSpPr>
        <p:spPr>
          <a:xfrm>
            <a:off x="2946400" y="1270000"/>
            <a:ext cx="41910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Risk</a:t>
            </a:r>
          </a:p>
        </p:txBody>
      </p:sp>
      <p:sp>
        <p:nvSpPr>
          <p:cNvPr id="5" name="Rectangle 4">
            <a:extLst>
              <a:ext uri="{FF2B5EF4-FFF2-40B4-BE49-F238E27FC236}">
                <a16:creationId xmlns:a16="http://schemas.microsoft.com/office/drawing/2014/main" id="{12D28CDA-80AC-0839-1EFA-C8EDBDAE8ADB}"/>
              </a:ext>
            </a:extLst>
          </p:cNvPr>
          <p:cNvSpPr/>
          <p:nvPr/>
        </p:nvSpPr>
        <p:spPr>
          <a:xfrm>
            <a:off x="7289800" y="1270000"/>
            <a:ext cx="4292600" cy="457200"/>
          </a:xfrm>
          <a:prstGeom prst="rect">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FFFFFF"/>
                </a:solidFill>
                <a:latin typeface="Calibri" panose="020F0502020204030204" pitchFamily="34" charset="0"/>
              </a:rPr>
              <a:t>Fix</a:t>
            </a:r>
          </a:p>
        </p:txBody>
      </p:sp>
      <p:sp>
        <p:nvSpPr>
          <p:cNvPr id="6" name="Rectangle 5">
            <a:extLst>
              <a:ext uri="{FF2B5EF4-FFF2-40B4-BE49-F238E27FC236}">
                <a16:creationId xmlns:a16="http://schemas.microsoft.com/office/drawing/2014/main" id="{5924CD8C-33DF-8769-5D35-CC7B9E3C2809}"/>
              </a:ext>
            </a:extLst>
          </p:cNvPr>
          <p:cNvSpPr/>
          <p:nvPr/>
        </p:nvSpPr>
        <p:spPr>
          <a:xfrm>
            <a:off x="609600" y="18034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S3 bucket</a:t>
            </a:r>
          </a:p>
        </p:txBody>
      </p:sp>
      <p:sp>
        <p:nvSpPr>
          <p:cNvPr id="7" name="Rectangle 6">
            <a:extLst>
              <a:ext uri="{FF2B5EF4-FFF2-40B4-BE49-F238E27FC236}">
                <a16:creationId xmlns:a16="http://schemas.microsoft.com/office/drawing/2014/main" id="{08EE39BA-972E-292A-756C-8F4883F967A6}"/>
              </a:ext>
            </a:extLst>
          </p:cNvPr>
          <p:cNvSpPr/>
          <p:nvPr/>
        </p:nvSpPr>
        <p:spPr>
          <a:xfrm>
            <a:off x="2946400" y="18034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Public access allowed</a:t>
            </a:r>
          </a:p>
        </p:txBody>
      </p:sp>
      <p:sp>
        <p:nvSpPr>
          <p:cNvPr id="8" name="Rectangle 7">
            <a:extLst>
              <a:ext uri="{FF2B5EF4-FFF2-40B4-BE49-F238E27FC236}">
                <a16:creationId xmlns:a16="http://schemas.microsoft.com/office/drawing/2014/main" id="{2FEA8B48-171B-4791-9335-126F5152B3DF}"/>
              </a:ext>
            </a:extLst>
          </p:cNvPr>
          <p:cNvSpPr/>
          <p:nvPr/>
        </p:nvSpPr>
        <p:spPr>
          <a:xfrm>
            <a:off x="7289800" y="18034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All public access blocked</a:t>
            </a:r>
          </a:p>
        </p:txBody>
      </p:sp>
      <p:sp>
        <p:nvSpPr>
          <p:cNvPr id="9" name="Rectangle 8">
            <a:extLst>
              <a:ext uri="{FF2B5EF4-FFF2-40B4-BE49-F238E27FC236}">
                <a16:creationId xmlns:a16="http://schemas.microsoft.com/office/drawing/2014/main" id="{76D28E52-15CA-4B95-91A9-9D2503880B53}"/>
              </a:ext>
            </a:extLst>
          </p:cNvPr>
          <p:cNvSpPr/>
          <p:nvPr/>
        </p:nvSpPr>
        <p:spPr>
          <a:xfrm>
            <a:off x="609600" y="23876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Security group</a:t>
            </a:r>
          </a:p>
        </p:txBody>
      </p:sp>
      <p:sp>
        <p:nvSpPr>
          <p:cNvPr id="10" name="Rectangle 9">
            <a:extLst>
              <a:ext uri="{FF2B5EF4-FFF2-40B4-BE49-F238E27FC236}">
                <a16:creationId xmlns:a16="http://schemas.microsoft.com/office/drawing/2014/main" id="{B8ADE2B1-6E3B-29F2-1CD0-29E6BE001F26}"/>
              </a:ext>
            </a:extLst>
          </p:cNvPr>
          <p:cNvSpPr/>
          <p:nvPr/>
        </p:nvSpPr>
        <p:spPr>
          <a:xfrm>
            <a:off x="2946400" y="23876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E4572E"/>
                </a:solidFill>
                <a:latin typeface="Calibri" panose="020F0502020204030204" pitchFamily="34" charset="0"/>
              </a:rPr>
              <a:t>SSH open to the whole internet (0.0.0.0/0)</a:t>
            </a:r>
            <a:endParaRPr lang="en-IN" sz="1500">
              <a:solidFill>
                <a:srgbClr val="E4572E"/>
              </a:solidFill>
              <a:latin typeface="Calibri" panose="020F0502020204030204" pitchFamily="34" charset="0"/>
            </a:endParaRPr>
          </a:p>
        </p:txBody>
      </p:sp>
      <p:sp>
        <p:nvSpPr>
          <p:cNvPr id="11" name="Rectangle 10">
            <a:extLst>
              <a:ext uri="{FF2B5EF4-FFF2-40B4-BE49-F238E27FC236}">
                <a16:creationId xmlns:a16="http://schemas.microsoft.com/office/drawing/2014/main" id="{F99422FE-F47B-C0F4-1537-BD7BF218FDE0}"/>
              </a:ext>
            </a:extLst>
          </p:cNvPr>
          <p:cNvSpPr/>
          <p:nvPr/>
        </p:nvSpPr>
        <p:spPr>
          <a:xfrm>
            <a:off x="7289800" y="23876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SSH from the internal network only</a:t>
            </a:r>
            <a:endParaRPr lang="en-IN" sz="1500" b="1">
              <a:solidFill>
                <a:srgbClr val="1B998B"/>
              </a:solidFill>
              <a:latin typeface="Calibri" panose="020F0502020204030204" pitchFamily="34" charset="0"/>
            </a:endParaRPr>
          </a:p>
        </p:txBody>
      </p:sp>
      <p:sp>
        <p:nvSpPr>
          <p:cNvPr id="12" name="Rectangle 11">
            <a:extLst>
              <a:ext uri="{FF2B5EF4-FFF2-40B4-BE49-F238E27FC236}">
                <a16:creationId xmlns:a16="http://schemas.microsoft.com/office/drawing/2014/main" id="{6812D41B-0BD3-5E4B-2D3B-5ABA070D8997}"/>
              </a:ext>
            </a:extLst>
          </p:cNvPr>
          <p:cNvSpPr/>
          <p:nvPr/>
        </p:nvSpPr>
        <p:spPr>
          <a:xfrm>
            <a:off x="609600" y="29718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3" name="Rectangle 12">
            <a:extLst>
              <a:ext uri="{FF2B5EF4-FFF2-40B4-BE49-F238E27FC236}">
                <a16:creationId xmlns:a16="http://schemas.microsoft.com/office/drawing/2014/main" id="{426F004E-067E-39B7-B5DD-6245D27081BC}"/>
              </a:ext>
            </a:extLst>
          </p:cNvPr>
          <p:cNvSpPr/>
          <p:nvPr/>
        </p:nvSpPr>
        <p:spPr>
          <a:xfrm>
            <a:off x="2946400" y="29718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Public IP address</a:t>
            </a:r>
          </a:p>
        </p:txBody>
      </p:sp>
      <p:sp>
        <p:nvSpPr>
          <p:cNvPr id="14" name="Rectangle 13">
            <a:extLst>
              <a:ext uri="{FF2B5EF4-FFF2-40B4-BE49-F238E27FC236}">
                <a16:creationId xmlns:a16="http://schemas.microsoft.com/office/drawing/2014/main" id="{585DBE03-C8E9-50DA-57B9-3F31F258CFAE}"/>
              </a:ext>
            </a:extLst>
          </p:cNvPr>
          <p:cNvSpPr/>
          <p:nvPr/>
        </p:nvSpPr>
        <p:spPr>
          <a:xfrm>
            <a:off x="7289800" y="29718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Private, behind a load balancer</a:t>
            </a:r>
            <a:endParaRPr lang="en-IN" sz="1500" b="1">
              <a:solidFill>
                <a:srgbClr val="1B998B"/>
              </a:solidFill>
              <a:latin typeface="Calibri" panose="020F0502020204030204" pitchFamily="34" charset="0"/>
            </a:endParaRPr>
          </a:p>
        </p:txBody>
      </p:sp>
      <p:sp>
        <p:nvSpPr>
          <p:cNvPr id="15" name="Rectangle 14">
            <a:extLst>
              <a:ext uri="{FF2B5EF4-FFF2-40B4-BE49-F238E27FC236}">
                <a16:creationId xmlns:a16="http://schemas.microsoft.com/office/drawing/2014/main" id="{1618E329-14C3-5D73-0C16-30373FF70914}"/>
              </a:ext>
            </a:extLst>
          </p:cNvPr>
          <p:cNvSpPr/>
          <p:nvPr/>
        </p:nvSpPr>
        <p:spPr>
          <a:xfrm>
            <a:off x="609600" y="35560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6" name="Rectangle 15">
            <a:extLst>
              <a:ext uri="{FF2B5EF4-FFF2-40B4-BE49-F238E27FC236}">
                <a16:creationId xmlns:a16="http://schemas.microsoft.com/office/drawing/2014/main" id="{1954760A-3C63-DEB0-9C32-E06C90FE69E2}"/>
              </a:ext>
            </a:extLst>
          </p:cNvPr>
          <p:cNvSpPr/>
          <p:nvPr/>
        </p:nvSpPr>
        <p:spPr>
          <a:xfrm>
            <a:off x="2946400" y="35560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Old metadata service (IMDSv1)</a:t>
            </a:r>
          </a:p>
        </p:txBody>
      </p:sp>
      <p:sp>
        <p:nvSpPr>
          <p:cNvPr id="17" name="Rectangle 16">
            <a:extLst>
              <a:ext uri="{FF2B5EF4-FFF2-40B4-BE49-F238E27FC236}">
                <a16:creationId xmlns:a16="http://schemas.microsoft.com/office/drawing/2014/main" id="{3476A93D-C6FE-745E-0D11-7DDC729955AF}"/>
              </a:ext>
            </a:extLst>
          </p:cNvPr>
          <p:cNvSpPr/>
          <p:nvPr/>
        </p:nvSpPr>
        <p:spPr>
          <a:xfrm>
            <a:off x="7289800" y="35560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IMDSv2 session tokens required</a:t>
            </a:r>
          </a:p>
        </p:txBody>
      </p:sp>
      <p:sp>
        <p:nvSpPr>
          <p:cNvPr id="18" name="Rectangle 17">
            <a:extLst>
              <a:ext uri="{FF2B5EF4-FFF2-40B4-BE49-F238E27FC236}">
                <a16:creationId xmlns:a16="http://schemas.microsoft.com/office/drawing/2014/main" id="{4C4E7D9E-D610-505E-BABF-D678DA90E763}"/>
              </a:ext>
            </a:extLst>
          </p:cNvPr>
          <p:cNvSpPr/>
          <p:nvPr/>
        </p:nvSpPr>
        <p:spPr>
          <a:xfrm>
            <a:off x="609600" y="4140200"/>
            <a:ext cx="21844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EC2 instance</a:t>
            </a:r>
          </a:p>
        </p:txBody>
      </p:sp>
      <p:sp>
        <p:nvSpPr>
          <p:cNvPr id="19" name="Rectangle 18">
            <a:extLst>
              <a:ext uri="{FF2B5EF4-FFF2-40B4-BE49-F238E27FC236}">
                <a16:creationId xmlns:a16="http://schemas.microsoft.com/office/drawing/2014/main" id="{109B8179-42FC-CF79-6BAD-AE5191CA1D7D}"/>
              </a:ext>
            </a:extLst>
          </p:cNvPr>
          <p:cNvSpPr/>
          <p:nvPr/>
        </p:nvSpPr>
        <p:spPr>
          <a:xfrm>
            <a:off x="2946400" y="4140200"/>
            <a:ext cx="41910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a:solidFill>
                  <a:srgbClr val="E4572E"/>
                </a:solidFill>
                <a:latin typeface="Calibri" panose="020F0502020204030204" pitchFamily="34" charset="0"/>
              </a:rPr>
              <a:t>Disk not encrypted</a:t>
            </a:r>
          </a:p>
        </p:txBody>
      </p:sp>
      <p:sp>
        <p:nvSpPr>
          <p:cNvPr id="20" name="Rectangle 19">
            <a:extLst>
              <a:ext uri="{FF2B5EF4-FFF2-40B4-BE49-F238E27FC236}">
                <a16:creationId xmlns:a16="http://schemas.microsoft.com/office/drawing/2014/main" id="{C6C7F1CB-9F80-250E-51B8-9F7B433B24D3}"/>
              </a:ext>
            </a:extLst>
          </p:cNvPr>
          <p:cNvSpPr/>
          <p:nvPr/>
        </p:nvSpPr>
        <p:spPr>
          <a:xfrm>
            <a:off x="7289800" y="4140200"/>
            <a:ext cx="4292600" cy="533400"/>
          </a:xfrm>
          <a:prstGeom prst="rect">
            <a:avLst/>
          </a:prstGeom>
          <a:solidFill>
            <a:srgbClr val="EEF3F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B998B"/>
                </a:solidFill>
                <a:latin typeface="Calibri" panose="020F0502020204030204" pitchFamily="34" charset="0"/>
              </a:rPr>
              <a:t>Disk encrypted</a:t>
            </a:r>
          </a:p>
        </p:txBody>
      </p:sp>
      <p:sp>
        <p:nvSpPr>
          <p:cNvPr id="21" name="Rectangle 20">
            <a:extLst>
              <a:ext uri="{FF2B5EF4-FFF2-40B4-BE49-F238E27FC236}">
                <a16:creationId xmlns:a16="http://schemas.microsoft.com/office/drawing/2014/main" id="{131B4DAD-2E97-F56A-93FC-63F47FF7B539}"/>
              </a:ext>
            </a:extLst>
          </p:cNvPr>
          <p:cNvSpPr/>
          <p:nvPr/>
        </p:nvSpPr>
        <p:spPr>
          <a:xfrm>
            <a:off x="609600" y="4724400"/>
            <a:ext cx="21844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IN" sz="1500" b="1">
                <a:solidFill>
                  <a:srgbClr val="13293D"/>
                </a:solidFill>
                <a:latin typeface="Calibri" panose="020F0502020204030204" pitchFamily="34" charset="0"/>
              </a:rPr>
              <a:t>IAM policy</a:t>
            </a:r>
          </a:p>
        </p:txBody>
      </p:sp>
      <p:sp>
        <p:nvSpPr>
          <p:cNvPr id="22" name="Rectangle 21">
            <a:extLst>
              <a:ext uri="{FF2B5EF4-FFF2-40B4-BE49-F238E27FC236}">
                <a16:creationId xmlns:a16="http://schemas.microsoft.com/office/drawing/2014/main" id="{8B316730-0ECA-8F6D-99F7-884221B98D66}"/>
              </a:ext>
            </a:extLst>
          </p:cNvPr>
          <p:cNvSpPr/>
          <p:nvPr/>
        </p:nvSpPr>
        <p:spPr>
          <a:xfrm>
            <a:off x="2946400" y="4724400"/>
            <a:ext cx="41910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a:solidFill>
                  <a:srgbClr val="E4572E"/>
                </a:solidFill>
                <a:latin typeface="Calibri" panose="020F0502020204030204" pitchFamily="34" charset="0"/>
              </a:rPr>
              <a:t>Every action on every resource</a:t>
            </a:r>
            <a:endParaRPr lang="en-IN" sz="1500">
              <a:solidFill>
                <a:srgbClr val="E4572E"/>
              </a:solidFill>
              <a:latin typeface="Calibri" panose="020F0502020204030204" pitchFamily="34" charset="0"/>
            </a:endParaRPr>
          </a:p>
        </p:txBody>
      </p:sp>
      <p:sp>
        <p:nvSpPr>
          <p:cNvPr id="23" name="Rectangle 22">
            <a:extLst>
              <a:ext uri="{FF2B5EF4-FFF2-40B4-BE49-F238E27FC236}">
                <a16:creationId xmlns:a16="http://schemas.microsoft.com/office/drawing/2014/main" id="{AB788021-86F7-42E4-56C4-A23012C2C041}"/>
              </a:ext>
            </a:extLst>
          </p:cNvPr>
          <p:cNvSpPr/>
          <p:nvPr/>
        </p:nvSpPr>
        <p:spPr>
          <a:xfrm>
            <a:off x="7289800" y="4724400"/>
            <a:ext cx="4292600" cy="533400"/>
          </a:xfrm>
          <a:prstGeom prst="rect">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r>
              <a:rPr lang="en-US" sz="1500" b="1">
                <a:solidFill>
                  <a:srgbClr val="1B998B"/>
                </a:solidFill>
                <a:latin typeface="Calibri" panose="020F0502020204030204" pitchFamily="34" charset="0"/>
              </a:rPr>
              <a:t>Two actions on one bucket</a:t>
            </a:r>
            <a:endParaRPr lang="en-IN" sz="1500" b="1">
              <a:solidFill>
                <a:srgbClr val="1B998B"/>
              </a:solidFill>
              <a:latin typeface="Calibri" panose="020F0502020204030204" pitchFamily="34" charset="0"/>
            </a:endParaRPr>
          </a:p>
        </p:txBody>
      </p:sp>
      <p:sp>
        <p:nvSpPr>
          <p:cNvPr id="24" name="TextBox 23">
            <a:extLst>
              <a:ext uri="{FF2B5EF4-FFF2-40B4-BE49-F238E27FC236}">
                <a16:creationId xmlns:a16="http://schemas.microsoft.com/office/drawing/2014/main" id="{64BFBCD3-4BCC-863C-AFEF-081820674DCB}"/>
              </a:ext>
            </a:extLst>
          </p:cNvPr>
          <p:cNvSpPr txBox="1"/>
          <p:nvPr/>
        </p:nvSpPr>
        <p:spPr>
          <a:xfrm>
            <a:off x="609600" y="5486400"/>
            <a:ext cx="10972800" cy="369332"/>
          </a:xfrm>
          <a:prstGeom prst="rect">
            <a:avLst/>
          </a:prstGeom>
          <a:noFill/>
        </p:spPr>
        <p:txBody>
          <a:bodyPr vert="horz" wrap="square" lIns="0" tIns="0" rIns="0" bIns="0" rtlCol="0" anchor="t">
            <a:noAutofit/>
          </a:bodyPr>
          <a:lstStyle/>
          <a:p>
            <a:r>
              <a:rPr lang="en-US" b="1">
                <a:solidFill>
                  <a:srgbClr val="13293D"/>
                </a:solidFill>
                <a:latin typeface="Calibri" panose="020F0502020204030204" pitchFamily="34" charset="0"/>
              </a:rPr>
              <a:t>Checkov finds all six without touching AWS: it only reads the file.</a:t>
            </a:r>
            <a:endParaRPr lang="en-IN" b="1">
              <a:solidFill>
                <a:srgbClr val="13293D"/>
              </a:solidFill>
              <a:latin typeface="Calibri" panose="020F0502020204030204" pitchFamily="34" charset="0"/>
            </a:endParaRPr>
          </a:p>
        </p:txBody>
      </p:sp>
      <p:sp>
        <p:nvSpPr>
          <p:cNvPr id="25" name="TextBox 24">
            <a:extLst>
              <a:ext uri="{FF2B5EF4-FFF2-40B4-BE49-F238E27FC236}">
                <a16:creationId xmlns:a16="http://schemas.microsoft.com/office/drawing/2014/main" id="{611D0841-D5AC-3820-701C-E4894A565B5C}"/>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26" name="TextBox 25">
            <a:extLst>
              <a:ext uri="{FF2B5EF4-FFF2-40B4-BE49-F238E27FC236}">
                <a16:creationId xmlns:a16="http://schemas.microsoft.com/office/drawing/2014/main" id="{FCC3EB9D-5ED0-9D02-2330-39D0CBC3ADCD}"/>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23</a:t>
            </a:r>
          </a:p>
        </p:txBody>
      </p:sp>
    </p:spTree>
    <p:extLst>
      <p:ext uri="{BB962C8B-B14F-4D97-AF65-F5344CB8AC3E}">
        <p14:creationId xmlns:p14="http://schemas.microsoft.com/office/powerpoint/2010/main" val="30339840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A5581C-9A49-2B97-FB5C-1C8A5652B632}"/>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US" sz="3400" b="1">
                <a:solidFill>
                  <a:srgbClr val="13293D"/>
                </a:solidFill>
                <a:latin typeface="Calibri" panose="020F0502020204030204" pitchFamily="34" charset="0"/>
              </a:rPr>
              <a:t>A gate that blocks unsafe deploys</a:t>
            </a:r>
            <a:endParaRPr lang="en-IN" sz="3400" b="1">
              <a:solidFill>
                <a:srgbClr val="13293D"/>
              </a:solidFill>
              <a:latin typeface="Calibri" panose="020F0502020204030204" pitchFamily="34" charset="0"/>
            </a:endParaRPr>
          </a:p>
        </p:txBody>
      </p:sp>
      <p:sp>
        <p:nvSpPr>
          <p:cNvPr id="3" name="TextBox 2">
            <a:extLst>
              <a:ext uri="{FF2B5EF4-FFF2-40B4-BE49-F238E27FC236}">
                <a16:creationId xmlns:a16="http://schemas.microsoft.com/office/drawing/2014/main" id="{8E589C71-CADE-627E-A6DD-7E84256ED25B}"/>
              </a:ext>
            </a:extLst>
          </p:cNvPr>
          <p:cNvSpPr txBox="1"/>
          <p:nvPr/>
        </p:nvSpPr>
        <p:spPr>
          <a:xfrm>
            <a:off x="609600" y="1905000"/>
            <a:ext cx="2286000" cy="369332"/>
          </a:xfrm>
          <a:prstGeom prst="rect">
            <a:avLst/>
          </a:prstGeom>
          <a:noFill/>
        </p:spPr>
        <p:txBody>
          <a:bodyPr vert="horz" wrap="square" lIns="0" tIns="0" rIns="0" bIns="0" rtlCol="0" anchor="t">
            <a:noAutofit/>
          </a:bodyPr>
          <a:lstStyle/>
          <a:p>
            <a:r>
              <a:rPr lang="en-IN" sz="1700" b="1">
                <a:solidFill>
                  <a:srgbClr val="13293D"/>
                </a:solidFill>
                <a:latin typeface="Calibri" panose="020F0502020204030204" pitchFamily="34" charset="0"/>
              </a:rPr>
              <a:t>Insecure main.tf</a:t>
            </a:r>
          </a:p>
        </p:txBody>
      </p:sp>
      <p:sp>
        <p:nvSpPr>
          <p:cNvPr id="4" name="Rectangle: Rounded Corners 3">
            <a:extLst>
              <a:ext uri="{FF2B5EF4-FFF2-40B4-BE49-F238E27FC236}">
                <a16:creationId xmlns:a16="http://schemas.microsoft.com/office/drawing/2014/main" id="{DE89F0F0-F669-0116-3A0F-5634AB56FAAD}"/>
              </a:ext>
            </a:extLst>
          </p:cNvPr>
          <p:cNvSpPr/>
          <p:nvPr/>
        </p:nvSpPr>
        <p:spPr>
          <a:xfrm>
            <a:off x="3048000" y="1625600"/>
            <a:ext cx="3429000" cy="889000"/>
          </a:xfrm>
          <a:prstGeom prst="roundRect">
            <a:avLst>
              <a:gd name="adj" fmla="val 10000"/>
            </a:avLst>
          </a:prstGeom>
          <a:solidFill>
            <a:srgbClr val="E4572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Terraform security check</a:t>
            </a:r>
          </a:p>
          <a:p>
            <a:pPr algn="ctr"/>
            <a:r>
              <a:rPr lang="en-IN" sz="1600" b="1">
                <a:solidFill>
                  <a:srgbClr val="FFFFFF"/>
                </a:solidFill>
                <a:latin typeface="Calibri" panose="020F0502020204030204" pitchFamily="34" charset="0"/>
              </a:rPr>
              <a:t>FAILED</a:t>
            </a:r>
          </a:p>
        </p:txBody>
      </p:sp>
      <p:cxnSp>
        <p:nvCxnSpPr>
          <p:cNvPr id="5" name="Straight Connector 4">
            <a:extLst>
              <a:ext uri="{FF2B5EF4-FFF2-40B4-BE49-F238E27FC236}">
                <a16:creationId xmlns:a16="http://schemas.microsoft.com/office/drawing/2014/main" id="{D14C8519-4AB8-D1A9-56EE-6B4C440D7D4A}"/>
              </a:ext>
            </a:extLst>
          </p:cNvPr>
          <p:cNvCxnSpPr/>
          <p:nvPr/>
        </p:nvCxnSpPr>
        <p:spPr>
          <a:xfrm>
            <a:off x="6553200" y="2070100"/>
            <a:ext cx="5080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7A9947FA-C5A8-B6CD-2965-A2D4DA55AB99}"/>
              </a:ext>
            </a:extLst>
          </p:cNvPr>
          <p:cNvSpPr/>
          <p:nvPr/>
        </p:nvSpPr>
        <p:spPr>
          <a:xfrm>
            <a:off x="7137400" y="1625600"/>
            <a:ext cx="2540000" cy="889000"/>
          </a:xfrm>
          <a:prstGeom prst="roundRect">
            <a:avLst>
              <a:gd name="adj" fmla="val 10000"/>
            </a:avLst>
          </a:prstGeom>
          <a:solidFill>
            <a:srgbClr val="D5DB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5B6B79"/>
                </a:solidFill>
                <a:latin typeface="Calibri" panose="020F0502020204030204" pitchFamily="34" charset="0"/>
              </a:rPr>
              <a:t>Deploy</a:t>
            </a:r>
          </a:p>
          <a:p>
            <a:pPr algn="ctr"/>
            <a:r>
              <a:rPr lang="en-IN" sz="1600" b="1">
                <a:solidFill>
                  <a:srgbClr val="5B6B79"/>
                </a:solidFill>
                <a:latin typeface="Calibri" panose="020F0502020204030204" pitchFamily="34" charset="0"/>
              </a:rPr>
              <a:t>Skipped</a:t>
            </a:r>
          </a:p>
        </p:txBody>
      </p:sp>
      <p:sp>
        <p:nvSpPr>
          <p:cNvPr id="7" name="Rectangle: Rounded Corners 6">
            <a:extLst>
              <a:ext uri="{FF2B5EF4-FFF2-40B4-BE49-F238E27FC236}">
                <a16:creationId xmlns:a16="http://schemas.microsoft.com/office/drawing/2014/main" id="{17C11520-A751-2D83-CCA3-355DE201D177}"/>
              </a:ext>
            </a:extLst>
          </p:cNvPr>
          <p:cNvSpPr/>
          <p:nvPr/>
        </p:nvSpPr>
        <p:spPr>
          <a:xfrm>
            <a:off x="9931400" y="1841500"/>
            <a:ext cx="1651000" cy="457200"/>
          </a:xfrm>
          <a:prstGeom prst="roundRect">
            <a:avLst>
              <a:gd name="adj" fmla="val 10000"/>
            </a:avLst>
          </a:prstGeom>
          <a:solidFill>
            <a:srgbClr val="FCE5D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E4572E"/>
                </a:solidFill>
                <a:latin typeface="Calibri" panose="020F0502020204030204" pitchFamily="34" charset="0"/>
              </a:rPr>
              <a:t>Red build</a:t>
            </a:r>
          </a:p>
        </p:txBody>
      </p:sp>
      <p:sp>
        <p:nvSpPr>
          <p:cNvPr id="8" name="TextBox 7">
            <a:extLst>
              <a:ext uri="{FF2B5EF4-FFF2-40B4-BE49-F238E27FC236}">
                <a16:creationId xmlns:a16="http://schemas.microsoft.com/office/drawing/2014/main" id="{BE1A0A3A-0560-1E96-6EF2-9C5F072311DA}"/>
              </a:ext>
            </a:extLst>
          </p:cNvPr>
          <p:cNvSpPr txBox="1"/>
          <p:nvPr/>
        </p:nvSpPr>
        <p:spPr>
          <a:xfrm>
            <a:off x="609600" y="3327400"/>
            <a:ext cx="2286000" cy="369332"/>
          </a:xfrm>
          <a:prstGeom prst="rect">
            <a:avLst/>
          </a:prstGeom>
          <a:noFill/>
        </p:spPr>
        <p:txBody>
          <a:bodyPr vert="horz" wrap="square" lIns="0" tIns="0" rIns="0" bIns="0" rtlCol="0" anchor="t">
            <a:noAutofit/>
          </a:bodyPr>
          <a:lstStyle/>
          <a:p>
            <a:r>
              <a:rPr lang="en-IN" sz="1700" b="1">
                <a:solidFill>
                  <a:srgbClr val="13293D"/>
                </a:solidFill>
                <a:latin typeface="Calibri" panose="020F0502020204030204" pitchFamily="34" charset="0"/>
              </a:rPr>
              <a:t>Fixed main.tf</a:t>
            </a:r>
          </a:p>
        </p:txBody>
      </p:sp>
      <p:sp>
        <p:nvSpPr>
          <p:cNvPr id="9" name="Rectangle: Rounded Corners 8">
            <a:extLst>
              <a:ext uri="{FF2B5EF4-FFF2-40B4-BE49-F238E27FC236}">
                <a16:creationId xmlns:a16="http://schemas.microsoft.com/office/drawing/2014/main" id="{1715CBDB-1406-57D1-E0C7-AB191F8C5C19}"/>
              </a:ext>
            </a:extLst>
          </p:cNvPr>
          <p:cNvSpPr/>
          <p:nvPr/>
        </p:nvSpPr>
        <p:spPr>
          <a:xfrm>
            <a:off x="3048000" y="3048000"/>
            <a:ext cx="3429000" cy="889000"/>
          </a:xfrm>
          <a:prstGeom prst="roundRect">
            <a:avLst>
              <a:gd name="adj" fmla="val 10000"/>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Terraform security check</a:t>
            </a:r>
          </a:p>
          <a:p>
            <a:pPr algn="ctr"/>
            <a:r>
              <a:rPr lang="en-IN" sz="1600" b="1">
                <a:solidFill>
                  <a:srgbClr val="FFFFFF"/>
                </a:solidFill>
                <a:latin typeface="Calibri" panose="020F0502020204030204" pitchFamily="34" charset="0"/>
              </a:rPr>
              <a:t>PASSED</a:t>
            </a:r>
          </a:p>
        </p:txBody>
      </p:sp>
      <p:cxnSp>
        <p:nvCxnSpPr>
          <p:cNvPr id="10" name="Straight Connector 9">
            <a:extLst>
              <a:ext uri="{FF2B5EF4-FFF2-40B4-BE49-F238E27FC236}">
                <a16:creationId xmlns:a16="http://schemas.microsoft.com/office/drawing/2014/main" id="{42131CA3-C4EF-B2F9-38A5-3B2C4AE8BB76}"/>
              </a:ext>
            </a:extLst>
          </p:cNvPr>
          <p:cNvCxnSpPr/>
          <p:nvPr/>
        </p:nvCxnSpPr>
        <p:spPr>
          <a:xfrm>
            <a:off x="6553200" y="3492500"/>
            <a:ext cx="508000" cy="0"/>
          </a:xfrm>
          <a:prstGeom prst="line">
            <a:avLst/>
          </a:prstGeom>
          <a:ln w="25400">
            <a:solidFill>
              <a:srgbClr val="5B6B79"/>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AD6C8617-583E-4F2D-2B3D-DBF85AD84D55}"/>
              </a:ext>
            </a:extLst>
          </p:cNvPr>
          <p:cNvSpPr/>
          <p:nvPr/>
        </p:nvSpPr>
        <p:spPr>
          <a:xfrm>
            <a:off x="7137400" y="3048000"/>
            <a:ext cx="2540000" cy="8890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600" b="1">
                <a:solidFill>
                  <a:srgbClr val="FFFFFF"/>
                </a:solidFill>
                <a:latin typeface="Calibri" panose="020F0502020204030204" pitchFamily="34" charset="0"/>
              </a:rPr>
              <a:t>Deploy</a:t>
            </a:r>
          </a:p>
          <a:p>
            <a:pPr algn="ctr"/>
            <a:r>
              <a:rPr lang="en-IN" sz="1600" b="1">
                <a:solidFill>
                  <a:srgbClr val="FFFFFF"/>
                </a:solidFill>
                <a:latin typeface="Calibri" panose="020F0502020204030204" pitchFamily="34" charset="0"/>
              </a:rPr>
              <a:t>Runs</a:t>
            </a:r>
          </a:p>
        </p:txBody>
      </p:sp>
      <p:sp>
        <p:nvSpPr>
          <p:cNvPr id="12" name="Rectangle: Rounded Corners 11">
            <a:extLst>
              <a:ext uri="{FF2B5EF4-FFF2-40B4-BE49-F238E27FC236}">
                <a16:creationId xmlns:a16="http://schemas.microsoft.com/office/drawing/2014/main" id="{3092D265-D929-026F-1443-5D8A41825648}"/>
              </a:ext>
            </a:extLst>
          </p:cNvPr>
          <p:cNvSpPr/>
          <p:nvPr/>
        </p:nvSpPr>
        <p:spPr>
          <a:xfrm>
            <a:off x="9931400" y="3263900"/>
            <a:ext cx="1651000" cy="457200"/>
          </a:xfrm>
          <a:prstGeom prst="roundRect">
            <a:avLst>
              <a:gd name="adj" fmla="val 10000"/>
            </a:avLst>
          </a:prstGeom>
          <a:solidFill>
            <a:srgbClr val="D3EC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76200" tIns="25400" rIns="76200" bIns="25400" rtlCol="0" anchor="ctr"/>
          <a:lstStyle/>
          <a:p>
            <a:pPr algn="ctr"/>
            <a:r>
              <a:rPr lang="en-IN" sz="1500" b="1">
                <a:solidFill>
                  <a:srgbClr val="1B998B"/>
                </a:solidFill>
                <a:latin typeface="Calibri" panose="020F0502020204030204" pitchFamily="34" charset="0"/>
              </a:rPr>
              <a:t>Green build</a:t>
            </a:r>
          </a:p>
        </p:txBody>
      </p:sp>
      <p:sp>
        <p:nvSpPr>
          <p:cNvPr id="13" name="Rectangle: Rounded Corners 12">
            <a:extLst>
              <a:ext uri="{FF2B5EF4-FFF2-40B4-BE49-F238E27FC236}">
                <a16:creationId xmlns:a16="http://schemas.microsoft.com/office/drawing/2014/main" id="{9003084A-DAC4-60A7-94EA-BCAE8A099C0C}"/>
              </a:ext>
            </a:extLst>
          </p:cNvPr>
          <p:cNvSpPr/>
          <p:nvPr/>
        </p:nvSpPr>
        <p:spPr>
          <a:xfrm>
            <a:off x="609600" y="4445000"/>
            <a:ext cx="10972800" cy="7112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B05F662-D7A0-452A-F24F-C81955891643}"/>
              </a:ext>
            </a:extLst>
          </p:cNvPr>
          <p:cNvSpPr txBox="1"/>
          <p:nvPr/>
        </p:nvSpPr>
        <p:spPr>
          <a:xfrm>
            <a:off x="914400" y="4648200"/>
            <a:ext cx="10363200" cy="369332"/>
          </a:xfrm>
          <a:prstGeom prst="rect">
            <a:avLst/>
          </a:prstGeom>
          <a:noFill/>
        </p:spPr>
        <p:txBody>
          <a:bodyPr vert="horz" wrap="square" lIns="0" tIns="0" rIns="0" bIns="0" rtlCol="0" anchor="t">
            <a:noAutofit/>
          </a:bodyPr>
          <a:lstStyle/>
          <a:p>
            <a:r>
              <a:rPr lang="en-IN" sz="1600">
                <a:solidFill>
                  <a:srgbClr val="FFFFFF"/>
                </a:solidFill>
                <a:latin typeface="Consolas" panose="020B0609020204030204" pitchFamily="49" charset="0"/>
              </a:rPr>
              <a:t>checkov -d . --config-file checkov-baseline.yaml</a:t>
            </a:r>
          </a:p>
        </p:txBody>
      </p:sp>
      <p:sp>
        <p:nvSpPr>
          <p:cNvPr id="15" name="TextBox 14">
            <a:extLst>
              <a:ext uri="{FF2B5EF4-FFF2-40B4-BE49-F238E27FC236}">
                <a16:creationId xmlns:a16="http://schemas.microsoft.com/office/drawing/2014/main" id="{CEFC68FF-3309-E026-2415-AE67E4CE8141}"/>
              </a:ext>
            </a:extLst>
          </p:cNvPr>
          <p:cNvSpPr txBox="1"/>
          <p:nvPr/>
        </p:nvSpPr>
        <p:spPr>
          <a:xfrm>
            <a:off x="609600" y="5384800"/>
            <a:ext cx="10972800" cy="369332"/>
          </a:xfrm>
          <a:prstGeom prst="rect">
            <a:avLst/>
          </a:prstGeom>
          <a:noFill/>
        </p:spPr>
        <p:txBody>
          <a:bodyPr vert="horz" wrap="square" lIns="0" tIns="0" rIns="0" bIns="0" rtlCol="0" anchor="t">
            <a:noAutofit/>
          </a:bodyPr>
          <a:lstStyle/>
          <a:p>
            <a:r>
              <a:rPr lang="en-US" sz="1600">
                <a:solidFill>
                  <a:srgbClr val="1E2A35"/>
                </a:solidFill>
                <a:latin typeface="Calibri" panose="020F0502020204030204" pitchFamily="34" charset="0"/>
              </a:rPr>
              <a:t>The same check runs on a laptop and in Jenkins. A failed check stops the pipeline before anything reaches the cloud.</a:t>
            </a:r>
            <a:endParaRPr lang="en-IN" sz="1600">
              <a:solidFill>
                <a:srgbClr val="1E2A35"/>
              </a:solidFill>
              <a:latin typeface="Calibri" panose="020F0502020204030204" pitchFamily="34" charset="0"/>
            </a:endParaRPr>
          </a:p>
        </p:txBody>
      </p:sp>
      <p:sp>
        <p:nvSpPr>
          <p:cNvPr id="16" name="TextBox 15">
            <a:extLst>
              <a:ext uri="{FF2B5EF4-FFF2-40B4-BE49-F238E27FC236}">
                <a16:creationId xmlns:a16="http://schemas.microsoft.com/office/drawing/2014/main" id="{2C6398B5-1C52-A274-479F-9D5B3A1EDD42}"/>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7" name="TextBox 16">
            <a:extLst>
              <a:ext uri="{FF2B5EF4-FFF2-40B4-BE49-F238E27FC236}">
                <a16:creationId xmlns:a16="http://schemas.microsoft.com/office/drawing/2014/main" id="{CC2403DA-F6E1-1101-0726-D6F501C98208}"/>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24</a:t>
            </a:r>
          </a:p>
        </p:txBody>
      </p:sp>
    </p:spTree>
    <p:extLst>
      <p:ext uri="{BB962C8B-B14F-4D97-AF65-F5344CB8AC3E}">
        <p14:creationId xmlns:p14="http://schemas.microsoft.com/office/powerpoint/2010/main" val="6875454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5F1E7F-07A5-2BB8-E477-8826ADAB8EC3}"/>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13293D"/>
                </a:solidFill>
                <a:latin typeface="Calibri" panose="020F0502020204030204" pitchFamily="34" charset="0"/>
              </a:rPr>
              <a:t>Lab 3 · Commands</a:t>
            </a:r>
          </a:p>
        </p:txBody>
      </p:sp>
      <p:sp>
        <p:nvSpPr>
          <p:cNvPr id="3" name="TextBox 2">
            <a:extLst>
              <a:ext uri="{FF2B5EF4-FFF2-40B4-BE49-F238E27FC236}">
                <a16:creationId xmlns:a16="http://schemas.microsoft.com/office/drawing/2014/main" id="{5CE19AE7-DFFC-1A9A-5946-EB7DEA24435A}"/>
              </a:ext>
            </a:extLst>
          </p:cNvPr>
          <p:cNvSpPr txBox="1"/>
          <p:nvPr/>
        </p:nvSpPr>
        <p:spPr>
          <a:xfrm>
            <a:off x="609600" y="1168400"/>
            <a:ext cx="5080000" cy="369332"/>
          </a:xfrm>
          <a:prstGeom prst="rect">
            <a:avLst/>
          </a:prstGeom>
          <a:noFill/>
        </p:spPr>
        <p:txBody>
          <a:bodyPr vert="horz" wrap="square" lIns="0" tIns="0" rIns="0" bIns="0" rtlCol="0" anchor="t">
            <a:noAutofit/>
          </a:bodyPr>
          <a:lstStyle/>
          <a:p>
            <a:r>
              <a:rPr lang="en-IN" sz="1200" b="1">
                <a:solidFill>
                  <a:srgbClr val="1B998B"/>
                </a:solidFill>
                <a:latin typeface="Calibri" panose="020F0502020204030204" pitchFamily="34" charset="0"/>
              </a:rPr>
              <a:t>EVERYONE (TOOLBOX)</a:t>
            </a:r>
          </a:p>
        </p:txBody>
      </p:sp>
      <p:sp>
        <p:nvSpPr>
          <p:cNvPr id="4" name="Rectangle: Rounded Corners 3">
            <a:extLst>
              <a:ext uri="{FF2B5EF4-FFF2-40B4-BE49-F238E27FC236}">
                <a16:creationId xmlns:a16="http://schemas.microsoft.com/office/drawing/2014/main" id="{87E64368-FA15-9574-9CC2-784600033ED7}"/>
              </a:ext>
            </a:extLst>
          </p:cNvPr>
          <p:cNvSpPr/>
          <p:nvPr/>
        </p:nvSpPr>
        <p:spPr>
          <a:xfrm>
            <a:off x="609600" y="1447800"/>
            <a:ext cx="10972800" cy="736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B97FE43-A3B6-EB1D-1523-CBE2C3E2CE72}"/>
              </a:ext>
            </a:extLst>
          </p:cNvPr>
          <p:cNvSpPr txBox="1"/>
          <p:nvPr/>
        </p:nvSpPr>
        <p:spPr>
          <a:xfrm>
            <a:off x="863600" y="1625600"/>
            <a:ext cx="10464800" cy="369332"/>
          </a:xfrm>
          <a:prstGeom prst="rect">
            <a:avLst/>
          </a:prstGeom>
          <a:noFill/>
        </p:spPr>
        <p:txBody>
          <a:bodyPr vert="horz" wrap="square" lIns="0" tIns="0" rIns="0" bIns="0" rtlCol="0" anchor="t">
            <a:noAutofit/>
          </a:bodyPr>
          <a:lstStyle/>
          <a:p>
            <a:r>
              <a:rPr lang="en-IN" sz="1200">
                <a:solidFill>
                  <a:srgbClr val="FFFFFF"/>
                </a:solidFill>
                <a:latin typeface="Consolas" panose="020B0609020204030204" pitchFamily="49" charset="0"/>
              </a:rPr>
              <a:t>checkov -d labs/lab3-ci-gate/start --config-file scripts/checkov-baseline.yaml   </a:t>
            </a:r>
            <a:r>
              <a:rPr lang="en-IN" sz="1200">
                <a:solidFill>
                  <a:srgbClr val="8FD3C9"/>
                </a:solidFill>
                <a:latin typeface="Consolas" panose="020B0609020204030204" pitchFamily="49" charset="0"/>
              </a:rPr>
              <a:t>   # FAILED</a:t>
            </a:r>
          </a:p>
          <a:p>
            <a:r>
              <a:rPr lang="en-IN" sz="1200">
                <a:solidFill>
                  <a:srgbClr val="FFFFFF"/>
                </a:solidFill>
                <a:latin typeface="Consolas" panose="020B0609020204030204" pitchFamily="49" charset="0"/>
              </a:rPr>
              <a:t>checkov -d labs/lab3-ci-gate/solution --config-file scripts/checkov-baseline.yaml</a:t>
            </a:r>
            <a:r>
              <a:rPr lang="en-IN" sz="1200">
                <a:solidFill>
                  <a:srgbClr val="8FD3C9"/>
                </a:solidFill>
                <a:latin typeface="Consolas" panose="020B0609020204030204" pitchFamily="49" charset="0"/>
              </a:rPr>
              <a:t>   # passes</a:t>
            </a:r>
          </a:p>
        </p:txBody>
      </p:sp>
      <p:sp>
        <p:nvSpPr>
          <p:cNvPr id="6" name="TextBox 5">
            <a:extLst>
              <a:ext uri="{FF2B5EF4-FFF2-40B4-BE49-F238E27FC236}">
                <a16:creationId xmlns:a16="http://schemas.microsoft.com/office/drawing/2014/main" id="{F03739D1-36B1-A977-6702-E35E856855D9}"/>
              </a:ext>
            </a:extLst>
          </p:cNvPr>
          <p:cNvSpPr txBox="1"/>
          <p:nvPr/>
        </p:nvSpPr>
        <p:spPr>
          <a:xfrm>
            <a:off x="609600" y="2387600"/>
            <a:ext cx="8890000" cy="369332"/>
          </a:xfrm>
          <a:prstGeom prst="rect">
            <a:avLst/>
          </a:prstGeom>
          <a:noFill/>
        </p:spPr>
        <p:txBody>
          <a:bodyPr vert="horz" wrap="square" lIns="0" tIns="0" rIns="0" bIns="0" rtlCol="0" anchor="t">
            <a:noAutofit/>
          </a:bodyPr>
          <a:lstStyle/>
          <a:p>
            <a:r>
              <a:rPr lang="pt-BR" sz="1200" b="1">
                <a:solidFill>
                  <a:srgbClr val="1B998B"/>
                </a:solidFill>
                <a:latin typeface="Calibri" panose="020F0502020204030204" pitchFamily="34" charset="0"/>
              </a:rPr>
              <a:t>FACILITATOR: JENKINS DEMO (UBUNTU TERMINAL, REPO FOLDER)</a:t>
            </a:r>
            <a:endParaRPr lang="en-IN" sz="1200" b="1">
              <a:solidFill>
                <a:srgbClr val="1B998B"/>
              </a:solidFill>
              <a:latin typeface="Calibri" panose="020F0502020204030204" pitchFamily="34" charset="0"/>
            </a:endParaRPr>
          </a:p>
        </p:txBody>
      </p:sp>
      <p:sp>
        <p:nvSpPr>
          <p:cNvPr id="7" name="Rectangle: Rounded Corners 6">
            <a:extLst>
              <a:ext uri="{FF2B5EF4-FFF2-40B4-BE49-F238E27FC236}">
                <a16:creationId xmlns:a16="http://schemas.microsoft.com/office/drawing/2014/main" id="{8D0D6236-FF55-CED7-44C2-D69A590FBEEF}"/>
              </a:ext>
            </a:extLst>
          </p:cNvPr>
          <p:cNvSpPr/>
          <p:nvPr/>
        </p:nvSpPr>
        <p:spPr>
          <a:xfrm>
            <a:off x="609600" y="2667000"/>
            <a:ext cx="10972800" cy="1498600"/>
          </a:xfrm>
          <a:prstGeom prst="roundRect">
            <a:avLst>
              <a:gd name="adj" fmla="val 10000"/>
            </a:avLst>
          </a:prstGeom>
          <a:solidFill>
            <a:srgbClr val="13293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B825C2E-86A4-B720-21EA-CC826F20327E}"/>
              </a:ext>
            </a:extLst>
          </p:cNvPr>
          <p:cNvSpPr txBox="1"/>
          <p:nvPr/>
        </p:nvSpPr>
        <p:spPr>
          <a:xfrm>
            <a:off x="863600" y="2844800"/>
            <a:ext cx="10464800" cy="369332"/>
          </a:xfrm>
          <a:prstGeom prst="rect">
            <a:avLst/>
          </a:prstGeom>
          <a:noFill/>
        </p:spPr>
        <p:txBody>
          <a:bodyPr vert="horz" wrap="square" lIns="0" tIns="0" rIns="0" bIns="0" rtlCol="0" anchor="t">
            <a:noAutofit/>
          </a:bodyPr>
          <a:lstStyle/>
          <a:p>
            <a:r>
              <a:rPr lang="en-IN" sz="1200">
                <a:solidFill>
                  <a:srgbClr val="FFFFFF"/>
                </a:solidFill>
                <a:latin typeface="Consolas" panose="020B0609020204030204" pitchFamily="49" charset="0"/>
              </a:rPr>
              <a:t>rm -rf labs/lab3-ci-gate/demo-repo</a:t>
            </a:r>
          </a:p>
          <a:p>
            <a:r>
              <a:rPr lang="en-IN" sz="1200">
                <a:solidFill>
                  <a:srgbClr val="FFFFFF"/>
                </a:solidFill>
                <a:latin typeface="Consolas" panose="020B0609020204030204" pitchFamily="49" charset="0"/>
              </a:rPr>
              <a:t>docker compose run --rm toolbox bash labs/lab3-ci-gate/prepare-repo.sh labs/lab3-ci-gate/demo-repo</a:t>
            </a:r>
          </a:p>
          <a:p>
            <a:r>
              <a:rPr lang="en-IN" sz="1200">
                <a:solidFill>
                  <a:srgbClr val="FFFFFF"/>
                </a:solidFill>
                <a:latin typeface="Consolas" panose="020B0609020204030204" pitchFamily="49" charset="0"/>
              </a:rPr>
              <a:t>docker compose --profile jenkins up -d --build jenkins</a:t>
            </a:r>
          </a:p>
          <a:p>
            <a:r>
              <a:rPr lang="en-IN" sz="1200">
                <a:solidFill>
                  <a:srgbClr val="8FD3C9"/>
                </a:solidFill>
                <a:latin typeface="Consolas" panose="020B0609020204030204" pitchFamily="49" charset="0"/>
              </a:rPr>
              <a:t># http://localhost:8080 : job secure-gate, Build Now   (red build)</a:t>
            </a:r>
          </a:p>
          <a:p>
            <a:r>
              <a:rPr lang="en-IN" sz="1200">
                <a:solidFill>
                  <a:srgbClr val="FFFFFF"/>
                </a:solidFill>
                <a:latin typeface="Consolas" panose="020B0609020204030204" pitchFamily="49" charset="0"/>
              </a:rPr>
              <a:t>docker compose run --rm toolbox bash labs/lab3-ci-gate/apply-fixes.sh labs/lab3-ci-gate/demo-repo</a:t>
            </a:r>
          </a:p>
          <a:p>
            <a:r>
              <a:rPr lang="en-IN" sz="1200">
                <a:solidFill>
                  <a:srgbClr val="8FD3C9"/>
                </a:solidFill>
                <a:latin typeface="Consolas" panose="020B0609020204030204" pitchFamily="49" charset="0"/>
              </a:rPr>
              <a:t># Build Now again   (green build)</a:t>
            </a:r>
          </a:p>
        </p:txBody>
      </p:sp>
      <p:sp>
        <p:nvSpPr>
          <p:cNvPr id="9" name="TextBox 8">
            <a:extLst>
              <a:ext uri="{FF2B5EF4-FFF2-40B4-BE49-F238E27FC236}">
                <a16:creationId xmlns:a16="http://schemas.microsoft.com/office/drawing/2014/main" id="{356ABA66-F617-D01A-954A-326FC3ADDB32}"/>
              </a:ext>
            </a:extLst>
          </p:cNvPr>
          <p:cNvSpPr txBox="1"/>
          <p:nvPr/>
        </p:nvSpPr>
        <p:spPr>
          <a:xfrm>
            <a:off x="609600" y="6502400"/>
            <a:ext cx="5080000" cy="369332"/>
          </a:xfrm>
          <a:prstGeom prst="rect">
            <a:avLst/>
          </a:prstGeom>
          <a:noFill/>
        </p:spPr>
        <p:txBody>
          <a:bodyPr vert="horz" wrap="square" lIns="0" tIns="0" rIns="0" bIns="0" rtlCol="0" anchor="t">
            <a:noAutofit/>
          </a:bodyPr>
          <a:lstStyle/>
          <a:p>
            <a:r>
              <a:rPr lang="en-US" sz="1000">
                <a:solidFill>
                  <a:srgbClr val="5B6B79"/>
                </a:solidFill>
                <a:latin typeface="Calibri" panose="020F0502020204030204" pitchFamily="34" charset="0"/>
              </a:rPr>
              <a:t>Securing the path to the cloud</a:t>
            </a:r>
            <a:endParaRPr lang="en-IN" sz="1000">
              <a:solidFill>
                <a:srgbClr val="5B6B79"/>
              </a:solidFill>
              <a:latin typeface="Calibri" panose="020F0502020204030204" pitchFamily="34" charset="0"/>
            </a:endParaRPr>
          </a:p>
        </p:txBody>
      </p:sp>
      <p:sp>
        <p:nvSpPr>
          <p:cNvPr id="10" name="TextBox 9">
            <a:extLst>
              <a:ext uri="{FF2B5EF4-FFF2-40B4-BE49-F238E27FC236}">
                <a16:creationId xmlns:a16="http://schemas.microsoft.com/office/drawing/2014/main" id="{640DE0A6-02C8-A9D8-B809-B321EAE317AF}"/>
              </a:ext>
            </a:extLst>
          </p:cNvPr>
          <p:cNvSpPr txBox="1"/>
          <p:nvPr/>
        </p:nvSpPr>
        <p:spPr>
          <a:xfrm>
            <a:off x="10312400" y="6502400"/>
            <a:ext cx="1270000" cy="369332"/>
          </a:xfrm>
          <a:prstGeom prst="rect">
            <a:avLst/>
          </a:prstGeom>
          <a:noFill/>
        </p:spPr>
        <p:txBody>
          <a:bodyPr vert="horz" wrap="square" lIns="0" tIns="0" rIns="0" bIns="0" rtlCol="0" anchor="t">
            <a:noAutofit/>
          </a:bodyPr>
          <a:lstStyle/>
          <a:p>
            <a:pPr algn="r"/>
            <a:r>
              <a:rPr lang="en-IN" sz="1000">
                <a:solidFill>
                  <a:srgbClr val="5B6B79"/>
                </a:solidFill>
                <a:latin typeface="Calibri" panose="020F0502020204030204" pitchFamily="34" charset="0"/>
              </a:rPr>
              <a:t>25</a:t>
            </a:r>
          </a:p>
        </p:txBody>
      </p:sp>
    </p:spTree>
    <p:extLst>
      <p:ext uri="{BB962C8B-B14F-4D97-AF65-F5344CB8AC3E}">
        <p14:creationId xmlns:p14="http://schemas.microsoft.com/office/powerpoint/2010/main" val="30766320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329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297E4B-6663-8913-9F46-1B3FCEE7C96F}"/>
              </a:ext>
            </a:extLst>
          </p:cNvPr>
          <p:cNvSpPr txBox="1"/>
          <p:nvPr/>
        </p:nvSpPr>
        <p:spPr>
          <a:xfrm>
            <a:off x="609600" y="381000"/>
            <a:ext cx="10972800" cy="369332"/>
          </a:xfrm>
          <a:prstGeom prst="rect">
            <a:avLst/>
          </a:prstGeom>
          <a:noFill/>
        </p:spPr>
        <p:txBody>
          <a:bodyPr vert="horz" wrap="square" lIns="0" tIns="0" rIns="0" bIns="0" rtlCol="0" anchor="t">
            <a:noAutofit/>
          </a:bodyPr>
          <a:lstStyle/>
          <a:p>
            <a:r>
              <a:rPr lang="en-IN" sz="3400" b="1">
                <a:solidFill>
                  <a:srgbClr val="FFFFFF"/>
                </a:solidFill>
                <a:latin typeface="Calibri" panose="020F0502020204030204" pitchFamily="34" charset="0"/>
              </a:rPr>
              <a:t>What to take away</a:t>
            </a:r>
          </a:p>
        </p:txBody>
      </p:sp>
      <p:sp>
        <p:nvSpPr>
          <p:cNvPr id="3" name="Oval 2">
            <a:extLst>
              <a:ext uri="{FF2B5EF4-FFF2-40B4-BE49-F238E27FC236}">
                <a16:creationId xmlns:a16="http://schemas.microsoft.com/office/drawing/2014/main" id="{6DD68935-56B0-5E7A-41B3-F25AFA301168}"/>
              </a:ext>
            </a:extLst>
          </p:cNvPr>
          <p:cNvSpPr/>
          <p:nvPr/>
        </p:nvSpPr>
        <p:spPr>
          <a:xfrm>
            <a:off x="609600" y="1397000"/>
            <a:ext cx="533400" cy="5334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1</a:t>
            </a:r>
          </a:p>
        </p:txBody>
      </p:sp>
      <p:sp>
        <p:nvSpPr>
          <p:cNvPr id="4" name="TextBox 3">
            <a:extLst>
              <a:ext uri="{FF2B5EF4-FFF2-40B4-BE49-F238E27FC236}">
                <a16:creationId xmlns:a16="http://schemas.microsoft.com/office/drawing/2014/main" id="{796FD36A-0FE6-91B3-8050-FF7B30B6B52A}"/>
              </a:ext>
            </a:extLst>
          </p:cNvPr>
          <p:cNvSpPr txBox="1"/>
          <p:nvPr/>
        </p:nvSpPr>
        <p:spPr>
          <a:xfrm>
            <a:off x="1397000" y="1511300"/>
            <a:ext cx="10160000" cy="369332"/>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Never put secrets in code. If one leaks, rotate it first.</a:t>
            </a:r>
            <a:endParaRPr lang="en-IN" sz="2000">
              <a:solidFill>
                <a:srgbClr val="FFFFFF"/>
              </a:solidFill>
              <a:latin typeface="Calibri" panose="020F0502020204030204" pitchFamily="34" charset="0"/>
            </a:endParaRPr>
          </a:p>
        </p:txBody>
      </p:sp>
      <p:sp>
        <p:nvSpPr>
          <p:cNvPr id="5" name="Oval 4">
            <a:extLst>
              <a:ext uri="{FF2B5EF4-FFF2-40B4-BE49-F238E27FC236}">
                <a16:creationId xmlns:a16="http://schemas.microsoft.com/office/drawing/2014/main" id="{EDA2113D-B91A-0540-F3B0-0406A25EC33F}"/>
              </a:ext>
            </a:extLst>
          </p:cNvPr>
          <p:cNvSpPr/>
          <p:nvPr/>
        </p:nvSpPr>
        <p:spPr>
          <a:xfrm>
            <a:off x="609600" y="2209800"/>
            <a:ext cx="533400" cy="5334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2</a:t>
            </a:r>
          </a:p>
        </p:txBody>
      </p:sp>
      <p:sp>
        <p:nvSpPr>
          <p:cNvPr id="6" name="TextBox 5">
            <a:extLst>
              <a:ext uri="{FF2B5EF4-FFF2-40B4-BE49-F238E27FC236}">
                <a16:creationId xmlns:a16="http://schemas.microsoft.com/office/drawing/2014/main" id="{F545B516-281B-DB03-5C24-08B6FA2BDDE1}"/>
              </a:ext>
            </a:extLst>
          </p:cNvPr>
          <p:cNvSpPr txBox="1"/>
          <p:nvPr/>
        </p:nvSpPr>
        <p:spPr>
          <a:xfrm>
            <a:off x="1397000" y="2324100"/>
            <a:ext cx="10160000" cy="369332"/>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Scan code early: the most dangerous bugs are well-known patterns.</a:t>
            </a:r>
            <a:endParaRPr lang="en-IN" sz="2000">
              <a:solidFill>
                <a:srgbClr val="FFFFFF"/>
              </a:solidFill>
              <a:latin typeface="Calibri" panose="020F0502020204030204" pitchFamily="34" charset="0"/>
            </a:endParaRPr>
          </a:p>
        </p:txBody>
      </p:sp>
      <p:sp>
        <p:nvSpPr>
          <p:cNvPr id="7" name="Oval 6">
            <a:extLst>
              <a:ext uri="{FF2B5EF4-FFF2-40B4-BE49-F238E27FC236}">
                <a16:creationId xmlns:a16="http://schemas.microsoft.com/office/drawing/2014/main" id="{269BBF7F-F55D-0A0E-7440-3C913285BC85}"/>
              </a:ext>
            </a:extLst>
          </p:cNvPr>
          <p:cNvSpPr/>
          <p:nvPr/>
        </p:nvSpPr>
        <p:spPr>
          <a:xfrm>
            <a:off x="609600" y="3022600"/>
            <a:ext cx="533400" cy="5334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3</a:t>
            </a:r>
          </a:p>
        </p:txBody>
      </p:sp>
      <p:sp>
        <p:nvSpPr>
          <p:cNvPr id="8" name="TextBox 7">
            <a:extLst>
              <a:ext uri="{FF2B5EF4-FFF2-40B4-BE49-F238E27FC236}">
                <a16:creationId xmlns:a16="http://schemas.microsoft.com/office/drawing/2014/main" id="{83D8A858-AE0A-C8B0-BAA4-C3F204A165A4}"/>
              </a:ext>
            </a:extLst>
          </p:cNvPr>
          <p:cNvSpPr txBox="1"/>
          <p:nvPr/>
        </p:nvSpPr>
        <p:spPr>
          <a:xfrm>
            <a:off x="1397000" y="3136900"/>
            <a:ext cx="10160000" cy="369332"/>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Treat infrastructure as code, and scan it before it's created.</a:t>
            </a:r>
            <a:endParaRPr lang="en-IN" sz="2000">
              <a:solidFill>
                <a:srgbClr val="FFFFFF"/>
              </a:solidFill>
              <a:latin typeface="Calibri" panose="020F0502020204030204" pitchFamily="34" charset="0"/>
            </a:endParaRPr>
          </a:p>
        </p:txBody>
      </p:sp>
      <p:sp>
        <p:nvSpPr>
          <p:cNvPr id="9" name="Oval 8">
            <a:extLst>
              <a:ext uri="{FF2B5EF4-FFF2-40B4-BE49-F238E27FC236}">
                <a16:creationId xmlns:a16="http://schemas.microsoft.com/office/drawing/2014/main" id="{23E7C38F-3F26-073B-8D3A-AF65DDF5F3CE}"/>
              </a:ext>
            </a:extLst>
          </p:cNvPr>
          <p:cNvSpPr/>
          <p:nvPr/>
        </p:nvSpPr>
        <p:spPr>
          <a:xfrm>
            <a:off x="609600" y="3835400"/>
            <a:ext cx="533400" cy="533400"/>
          </a:xfrm>
          <a:prstGeom prst="ellipse">
            <a:avLst/>
          </a:prstGeom>
          <a:solidFill>
            <a:srgbClr val="1B998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0" tIns="25400" rIns="0" bIns="25400" rtlCol="0" anchor="ctr"/>
          <a:lstStyle/>
          <a:p>
            <a:pPr algn="ctr"/>
            <a:r>
              <a:rPr lang="en-IN" b="1">
                <a:solidFill>
                  <a:srgbClr val="FFFFFF"/>
                </a:solidFill>
                <a:latin typeface="Calibri" panose="020F0502020204030204" pitchFamily="34" charset="0"/>
              </a:rPr>
              <a:t>4</a:t>
            </a:r>
          </a:p>
        </p:txBody>
      </p:sp>
      <p:sp>
        <p:nvSpPr>
          <p:cNvPr id="10" name="TextBox 9">
            <a:extLst>
              <a:ext uri="{FF2B5EF4-FFF2-40B4-BE49-F238E27FC236}">
                <a16:creationId xmlns:a16="http://schemas.microsoft.com/office/drawing/2014/main" id="{1DC040CF-DDC0-44E1-5531-C889DB93B808}"/>
              </a:ext>
            </a:extLst>
          </p:cNvPr>
          <p:cNvSpPr txBox="1"/>
          <p:nvPr/>
        </p:nvSpPr>
        <p:spPr>
          <a:xfrm>
            <a:off x="1397000" y="3949700"/>
            <a:ext cx="10160000" cy="369332"/>
          </a:xfrm>
          <a:prstGeom prst="rect">
            <a:avLst/>
          </a:prstGeom>
          <a:noFill/>
        </p:spPr>
        <p:txBody>
          <a:bodyPr vert="horz" wrap="square" lIns="0" tIns="0" rIns="0" bIns="0" rtlCol="0" anchor="t">
            <a:noAutofit/>
          </a:bodyPr>
          <a:lstStyle/>
          <a:p>
            <a:r>
              <a:rPr lang="en-US" sz="2000">
                <a:solidFill>
                  <a:srgbClr val="FFFFFF"/>
                </a:solidFill>
                <a:latin typeface="Calibri" panose="020F0502020204030204" pitchFamily="34" charset="0"/>
              </a:rPr>
              <a:t>Automate the checks in a pipeline, so nobody can forget or skip them.</a:t>
            </a:r>
            <a:endParaRPr lang="en-IN" sz="2000">
              <a:solidFill>
                <a:srgbClr val="FFFFFF"/>
              </a:solidFill>
              <a:latin typeface="Calibri" panose="020F0502020204030204" pitchFamily="34" charset="0"/>
            </a:endParaRPr>
          </a:p>
        </p:txBody>
      </p:sp>
      <p:sp>
        <p:nvSpPr>
          <p:cNvPr id="11" name="TextBox 10">
            <a:extLst>
              <a:ext uri="{FF2B5EF4-FFF2-40B4-BE49-F238E27FC236}">
                <a16:creationId xmlns:a16="http://schemas.microsoft.com/office/drawing/2014/main" id="{CB570117-00B9-EA5A-DABA-F3D675EAFE08}"/>
              </a:ext>
            </a:extLst>
          </p:cNvPr>
          <p:cNvSpPr txBox="1"/>
          <p:nvPr/>
        </p:nvSpPr>
        <p:spPr>
          <a:xfrm>
            <a:off x="609600" y="4826000"/>
            <a:ext cx="10972800" cy="369332"/>
          </a:xfrm>
          <a:prstGeom prst="rect">
            <a:avLst/>
          </a:prstGeom>
          <a:noFill/>
        </p:spPr>
        <p:txBody>
          <a:bodyPr vert="horz" wrap="square" lIns="0" tIns="0" rIns="0" bIns="0" rtlCol="0" anchor="t">
            <a:noAutofit/>
          </a:bodyPr>
          <a:lstStyle/>
          <a:p>
            <a:r>
              <a:rPr lang="en-US" b="1">
                <a:solidFill>
                  <a:srgbClr val="1B998B"/>
                </a:solidFill>
                <a:latin typeface="Calibri" panose="020F0502020204030204" pitchFamily="34" charset="0"/>
              </a:rPr>
              <a:t>Next: Lab 4, deploying to AWS, and what a green pipeline still cannot catch.</a:t>
            </a:r>
            <a:endParaRPr lang="en-IN" b="1">
              <a:solidFill>
                <a:srgbClr val="1B998B"/>
              </a:solidFill>
              <a:latin typeface="Calibri" panose="020F0502020204030204" pitchFamily="34" charset="0"/>
            </a:endParaRPr>
          </a:p>
        </p:txBody>
      </p:sp>
      <p:sp>
        <p:nvSpPr>
          <p:cNvPr id="12" name="TextBox 11">
            <a:extLst>
              <a:ext uri="{FF2B5EF4-FFF2-40B4-BE49-F238E27FC236}">
                <a16:creationId xmlns:a16="http://schemas.microsoft.com/office/drawing/2014/main" id="{01D3AFFC-993B-CE79-9805-CB2D3EEBA473}"/>
              </a:ext>
            </a:extLst>
          </p:cNvPr>
          <p:cNvSpPr txBox="1"/>
          <p:nvPr/>
        </p:nvSpPr>
        <p:spPr>
          <a:xfrm>
            <a:off x="609600" y="5461000"/>
            <a:ext cx="10972800" cy="369332"/>
          </a:xfrm>
          <a:prstGeom prst="rect">
            <a:avLst/>
          </a:prstGeom>
          <a:noFill/>
        </p:spPr>
        <p:txBody>
          <a:bodyPr vert="horz" wrap="square" lIns="0" tIns="0" rIns="0" bIns="0" rtlCol="0" anchor="t">
            <a:noAutofit/>
          </a:bodyPr>
          <a:lstStyle/>
          <a:p>
            <a:r>
              <a:rPr lang="en-IN" sz="4000" b="1">
                <a:solidFill>
                  <a:srgbClr val="FFFFFF"/>
                </a:solidFill>
                <a:latin typeface="Calibri" panose="020F0502020204030204" pitchFamily="34" charset="0"/>
              </a:rPr>
              <a:t>Questions?</a:t>
            </a:r>
          </a:p>
        </p:txBody>
      </p:sp>
    </p:spTree>
    <p:extLst>
      <p:ext uri="{BB962C8B-B14F-4D97-AF65-F5344CB8AC3E}">
        <p14:creationId xmlns:p14="http://schemas.microsoft.com/office/powerpoint/2010/main" val="8331173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4030</Words>
  <Application>Microsoft Office PowerPoint</Application>
  <PresentationFormat>Custom</PresentationFormat>
  <Paragraphs>507</Paragraphs>
  <Slides>26</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Prathmesh</dc:creator>
  <cp:lastModifiedBy>Prathmesh</cp:lastModifiedBy>
  <cp:revision>1</cp:revision>
  <dcterms:created xsi:type="dcterms:W3CDTF">2026-10-21T13:44:37Z</dcterms:created>
  <dcterms:modified xsi:type="dcterms:W3CDTF">2026-10-21T13:44:38Z</dcterms:modified>
</cp:coreProperties>
</file>